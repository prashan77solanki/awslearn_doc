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74"/>
  </p:notesMasterIdLst>
  <p:sldIdLst>
    <p:sldId id="720" r:id="rId6"/>
    <p:sldId id="813" r:id="rId7"/>
    <p:sldId id="814" r:id="rId8"/>
    <p:sldId id="815" r:id="rId9"/>
    <p:sldId id="816" r:id="rId10"/>
    <p:sldId id="817" r:id="rId11"/>
    <p:sldId id="818" r:id="rId12"/>
    <p:sldId id="819" r:id="rId13"/>
    <p:sldId id="820" r:id="rId14"/>
    <p:sldId id="823" r:id="rId15"/>
    <p:sldId id="821" r:id="rId16"/>
    <p:sldId id="822" r:id="rId17"/>
    <p:sldId id="824" r:id="rId18"/>
    <p:sldId id="863" r:id="rId19"/>
    <p:sldId id="873" r:id="rId20"/>
    <p:sldId id="874" r:id="rId21"/>
    <p:sldId id="876" r:id="rId22"/>
    <p:sldId id="877" r:id="rId23"/>
    <p:sldId id="879" r:id="rId24"/>
    <p:sldId id="832" r:id="rId25"/>
    <p:sldId id="865" r:id="rId26"/>
    <p:sldId id="871" r:id="rId27"/>
    <p:sldId id="826" r:id="rId28"/>
    <p:sldId id="910" r:id="rId29"/>
    <p:sldId id="923" r:id="rId30"/>
    <p:sldId id="850" r:id="rId31"/>
    <p:sldId id="924" r:id="rId32"/>
    <p:sldId id="880" r:id="rId33"/>
    <p:sldId id="925" r:id="rId34"/>
    <p:sldId id="881" r:id="rId35"/>
    <p:sldId id="926" r:id="rId36"/>
    <p:sldId id="911" r:id="rId37"/>
    <p:sldId id="928" r:id="rId38"/>
    <p:sldId id="882" r:id="rId39"/>
    <p:sldId id="929" r:id="rId40"/>
    <p:sldId id="883" r:id="rId41"/>
    <p:sldId id="912" r:id="rId42"/>
    <p:sldId id="884" r:id="rId43"/>
    <p:sldId id="885" r:id="rId44"/>
    <p:sldId id="930" r:id="rId45"/>
    <p:sldId id="887" r:id="rId46"/>
    <p:sldId id="914" r:id="rId47"/>
    <p:sldId id="915" r:id="rId48"/>
    <p:sldId id="889" r:id="rId49"/>
    <p:sldId id="916" r:id="rId50"/>
    <p:sldId id="890" r:id="rId51"/>
    <p:sldId id="891" r:id="rId52"/>
    <p:sldId id="917" r:id="rId53"/>
    <p:sldId id="892" r:id="rId54"/>
    <p:sldId id="893" r:id="rId55"/>
    <p:sldId id="918" r:id="rId56"/>
    <p:sldId id="894" r:id="rId57"/>
    <p:sldId id="895" r:id="rId58"/>
    <p:sldId id="919" r:id="rId59"/>
    <p:sldId id="897" r:id="rId60"/>
    <p:sldId id="902" r:id="rId61"/>
    <p:sldId id="921" r:id="rId62"/>
    <p:sldId id="903" r:id="rId63"/>
    <p:sldId id="900" r:id="rId64"/>
    <p:sldId id="922" r:id="rId65"/>
    <p:sldId id="901" r:id="rId66"/>
    <p:sldId id="904" r:id="rId67"/>
    <p:sldId id="908" r:id="rId68"/>
    <p:sldId id="905" r:id="rId69"/>
    <p:sldId id="906" r:id="rId70"/>
    <p:sldId id="909" r:id="rId71"/>
    <p:sldId id="907" r:id="rId72"/>
    <p:sldId id="812" r:id="rId73"/>
  </p:sldIdLst>
  <p:sldSz cx="14400213" cy="71993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 userDrawn="1">
          <p15:clr>
            <a:srgbClr val="A4A3A4"/>
          </p15:clr>
        </p15:guide>
        <p15:guide id="2" pos="2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537D"/>
    <a:srgbClr val="DBECF1"/>
    <a:srgbClr val="8DC4D2"/>
    <a:srgbClr val="1B96C7"/>
    <a:srgbClr val="4CD4FE"/>
    <a:srgbClr val="34B2E3"/>
    <a:srgbClr val="128FB6"/>
    <a:srgbClr val="1398C3"/>
    <a:srgbClr val="6DDBFE"/>
    <a:srgbClr val="68B1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660"/>
  </p:normalViewPr>
  <p:slideViewPr>
    <p:cSldViewPr snapToGrid="0">
      <p:cViewPr varScale="1">
        <p:scale>
          <a:sx n="78" d="100"/>
          <a:sy n="78" d="100"/>
        </p:scale>
        <p:origin x="437" y="58"/>
      </p:cViewPr>
      <p:guideLst>
        <p:guide orient="horz" pos="180"/>
        <p:guide pos="2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A152D-2352-43D4-B54C-2F347C5EE05E}" type="datetimeFigureOut">
              <a:rPr lang="en-US" smtClean="0"/>
              <a:t>9/23/2020</a:t>
            </a:fld>
            <a:endParaRPr lang="en-US" dirty="0"/>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27CF2-43D9-4177-B1E6-91F4D2A9287E}" type="slidenum">
              <a:rPr lang="en-US" smtClean="0"/>
              <a:t>‹#›</a:t>
            </a:fld>
            <a:endParaRPr lang="en-US" dirty="0"/>
          </a:p>
        </p:txBody>
      </p:sp>
    </p:spTree>
    <p:extLst>
      <p:ext uri="{BB962C8B-B14F-4D97-AF65-F5344CB8AC3E}">
        <p14:creationId xmlns:p14="http://schemas.microsoft.com/office/powerpoint/2010/main" val="2378060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64985373"/>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476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Tree>
    <p:extLst>
      <p:ext uri="{BB962C8B-B14F-4D97-AF65-F5344CB8AC3E}">
        <p14:creationId xmlns:p14="http://schemas.microsoft.com/office/powerpoint/2010/main" val="3599980087"/>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919109099"/>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3597271105"/>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23308" y="6131284"/>
            <a:ext cx="5305845" cy="703727"/>
          </a:xfrm>
          <a:prstGeom prst="rect">
            <a:avLst/>
          </a:prstGeom>
        </p:spPr>
      </p:pic>
      <p:grpSp>
        <p:nvGrpSpPr>
          <p:cNvPr id="10" name="Group 9"/>
          <p:cNvGrpSpPr/>
          <p:nvPr userDrawn="1"/>
        </p:nvGrpSpPr>
        <p:grpSpPr>
          <a:xfrm>
            <a:off x="8765146" y="959910"/>
            <a:ext cx="5148002" cy="4853543"/>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8527728"/>
      </p:ext>
    </p:extLst>
  </p:cSld>
  <p:clrMapOvr>
    <a:masterClrMapping/>
  </p:clrMapOvr>
  <p:extLst>
    <p:ext uri="{DCECCB84-F9BA-43D5-87BE-67443E8EF086}">
      <p15:sldGuideLst xmlns:p15="http://schemas.microsoft.com/office/powerpoint/2012/main">
        <p15:guide id="1" pos="45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aster: Black">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30130" y="6127064"/>
            <a:ext cx="5411726" cy="717771"/>
          </a:xfrm>
          <a:prstGeom prst="rect">
            <a:avLst/>
          </a:prstGeom>
        </p:spPr>
      </p:pic>
      <p:grpSp>
        <p:nvGrpSpPr>
          <p:cNvPr id="9" name="Group 8"/>
          <p:cNvGrpSpPr/>
          <p:nvPr userDrawn="1"/>
        </p:nvGrpSpPr>
        <p:grpSpPr>
          <a:xfrm>
            <a:off x="8765146" y="959910"/>
            <a:ext cx="5148002" cy="4853543"/>
            <a:chOff x="3005156" y="304800"/>
            <a:chExt cx="5643543" cy="5986493"/>
          </a:xfrm>
        </p:grpSpPr>
        <p:sp>
          <p:nvSpPr>
            <p:cNvPr id="14"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5"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450009" y="479954"/>
            <a:ext cx="6750098" cy="3239691"/>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450008" y="3719650"/>
            <a:ext cx="6750099" cy="3319682"/>
          </a:xfrm>
        </p:spPr>
        <p:txBody>
          <a:bodyPr>
            <a:noAutofit/>
          </a:bodyPr>
          <a:lstStyle>
            <a:lvl1pPr marL="0" indent="0">
              <a:lnSpc>
                <a:spcPct val="70000"/>
              </a:lnSpc>
              <a:defRPr sz="4134" b="1" baseline="0">
                <a:solidFill>
                  <a:schemeClr val="tx1"/>
                </a:solidFill>
                <a:latin typeface="+mn-lt"/>
              </a:defRPr>
            </a:lvl1pPr>
            <a:lvl2pPr marL="0" indent="0">
              <a:lnSpc>
                <a:spcPct val="100000"/>
              </a:lnSpc>
              <a:spcAft>
                <a:spcPts val="0"/>
              </a:spcAft>
              <a:defRPr sz="2480" b="0" cap="none" baseline="0">
                <a:solidFill>
                  <a:schemeClr val="tx1"/>
                </a:solidFill>
                <a:latin typeface="+mn-lt"/>
              </a:defRPr>
            </a:lvl2pPr>
            <a:lvl3pPr marL="0" indent="0">
              <a:lnSpc>
                <a:spcPct val="100000"/>
              </a:lnSpc>
              <a:spcAft>
                <a:spcPts val="0"/>
              </a:spcAft>
              <a:defRPr sz="1860" b="0" cap="none" baseline="0">
                <a:solidFill>
                  <a:schemeClr val="tx1"/>
                </a:solidFill>
                <a:latin typeface="+mn-lt"/>
              </a:defRPr>
            </a:lvl3pPr>
            <a:lvl4pPr marL="0" indent="0">
              <a:lnSpc>
                <a:spcPct val="100000"/>
              </a:lnSpc>
              <a:buNone/>
              <a:defRPr sz="1860" b="0" cap="none" baseline="0">
                <a:solidFill>
                  <a:schemeClr val="tx1"/>
                </a:solidFill>
                <a:latin typeface="+mn-lt"/>
              </a:defRPr>
            </a:lvl4pPr>
            <a:lvl5pPr marL="0" indent="0">
              <a:lnSpc>
                <a:spcPct val="100000"/>
              </a:lnSpc>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008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4536" userDrawn="1">
          <p15:clr>
            <a:srgbClr val="FBAE40"/>
          </p15:clr>
        </p15:guide>
        <p15:guide id="3" pos="711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4546731" y="959910"/>
            <a:ext cx="5148002" cy="4853543"/>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0"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860" dirty="0"/>
            </a:p>
          </p:txBody>
        </p:sp>
      </p:grpSp>
      <p:sp>
        <p:nvSpPr>
          <p:cNvPr id="2" name="Title 1"/>
          <p:cNvSpPr>
            <a:spLocks noGrp="1"/>
          </p:cNvSpPr>
          <p:nvPr>
            <p:ph type="ctrTitle" hasCustomPrompt="1"/>
          </p:nvPr>
        </p:nvSpPr>
        <p:spPr>
          <a:xfrm>
            <a:off x="2184578" y="2032746"/>
            <a:ext cx="5015528" cy="2905135"/>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781597129"/>
      </p:ext>
    </p:extLst>
  </p:cSld>
  <p:clrMapOvr>
    <a:masterClrMapping/>
  </p:clrMapOvr>
  <p:extLst>
    <p:ext uri="{DCECCB84-F9BA-43D5-87BE-67443E8EF086}">
      <p15:sldGuideLst xmlns:p15="http://schemas.microsoft.com/office/powerpoint/2012/main">
        <p15:guide id="1" pos="4536" userDrawn="1">
          <p15:clr>
            <a:srgbClr val="FBAE40"/>
          </p15:clr>
        </p15:guide>
        <p15:guide id="0" pos="70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48114" y="947159"/>
            <a:ext cx="5172030" cy="476027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2202018241"/>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4580938" y="958453"/>
            <a:ext cx="5151912" cy="4741760"/>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4500" tIns="47250" rIns="94500" bIns="47250" numCol="1" anchor="t" anchorCtr="0" compatLnSpc="1">
            <a:prstTxWarp prst="textNoShape">
              <a:avLst/>
            </a:prstTxWarp>
          </a:bodyPr>
          <a:lstStyle/>
          <a:p>
            <a:endParaRPr lang="en-US" sz="1860"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2184578" y="2039805"/>
            <a:ext cx="5015528" cy="2999714"/>
          </a:xfrm>
        </p:spPr>
        <p:txBody>
          <a:bodyPr tIns="0" anchor="t" anchorCtr="0">
            <a:noAutofit/>
          </a:bodyPr>
          <a:lstStyle>
            <a:lvl1pPr algn="l">
              <a:lnSpc>
                <a:spcPct val="70000"/>
              </a:lnSpc>
              <a:defRPr sz="6201">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11250167" y="458139"/>
            <a:ext cx="2700040" cy="3686921"/>
          </a:xfrm>
        </p:spPr>
        <p:txBody>
          <a:bodyPr>
            <a:noAutofit/>
          </a:bodyPr>
          <a:lstStyle>
            <a:lvl1pPr marL="0" indent="0">
              <a:lnSpc>
                <a:spcPct val="70000"/>
              </a:lnSpc>
              <a:defRPr sz="2894" b="1" baseline="0">
                <a:solidFill>
                  <a:schemeClr val="tx1"/>
                </a:solidFill>
                <a:latin typeface="+mn-lt"/>
              </a:defRPr>
            </a:lvl1pPr>
            <a:lvl2pPr marL="0" indent="0">
              <a:lnSpc>
                <a:spcPct val="100000"/>
              </a:lnSpc>
              <a:spcBef>
                <a:spcPts val="620"/>
              </a:spcBef>
              <a:spcAft>
                <a:spcPts val="0"/>
              </a:spcAft>
              <a:defRPr sz="2067" b="0" cap="none" baseline="0">
                <a:solidFill>
                  <a:schemeClr val="tx1"/>
                </a:solidFill>
                <a:latin typeface="+mn-lt"/>
              </a:defRPr>
            </a:lvl2pPr>
            <a:lvl3pPr marL="0" indent="0">
              <a:lnSpc>
                <a:spcPct val="100000"/>
              </a:lnSpc>
              <a:spcBef>
                <a:spcPts val="620"/>
              </a:spcBef>
              <a:spcAft>
                <a:spcPts val="0"/>
              </a:spcAft>
              <a:defRPr sz="1860" b="0" cap="none" baseline="0">
                <a:solidFill>
                  <a:schemeClr val="tx1"/>
                </a:solidFill>
                <a:latin typeface="+mn-lt"/>
              </a:defRPr>
            </a:lvl3pPr>
            <a:lvl4pPr marL="0" indent="0">
              <a:lnSpc>
                <a:spcPct val="100000"/>
              </a:lnSpc>
              <a:spcBef>
                <a:spcPts val="620"/>
              </a:spcBef>
              <a:buNone/>
              <a:defRPr sz="1860" b="0" cap="none" baseline="0">
                <a:solidFill>
                  <a:schemeClr val="tx1"/>
                </a:solidFill>
                <a:latin typeface="+mn-lt"/>
              </a:defRPr>
            </a:lvl4pPr>
            <a:lvl5pPr marL="0" indent="0">
              <a:lnSpc>
                <a:spcPct val="100000"/>
              </a:lnSpc>
              <a:spcBef>
                <a:spcPts val="620"/>
              </a:spcBef>
              <a:buNone/>
              <a:defRPr sz="1860" b="0" cap="none" baseline="0">
                <a:solidFill>
                  <a:schemeClr val="tx1"/>
                </a:solidFill>
                <a:latin typeface="+mn-lt"/>
              </a:defRPr>
            </a:lvl5pPr>
            <a:lvl6pPr marL="351098"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88367" y="6130502"/>
            <a:ext cx="5340785" cy="708359"/>
          </a:xfrm>
          <a:prstGeom prst="rect">
            <a:avLst/>
          </a:prstGeom>
        </p:spPr>
      </p:pic>
    </p:spTree>
    <p:extLst>
      <p:ext uri="{BB962C8B-B14F-4D97-AF65-F5344CB8AC3E}">
        <p14:creationId xmlns:p14="http://schemas.microsoft.com/office/powerpoint/2010/main" val="1872011597"/>
      </p:ext>
    </p:extLst>
  </p:cSld>
  <p:clrMapOvr>
    <a:masterClrMapping/>
  </p:clrMapOvr>
  <p:extLst>
    <p:ext uri="{DCECCB84-F9BA-43D5-87BE-67443E8EF086}">
      <p15:sldGuideLst xmlns:p15="http://schemas.microsoft.com/office/powerpoint/2012/main">
        <p15:guide id="1" pos="4536" userDrawn="1">
          <p15:clr>
            <a:srgbClr val="FBAE40"/>
          </p15:clr>
        </p15:guide>
        <p15:guide id="2" pos="708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10" name="Slide Number Placeholder 9"/>
          <p:cNvSpPr>
            <a:spLocks noGrp="1"/>
          </p:cNvSpPr>
          <p:nvPr>
            <p:ph type="sldNum" sz="quarter" idx="17"/>
          </p:nvPr>
        </p:nvSpPr>
        <p:spPr>
          <a:xfrm>
            <a:off x="13590205" y="6843453"/>
            <a:ext cx="656737" cy="355859"/>
          </a:xfrm>
          <a:prstGeom prst="rect">
            <a:avLst/>
          </a:prstGeom>
        </p:spPr>
        <p:txBody>
          <a:bodyPr/>
          <a:lstStyle/>
          <a:p>
            <a:fld id="{4F9AC08D-23A9-440E-BCB9-AA1E9877CC38}" type="slidenum">
              <a:rPr lang="en-US" smtClean="0"/>
              <a:pPr/>
              <a:t>‹#›</a:t>
            </a:fld>
            <a:endParaRPr lang="en-US" dirty="0"/>
          </a:p>
        </p:txBody>
      </p:sp>
      <p:sp>
        <p:nvSpPr>
          <p:cNvPr id="11" name="Title 10"/>
          <p:cNvSpPr>
            <a:spLocks noGrp="1"/>
          </p:cNvSpPr>
          <p:nvPr>
            <p:ph type="title"/>
          </p:nvPr>
        </p:nvSpPr>
        <p:spPr/>
        <p:txBody>
          <a:bodyPr/>
          <a:lstStyle/>
          <a:p>
            <a:r>
              <a:rPr lang="en-US" dirty="0"/>
              <a:t>Click to edit Master title style</a:t>
            </a:r>
          </a:p>
        </p:txBody>
      </p:sp>
      <p:sp>
        <p:nvSpPr>
          <p:cNvPr id="5" name="Footer Placeholder 1">
            <a:extLst>
              <a:ext uri="{FF2B5EF4-FFF2-40B4-BE49-F238E27FC236}">
                <a16:creationId xmlns:a16="http://schemas.microsoft.com/office/drawing/2014/main" id="{E59041CF-919B-4138-B495-900C5F8EC477}"/>
              </a:ext>
            </a:extLst>
          </p:cNvPr>
          <p:cNvSpPr>
            <a:spLocks noGrp="1"/>
          </p:cNvSpPr>
          <p:nvPr>
            <p:ph type="ftr" sz="quarter" idx="16"/>
          </p:nvPr>
        </p:nvSpPr>
        <p:spPr>
          <a:xfrm>
            <a:off x="450010" y="6843454"/>
            <a:ext cx="6750098" cy="216646"/>
          </a:xfrm>
          <a:prstGeom prst="rect">
            <a:avLst/>
          </a:prstGeom>
        </p:spPr>
        <p:txBody>
          <a:bodyPr/>
          <a:lstStyle/>
          <a:p>
            <a:r>
              <a:rPr lang="en-US" dirty="0"/>
              <a:t>Copyright © 2020 Accenture. All rights reserved.</a:t>
            </a:r>
          </a:p>
        </p:txBody>
      </p:sp>
    </p:spTree>
    <p:extLst>
      <p:ext uri="{BB962C8B-B14F-4D97-AF65-F5344CB8AC3E}">
        <p14:creationId xmlns:p14="http://schemas.microsoft.com/office/powerpoint/2010/main" val="3037703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82514" y="1794830"/>
            <a:ext cx="12420184" cy="2994714"/>
          </a:xfrm>
        </p:spPr>
        <p:txBody>
          <a:bodyPr anchor="b"/>
          <a:lstStyle>
            <a:lvl1pPr>
              <a:defRPr sz="6299"/>
            </a:lvl1pPr>
          </a:lstStyle>
          <a:p>
            <a:r>
              <a:rPr lang="en-US"/>
              <a:t>Click to edit Master title style</a:t>
            </a:r>
            <a:endParaRPr lang="en-US" dirty="0"/>
          </a:p>
        </p:txBody>
      </p:sp>
      <p:sp>
        <p:nvSpPr>
          <p:cNvPr id="3" name="Text Placeholder 2"/>
          <p:cNvSpPr>
            <a:spLocks noGrp="1"/>
          </p:cNvSpPr>
          <p:nvPr>
            <p:ph type="body" idx="1"/>
          </p:nvPr>
        </p:nvSpPr>
        <p:spPr>
          <a:xfrm>
            <a:off x="982514" y="4817875"/>
            <a:ext cx="12420184" cy="1574849"/>
          </a:xfrm>
        </p:spPr>
        <p:txBody>
          <a:bodyPr/>
          <a:lstStyle>
            <a:lvl1pPr marL="0" indent="0">
              <a:buNone/>
              <a:defRPr sz="2520">
                <a:solidFill>
                  <a:schemeClr val="tx1">
                    <a:tint val="75000"/>
                  </a:schemeClr>
                </a:solidFill>
              </a:defRPr>
            </a:lvl1pPr>
            <a:lvl2pPr marL="479969" indent="0">
              <a:buNone/>
              <a:defRPr sz="2100">
                <a:solidFill>
                  <a:schemeClr val="tx1">
                    <a:tint val="75000"/>
                  </a:schemeClr>
                </a:solidFill>
              </a:defRPr>
            </a:lvl2pPr>
            <a:lvl3pPr marL="959937" indent="0">
              <a:buNone/>
              <a:defRPr sz="1890">
                <a:solidFill>
                  <a:schemeClr val="tx1">
                    <a:tint val="75000"/>
                  </a:schemeClr>
                </a:solidFill>
              </a:defRPr>
            </a:lvl3pPr>
            <a:lvl4pPr marL="1439906" indent="0">
              <a:buNone/>
              <a:defRPr sz="1680">
                <a:solidFill>
                  <a:schemeClr val="tx1">
                    <a:tint val="75000"/>
                  </a:schemeClr>
                </a:solidFill>
              </a:defRPr>
            </a:lvl4pPr>
            <a:lvl5pPr marL="1919874" indent="0">
              <a:buNone/>
              <a:defRPr sz="1680">
                <a:solidFill>
                  <a:schemeClr val="tx1">
                    <a:tint val="75000"/>
                  </a:schemeClr>
                </a:solidFill>
              </a:defRPr>
            </a:lvl5pPr>
            <a:lvl6pPr marL="2399843" indent="0">
              <a:buNone/>
              <a:defRPr sz="1680">
                <a:solidFill>
                  <a:schemeClr val="tx1">
                    <a:tint val="75000"/>
                  </a:schemeClr>
                </a:solidFill>
              </a:defRPr>
            </a:lvl6pPr>
            <a:lvl7pPr marL="2879811" indent="0">
              <a:buNone/>
              <a:defRPr sz="1680">
                <a:solidFill>
                  <a:schemeClr val="tx1">
                    <a:tint val="75000"/>
                  </a:schemeClr>
                </a:solidFill>
              </a:defRPr>
            </a:lvl7pPr>
            <a:lvl8pPr marL="3359780" indent="0">
              <a:buNone/>
              <a:defRPr sz="1680">
                <a:solidFill>
                  <a:schemeClr val="tx1">
                    <a:tint val="75000"/>
                  </a:schemeClr>
                </a:solidFill>
              </a:defRPr>
            </a:lvl8pPr>
            <a:lvl9pPr marL="3839748"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9/23/2020</a:t>
            </a:fld>
            <a:endParaRPr lang="en-US" dirty="0"/>
          </a:p>
        </p:txBody>
      </p:sp>
      <p:sp>
        <p:nvSpPr>
          <p:cNvPr id="5" name="Footer Placeholder 4"/>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3089115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990015" y="6672697"/>
            <a:ext cx="3240048" cy="383297"/>
          </a:xfrm>
          <a:prstGeom prst="rect">
            <a:avLst/>
          </a:prstGeom>
        </p:spPr>
        <p:txBody>
          <a:bodyPr/>
          <a:lstStyle/>
          <a:p>
            <a:fld id="{B45C3873-082A-4414-BA2A-F6DC651A3766}" type="datetimeFigureOut">
              <a:rPr lang="en-US" smtClean="0"/>
              <a:t>9/23/2020</a:t>
            </a:fld>
            <a:endParaRPr lang="en-US" dirty="0"/>
          </a:p>
        </p:txBody>
      </p:sp>
      <p:sp>
        <p:nvSpPr>
          <p:cNvPr id="3" name="Footer Placeholder 2"/>
          <p:cNvSpPr>
            <a:spLocks noGrp="1"/>
          </p:cNvSpPr>
          <p:nvPr>
            <p:ph type="ftr" sz="quarter" idx="11"/>
          </p:nvPr>
        </p:nvSpPr>
        <p:spPr>
          <a:xfrm>
            <a:off x="4770071" y="6672697"/>
            <a:ext cx="4860072" cy="383297"/>
          </a:xfrm>
          <a:prstGeom prst="rect">
            <a:avLst/>
          </a:prstGeom>
        </p:spPr>
        <p:txBody>
          <a:bodyPr/>
          <a:lstStyle/>
          <a:p>
            <a:endParaRPr lang="en-US" dirty="0"/>
          </a:p>
        </p:txBody>
      </p:sp>
      <p:sp>
        <p:nvSpPr>
          <p:cNvPr id="4" name="Slide Number Placeholder 3"/>
          <p:cNvSpPr>
            <a:spLocks noGrp="1"/>
          </p:cNvSpPr>
          <p:nvPr>
            <p:ph type="sldNum" sz="quarter" idx="12"/>
          </p:nvPr>
        </p:nvSpPr>
        <p:spPr>
          <a:xfrm>
            <a:off x="10170150" y="6672697"/>
            <a:ext cx="3240048" cy="383297"/>
          </a:xfrm>
          <a:prstGeom prst="rect">
            <a:avLst/>
          </a:prstGeom>
        </p:spPr>
        <p:txBody>
          <a:bodyPr/>
          <a:lstStyle/>
          <a:p>
            <a:fld id="{D8CAC0F2-439C-4BDB-8682-BB2E0D61C207}" type="slidenum">
              <a:rPr lang="en-US" smtClean="0"/>
              <a:t>‹#›</a:t>
            </a:fld>
            <a:endParaRPr lang="en-US" dirty="0"/>
          </a:p>
        </p:txBody>
      </p:sp>
    </p:spTree>
    <p:extLst>
      <p:ext uri="{BB962C8B-B14F-4D97-AF65-F5344CB8AC3E}">
        <p14:creationId xmlns:p14="http://schemas.microsoft.com/office/powerpoint/2010/main" val="10173798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1.png"/><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C2197FA3-5B99-4628-AF84-433B48753126}"/>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18D19DBD-E973-44C3-8B09-B108FC95C381}"/>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84073C86-2D3D-4B84-8D9E-0812FB0289AC}"/>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202E3485-7BC5-41AE-8D69-F09B4D378FB6}"/>
                  </a:ext>
                </a:extLst>
              </p:cNvPr>
              <p:cNvPicPr>
                <a:picLocks noChangeAspect="1"/>
              </p:cNvPicPr>
              <p:nvPr/>
            </p:nvPicPr>
            <p:blipFill rotWithShape="1">
              <a:blip r:embed="rId7"/>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EE303FE2-D2C1-4374-8309-61C0C78D8621}"/>
                  </a:ext>
                </a:extLst>
              </p:cNvPr>
              <p:cNvPicPr>
                <a:picLocks noChangeAspect="1"/>
              </p:cNvPicPr>
              <p:nvPr/>
            </p:nvPicPr>
            <p:blipFill rotWithShape="1">
              <a:blip r:embed="rId7"/>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76C758B9-802A-48BF-9F27-C4292E2C5718}"/>
                </a:ext>
              </a:extLst>
            </p:cNvPr>
            <p:cNvPicPr>
              <a:picLocks noChangeAspect="1"/>
            </p:cNvPicPr>
            <p:nvPr/>
          </p:nvPicPr>
          <p:blipFill rotWithShape="1">
            <a:blip r:embed="rId7"/>
            <a:srcRect r="4037" b="60744"/>
            <a:stretch/>
          </p:blipFill>
          <p:spPr>
            <a:xfrm>
              <a:off x="9690100" y="5791200"/>
              <a:ext cx="4710113" cy="1408113"/>
            </a:xfrm>
            <a:prstGeom prst="rect">
              <a:avLst/>
            </a:prstGeom>
          </p:spPr>
        </p:pic>
      </p:grpSp>
      <p:sp>
        <p:nvSpPr>
          <p:cNvPr id="16" name="Rectangle 15">
            <a:extLst>
              <a:ext uri="{FF2B5EF4-FFF2-40B4-BE49-F238E27FC236}">
                <a16:creationId xmlns:a16="http://schemas.microsoft.com/office/drawing/2014/main" id="{9F7B7C6E-9A57-4D9F-BF37-625FCF543F78}"/>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757465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0008" y="399965"/>
            <a:ext cx="13500200" cy="135987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0008" y="1919817"/>
            <a:ext cx="13500200" cy="4919531"/>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
        <p:nvSpPr>
          <p:cNvPr id="9" name="Rectangle 8">
            <a:extLst>
              <a:ext uri="{FF2B5EF4-FFF2-40B4-BE49-F238E27FC236}">
                <a16:creationId xmlns:a16="http://schemas.microsoft.com/office/drawing/2014/main" id="{1DD628D9-A607-4FF2-A355-5E83EDE42EA9}"/>
              </a:ext>
            </a:extLst>
          </p:cNvPr>
          <p:cNvSpPr/>
          <p:nvPr userDrawn="1"/>
        </p:nvSpPr>
        <p:spPr>
          <a:xfrm>
            <a:off x="0" y="0"/>
            <a:ext cx="14400213" cy="8191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grpSp>
        <p:nvGrpSpPr>
          <p:cNvPr id="11" name="Group 10">
            <a:extLst>
              <a:ext uri="{FF2B5EF4-FFF2-40B4-BE49-F238E27FC236}">
                <a16:creationId xmlns:a16="http://schemas.microsoft.com/office/drawing/2014/main" id="{07DD19EF-A0B7-4813-8B14-379C4D3C1C3E}"/>
              </a:ext>
            </a:extLst>
          </p:cNvPr>
          <p:cNvGrpSpPr/>
          <p:nvPr userDrawn="1"/>
        </p:nvGrpSpPr>
        <p:grpSpPr>
          <a:xfrm>
            <a:off x="0" y="5791200"/>
            <a:ext cx="14400213" cy="1408113"/>
            <a:chOff x="0" y="5791200"/>
            <a:chExt cx="14400213" cy="1408113"/>
          </a:xfrm>
        </p:grpSpPr>
        <p:grpSp>
          <p:nvGrpSpPr>
            <p:cNvPr id="12" name="Group 11">
              <a:extLst>
                <a:ext uri="{FF2B5EF4-FFF2-40B4-BE49-F238E27FC236}">
                  <a16:creationId xmlns:a16="http://schemas.microsoft.com/office/drawing/2014/main" id="{38B02556-23E9-4398-9BBE-E28F901B1599}"/>
                </a:ext>
              </a:extLst>
            </p:cNvPr>
            <p:cNvGrpSpPr/>
            <p:nvPr/>
          </p:nvGrpSpPr>
          <p:grpSpPr>
            <a:xfrm>
              <a:off x="0" y="5791200"/>
              <a:ext cx="9734264" cy="1408113"/>
              <a:chOff x="0" y="5791200"/>
              <a:chExt cx="9734264" cy="1408113"/>
            </a:xfrm>
          </p:grpSpPr>
          <p:pic>
            <p:nvPicPr>
              <p:cNvPr id="14" name="Picture 13">
                <a:extLst>
                  <a:ext uri="{FF2B5EF4-FFF2-40B4-BE49-F238E27FC236}">
                    <a16:creationId xmlns:a16="http://schemas.microsoft.com/office/drawing/2014/main" id="{A274144B-D7C0-47C0-97B1-F9394434E5CC}"/>
                  </a:ext>
                </a:extLst>
              </p:cNvPr>
              <p:cNvPicPr>
                <a:picLocks noChangeAspect="1"/>
              </p:cNvPicPr>
              <p:nvPr/>
            </p:nvPicPr>
            <p:blipFill rotWithShape="1">
              <a:blip r:embed="rId10"/>
              <a:srcRect b="60744"/>
              <a:stretch/>
            </p:blipFill>
            <p:spPr>
              <a:xfrm>
                <a:off x="0" y="5791200"/>
                <a:ext cx="4908264" cy="1408113"/>
              </a:xfrm>
              <a:prstGeom prst="rect">
                <a:avLst/>
              </a:prstGeom>
            </p:spPr>
          </p:pic>
          <p:pic>
            <p:nvPicPr>
              <p:cNvPr id="15" name="Picture 14">
                <a:extLst>
                  <a:ext uri="{FF2B5EF4-FFF2-40B4-BE49-F238E27FC236}">
                    <a16:creationId xmlns:a16="http://schemas.microsoft.com/office/drawing/2014/main" id="{CFBA7F5D-3FE6-40B2-B98B-8894B276CFEE}"/>
                  </a:ext>
                </a:extLst>
              </p:cNvPr>
              <p:cNvPicPr>
                <a:picLocks noChangeAspect="1"/>
              </p:cNvPicPr>
              <p:nvPr/>
            </p:nvPicPr>
            <p:blipFill rotWithShape="1">
              <a:blip r:embed="rId10"/>
              <a:srcRect r="1294" b="60744"/>
              <a:stretch/>
            </p:blipFill>
            <p:spPr>
              <a:xfrm flipH="1">
                <a:off x="4889500" y="5791200"/>
                <a:ext cx="4844764" cy="1408113"/>
              </a:xfrm>
              <a:prstGeom prst="rect">
                <a:avLst/>
              </a:prstGeom>
            </p:spPr>
          </p:pic>
        </p:grpSp>
        <p:pic>
          <p:nvPicPr>
            <p:cNvPr id="13" name="Picture 12">
              <a:extLst>
                <a:ext uri="{FF2B5EF4-FFF2-40B4-BE49-F238E27FC236}">
                  <a16:creationId xmlns:a16="http://schemas.microsoft.com/office/drawing/2014/main" id="{65B04B85-4A00-4598-BAB5-0F7F75E3FCE0}"/>
                </a:ext>
              </a:extLst>
            </p:cNvPr>
            <p:cNvPicPr>
              <a:picLocks noChangeAspect="1"/>
            </p:cNvPicPr>
            <p:nvPr/>
          </p:nvPicPr>
          <p:blipFill rotWithShape="1">
            <a:blip r:embed="rId10"/>
            <a:srcRect r="4037" b="60744"/>
            <a:stretch/>
          </p:blipFill>
          <p:spPr>
            <a:xfrm>
              <a:off x="9690100" y="5791200"/>
              <a:ext cx="4710113" cy="1408113"/>
            </a:xfrm>
            <a:prstGeom prst="rect">
              <a:avLst/>
            </a:prstGeom>
          </p:spPr>
        </p:pic>
      </p:grpSp>
      <p:sp>
        <p:nvSpPr>
          <p:cNvPr id="10" name="Rectangle 9">
            <a:extLst>
              <a:ext uri="{FF2B5EF4-FFF2-40B4-BE49-F238E27FC236}">
                <a16:creationId xmlns:a16="http://schemas.microsoft.com/office/drawing/2014/main" id="{8072F825-4C55-4DA7-BBA1-81872DDCE9B1}"/>
              </a:ext>
            </a:extLst>
          </p:cNvPr>
          <p:cNvSpPr/>
          <p:nvPr userDrawn="1"/>
        </p:nvSpPr>
        <p:spPr>
          <a:xfrm>
            <a:off x="0" y="4876800"/>
            <a:ext cx="14400213" cy="2322513"/>
          </a:xfrm>
          <a:prstGeom prst="rect">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06213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713" r:id="rId7"/>
    <p:sldLayoutId id="2147483714" r:id="rId8"/>
  </p:sldLayoutIdLst>
  <p:hf hdr="0"/>
  <p:txStyles>
    <p:titleStyle>
      <a:lvl1pPr marL="0" indent="0" algn="l" defTabSz="945009" rtl="0" eaLnBrk="1" latinLnBrk="0" hangingPunct="1">
        <a:lnSpc>
          <a:spcPct val="70000"/>
        </a:lnSpc>
        <a:spcBef>
          <a:spcPct val="0"/>
        </a:spcBef>
        <a:buNone/>
        <a:defRPr sz="4134" b="1" kern="1200" cap="all" baseline="0">
          <a:solidFill>
            <a:schemeClr val="tx1"/>
          </a:solidFill>
          <a:latin typeface="+mj-lt"/>
          <a:ea typeface="+mj-ea"/>
          <a:cs typeface="+mj-cs"/>
        </a:defRPr>
      </a:lvl1pPr>
    </p:titleStyle>
    <p:bodyStyle>
      <a:lvl1pPr marL="0" indent="0" algn="l" defTabSz="945009" rtl="0" eaLnBrk="1" latinLnBrk="0" hangingPunct="1">
        <a:lnSpc>
          <a:spcPct val="85000"/>
        </a:lnSpc>
        <a:spcBef>
          <a:spcPts val="0"/>
        </a:spcBef>
        <a:buFont typeface="Arial" panose="020B0604020202020204" pitchFamily="34" charset="0"/>
        <a:buNone/>
        <a:defRPr sz="1860" b="1" kern="1200" cap="all" baseline="0">
          <a:solidFill>
            <a:schemeClr val="tx1"/>
          </a:solidFill>
          <a:latin typeface="+mj-lt"/>
          <a:ea typeface="+mn-ea"/>
          <a:cs typeface="+mn-cs"/>
        </a:defRPr>
      </a:lvl1pPr>
      <a:lvl2pPr marL="0" indent="0" algn="l" defTabSz="945009" rtl="0" eaLnBrk="1" latinLnBrk="0" hangingPunct="1">
        <a:lnSpc>
          <a:spcPct val="90000"/>
        </a:lnSpc>
        <a:spcBef>
          <a:spcPts val="0"/>
        </a:spcBef>
        <a:spcAft>
          <a:spcPts val="1240"/>
        </a:spcAft>
        <a:buFont typeface="Arial" panose="020B0604020202020204" pitchFamily="34" charset="0"/>
        <a:buNone/>
        <a:defRPr sz="2894" kern="1200">
          <a:solidFill>
            <a:schemeClr val="tx1"/>
          </a:solidFill>
          <a:latin typeface="+mn-lt"/>
          <a:ea typeface="+mn-ea"/>
          <a:cs typeface="+mn-cs"/>
        </a:defRPr>
      </a:lvl2pPr>
      <a:lvl3pPr marL="0" indent="0" algn="l" defTabSz="945009" rtl="0" eaLnBrk="1" latinLnBrk="0" hangingPunct="1">
        <a:lnSpc>
          <a:spcPct val="110000"/>
        </a:lnSpc>
        <a:spcBef>
          <a:spcPts val="0"/>
        </a:spcBef>
        <a:spcAft>
          <a:spcPts val="930"/>
        </a:spcAft>
        <a:buFont typeface="Arial" panose="020B0604020202020204" pitchFamily="34" charset="0"/>
        <a:buNone/>
        <a:defRPr sz="1860" kern="1200">
          <a:solidFill>
            <a:schemeClr val="tx1"/>
          </a:solidFill>
          <a:latin typeface="+mn-lt"/>
          <a:ea typeface="+mn-ea"/>
          <a:cs typeface="+mn-cs"/>
        </a:defRPr>
      </a:lvl3pPr>
      <a:lvl4pPr marL="178831" indent="-175548" algn="l" defTabSz="945009" rtl="0" eaLnBrk="1" latinLnBrk="0" hangingPunct="1">
        <a:lnSpc>
          <a:spcPct val="110000"/>
        </a:lnSpc>
        <a:spcBef>
          <a:spcPts val="0"/>
        </a:spcBef>
        <a:spcAft>
          <a:spcPts val="0"/>
        </a:spcAft>
        <a:buFont typeface="Arial" panose="020B0604020202020204" pitchFamily="34" charset="0"/>
        <a:buChar char="•"/>
        <a:defRPr sz="1860" kern="1200">
          <a:solidFill>
            <a:schemeClr val="tx1"/>
          </a:solidFill>
          <a:latin typeface="+mn-lt"/>
          <a:ea typeface="+mn-ea"/>
          <a:cs typeface="+mn-cs"/>
        </a:defRPr>
      </a:lvl4pPr>
      <a:lvl5pPr marL="357659" indent="-183752" algn="l" defTabSz="945009" rtl="0" eaLnBrk="1" latinLnBrk="0" hangingPunct="1">
        <a:lnSpc>
          <a:spcPct val="110000"/>
        </a:lnSpc>
        <a:spcBef>
          <a:spcPts val="0"/>
        </a:spcBef>
        <a:spcAft>
          <a:spcPts val="0"/>
        </a:spcAft>
        <a:buFont typeface="Graphik" panose="020B0503030202060203" pitchFamily="34" charset="0"/>
        <a:buChar char="–"/>
        <a:defRPr sz="1447" kern="1200">
          <a:solidFill>
            <a:schemeClr val="tx1"/>
          </a:solidFill>
          <a:latin typeface="+mn-lt"/>
          <a:ea typeface="+mn-ea"/>
          <a:cs typeface="+mn-cs"/>
        </a:defRPr>
      </a:lvl5pPr>
      <a:lvl6pPr marL="529927" indent="-178831" algn="l" defTabSz="945009" rtl="0" eaLnBrk="1" latinLnBrk="0" hangingPunct="1">
        <a:lnSpc>
          <a:spcPct val="90000"/>
        </a:lnSpc>
        <a:spcBef>
          <a:spcPts val="517"/>
        </a:spcBef>
        <a:buFont typeface="Arial" panose="020B0604020202020204" pitchFamily="34" charset="0"/>
        <a:buChar char="•"/>
        <a:defRPr sz="1447" kern="1200">
          <a:solidFill>
            <a:schemeClr val="tx1"/>
          </a:solidFill>
          <a:latin typeface="+mn-lt"/>
          <a:ea typeface="+mn-ea"/>
          <a:cs typeface="+mn-cs"/>
        </a:defRPr>
      </a:lvl6pPr>
      <a:lvl7pPr marL="0" indent="0" algn="l" defTabSz="945009" rtl="0" eaLnBrk="1" latinLnBrk="0" hangingPunct="1">
        <a:lnSpc>
          <a:spcPct val="90000"/>
        </a:lnSpc>
        <a:spcBef>
          <a:spcPts val="827"/>
        </a:spcBef>
        <a:buFont typeface="Arial" panose="020B0604020202020204" pitchFamily="34" charset="0"/>
        <a:buNone/>
        <a:defRPr sz="1240" b="1" kern="1200" cap="all" baseline="0">
          <a:solidFill>
            <a:schemeClr val="tx1"/>
          </a:solidFill>
          <a:latin typeface="+mj-lt"/>
          <a:ea typeface="+mn-ea"/>
          <a:cs typeface="+mn-cs"/>
        </a:defRPr>
      </a:lvl7pPr>
      <a:lvl8pPr marL="0" indent="0" algn="l" defTabSz="945009" rtl="0" eaLnBrk="1" latinLnBrk="0" hangingPunct="1">
        <a:lnSpc>
          <a:spcPct val="100000"/>
        </a:lnSpc>
        <a:spcBef>
          <a:spcPts val="0"/>
        </a:spcBef>
        <a:spcAft>
          <a:spcPts val="827"/>
        </a:spcAft>
        <a:buFont typeface="Arial" panose="020B0604020202020204" pitchFamily="34" charset="0"/>
        <a:buNone/>
        <a:defRPr sz="1860" kern="1200" baseline="0">
          <a:solidFill>
            <a:schemeClr val="tx1"/>
          </a:solidFill>
          <a:latin typeface="+mn-lt"/>
          <a:ea typeface="+mn-ea"/>
          <a:cs typeface="+mn-cs"/>
        </a:defRPr>
      </a:lvl8pPr>
      <a:lvl9pPr marL="0" indent="0" algn="l" defTabSz="945009" rtl="0" eaLnBrk="1" latinLnBrk="0" hangingPunct="1">
        <a:lnSpc>
          <a:spcPct val="110000"/>
        </a:lnSpc>
        <a:spcBef>
          <a:spcPts val="0"/>
        </a:spcBef>
        <a:spcAft>
          <a:spcPts val="620"/>
        </a:spcAft>
        <a:buFont typeface="Arial" panose="020B0604020202020204" pitchFamily="34" charset="0"/>
        <a:buNone/>
        <a:defRPr sz="1240" kern="1200">
          <a:solidFill>
            <a:schemeClr val="tx1"/>
          </a:solidFill>
          <a:latin typeface="+mn-lt"/>
          <a:ea typeface="+mn-ea"/>
          <a:cs typeface="+mn-cs"/>
        </a:defRPr>
      </a:lvl9pPr>
    </p:bodyStyle>
    <p:otherStyle>
      <a:defPPr>
        <a:defRPr lang="en-US"/>
      </a:defPPr>
      <a:lvl1pPr marL="0" algn="l" defTabSz="945009" rtl="0" eaLnBrk="1" latinLnBrk="0" hangingPunct="1">
        <a:defRPr sz="1860" kern="1200">
          <a:solidFill>
            <a:schemeClr val="tx1"/>
          </a:solidFill>
          <a:latin typeface="+mn-lt"/>
          <a:ea typeface="+mn-ea"/>
          <a:cs typeface="+mn-cs"/>
        </a:defRPr>
      </a:lvl1pPr>
      <a:lvl2pPr marL="472505" algn="l" defTabSz="945009" rtl="0" eaLnBrk="1" latinLnBrk="0" hangingPunct="1">
        <a:defRPr sz="1860" kern="1200">
          <a:solidFill>
            <a:schemeClr val="tx1"/>
          </a:solidFill>
          <a:latin typeface="+mn-lt"/>
          <a:ea typeface="+mn-ea"/>
          <a:cs typeface="+mn-cs"/>
        </a:defRPr>
      </a:lvl2pPr>
      <a:lvl3pPr marL="945009" algn="l" defTabSz="945009" rtl="0" eaLnBrk="1" latinLnBrk="0" hangingPunct="1">
        <a:defRPr sz="1860" kern="1200">
          <a:solidFill>
            <a:schemeClr val="tx1"/>
          </a:solidFill>
          <a:latin typeface="+mn-lt"/>
          <a:ea typeface="+mn-ea"/>
          <a:cs typeface="+mn-cs"/>
        </a:defRPr>
      </a:lvl3pPr>
      <a:lvl4pPr marL="1417513" algn="l" defTabSz="945009" rtl="0" eaLnBrk="1" latinLnBrk="0" hangingPunct="1">
        <a:defRPr sz="1860" kern="1200">
          <a:solidFill>
            <a:schemeClr val="tx1"/>
          </a:solidFill>
          <a:latin typeface="+mn-lt"/>
          <a:ea typeface="+mn-ea"/>
          <a:cs typeface="+mn-cs"/>
        </a:defRPr>
      </a:lvl4pPr>
      <a:lvl5pPr marL="1890017" algn="l" defTabSz="945009" rtl="0" eaLnBrk="1" latinLnBrk="0" hangingPunct="1">
        <a:defRPr sz="1860" kern="1200">
          <a:solidFill>
            <a:schemeClr val="tx1"/>
          </a:solidFill>
          <a:latin typeface="+mn-lt"/>
          <a:ea typeface="+mn-ea"/>
          <a:cs typeface="+mn-cs"/>
        </a:defRPr>
      </a:lvl5pPr>
      <a:lvl6pPr marL="2362522" algn="l" defTabSz="945009" rtl="0" eaLnBrk="1" latinLnBrk="0" hangingPunct="1">
        <a:defRPr sz="1860" kern="1200">
          <a:solidFill>
            <a:schemeClr val="tx1"/>
          </a:solidFill>
          <a:latin typeface="+mn-lt"/>
          <a:ea typeface="+mn-ea"/>
          <a:cs typeface="+mn-cs"/>
        </a:defRPr>
      </a:lvl6pPr>
      <a:lvl7pPr marL="2835026" algn="l" defTabSz="945009" rtl="0" eaLnBrk="1" latinLnBrk="0" hangingPunct="1">
        <a:defRPr sz="1860" kern="1200">
          <a:solidFill>
            <a:schemeClr val="tx1"/>
          </a:solidFill>
          <a:latin typeface="+mn-lt"/>
          <a:ea typeface="+mn-ea"/>
          <a:cs typeface="+mn-cs"/>
        </a:defRPr>
      </a:lvl7pPr>
      <a:lvl8pPr marL="3307531" algn="l" defTabSz="945009" rtl="0" eaLnBrk="1" latinLnBrk="0" hangingPunct="1">
        <a:defRPr sz="1860" kern="1200">
          <a:solidFill>
            <a:schemeClr val="tx1"/>
          </a:solidFill>
          <a:latin typeface="+mn-lt"/>
          <a:ea typeface="+mn-ea"/>
          <a:cs typeface="+mn-cs"/>
        </a:defRPr>
      </a:lvl8pPr>
      <a:lvl9pPr marL="3780036" algn="l" defTabSz="945009" rtl="0" eaLnBrk="1" latinLnBrk="0" hangingPunct="1">
        <a:defRPr sz="18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5" userDrawn="1">
          <p15:clr>
            <a:srgbClr val="F26B43"/>
          </p15:clr>
        </p15:guide>
        <p15:guide id="2" pos="6662" userDrawn="1">
          <p15:clr>
            <a:srgbClr val="F26B43"/>
          </p15:clr>
        </p15:guide>
        <p15:guide id="4" userDrawn="1">
          <p15:clr>
            <a:srgbClr val="F26B43"/>
          </p15:clr>
        </p15:guide>
        <p15:guide id="5" orient="horz" pos="252" userDrawn="1">
          <p15:clr>
            <a:srgbClr val="F26B43"/>
          </p15:clr>
        </p15:guide>
        <p15:guide id="6" orient="horz" userDrawn="1">
          <p15:clr>
            <a:srgbClr val="F26B43"/>
          </p15:clr>
        </p15:guide>
        <p15:guide id="7" pos="9071" userDrawn="1">
          <p15:clr>
            <a:srgbClr val="F26B43"/>
          </p15:clr>
        </p15:guide>
        <p15:guide id="9" pos="283" userDrawn="1">
          <p15:clr>
            <a:srgbClr val="F26B43"/>
          </p15:clr>
        </p15:guide>
        <p15:guide id="10" orient="horz" pos="4434" userDrawn="1">
          <p15:clr>
            <a:srgbClr val="F26B43"/>
          </p15:clr>
        </p15:guide>
        <p15:guide id="11" pos="4536" userDrawn="1">
          <p15:clr>
            <a:srgbClr val="F26B43"/>
          </p15:clr>
        </p15:guide>
        <p15:guide id="13" pos="2409" userDrawn="1">
          <p15:clr>
            <a:srgbClr val="F26B43"/>
          </p15:clr>
        </p15:guide>
        <p15:guide id="14" pos="8788" userDrawn="1">
          <p15:clr>
            <a:srgbClr val="F26B43"/>
          </p15:clr>
        </p15:guide>
        <p15:guide id="15" orient="horz" pos="2343" userDrawn="1">
          <p15:clr>
            <a:srgbClr val="F26B43"/>
          </p15:clr>
        </p15:guide>
        <p15:guide id="16" orient="horz" pos="340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hyperlink" Target="https://d1.awsstatic.com/training-and-certification/docs-dev-associate/AWS-Certified-Developer-Associate_Exam-Guide.pdf"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1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8" Type="http://schemas.openxmlformats.org/officeDocument/2006/relationships/image" Target="../media/image29.gif"/><Relationship Id="rId3" Type="http://schemas.openxmlformats.org/officeDocument/2006/relationships/image" Target="../media/image25.png"/><Relationship Id="rId7"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gif"/><Relationship Id="rId4" Type="http://schemas.openxmlformats.org/officeDocument/2006/relationships/image" Target="../media/image26.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1.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1.xml"/><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1.xml"/><Relationship Id="rId5" Type="http://schemas.openxmlformats.org/officeDocument/2006/relationships/image" Target="../media/image43.sv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53.png"/><Relationship Id="rId3" Type="http://schemas.openxmlformats.org/officeDocument/2006/relationships/image" Target="../media/image45.png"/><Relationship Id="rId7" Type="http://schemas.openxmlformats.org/officeDocument/2006/relationships/image" Target="../media/image40.png"/><Relationship Id="rId12" Type="http://schemas.openxmlformats.org/officeDocument/2006/relationships/image" Target="../media/image52.svg"/><Relationship Id="rId17" Type="http://schemas.openxmlformats.org/officeDocument/2006/relationships/image" Target="../media/image57.png"/><Relationship Id="rId2" Type="http://schemas.openxmlformats.org/officeDocument/2006/relationships/image" Target="../media/image44.png"/><Relationship Id="rId16" Type="http://schemas.openxmlformats.org/officeDocument/2006/relationships/image" Target="../media/image56.svg"/><Relationship Id="rId1" Type="http://schemas.openxmlformats.org/officeDocument/2006/relationships/slideLayout" Target="../slideLayouts/slideLayout11.xml"/><Relationship Id="rId6" Type="http://schemas.openxmlformats.org/officeDocument/2006/relationships/image" Target="../media/image48.svg"/><Relationship Id="rId11" Type="http://schemas.openxmlformats.org/officeDocument/2006/relationships/image" Target="../media/image51.png"/><Relationship Id="rId5" Type="http://schemas.openxmlformats.org/officeDocument/2006/relationships/image" Target="../media/image47.png"/><Relationship Id="rId15" Type="http://schemas.openxmlformats.org/officeDocument/2006/relationships/image" Target="../media/image55.png"/><Relationship Id="rId10" Type="http://schemas.openxmlformats.org/officeDocument/2006/relationships/image" Target="../media/image50.svg"/><Relationship Id="rId4" Type="http://schemas.openxmlformats.org/officeDocument/2006/relationships/image" Target="../media/image46.svg"/><Relationship Id="rId9" Type="http://schemas.openxmlformats.org/officeDocument/2006/relationships/image" Target="../media/image49.png"/><Relationship Id="rId14" Type="http://schemas.openxmlformats.org/officeDocument/2006/relationships/image" Target="../media/image54.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AEDF-0238-4F9E-8067-974A03278C02}"/>
              </a:ext>
            </a:extLst>
          </p:cNvPr>
          <p:cNvSpPr>
            <a:spLocks noGrp="1"/>
          </p:cNvSpPr>
          <p:nvPr>
            <p:ph type="ctrTitle"/>
          </p:nvPr>
        </p:nvSpPr>
        <p:spPr>
          <a:xfrm>
            <a:off x="94741" y="2920692"/>
            <a:ext cx="10032485" cy="983764"/>
          </a:xfrm>
        </p:spPr>
        <p:txBody>
          <a:bodyPr/>
          <a:lstStyle/>
          <a:p>
            <a:br>
              <a:rPr lang="en-US" sz="2000" dirty="0"/>
            </a:br>
            <a:r>
              <a:rPr lang="en-US" sz="2400" dirty="0"/>
              <a:t>Cloud Elevate –Exam Readiness workshop</a:t>
            </a:r>
            <a:br>
              <a:rPr lang="en-US" sz="2400" dirty="0"/>
            </a:br>
            <a:br>
              <a:rPr lang="en-US" sz="2400" dirty="0"/>
            </a:br>
            <a:r>
              <a:rPr lang="en-US" sz="2400" dirty="0"/>
              <a:t>  AWS Certified Developer - Associate</a:t>
            </a:r>
            <a:endParaRPr lang="en-IN" sz="2400" dirty="0"/>
          </a:p>
        </p:txBody>
      </p:sp>
      <p:sp>
        <p:nvSpPr>
          <p:cNvPr id="3" name="Text Placeholder 2">
            <a:extLst>
              <a:ext uri="{FF2B5EF4-FFF2-40B4-BE49-F238E27FC236}">
                <a16:creationId xmlns:a16="http://schemas.microsoft.com/office/drawing/2014/main" id="{5056235A-690C-493E-9A78-BBEFE510A133}"/>
              </a:ext>
            </a:extLst>
          </p:cNvPr>
          <p:cNvSpPr>
            <a:spLocks noGrp="1"/>
          </p:cNvSpPr>
          <p:nvPr>
            <p:ph type="body" sz="quarter" idx="13"/>
          </p:nvPr>
        </p:nvSpPr>
        <p:spPr>
          <a:xfrm>
            <a:off x="94741" y="5025149"/>
            <a:ext cx="5063855" cy="983765"/>
          </a:xfrm>
        </p:spPr>
        <p:txBody>
          <a:bodyPr>
            <a:normAutofit/>
          </a:bodyPr>
          <a:lstStyle/>
          <a:p>
            <a:r>
              <a:rPr lang="en-US" sz="2400" dirty="0"/>
              <a:t>Developing and Deepening </a:t>
            </a:r>
          </a:p>
          <a:p>
            <a:r>
              <a:rPr lang="en-US" sz="2400" dirty="0"/>
              <a:t>Cloud skills @ATCI</a:t>
            </a:r>
          </a:p>
        </p:txBody>
      </p:sp>
    </p:spTree>
    <p:extLst>
      <p:ext uri="{BB962C8B-B14F-4D97-AF65-F5344CB8AC3E}">
        <p14:creationId xmlns:p14="http://schemas.microsoft.com/office/powerpoint/2010/main" val="970403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37BC98-1B5E-418E-9453-30AF408D4067}"/>
              </a:ext>
            </a:extLst>
          </p:cNvPr>
          <p:cNvSpPr/>
          <p:nvPr/>
        </p:nvSpPr>
        <p:spPr>
          <a:xfrm>
            <a:off x="1393089" y="6704497"/>
            <a:ext cx="4594528" cy="378565"/>
          </a:xfrm>
          <a:prstGeom prst="rect">
            <a:avLst/>
          </a:prstGeom>
        </p:spPr>
        <p:txBody>
          <a:bodyPr wrap="none">
            <a:spAutoFit/>
          </a:bodyPr>
          <a:lstStyle/>
          <a:p>
            <a:r>
              <a:rPr lang="en-US" sz="1860" i="1" dirty="0">
                <a:latin typeface="Graphik Medium" panose="020B0603030202060203" pitchFamily="34" charset="0"/>
              </a:rPr>
              <a:t>https://aws.amazon.com/certification/</a:t>
            </a:r>
          </a:p>
        </p:txBody>
      </p:sp>
      <p:sp>
        <p:nvSpPr>
          <p:cNvPr id="4" name="TextBox 3">
            <a:extLst>
              <a:ext uri="{FF2B5EF4-FFF2-40B4-BE49-F238E27FC236}">
                <a16:creationId xmlns:a16="http://schemas.microsoft.com/office/drawing/2014/main" id="{7DD052C8-8862-4872-823F-32DD9632586B}"/>
              </a:ext>
            </a:extLst>
          </p:cNvPr>
          <p:cNvSpPr txBox="1"/>
          <p:nvPr/>
        </p:nvSpPr>
        <p:spPr>
          <a:xfrm>
            <a:off x="285637" y="132966"/>
            <a:ext cx="5852884" cy="584775"/>
          </a:xfrm>
          <a:prstGeom prst="rect">
            <a:avLst/>
          </a:prstGeom>
          <a:noFill/>
        </p:spPr>
        <p:txBody>
          <a:bodyPr wrap="none" rtlCol="0">
            <a:spAutoFit/>
          </a:bodyPr>
          <a:lstStyle/>
          <a:p>
            <a:r>
              <a:rPr lang="en-US" sz="3200" b="1" dirty="0">
                <a:solidFill>
                  <a:schemeClr val="bg1"/>
                </a:solidFill>
                <a:latin typeface="Graphik Black" panose="020B0A03030202060203" pitchFamily="34" charset="0"/>
              </a:rPr>
              <a:t>AWS CERTIFICATION PATH</a:t>
            </a:r>
          </a:p>
        </p:txBody>
      </p:sp>
      <p:sp>
        <p:nvSpPr>
          <p:cNvPr id="5" name="Slide Number Placeholder 2">
            <a:extLst>
              <a:ext uri="{FF2B5EF4-FFF2-40B4-BE49-F238E27FC236}">
                <a16:creationId xmlns:a16="http://schemas.microsoft.com/office/drawing/2014/main" id="{D63F9090-E8F4-4ACC-98F1-7C76216DC883}"/>
              </a:ext>
            </a:extLst>
          </p:cNvPr>
          <p:cNvSpPr txBox="1">
            <a:spLocks/>
          </p:cNvSpPr>
          <p:nvPr/>
        </p:nvSpPr>
        <p:spPr>
          <a:xfrm>
            <a:off x="13480027" y="6794090"/>
            <a:ext cx="470184" cy="26601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2</a:t>
            </a:fld>
            <a:endParaRPr lang="en-US" dirty="0"/>
          </a:p>
        </p:txBody>
      </p:sp>
      <p:pic>
        <p:nvPicPr>
          <p:cNvPr id="8" name="Picture 7">
            <a:extLst>
              <a:ext uri="{FF2B5EF4-FFF2-40B4-BE49-F238E27FC236}">
                <a16:creationId xmlns:a16="http://schemas.microsoft.com/office/drawing/2014/main" id="{F90B2B95-EB5F-4581-AC0D-03C133D9968F}"/>
              </a:ext>
            </a:extLst>
          </p:cNvPr>
          <p:cNvPicPr>
            <a:picLocks noChangeAspect="1"/>
          </p:cNvPicPr>
          <p:nvPr/>
        </p:nvPicPr>
        <p:blipFill>
          <a:blip r:embed="rId2"/>
          <a:stretch>
            <a:fillRect/>
          </a:stretch>
        </p:blipFill>
        <p:spPr>
          <a:xfrm>
            <a:off x="2637631" y="1037431"/>
            <a:ext cx="9124950" cy="5124450"/>
          </a:xfrm>
          <a:prstGeom prst="rect">
            <a:avLst/>
          </a:prstGeom>
        </p:spPr>
      </p:pic>
    </p:spTree>
    <p:extLst>
      <p:ext uri="{BB962C8B-B14F-4D97-AF65-F5344CB8AC3E}">
        <p14:creationId xmlns:p14="http://schemas.microsoft.com/office/powerpoint/2010/main" val="313044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A1946-F966-47FE-81CD-76094796A66C}"/>
              </a:ext>
            </a:extLst>
          </p:cNvPr>
          <p:cNvSpPr>
            <a:spLocks noGrp="1"/>
          </p:cNvSpPr>
          <p:nvPr>
            <p:ph type="sldNum" sz="quarter" idx="17"/>
          </p:nvPr>
        </p:nvSpPr>
        <p:spPr/>
        <p:txBody>
          <a:bodyPr/>
          <a:lstStyle/>
          <a:p>
            <a:fld id="{4F9AC08D-23A9-440E-BCB9-AA1E9877CC38}" type="slidenum">
              <a:rPr lang="en-US" smtClean="0"/>
              <a:pPr/>
              <a:t>3</a:t>
            </a:fld>
            <a:endParaRPr lang="en-US" dirty="0"/>
          </a:p>
        </p:txBody>
      </p:sp>
      <p:sp>
        <p:nvSpPr>
          <p:cNvPr id="3" name="Title 2">
            <a:extLst>
              <a:ext uri="{FF2B5EF4-FFF2-40B4-BE49-F238E27FC236}">
                <a16:creationId xmlns:a16="http://schemas.microsoft.com/office/drawing/2014/main" id="{D19D177A-2CB7-416C-867F-3904525059FE}"/>
              </a:ext>
            </a:extLst>
          </p:cNvPr>
          <p:cNvSpPr>
            <a:spLocks noGrp="1"/>
          </p:cNvSpPr>
          <p:nvPr>
            <p:ph type="title"/>
          </p:nvPr>
        </p:nvSpPr>
        <p:spPr>
          <a:xfrm>
            <a:off x="450010" y="284929"/>
            <a:ext cx="13500200" cy="1359871"/>
          </a:xfrm>
        </p:spPr>
        <p:txBody>
          <a:bodyPr/>
          <a:lstStyle/>
          <a:p>
            <a:r>
              <a:rPr lang="en-US" dirty="0">
                <a:solidFill>
                  <a:schemeClr val="bg1"/>
                </a:solidFill>
              </a:rPr>
              <a:t>AWS Developer - associate</a:t>
            </a:r>
          </a:p>
        </p:txBody>
      </p:sp>
      <p:sp>
        <p:nvSpPr>
          <p:cNvPr id="4" name="Footer Placeholder 3">
            <a:extLst>
              <a:ext uri="{FF2B5EF4-FFF2-40B4-BE49-F238E27FC236}">
                <a16:creationId xmlns:a16="http://schemas.microsoft.com/office/drawing/2014/main" id="{F6ACBA3A-B6F1-4D55-85C8-0264E2858170}"/>
              </a:ext>
            </a:extLst>
          </p:cNvPr>
          <p:cNvSpPr>
            <a:spLocks noGrp="1"/>
          </p:cNvSpPr>
          <p:nvPr>
            <p:ph type="ftr" sz="quarter" idx="16"/>
          </p:nvPr>
        </p:nvSpPr>
        <p:spPr/>
        <p:txBody>
          <a:bodyPr/>
          <a:lstStyle/>
          <a:p>
            <a:r>
              <a:rPr lang="en-US"/>
              <a:t>Copyright © 2020 Accenture. All rights reserved.</a:t>
            </a:r>
            <a:endParaRPr lang="en-US" dirty="0"/>
          </a:p>
        </p:txBody>
      </p:sp>
      <p:graphicFrame>
        <p:nvGraphicFramePr>
          <p:cNvPr id="5" name="Table Placeholder 3">
            <a:extLst>
              <a:ext uri="{FF2B5EF4-FFF2-40B4-BE49-F238E27FC236}">
                <a16:creationId xmlns:a16="http://schemas.microsoft.com/office/drawing/2014/main" id="{D8D71FBA-C419-45E2-AA89-CFF7460CE5DE}"/>
              </a:ext>
            </a:extLst>
          </p:cNvPr>
          <p:cNvGraphicFramePr>
            <a:graphicFrameLocks/>
          </p:cNvGraphicFramePr>
          <p:nvPr>
            <p:extLst>
              <p:ext uri="{D42A27DB-BD31-4B8C-83A1-F6EECF244321}">
                <p14:modId xmlns:p14="http://schemas.microsoft.com/office/powerpoint/2010/main" val="829509063"/>
              </p:ext>
            </p:extLst>
          </p:nvPr>
        </p:nvGraphicFramePr>
        <p:xfrm>
          <a:off x="3215148" y="1759836"/>
          <a:ext cx="7285704" cy="3326112"/>
        </p:xfrm>
        <a:graphic>
          <a:graphicData uri="http://schemas.openxmlformats.org/drawingml/2006/table">
            <a:tbl>
              <a:tblPr firstRow="1" bandRow="1">
                <a:tableStyleId>{F2DE63D5-997A-4646-A377-4702673A728D}</a:tableStyleId>
              </a:tblPr>
              <a:tblGrid>
                <a:gridCol w="5399224">
                  <a:extLst>
                    <a:ext uri="{9D8B030D-6E8A-4147-A177-3AD203B41FA5}">
                      <a16:colId xmlns:a16="http://schemas.microsoft.com/office/drawing/2014/main" val="20000"/>
                    </a:ext>
                  </a:extLst>
                </a:gridCol>
                <a:gridCol w="1886480">
                  <a:extLst>
                    <a:ext uri="{9D8B030D-6E8A-4147-A177-3AD203B41FA5}">
                      <a16:colId xmlns:a16="http://schemas.microsoft.com/office/drawing/2014/main" val="20001"/>
                    </a:ext>
                  </a:extLst>
                </a:gridCol>
              </a:tblGrid>
              <a:tr h="544751">
                <a:tc>
                  <a:txBody>
                    <a:bodyPr/>
                    <a:lstStyle/>
                    <a:p>
                      <a:pPr algn="ctr"/>
                      <a:r>
                        <a:rPr lang="en-US" sz="1800" dirty="0"/>
                        <a:t>Domain</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tc>
                  <a:txBody>
                    <a:bodyPr/>
                    <a:lstStyle/>
                    <a:p>
                      <a:pPr algn="ctr"/>
                      <a:r>
                        <a:rPr lang="en-US" sz="1800" dirty="0"/>
                        <a:t>% of Exam</a:t>
                      </a:r>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txBody>
                  <a:tcPr/>
                </a:tc>
                <a:extLst>
                  <a:ext uri="{0D108BD9-81ED-4DB2-BD59-A6C34878D82A}">
                    <a16:rowId xmlns:a16="http://schemas.microsoft.com/office/drawing/2014/main" val="10000"/>
                  </a:ext>
                </a:extLst>
              </a:tr>
              <a:tr h="425350">
                <a:tc>
                  <a:txBody>
                    <a:bodyPr/>
                    <a:lstStyle/>
                    <a:p>
                      <a:r>
                        <a:rPr lang="en-US" sz="2400" kern="1200" dirty="0">
                          <a:solidFill>
                            <a:schemeClr val="tx1"/>
                          </a:solidFill>
                          <a:latin typeface="+mn-lt"/>
                          <a:ea typeface="+mn-ea"/>
                          <a:cs typeface="+mn-cs"/>
                        </a:rPr>
                        <a:t>1: Deployment</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22%</a:t>
                      </a:r>
                    </a:p>
                  </a:txBody>
                  <a:tcPr/>
                </a:tc>
                <a:extLst>
                  <a:ext uri="{0D108BD9-81ED-4DB2-BD59-A6C34878D82A}">
                    <a16:rowId xmlns:a16="http://schemas.microsoft.com/office/drawing/2014/main" val="10001"/>
                  </a:ext>
                </a:extLst>
              </a:tr>
              <a:tr h="374717">
                <a:tc>
                  <a:txBody>
                    <a:bodyPr/>
                    <a:lstStyle/>
                    <a:p>
                      <a:r>
                        <a:rPr lang="en-US" sz="2400" kern="1200" dirty="0">
                          <a:solidFill>
                            <a:schemeClr val="tx1"/>
                          </a:solidFill>
                          <a:latin typeface="+mn-lt"/>
                          <a:ea typeface="+mn-ea"/>
                          <a:cs typeface="+mn-cs"/>
                        </a:rPr>
                        <a:t>2: Security</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26%</a:t>
                      </a:r>
                    </a:p>
                  </a:txBody>
                  <a:tcPr/>
                </a:tc>
                <a:extLst>
                  <a:ext uri="{0D108BD9-81ED-4DB2-BD59-A6C34878D82A}">
                    <a16:rowId xmlns:a16="http://schemas.microsoft.com/office/drawing/2014/main" val="10002"/>
                  </a:ext>
                </a:extLst>
              </a:tr>
              <a:tr h="468766">
                <a:tc>
                  <a:txBody>
                    <a:bodyPr/>
                    <a:lstStyle/>
                    <a:p>
                      <a:r>
                        <a:rPr lang="en-US" sz="2400" kern="1200" dirty="0">
                          <a:solidFill>
                            <a:schemeClr val="tx1"/>
                          </a:solidFill>
                          <a:latin typeface="+mn-lt"/>
                          <a:ea typeface="+mn-ea"/>
                          <a:cs typeface="+mn-cs"/>
                        </a:rPr>
                        <a:t>3: Development with AWS</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30%</a:t>
                      </a:r>
                    </a:p>
                  </a:txBody>
                  <a:tcPr/>
                </a:tc>
                <a:extLst>
                  <a:ext uri="{0D108BD9-81ED-4DB2-BD59-A6C34878D82A}">
                    <a16:rowId xmlns:a16="http://schemas.microsoft.com/office/drawing/2014/main" val="10003"/>
                  </a:ext>
                </a:extLst>
              </a:tr>
              <a:tr h="408435">
                <a:tc>
                  <a:txBody>
                    <a:bodyPr/>
                    <a:lstStyle/>
                    <a:p>
                      <a:r>
                        <a:rPr lang="en-US" sz="2400" kern="1200" dirty="0">
                          <a:solidFill>
                            <a:schemeClr val="tx1"/>
                          </a:solidFill>
                          <a:latin typeface="+mn-lt"/>
                          <a:ea typeface="+mn-ea"/>
                          <a:cs typeface="+mn-cs"/>
                        </a:rPr>
                        <a:t>4: Refactoring</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a:t>
                      </a:r>
                    </a:p>
                  </a:txBody>
                  <a:tcPr/>
                </a:tc>
                <a:extLst>
                  <a:ext uri="{0D108BD9-81ED-4DB2-BD59-A6C34878D82A}">
                    <a16:rowId xmlns:a16="http://schemas.microsoft.com/office/drawing/2014/main" val="10004"/>
                  </a:ext>
                </a:extLst>
              </a:tr>
              <a:tr h="483795">
                <a:tc>
                  <a:txBody>
                    <a:bodyPr/>
                    <a:lstStyle/>
                    <a:p>
                      <a:r>
                        <a:rPr lang="en-US" sz="2400" kern="1200" dirty="0">
                          <a:solidFill>
                            <a:schemeClr val="tx1"/>
                          </a:solidFill>
                          <a:latin typeface="+mn-lt"/>
                          <a:ea typeface="+mn-ea"/>
                          <a:cs typeface="+mn-cs"/>
                        </a:rPr>
                        <a:t>5: Monitoring and Troubleshooting</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12%</a:t>
                      </a:r>
                    </a:p>
                  </a:txBody>
                  <a:tcPr/>
                </a:tc>
                <a:extLst>
                  <a:ext uri="{0D108BD9-81ED-4DB2-BD59-A6C34878D82A}">
                    <a16:rowId xmlns:a16="http://schemas.microsoft.com/office/drawing/2014/main" val="10005"/>
                  </a:ext>
                </a:extLst>
              </a:tr>
              <a:tr h="374717">
                <a:tc>
                  <a:txBody>
                    <a:bodyPr/>
                    <a:lstStyle/>
                    <a:p>
                      <a:r>
                        <a:rPr lang="en-US" sz="2400" kern="1200" dirty="0">
                          <a:solidFill>
                            <a:schemeClr val="tx1"/>
                          </a:solidFill>
                          <a:latin typeface="+mn-lt"/>
                          <a:ea typeface="+mn-ea"/>
                          <a:cs typeface="+mn-cs"/>
                        </a:rPr>
                        <a:t>Total</a:t>
                      </a:r>
                    </a:p>
                  </a:txBody>
                  <a:tcPr/>
                </a:tc>
                <a:tc>
                  <a:txBody>
                    <a:bodyPr/>
                    <a:lstStyle/>
                    <a:p>
                      <a:pPr marL="0" algn="ctr" defTabSz="342900" rtl="0" eaLnBrk="1" latinLnBrk="0" hangingPunct="1">
                        <a:tabLst>
                          <a:tab pos="457200" algn="r"/>
                        </a:tabLst>
                      </a:pPr>
                      <a:r>
                        <a:rPr lang="en-US" sz="2400" kern="1200" dirty="0">
                          <a:solidFill>
                            <a:schemeClr val="tx1"/>
                          </a:solidFill>
                          <a:latin typeface="+mn-lt"/>
                          <a:ea typeface="+mn-ea"/>
                          <a:cs typeface="+mn-cs"/>
                        </a:rPr>
                        <a:t>	100%</a:t>
                      </a:r>
                    </a:p>
                  </a:txBody>
                  <a:tcPr/>
                </a:tc>
                <a:extLst>
                  <a:ext uri="{0D108BD9-81ED-4DB2-BD59-A6C34878D82A}">
                    <a16:rowId xmlns:a16="http://schemas.microsoft.com/office/drawing/2014/main" val="2417361994"/>
                  </a:ext>
                </a:extLst>
              </a:tr>
            </a:tbl>
          </a:graphicData>
        </a:graphic>
      </p:graphicFrame>
      <p:sp>
        <p:nvSpPr>
          <p:cNvPr id="7" name="TextBox 6">
            <a:extLst>
              <a:ext uri="{FF2B5EF4-FFF2-40B4-BE49-F238E27FC236}">
                <a16:creationId xmlns:a16="http://schemas.microsoft.com/office/drawing/2014/main" id="{8BB6F6C4-B3B4-425B-9A33-28E114F5DE89}"/>
              </a:ext>
            </a:extLst>
          </p:cNvPr>
          <p:cNvSpPr txBox="1"/>
          <p:nvPr/>
        </p:nvSpPr>
        <p:spPr>
          <a:xfrm>
            <a:off x="2610695" y="1114266"/>
            <a:ext cx="10161408" cy="415498"/>
          </a:xfrm>
          <a:prstGeom prst="rect">
            <a:avLst/>
          </a:prstGeom>
          <a:noFill/>
        </p:spPr>
        <p:txBody>
          <a:bodyPr wrap="square" lIns="0" tIns="0" rIns="0" bIns="45720" rtlCol="0">
            <a:spAutoFit/>
          </a:bodyPr>
          <a:lstStyle/>
          <a:p>
            <a:r>
              <a:rPr lang="en-IN" sz="2400" dirty="0">
                <a:hlinkClick r:id="rId2"/>
              </a:rPr>
              <a:t>AWS Developer - Associate Exam Guide (Exam Blueprint)</a:t>
            </a:r>
            <a:endParaRPr lang="en-IN" sz="2400" dirty="0"/>
          </a:p>
        </p:txBody>
      </p:sp>
    </p:spTree>
    <p:extLst>
      <p:ext uri="{BB962C8B-B14F-4D97-AF65-F5344CB8AC3E}">
        <p14:creationId xmlns:p14="http://schemas.microsoft.com/office/powerpoint/2010/main" val="966166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A1651B-B2A3-4006-AE85-6053D28B5230}"/>
              </a:ext>
            </a:extLst>
          </p:cNvPr>
          <p:cNvSpPr>
            <a:spLocks noGrp="1"/>
          </p:cNvSpPr>
          <p:nvPr>
            <p:ph type="sldNum" sz="quarter" idx="17"/>
          </p:nvPr>
        </p:nvSpPr>
        <p:spPr/>
        <p:txBody>
          <a:bodyPr/>
          <a:lstStyle/>
          <a:p>
            <a:fld id="{4F9AC08D-23A9-440E-BCB9-AA1E9877CC38}" type="slidenum">
              <a:rPr lang="en-US" smtClean="0"/>
              <a:pPr/>
              <a:t>4</a:t>
            </a:fld>
            <a:endParaRPr lang="en-US" dirty="0"/>
          </a:p>
        </p:txBody>
      </p:sp>
      <p:sp>
        <p:nvSpPr>
          <p:cNvPr id="3" name="Title 2">
            <a:extLst>
              <a:ext uri="{FF2B5EF4-FFF2-40B4-BE49-F238E27FC236}">
                <a16:creationId xmlns:a16="http://schemas.microsoft.com/office/drawing/2014/main" id="{C7A8400E-E28F-47CE-B016-C956283F7257}"/>
              </a:ext>
            </a:extLst>
          </p:cNvPr>
          <p:cNvSpPr>
            <a:spLocks noGrp="1"/>
          </p:cNvSpPr>
          <p:nvPr>
            <p:ph type="title"/>
          </p:nvPr>
        </p:nvSpPr>
        <p:spPr>
          <a:xfrm>
            <a:off x="450009" y="281978"/>
            <a:ext cx="13500200" cy="1359871"/>
          </a:xfrm>
        </p:spPr>
        <p:txBody>
          <a:bodyPr/>
          <a:lstStyle/>
          <a:p>
            <a:r>
              <a:rPr lang="en-US" sz="4400" dirty="0">
                <a:solidFill>
                  <a:schemeClr val="bg1"/>
                </a:solidFill>
              </a:rPr>
              <a:t>Security– 26%</a:t>
            </a:r>
            <a:endParaRPr lang="en-US" dirty="0">
              <a:solidFill>
                <a:schemeClr val="bg1"/>
              </a:solidFill>
            </a:endParaRPr>
          </a:p>
        </p:txBody>
      </p:sp>
      <p:sp>
        <p:nvSpPr>
          <p:cNvPr id="4" name="Footer Placeholder 3">
            <a:extLst>
              <a:ext uri="{FF2B5EF4-FFF2-40B4-BE49-F238E27FC236}">
                <a16:creationId xmlns:a16="http://schemas.microsoft.com/office/drawing/2014/main" id="{A0F06007-E1B0-4FC8-B99E-A6DAAA0A6889}"/>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91ABA7AC-4BE9-4CDE-8207-931F4FA3B9CF}"/>
              </a:ext>
            </a:extLst>
          </p:cNvPr>
          <p:cNvSpPr/>
          <p:nvPr/>
        </p:nvSpPr>
        <p:spPr>
          <a:xfrm>
            <a:off x="450004" y="1162610"/>
            <a:ext cx="12656395" cy="2446824"/>
          </a:xfrm>
          <a:prstGeom prst="rect">
            <a:avLst/>
          </a:prstGeom>
        </p:spPr>
        <p:txBody>
          <a:bodyPr wrap="square">
            <a:spAutoFit/>
          </a:bodyPr>
          <a:lstStyle/>
          <a:p>
            <a:pPr>
              <a:lnSpc>
                <a:spcPct val="150000"/>
              </a:lnSpc>
            </a:pPr>
            <a:r>
              <a:rPr lang="en-US" dirty="0">
                <a:solidFill>
                  <a:srgbClr val="18537D"/>
                </a:solidFill>
              </a:rPr>
              <a:t>Objectives</a:t>
            </a:r>
          </a:p>
          <a:p>
            <a:pPr marL="742950" lvl="1" indent="-285750">
              <a:lnSpc>
                <a:spcPct val="150000"/>
              </a:lnSpc>
              <a:buFont typeface="Arial" panose="020B0604020202020204" pitchFamily="34" charset="0"/>
              <a:buChar char="•"/>
            </a:pPr>
            <a:r>
              <a:rPr lang="en-US" dirty="0">
                <a:solidFill>
                  <a:srgbClr val="18537D"/>
                </a:solidFill>
              </a:rPr>
              <a:t>Make authenticated calls to AWS</a:t>
            </a:r>
          </a:p>
          <a:p>
            <a:pPr marL="742950" lvl="1" indent="-285750">
              <a:lnSpc>
                <a:spcPct val="150000"/>
              </a:lnSpc>
              <a:buFont typeface="Arial" panose="020B0604020202020204" pitchFamily="34" charset="0"/>
              <a:buChar char="•"/>
            </a:pPr>
            <a:r>
              <a:rPr lang="en-US" dirty="0">
                <a:solidFill>
                  <a:srgbClr val="18537D"/>
                </a:solidFill>
              </a:rPr>
              <a:t>Implement encryption using AWS</a:t>
            </a:r>
          </a:p>
          <a:p>
            <a:pPr marL="742950" lvl="1" indent="-285750">
              <a:lnSpc>
                <a:spcPct val="150000"/>
              </a:lnSpc>
              <a:buFont typeface="Arial" panose="020B0604020202020204" pitchFamily="34" charset="0"/>
              <a:buChar char="•"/>
            </a:pPr>
            <a:r>
              <a:rPr lang="en-US" dirty="0">
                <a:solidFill>
                  <a:srgbClr val="18537D"/>
                </a:solidFill>
              </a:rPr>
              <a:t>Implement application authentication and authorization</a:t>
            </a:r>
          </a:p>
          <a:p>
            <a:pPr marL="742950" lvl="1" indent="-285750">
              <a:lnSpc>
                <a:spcPct val="150000"/>
              </a:lnSpc>
              <a:buFont typeface="Arial" panose="020B0604020202020204" pitchFamily="34" charset="0"/>
              <a:buChar char="•"/>
            </a:pPr>
            <a:endParaRPr lang="en-US" dirty="0">
              <a:solidFill>
                <a:srgbClr val="18537D"/>
              </a:solidFill>
            </a:endParaRPr>
          </a:p>
          <a:p>
            <a:endParaRPr lang="en-US" dirty="0"/>
          </a:p>
        </p:txBody>
      </p:sp>
    </p:spTree>
    <p:extLst>
      <p:ext uri="{BB962C8B-B14F-4D97-AF65-F5344CB8AC3E}">
        <p14:creationId xmlns:p14="http://schemas.microsoft.com/office/powerpoint/2010/main" val="74451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4F1518-275E-4146-9EDD-43380D66C22A}"/>
              </a:ext>
            </a:extLst>
          </p:cNvPr>
          <p:cNvSpPr>
            <a:spLocks noGrp="1"/>
          </p:cNvSpPr>
          <p:nvPr>
            <p:ph type="sldNum" sz="quarter" idx="17"/>
          </p:nvPr>
        </p:nvSpPr>
        <p:spPr/>
        <p:txBody>
          <a:bodyPr/>
          <a:lstStyle/>
          <a:p>
            <a:fld id="{4F9AC08D-23A9-440E-BCB9-AA1E9877CC38}" type="slidenum">
              <a:rPr lang="en-US" smtClean="0"/>
              <a:pPr/>
              <a:t>5</a:t>
            </a:fld>
            <a:endParaRPr lang="en-US" dirty="0"/>
          </a:p>
        </p:txBody>
      </p:sp>
      <p:sp>
        <p:nvSpPr>
          <p:cNvPr id="3" name="Title 2">
            <a:extLst>
              <a:ext uri="{FF2B5EF4-FFF2-40B4-BE49-F238E27FC236}">
                <a16:creationId xmlns:a16="http://schemas.microsoft.com/office/drawing/2014/main" id="{13D2A14B-A14B-46AC-8939-4DF03C83A84E}"/>
              </a:ext>
            </a:extLst>
          </p:cNvPr>
          <p:cNvSpPr>
            <a:spLocks noGrp="1"/>
          </p:cNvSpPr>
          <p:nvPr>
            <p:ph type="title"/>
          </p:nvPr>
        </p:nvSpPr>
        <p:spPr>
          <a:xfrm>
            <a:off x="450009" y="272145"/>
            <a:ext cx="13500200" cy="1359871"/>
          </a:xfrm>
        </p:spPr>
        <p:txBody>
          <a:bodyPr>
            <a:normAutofit/>
          </a:bodyPr>
          <a:lstStyle/>
          <a:p>
            <a:r>
              <a:rPr lang="en-US" sz="4400" dirty="0">
                <a:solidFill>
                  <a:schemeClr val="bg1"/>
                </a:solidFill>
              </a:rPr>
              <a:t>Security – 26%</a:t>
            </a:r>
            <a:endParaRPr lang="en-US" sz="4400" dirty="0"/>
          </a:p>
        </p:txBody>
      </p:sp>
      <p:sp>
        <p:nvSpPr>
          <p:cNvPr id="4" name="Footer Placeholder 3">
            <a:extLst>
              <a:ext uri="{FF2B5EF4-FFF2-40B4-BE49-F238E27FC236}">
                <a16:creationId xmlns:a16="http://schemas.microsoft.com/office/drawing/2014/main" id="{3D46655A-9CF2-4EA3-8978-E6409A5E50C6}"/>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737C1EE4-4962-4858-96D2-AEE67EAF5929}"/>
              </a:ext>
            </a:extLst>
          </p:cNvPr>
          <p:cNvSpPr/>
          <p:nvPr/>
        </p:nvSpPr>
        <p:spPr>
          <a:xfrm>
            <a:off x="450004" y="1162610"/>
            <a:ext cx="12656395" cy="2948308"/>
          </a:xfrm>
          <a:prstGeom prst="rect">
            <a:avLst/>
          </a:prstGeom>
        </p:spPr>
        <p:txBody>
          <a:bodyPr wrap="square">
            <a:spAutoFit/>
          </a:bodyPr>
          <a:lstStyle/>
          <a:p>
            <a:pPr>
              <a:lnSpc>
                <a:spcPct val="150000"/>
              </a:lnSpc>
            </a:pPr>
            <a:r>
              <a:rPr lang="en-US" dirty="0">
                <a:solidFill>
                  <a:srgbClr val="18537D"/>
                </a:solidFill>
              </a:rPr>
              <a:t>Key AWS Services</a:t>
            </a:r>
          </a:p>
          <a:p>
            <a:pPr marL="742950" lvl="1" indent="-285750">
              <a:lnSpc>
                <a:spcPct val="150000"/>
              </a:lnSpc>
              <a:buFont typeface="Arial" panose="020B0604020202020204" pitchFamily="34" charset="0"/>
              <a:buChar char="•"/>
            </a:pPr>
            <a:r>
              <a:rPr lang="en-US" dirty="0">
                <a:solidFill>
                  <a:srgbClr val="18537D"/>
                </a:solidFill>
              </a:rPr>
              <a:t>AWS Security Shared Responsibility Model</a:t>
            </a:r>
          </a:p>
          <a:p>
            <a:pPr marL="742950" lvl="1" indent="-285750">
              <a:lnSpc>
                <a:spcPct val="150000"/>
              </a:lnSpc>
              <a:buFont typeface="Arial" panose="020B0604020202020204" pitchFamily="34" charset="0"/>
              <a:buChar char="•"/>
            </a:pPr>
            <a:r>
              <a:rPr lang="en-US" dirty="0">
                <a:solidFill>
                  <a:srgbClr val="18537D"/>
                </a:solidFill>
              </a:rPr>
              <a:t>AWS IAM</a:t>
            </a:r>
          </a:p>
          <a:p>
            <a:pPr marL="742950" lvl="1" indent="-285750">
              <a:lnSpc>
                <a:spcPct val="150000"/>
              </a:lnSpc>
              <a:buFont typeface="Arial" panose="020B0604020202020204" pitchFamily="34" charset="0"/>
              <a:buChar char="•"/>
            </a:pPr>
            <a:r>
              <a:rPr lang="en-US" dirty="0">
                <a:solidFill>
                  <a:srgbClr val="18537D"/>
                </a:solidFill>
              </a:rPr>
              <a:t>AWS KMS</a:t>
            </a:r>
          </a:p>
          <a:p>
            <a:pPr marL="742950" lvl="1" indent="-285750">
              <a:lnSpc>
                <a:spcPct val="150000"/>
              </a:lnSpc>
              <a:buFont typeface="Arial" panose="020B0604020202020204" pitchFamily="34" charset="0"/>
              <a:buChar char="•"/>
            </a:pPr>
            <a:r>
              <a:rPr lang="en-US" dirty="0">
                <a:solidFill>
                  <a:srgbClr val="18537D"/>
                </a:solidFill>
              </a:rPr>
              <a:t>AWS Certificate Manager</a:t>
            </a:r>
          </a:p>
          <a:p>
            <a:pPr marL="742950" lvl="1" indent="-285750">
              <a:lnSpc>
                <a:spcPct val="150000"/>
              </a:lnSpc>
              <a:buFont typeface="Arial" panose="020B0604020202020204" pitchFamily="34" charset="0"/>
              <a:buChar char="•"/>
            </a:pPr>
            <a:r>
              <a:rPr lang="en-US" dirty="0">
                <a:solidFill>
                  <a:srgbClr val="18537D"/>
                </a:solidFill>
              </a:rPr>
              <a:t>AWS Secrets Manager</a:t>
            </a:r>
          </a:p>
          <a:p>
            <a:pPr marL="742950" lvl="1" indent="-285750">
              <a:lnSpc>
                <a:spcPct val="150000"/>
              </a:lnSpc>
              <a:buFont typeface="Arial" panose="020B0604020202020204" pitchFamily="34" charset="0"/>
              <a:buChar char="•"/>
            </a:pPr>
            <a:r>
              <a:rPr lang="en-US" dirty="0">
                <a:solidFill>
                  <a:srgbClr val="18537D"/>
                </a:solidFill>
              </a:rPr>
              <a:t>AWS VPC</a:t>
            </a:r>
          </a:p>
        </p:txBody>
      </p:sp>
    </p:spTree>
    <p:extLst>
      <p:ext uri="{BB962C8B-B14F-4D97-AF65-F5344CB8AC3E}">
        <p14:creationId xmlns:p14="http://schemas.microsoft.com/office/powerpoint/2010/main" val="3334814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CE6E65-2D2B-449D-86AF-A24785C9FBC4}"/>
              </a:ext>
            </a:extLst>
          </p:cNvPr>
          <p:cNvSpPr>
            <a:spLocks noGrp="1"/>
          </p:cNvSpPr>
          <p:nvPr>
            <p:ph type="sldNum" sz="quarter" idx="17"/>
          </p:nvPr>
        </p:nvSpPr>
        <p:spPr/>
        <p:txBody>
          <a:bodyPr/>
          <a:lstStyle/>
          <a:p>
            <a:fld id="{4F9AC08D-23A9-440E-BCB9-AA1E9877CC38}" type="slidenum">
              <a:rPr lang="en-US" smtClean="0"/>
              <a:pPr/>
              <a:t>6</a:t>
            </a:fld>
            <a:endParaRPr lang="en-US" dirty="0"/>
          </a:p>
        </p:txBody>
      </p:sp>
      <p:sp>
        <p:nvSpPr>
          <p:cNvPr id="3" name="Title 2">
            <a:extLst>
              <a:ext uri="{FF2B5EF4-FFF2-40B4-BE49-F238E27FC236}">
                <a16:creationId xmlns:a16="http://schemas.microsoft.com/office/drawing/2014/main" id="{F7E27664-A399-4F7C-8EDE-3193B024B7B4}"/>
              </a:ext>
            </a:extLst>
          </p:cNvPr>
          <p:cNvSpPr>
            <a:spLocks noGrp="1"/>
          </p:cNvSpPr>
          <p:nvPr>
            <p:ph type="title"/>
          </p:nvPr>
        </p:nvSpPr>
        <p:spPr>
          <a:xfrm>
            <a:off x="450010" y="261549"/>
            <a:ext cx="13500200" cy="1359871"/>
          </a:xfrm>
        </p:spPr>
        <p:txBody>
          <a:bodyPr/>
          <a:lstStyle/>
          <a:p>
            <a:r>
              <a:rPr lang="en-US" dirty="0">
                <a:solidFill>
                  <a:schemeClr val="bg1"/>
                </a:solidFill>
              </a:rPr>
              <a:t>AWS Shared Responsibility Model</a:t>
            </a:r>
          </a:p>
        </p:txBody>
      </p:sp>
      <p:sp>
        <p:nvSpPr>
          <p:cNvPr id="4" name="Footer Placeholder 3">
            <a:extLst>
              <a:ext uri="{FF2B5EF4-FFF2-40B4-BE49-F238E27FC236}">
                <a16:creationId xmlns:a16="http://schemas.microsoft.com/office/drawing/2014/main" id="{D1F27007-A009-4CE5-8C58-29022132A910}"/>
              </a:ext>
            </a:extLst>
          </p:cNvPr>
          <p:cNvSpPr>
            <a:spLocks noGrp="1"/>
          </p:cNvSpPr>
          <p:nvPr>
            <p:ph type="ftr" sz="quarter" idx="16"/>
          </p:nvPr>
        </p:nvSpPr>
        <p:spPr/>
        <p:txBody>
          <a:bodyPr/>
          <a:lstStyle/>
          <a:p>
            <a:r>
              <a:rPr lang="en-US"/>
              <a:t>Copyright © 2020 Accenture. All rights reserved.</a:t>
            </a:r>
            <a:endParaRPr lang="en-US" dirty="0"/>
          </a:p>
        </p:txBody>
      </p:sp>
      <p:grpSp>
        <p:nvGrpSpPr>
          <p:cNvPr id="29" name="Group 28">
            <a:extLst>
              <a:ext uri="{FF2B5EF4-FFF2-40B4-BE49-F238E27FC236}">
                <a16:creationId xmlns:a16="http://schemas.microsoft.com/office/drawing/2014/main" id="{EE140F4B-CC25-483C-84C6-D0FBC0A6BE05}"/>
              </a:ext>
            </a:extLst>
          </p:cNvPr>
          <p:cNvGrpSpPr/>
          <p:nvPr/>
        </p:nvGrpSpPr>
        <p:grpSpPr>
          <a:xfrm>
            <a:off x="1942306" y="1435371"/>
            <a:ext cx="10515600" cy="4488175"/>
            <a:chOff x="838201" y="1618344"/>
            <a:chExt cx="10515600" cy="4488175"/>
          </a:xfrm>
        </p:grpSpPr>
        <p:grpSp>
          <p:nvGrpSpPr>
            <p:cNvPr id="30" name="Group 29">
              <a:extLst>
                <a:ext uri="{FF2B5EF4-FFF2-40B4-BE49-F238E27FC236}">
                  <a16:creationId xmlns:a16="http://schemas.microsoft.com/office/drawing/2014/main" id="{D8AC57EE-1B8D-4EA2-8B99-296D2842E251}"/>
                </a:ext>
              </a:extLst>
            </p:cNvPr>
            <p:cNvGrpSpPr/>
            <p:nvPr/>
          </p:nvGrpSpPr>
          <p:grpSpPr>
            <a:xfrm>
              <a:off x="838201" y="1618344"/>
              <a:ext cx="10515600" cy="2068286"/>
              <a:chOff x="838201" y="1618344"/>
              <a:chExt cx="10515600" cy="2068286"/>
            </a:xfrm>
          </p:grpSpPr>
          <p:sp>
            <p:nvSpPr>
              <p:cNvPr id="43" name="Rectangle 42">
                <a:extLst>
                  <a:ext uri="{FF2B5EF4-FFF2-40B4-BE49-F238E27FC236}">
                    <a16:creationId xmlns:a16="http://schemas.microsoft.com/office/drawing/2014/main" id="{B7922E6A-7CFA-4567-BE7D-6DCB9D554F21}"/>
                  </a:ext>
                </a:extLst>
              </p:cNvPr>
              <p:cNvSpPr/>
              <p:nvPr/>
            </p:nvSpPr>
            <p:spPr>
              <a:xfrm rot="16200000">
                <a:off x="-128" y="2456673"/>
                <a:ext cx="2068285" cy="3916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chemeClr val="tx1"/>
                    </a:solidFill>
                    <a:effectLst/>
                    <a:uLnTx/>
                    <a:uFillTx/>
                    <a:latin typeface="Amazon Ember"/>
                    <a:ea typeface="+mn-ea"/>
                    <a:cs typeface="+mn-cs"/>
                  </a:rPr>
                  <a:t>CUSTOMERS</a:t>
                </a:r>
              </a:p>
            </p:txBody>
          </p:sp>
          <p:sp>
            <p:nvSpPr>
              <p:cNvPr id="44" name="Rectangle 43">
                <a:extLst>
                  <a:ext uri="{FF2B5EF4-FFF2-40B4-BE49-F238E27FC236}">
                    <a16:creationId xmlns:a16="http://schemas.microsoft.com/office/drawing/2014/main" id="{4DDA2B4D-EF74-4E84-8D0B-6BD0F581D8C8}"/>
                  </a:ext>
                </a:extLst>
              </p:cNvPr>
              <p:cNvSpPr/>
              <p:nvPr/>
            </p:nvSpPr>
            <p:spPr>
              <a:xfrm>
                <a:off x="1384333" y="1618344"/>
                <a:ext cx="2931564" cy="2068286"/>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RESPONSIBLE FOR SECURITY </a:t>
                </a:r>
              </a:p>
              <a:p>
                <a:pPr marL="0" marR="0" lvl="0" indent="0" algn="ctr" defTabSz="914400" eaLnBrk="1" fontAlgn="auto" latinLnBrk="0" hangingPunct="1">
                  <a:lnSpc>
                    <a:spcPct val="100000"/>
                  </a:lnSpc>
                  <a:spcBef>
                    <a:spcPts val="0"/>
                  </a:spcBef>
                  <a:spcAft>
                    <a:spcPts val="0"/>
                  </a:spcAft>
                  <a:buClrTx/>
                  <a:buSzTx/>
                  <a:buFontTx/>
                  <a:buNone/>
                  <a:tabLst/>
                  <a:defRPr/>
                </a:pPr>
                <a:r>
                  <a:rPr lang="en-US" sz="1400" i="1" kern="0" noProof="0" dirty="0">
                    <a:solidFill>
                      <a:schemeClr val="tx1"/>
                    </a:solidFill>
                    <a:latin typeface="Amazon Ember" panose="02000000000000000000" pitchFamily="2" charset="0"/>
                    <a:ea typeface="Amazon Ember" panose="02000000000000000000" pitchFamily="2" charset="0"/>
                  </a:rPr>
                  <a:t>IN</a:t>
                </a:r>
                <a:r>
                  <a:rPr kumimoji="0" lang="en-US" sz="1400" i="1" u="none"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 </a:t>
                </a:r>
                <a:r>
                  <a:rPr kumimoji="0" lang="en-US" sz="1400" i="0" u="none"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THE </a:t>
                </a:r>
                <a:r>
                  <a:rPr kumimoji="0" lang="en-US" sz="1400" i="0"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CLOUD</a:t>
                </a:r>
              </a:p>
            </p:txBody>
          </p:sp>
          <p:grpSp>
            <p:nvGrpSpPr>
              <p:cNvPr id="45" name="Group 44">
                <a:extLst>
                  <a:ext uri="{FF2B5EF4-FFF2-40B4-BE49-F238E27FC236}">
                    <a16:creationId xmlns:a16="http://schemas.microsoft.com/office/drawing/2014/main" id="{8DB1C37A-B3AC-449E-A746-5B0691177D0B}"/>
                  </a:ext>
                </a:extLst>
              </p:cNvPr>
              <p:cNvGrpSpPr/>
              <p:nvPr/>
            </p:nvGrpSpPr>
            <p:grpSpPr>
              <a:xfrm>
                <a:off x="4470401" y="1618344"/>
                <a:ext cx="6883400" cy="2068286"/>
                <a:chOff x="4470401" y="1618344"/>
                <a:chExt cx="6883400" cy="2068286"/>
              </a:xfrm>
            </p:grpSpPr>
            <p:sp>
              <p:nvSpPr>
                <p:cNvPr id="46" name="Rectangle 45">
                  <a:extLst>
                    <a:ext uri="{FF2B5EF4-FFF2-40B4-BE49-F238E27FC236}">
                      <a16:creationId xmlns:a16="http://schemas.microsoft.com/office/drawing/2014/main" id="{BBC76CD5-9D4F-47F0-97DE-AED2BEBD2081}"/>
                    </a:ext>
                  </a:extLst>
                </p:cNvPr>
                <p:cNvSpPr/>
                <p:nvPr/>
              </p:nvSpPr>
              <p:spPr>
                <a:xfrm>
                  <a:off x="4470401" y="1618344"/>
                  <a:ext cx="6883400" cy="35602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CUSTOMER DATA</a:t>
                  </a:r>
                </a:p>
              </p:txBody>
            </p:sp>
            <p:sp>
              <p:nvSpPr>
                <p:cNvPr id="47" name="Rectangle 46">
                  <a:extLst>
                    <a:ext uri="{FF2B5EF4-FFF2-40B4-BE49-F238E27FC236}">
                      <a16:creationId xmlns:a16="http://schemas.microsoft.com/office/drawing/2014/main" id="{5DBFF197-A5C9-416B-81E1-FBF88F7C1BBB}"/>
                    </a:ext>
                  </a:extLst>
                </p:cNvPr>
                <p:cNvSpPr/>
                <p:nvPr/>
              </p:nvSpPr>
              <p:spPr>
                <a:xfrm>
                  <a:off x="4470401" y="2136171"/>
                  <a:ext cx="6883400" cy="35602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chemeClr val="tx1"/>
                      </a:solidFill>
                      <a:latin typeface="Amazon Ember" panose="02000000000000000000" pitchFamily="2" charset="0"/>
                      <a:ea typeface="Amazon Ember" panose="02000000000000000000" pitchFamily="2" charset="0"/>
                    </a:rPr>
                    <a:t>PLATFORM</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kumimoji="0" lang="en-US" sz="1400" i="0"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APPLICATIONS</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lang="en-US" sz="1400" kern="0" dirty="0">
                      <a:solidFill>
                        <a:schemeClr val="tx1"/>
                      </a:solidFill>
                      <a:latin typeface="Amazon Ember" panose="02000000000000000000" pitchFamily="2" charset="0"/>
                      <a:ea typeface="Amazon Ember" panose="02000000000000000000" pitchFamily="2" charset="0"/>
                    </a:rPr>
                    <a:t>IDENTITY</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lang="en-US" sz="1400" kern="0" dirty="0">
                      <a:solidFill>
                        <a:schemeClr val="tx1"/>
                      </a:solidFill>
                      <a:latin typeface="Amazon Ember" panose="02000000000000000000" pitchFamily="2" charset="0"/>
                      <a:ea typeface="Amazon Ember" panose="02000000000000000000" pitchFamily="2" charset="0"/>
                    </a:rPr>
                    <a:t>&amp;</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lang="en-US" sz="1400" kern="0" dirty="0">
                      <a:solidFill>
                        <a:schemeClr val="tx1"/>
                      </a:solidFill>
                      <a:latin typeface="Amazon Ember" panose="02000000000000000000" pitchFamily="2" charset="0"/>
                      <a:ea typeface="Amazon Ember" panose="02000000000000000000" pitchFamily="2" charset="0"/>
                    </a:rPr>
                    <a:t>ACCESS</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lang="en-US" sz="1400" kern="0" dirty="0">
                      <a:solidFill>
                        <a:schemeClr val="tx1"/>
                      </a:solidFill>
                      <a:latin typeface="Amazon Ember" panose="02000000000000000000" pitchFamily="2" charset="0"/>
                      <a:ea typeface="Amazon Ember" panose="02000000000000000000" pitchFamily="2" charset="0"/>
                    </a:rPr>
                    <a:t>MANAGEMENT</a:t>
                  </a:r>
                </a:p>
              </p:txBody>
            </p:sp>
            <p:sp>
              <p:nvSpPr>
                <p:cNvPr id="48" name="Rectangle 47">
                  <a:extLst>
                    <a:ext uri="{FF2B5EF4-FFF2-40B4-BE49-F238E27FC236}">
                      <a16:creationId xmlns:a16="http://schemas.microsoft.com/office/drawing/2014/main" id="{2A143EE4-5DA5-4FBB-8BEE-48A456168DDB}"/>
                    </a:ext>
                  </a:extLst>
                </p:cNvPr>
                <p:cNvSpPr/>
                <p:nvPr/>
              </p:nvSpPr>
              <p:spPr>
                <a:xfrm>
                  <a:off x="4470401" y="2653998"/>
                  <a:ext cx="6883400" cy="35602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1" indent="0" algn="ctr" defTabSz="914400" eaLnBrk="1" fontAlgn="auto" latinLnBrk="0" hangingPunct="1">
                    <a:lnSpc>
                      <a:spcPct val="100000"/>
                    </a:lnSpc>
                    <a:spcBef>
                      <a:spcPts val="0"/>
                    </a:spcBef>
                    <a:spcAft>
                      <a:spcPts val="0"/>
                    </a:spcAft>
                    <a:buClrTx/>
                    <a:buSzTx/>
                    <a:buFontTx/>
                    <a:buNone/>
                    <a:tabLst/>
                    <a:defRPr/>
                  </a:pPr>
                  <a:r>
                    <a:rPr lang="en-US" sz="1400" kern="0" dirty="0">
                      <a:solidFill>
                        <a:schemeClr val="tx1"/>
                      </a:solidFill>
                      <a:latin typeface="Amazon Ember" panose="02000000000000000000" pitchFamily="2" charset="0"/>
                      <a:ea typeface="Amazon Ember" panose="02000000000000000000" pitchFamily="2" charset="0"/>
                    </a:rPr>
                    <a:t>OPERATING</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lang="en-US" sz="1400" kern="0" dirty="0">
                      <a:solidFill>
                        <a:schemeClr val="tx1"/>
                      </a:solidFill>
                      <a:latin typeface="Amazon Ember" panose="02000000000000000000" pitchFamily="2" charset="0"/>
                      <a:ea typeface="Amazon Ember" panose="02000000000000000000" pitchFamily="2" charset="0"/>
                    </a:rPr>
                    <a:t>SYSTEM</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lang="en-US" sz="1400" kern="0" dirty="0">
                      <a:solidFill>
                        <a:schemeClr val="tx1"/>
                      </a:solidFill>
                      <a:latin typeface="Amazon Ember" panose="02000000000000000000" pitchFamily="2" charset="0"/>
                      <a:ea typeface="Amazon Ember" panose="02000000000000000000" pitchFamily="2" charset="0"/>
                    </a:rPr>
                    <a:t>NETWORK</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kumimoji="0" lang="en-US" sz="1400" i="0" strike="noStrike" kern="0" cap="none" spc="0" normalizeH="0" baseline="0" noProof="0" dirty="0">
                      <a:ln>
                        <a:noFill/>
                      </a:ln>
                      <a:solidFill>
                        <a:schemeClr val="tx1"/>
                      </a:solidFill>
                      <a:effectLst/>
                      <a:uLnTx/>
                      <a:uFillTx/>
                      <a:latin typeface="Amazon Ember"/>
                      <a:ea typeface="+mn-ea"/>
                      <a:cs typeface="+mn-cs"/>
                    </a:rPr>
                    <a:t>&amp;</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lang="en-US" sz="1400" kern="0" dirty="0">
                      <a:solidFill>
                        <a:schemeClr val="tx1"/>
                      </a:solidFill>
                      <a:latin typeface="Amazon Ember" panose="02000000000000000000" pitchFamily="2" charset="0"/>
                      <a:ea typeface="Amazon Ember" panose="02000000000000000000" pitchFamily="2" charset="0"/>
                    </a:rPr>
                    <a:t>FIREWALL</a:t>
                  </a:r>
                  <a:r>
                    <a:rPr kumimoji="0" lang="en-US" sz="1400" b="1" i="0" u="none" strike="noStrike" kern="0" cap="none" spc="0" normalizeH="0" baseline="0" noProof="0" dirty="0">
                      <a:ln>
                        <a:noFill/>
                      </a:ln>
                      <a:solidFill>
                        <a:schemeClr val="tx1"/>
                      </a:solidFill>
                      <a:effectLst/>
                      <a:uLnTx/>
                      <a:uFillTx/>
                      <a:latin typeface="Amazon Ember"/>
                      <a:ea typeface="+mn-ea"/>
                      <a:cs typeface="+mn-cs"/>
                    </a:rPr>
                    <a:t> </a:t>
                  </a:r>
                  <a:r>
                    <a:rPr lang="en-US" sz="1400" kern="0" dirty="0">
                      <a:solidFill>
                        <a:schemeClr val="tx1"/>
                      </a:solidFill>
                      <a:latin typeface="Amazon Ember" panose="02000000000000000000" pitchFamily="2" charset="0"/>
                      <a:ea typeface="Amazon Ember" panose="02000000000000000000" pitchFamily="2" charset="0"/>
                    </a:rPr>
                    <a:t>CONFIGURATION</a:t>
                  </a:r>
                </a:p>
              </p:txBody>
            </p:sp>
            <p:grpSp>
              <p:nvGrpSpPr>
                <p:cNvPr id="49" name="Group 48">
                  <a:extLst>
                    <a:ext uri="{FF2B5EF4-FFF2-40B4-BE49-F238E27FC236}">
                      <a16:creationId xmlns:a16="http://schemas.microsoft.com/office/drawing/2014/main" id="{BE30C7E0-4B47-4EB2-9C6D-83BAB9351DFA}"/>
                    </a:ext>
                  </a:extLst>
                </p:cNvPr>
                <p:cNvGrpSpPr/>
                <p:nvPr/>
              </p:nvGrpSpPr>
              <p:grpSpPr>
                <a:xfrm>
                  <a:off x="4470401" y="3171825"/>
                  <a:ext cx="6883400" cy="514805"/>
                  <a:chOff x="4470401" y="3171825"/>
                  <a:chExt cx="6883400" cy="514805"/>
                </a:xfrm>
              </p:grpSpPr>
              <p:sp>
                <p:nvSpPr>
                  <p:cNvPr id="50" name="Rectangle 49">
                    <a:extLst>
                      <a:ext uri="{FF2B5EF4-FFF2-40B4-BE49-F238E27FC236}">
                        <a16:creationId xmlns:a16="http://schemas.microsoft.com/office/drawing/2014/main" id="{2972F8E9-C770-445F-8BE2-33E3D3F4D847}"/>
                      </a:ext>
                    </a:extLst>
                  </p:cNvPr>
                  <p:cNvSpPr/>
                  <p:nvPr/>
                </p:nvSpPr>
                <p:spPr>
                  <a:xfrm>
                    <a:off x="4470401" y="3171825"/>
                    <a:ext cx="2157020" cy="51480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tx1"/>
                        </a:solidFill>
                        <a:effectLst/>
                        <a:uLnTx/>
                        <a:uFillTx/>
                        <a:latin typeface="Amazon Ember"/>
                        <a:ea typeface="+mn-ea"/>
                        <a:cs typeface="+mn-cs"/>
                      </a:rPr>
                      <a:t>CLIENT-SIDE DATA </a:t>
                    </a:r>
                    <a:r>
                      <a:rPr kumimoji="0" lang="en-US" sz="900" i="0" strike="noStrike" kern="0" cap="none" spc="0" normalizeH="0" baseline="0" noProof="0" dirty="0">
                        <a:ln>
                          <a:noFill/>
                        </a:ln>
                        <a:solidFill>
                          <a:schemeClr val="tx1"/>
                        </a:solidFill>
                        <a:effectLst/>
                        <a:uLnTx/>
                        <a:uFillTx/>
                        <a:latin typeface="Amazon Ember"/>
                        <a:ea typeface="+mn-ea"/>
                        <a:cs typeface="+mn-cs"/>
                      </a:rPr>
                      <a:t>ENCRYPTION</a:t>
                    </a:r>
                    <a:r>
                      <a:rPr kumimoji="0" lang="en-US" sz="900" b="1" i="0" u="none" strike="noStrike" kern="0" cap="none" spc="0" normalizeH="0" baseline="0" noProof="0" dirty="0">
                        <a:ln>
                          <a:noFill/>
                        </a:ln>
                        <a:solidFill>
                          <a:schemeClr val="tx1"/>
                        </a:solidFill>
                        <a:effectLst/>
                        <a:uLnTx/>
                        <a:uFillTx/>
                        <a:latin typeface="Amazon Ember"/>
                        <a:ea typeface="+mn-ea"/>
                        <a:cs typeface="+mn-cs"/>
                      </a:rPr>
                      <a:t> </a:t>
                    </a:r>
                    <a:r>
                      <a:rPr kumimoji="0" lang="en-US" sz="900" i="0" strike="noStrike" kern="0" cap="none" spc="0" normalizeH="0" baseline="0" noProof="0" dirty="0">
                        <a:ln>
                          <a:noFill/>
                        </a:ln>
                        <a:solidFill>
                          <a:schemeClr val="tx1"/>
                        </a:solidFill>
                        <a:effectLst/>
                        <a:uLnTx/>
                        <a:uFillTx/>
                        <a:latin typeface="Amazon Ember"/>
                        <a:ea typeface="+mn-ea"/>
                        <a:cs typeface="+mn-cs"/>
                      </a:rPr>
                      <a:t>&amp;</a:t>
                    </a:r>
                    <a:r>
                      <a:rPr kumimoji="0" lang="en-US" sz="900" i="0" u="none" strike="noStrike" kern="0" cap="none" spc="0" normalizeH="0" baseline="0" noProof="0" dirty="0">
                        <a:ln>
                          <a:noFill/>
                        </a:ln>
                        <a:solidFill>
                          <a:schemeClr val="tx1"/>
                        </a:solidFill>
                        <a:effectLst/>
                        <a:uLnTx/>
                        <a:uFillTx/>
                        <a:latin typeface="Amazon Ember"/>
                        <a:ea typeface="+mn-ea"/>
                        <a:cs typeface="+mn-cs"/>
                      </a:rPr>
                      <a:t> </a:t>
                    </a:r>
                    <a:r>
                      <a:rPr kumimoji="0" lang="en-US" sz="900" b="1" i="0" u="none" strike="noStrike" kern="0" cap="none" spc="0" normalizeH="0" baseline="0" noProof="0" dirty="0">
                        <a:ln>
                          <a:noFill/>
                        </a:ln>
                        <a:solidFill>
                          <a:schemeClr val="tx1"/>
                        </a:solidFill>
                        <a:effectLst/>
                        <a:uLnTx/>
                        <a:uFillTx/>
                        <a:latin typeface="Amazon Ember"/>
                        <a:ea typeface="+mn-ea"/>
                        <a:cs typeface="+mn-cs"/>
                      </a:rPr>
                      <a:t>DATA INTEGRITY </a:t>
                    </a:r>
                    <a:r>
                      <a:rPr kumimoji="0" lang="en-US" sz="900" i="0" strike="noStrike" kern="0" cap="none" spc="0" normalizeH="0" baseline="0" noProof="0" dirty="0">
                        <a:ln>
                          <a:noFill/>
                        </a:ln>
                        <a:solidFill>
                          <a:schemeClr val="tx1"/>
                        </a:solidFill>
                        <a:effectLst/>
                        <a:uLnTx/>
                        <a:uFillTx/>
                        <a:latin typeface="Amazon Ember"/>
                        <a:ea typeface="+mn-ea"/>
                        <a:cs typeface="+mn-cs"/>
                      </a:rPr>
                      <a:t>AUTHENTICATION</a:t>
                    </a:r>
                    <a:endParaRPr kumimoji="0" lang="en-US" sz="900" i="0" strike="noStrike" kern="0" cap="none" spc="0" normalizeH="0" baseline="0" noProof="0" dirty="0">
                      <a:ln>
                        <a:noFill/>
                      </a:ln>
                      <a:solidFill>
                        <a:schemeClr val="tx1"/>
                      </a:solidFill>
                      <a:effectLst/>
                      <a:uLnTx/>
                      <a:uFillTx/>
                      <a:latin typeface="Amazon Ember" panose="020B0604020202020204" charset="0"/>
                      <a:ea typeface="+mn-ea"/>
                      <a:cs typeface="+mn-cs"/>
                    </a:endParaRPr>
                  </a:p>
                </p:txBody>
              </p:sp>
              <p:sp>
                <p:nvSpPr>
                  <p:cNvPr id="51" name="Rectangle 50">
                    <a:extLst>
                      <a:ext uri="{FF2B5EF4-FFF2-40B4-BE49-F238E27FC236}">
                        <a16:creationId xmlns:a16="http://schemas.microsoft.com/office/drawing/2014/main" id="{126765D1-A8EE-468E-828C-94C600AD727D}"/>
                      </a:ext>
                    </a:extLst>
                  </p:cNvPr>
                  <p:cNvSpPr/>
                  <p:nvPr/>
                </p:nvSpPr>
                <p:spPr>
                  <a:xfrm>
                    <a:off x="6758381" y="3171825"/>
                    <a:ext cx="2307440" cy="51480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tx1"/>
                        </a:solidFill>
                        <a:effectLst/>
                        <a:uLnTx/>
                        <a:uFillTx/>
                        <a:latin typeface="Amazon Ember"/>
                        <a:ea typeface="+mn-ea"/>
                        <a:cs typeface="+mn-cs"/>
                      </a:rPr>
                      <a:t>SERVER-SIDE </a:t>
                    </a:r>
                    <a:r>
                      <a:rPr kumimoji="0" lang="en-US" sz="900" i="0" strike="noStrike" kern="0" cap="none" spc="0" normalizeH="0" baseline="0" noProof="0" dirty="0">
                        <a:ln>
                          <a:noFill/>
                        </a:ln>
                        <a:solidFill>
                          <a:schemeClr val="tx1"/>
                        </a:solidFill>
                        <a:effectLst/>
                        <a:uLnTx/>
                        <a:uFillTx/>
                        <a:latin typeface="Amazon Ember"/>
                        <a:ea typeface="+mn-ea"/>
                        <a:cs typeface="+mn-cs"/>
                      </a:rPr>
                      <a:t>ENCRYPTION</a:t>
                    </a:r>
                    <a:r>
                      <a:rPr kumimoji="0" lang="en-US" sz="900" b="1" i="0" u="none" strike="noStrike" kern="0" cap="none" spc="0" normalizeH="0" baseline="0" noProof="0" dirty="0">
                        <a:ln>
                          <a:noFill/>
                        </a:ln>
                        <a:solidFill>
                          <a:schemeClr val="tx1"/>
                        </a:solidFill>
                        <a:effectLst/>
                        <a:uLnTx/>
                        <a:uFillTx/>
                        <a:latin typeface="Amazon Ember"/>
                        <a:ea typeface="+mn-ea"/>
                        <a:cs typeface="+mn-cs"/>
                      </a:rPr>
                      <a:t> </a:t>
                    </a:r>
                    <a:br>
                      <a:rPr kumimoji="0" lang="en-US" sz="900" b="1" i="0" u="none" strike="noStrike" kern="0" cap="none" spc="0" normalizeH="0" baseline="0" noProof="0" dirty="0">
                        <a:ln>
                          <a:noFill/>
                        </a:ln>
                        <a:solidFill>
                          <a:schemeClr val="tx1"/>
                        </a:solidFill>
                        <a:effectLst/>
                        <a:uLnTx/>
                        <a:uFillTx/>
                        <a:latin typeface="Amazon Ember"/>
                        <a:ea typeface="+mn-ea"/>
                        <a:cs typeface="+mn-cs"/>
                      </a:rPr>
                    </a:br>
                    <a:r>
                      <a:rPr kumimoji="0" lang="en-US" sz="900" b="1" i="0" u="none" strike="noStrike" kern="0" cap="none" spc="0" normalizeH="0" baseline="0" noProof="0" dirty="0">
                        <a:ln>
                          <a:noFill/>
                        </a:ln>
                        <a:solidFill>
                          <a:schemeClr val="tx1"/>
                        </a:solidFill>
                        <a:effectLst/>
                        <a:uLnTx/>
                        <a:uFillTx/>
                        <a:latin typeface="Amazon Ember"/>
                        <a:ea typeface="+mn-ea"/>
                        <a:cs typeface="+mn-cs"/>
                      </a:rPr>
                      <a:t>(FILE SYSTEM </a:t>
                    </a:r>
                    <a:r>
                      <a:rPr kumimoji="0" lang="en-US" sz="900" i="0" strike="noStrike" kern="0" cap="none" spc="0" normalizeH="0" baseline="0" noProof="0" dirty="0">
                        <a:ln>
                          <a:noFill/>
                        </a:ln>
                        <a:solidFill>
                          <a:schemeClr val="tx1"/>
                        </a:solidFill>
                        <a:effectLst/>
                        <a:uLnTx/>
                        <a:uFillTx/>
                        <a:latin typeface="Amazon Ember"/>
                        <a:ea typeface="+mn-ea"/>
                        <a:cs typeface="+mn-cs"/>
                      </a:rPr>
                      <a:t>AND/OR</a:t>
                    </a:r>
                    <a:r>
                      <a:rPr kumimoji="0" lang="en-US" sz="900" b="1" i="0" u="none" strike="noStrike" kern="0" cap="none" spc="0" normalizeH="0" baseline="0" noProof="0" dirty="0">
                        <a:ln>
                          <a:noFill/>
                        </a:ln>
                        <a:solidFill>
                          <a:schemeClr val="tx1"/>
                        </a:solidFill>
                        <a:effectLst/>
                        <a:uLnTx/>
                        <a:uFillTx/>
                        <a:latin typeface="Amazon Ember"/>
                        <a:ea typeface="+mn-ea"/>
                        <a:cs typeface="+mn-cs"/>
                      </a:rPr>
                      <a:t> DATA)</a:t>
                    </a:r>
                  </a:p>
                </p:txBody>
              </p:sp>
              <p:sp>
                <p:nvSpPr>
                  <p:cNvPr id="52" name="Rectangle 51">
                    <a:extLst>
                      <a:ext uri="{FF2B5EF4-FFF2-40B4-BE49-F238E27FC236}">
                        <a16:creationId xmlns:a16="http://schemas.microsoft.com/office/drawing/2014/main" id="{9A9B7AFD-D22B-4FF2-A7ED-81F5BADFCACE}"/>
                      </a:ext>
                    </a:extLst>
                  </p:cNvPr>
                  <p:cNvSpPr/>
                  <p:nvPr/>
                </p:nvSpPr>
                <p:spPr>
                  <a:xfrm>
                    <a:off x="9196780" y="3171825"/>
                    <a:ext cx="2157021" cy="51480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tx1"/>
                        </a:solidFill>
                        <a:effectLst/>
                        <a:uLnTx/>
                        <a:uFillTx/>
                        <a:latin typeface="Amazon Ember"/>
                        <a:ea typeface="+mn-ea"/>
                        <a:cs typeface="+mn-cs"/>
                      </a:rPr>
                      <a:t>NETWORK TRAFFIC PROTECTION </a:t>
                    </a:r>
                    <a:r>
                      <a:rPr kumimoji="0" lang="en-US" sz="700" b="1" i="0" u="none" strike="noStrike" kern="0" cap="none" spc="0" normalizeH="0" baseline="0" noProof="0" dirty="0">
                        <a:ln>
                          <a:noFill/>
                        </a:ln>
                        <a:solidFill>
                          <a:schemeClr val="tx1"/>
                        </a:solidFill>
                        <a:effectLst/>
                        <a:uLnTx/>
                        <a:uFillTx/>
                        <a:latin typeface="Amazon Ember"/>
                        <a:ea typeface="+mn-ea"/>
                        <a:cs typeface="+mn-cs"/>
                      </a:rPr>
                      <a:t>(ENCRYPTION/INTEGRITY/IDENTITY)</a:t>
                    </a:r>
                    <a:endParaRPr kumimoji="0" lang="en-US" sz="900" b="1" i="0" u="none" strike="noStrike" kern="0" cap="none" spc="0" normalizeH="0" baseline="0" noProof="0" dirty="0">
                      <a:ln>
                        <a:noFill/>
                      </a:ln>
                      <a:solidFill>
                        <a:schemeClr val="tx1"/>
                      </a:solidFill>
                      <a:effectLst/>
                      <a:uLnTx/>
                      <a:uFillTx/>
                      <a:latin typeface="Amazon Ember"/>
                      <a:ea typeface="+mn-ea"/>
                      <a:cs typeface="+mn-cs"/>
                    </a:endParaRPr>
                  </a:p>
                </p:txBody>
              </p:sp>
            </p:grpSp>
          </p:grpSp>
        </p:grpSp>
        <p:grpSp>
          <p:nvGrpSpPr>
            <p:cNvPr id="31" name="Group 30">
              <a:extLst>
                <a:ext uri="{FF2B5EF4-FFF2-40B4-BE49-F238E27FC236}">
                  <a16:creationId xmlns:a16="http://schemas.microsoft.com/office/drawing/2014/main" id="{0ED040DA-FB52-43C5-89D1-681B2DB55EA5}"/>
                </a:ext>
              </a:extLst>
            </p:cNvPr>
            <p:cNvGrpSpPr/>
            <p:nvPr/>
          </p:nvGrpSpPr>
          <p:grpSpPr>
            <a:xfrm>
              <a:off x="838201" y="4038230"/>
              <a:ext cx="10515600" cy="2068289"/>
              <a:chOff x="838201" y="3907711"/>
              <a:chExt cx="10515600" cy="2068289"/>
            </a:xfrm>
          </p:grpSpPr>
          <p:sp>
            <p:nvSpPr>
              <p:cNvPr id="33" name="Rectangle 32">
                <a:extLst>
                  <a:ext uri="{FF2B5EF4-FFF2-40B4-BE49-F238E27FC236}">
                    <a16:creationId xmlns:a16="http://schemas.microsoft.com/office/drawing/2014/main" id="{E6A40493-619F-4A55-B743-BD8E5F9A8F12}"/>
                  </a:ext>
                </a:extLst>
              </p:cNvPr>
              <p:cNvSpPr/>
              <p:nvPr/>
            </p:nvSpPr>
            <p:spPr>
              <a:xfrm rot="16200000">
                <a:off x="-128" y="4746041"/>
                <a:ext cx="2068285" cy="3916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chemeClr val="tx1"/>
                    </a:solidFill>
                    <a:effectLst/>
                    <a:uLnTx/>
                    <a:uFillTx/>
                    <a:latin typeface="Amazon Ember"/>
                    <a:ea typeface="+mn-ea"/>
                    <a:cs typeface="+mn-cs"/>
                  </a:rPr>
                  <a:t>AWS</a:t>
                </a:r>
              </a:p>
            </p:txBody>
          </p:sp>
          <p:sp>
            <p:nvSpPr>
              <p:cNvPr id="34" name="Rectangle 33">
                <a:extLst>
                  <a:ext uri="{FF2B5EF4-FFF2-40B4-BE49-F238E27FC236}">
                    <a16:creationId xmlns:a16="http://schemas.microsoft.com/office/drawing/2014/main" id="{6343CF90-694B-473A-84EA-0F85D7F9802D}"/>
                  </a:ext>
                </a:extLst>
              </p:cNvPr>
              <p:cNvSpPr/>
              <p:nvPr/>
            </p:nvSpPr>
            <p:spPr>
              <a:xfrm>
                <a:off x="1384333" y="3907712"/>
                <a:ext cx="2931564" cy="2068286"/>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RESPONSIBLE FOR SECURITY </a:t>
                </a:r>
              </a:p>
              <a:p>
                <a:pPr marL="0" marR="0" lvl="0" indent="0" algn="ctr" defTabSz="914400" eaLnBrk="1" fontAlgn="auto" latinLnBrk="0" hangingPunct="1">
                  <a:lnSpc>
                    <a:spcPct val="100000"/>
                  </a:lnSpc>
                  <a:spcBef>
                    <a:spcPts val="0"/>
                  </a:spcBef>
                  <a:spcAft>
                    <a:spcPts val="0"/>
                  </a:spcAft>
                  <a:buClrTx/>
                  <a:buSzTx/>
                  <a:buFontTx/>
                  <a:buNone/>
                  <a:tabLst/>
                  <a:defRPr/>
                </a:pPr>
                <a:r>
                  <a:rPr lang="en-US" sz="1400" i="1" kern="0" dirty="0">
                    <a:solidFill>
                      <a:schemeClr val="tx1"/>
                    </a:solidFill>
                    <a:latin typeface="Amazon Ember" panose="02000000000000000000" pitchFamily="2" charset="0"/>
                    <a:ea typeface="Amazon Ember" panose="02000000000000000000" pitchFamily="2" charset="0"/>
                  </a:rPr>
                  <a:t>OF</a:t>
                </a:r>
                <a:r>
                  <a:rPr kumimoji="0" lang="en-US" sz="1400" i="1" u="none"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 </a:t>
                </a:r>
                <a:r>
                  <a:rPr kumimoji="0" lang="en-US" sz="1400" i="0" u="none"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THE </a:t>
                </a:r>
                <a:r>
                  <a:rPr kumimoji="0" lang="en-US" sz="1400" i="0" strike="noStrike" kern="0" cap="none" spc="0" normalizeH="0" baseline="0" noProof="0" dirty="0">
                    <a:ln>
                      <a:noFill/>
                    </a:ln>
                    <a:solidFill>
                      <a:schemeClr val="tx1"/>
                    </a:solidFill>
                    <a:effectLst/>
                    <a:uLnTx/>
                    <a:uFillTx/>
                    <a:latin typeface="Amazon Ember" panose="02000000000000000000" pitchFamily="2" charset="0"/>
                    <a:ea typeface="Amazon Ember" panose="02000000000000000000" pitchFamily="2" charset="0"/>
                  </a:rPr>
                  <a:t>CLOUD</a:t>
                </a:r>
              </a:p>
            </p:txBody>
          </p:sp>
          <p:sp>
            <p:nvSpPr>
              <p:cNvPr id="35" name="Rectangle 34">
                <a:extLst>
                  <a:ext uri="{FF2B5EF4-FFF2-40B4-BE49-F238E27FC236}">
                    <a16:creationId xmlns:a16="http://schemas.microsoft.com/office/drawing/2014/main" id="{66750276-C8DB-4D57-813E-815BACC580E0}"/>
                  </a:ext>
                </a:extLst>
              </p:cNvPr>
              <p:cNvSpPr/>
              <p:nvPr/>
            </p:nvSpPr>
            <p:spPr>
              <a:xfrm>
                <a:off x="6178695" y="4634147"/>
                <a:ext cx="3466813" cy="615413"/>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chemeClr val="tx1"/>
                    </a:solidFill>
                    <a:latin typeface="Amazon Ember" panose="02000000000000000000" pitchFamily="2" charset="0"/>
                    <a:ea typeface="Amazon Ember" panose="02000000000000000000" pitchFamily="2" charset="0"/>
                  </a:rPr>
                  <a:t>REGIONS</a:t>
                </a:r>
              </a:p>
            </p:txBody>
          </p:sp>
          <p:sp>
            <p:nvSpPr>
              <p:cNvPr id="36" name="Rectangle 35">
                <a:extLst>
                  <a:ext uri="{FF2B5EF4-FFF2-40B4-BE49-F238E27FC236}">
                    <a16:creationId xmlns:a16="http://schemas.microsoft.com/office/drawing/2014/main" id="{58FA4B5E-FC45-4AA2-B4A6-87568C1252A0}"/>
                  </a:ext>
                </a:extLst>
              </p:cNvPr>
              <p:cNvSpPr/>
              <p:nvPr/>
            </p:nvSpPr>
            <p:spPr>
              <a:xfrm>
                <a:off x="4470400" y="3907711"/>
                <a:ext cx="1553791" cy="57193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chemeClr val="tx1"/>
                    </a:solidFill>
                    <a:latin typeface="Amazon Ember" panose="02000000000000000000" pitchFamily="2" charset="0"/>
                    <a:ea typeface="Amazon Ember" panose="02000000000000000000" pitchFamily="2" charset="0"/>
                  </a:rPr>
                  <a:t>COMPUTE</a:t>
                </a:r>
              </a:p>
            </p:txBody>
          </p:sp>
          <p:sp>
            <p:nvSpPr>
              <p:cNvPr id="37" name="Rectangle 36">
                <a:extLst>
                  <a:ext uri="{FF2B5EF4-FFF2-40B4-BE49-F238E27FC236}">
                    <a16:creationId xmlns:a16="http://schemas.microsoft.com/office/drawing/2014/main" id="{6E4A1578-8A9C-45A1-B0DA-B748E0B28D25}"/>
                  </a:ext>
                </a:extLst>
              </p:cNvPr>
              <p:cNvSpPr/>
              <p:nvPr/>
            </p:nvSpPr>
            <p:spPr>
              <a:xfrm>
                <a:off x="6178696" y="3907711"/>
                <a:ext cx="1656154" cy="57193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chemeClr val="tx1"/>
                    </a:solidFill>
                    <a:latin typeface="Amazon Ember" panose="02000000000000000000" pitchFamily="2" charset="0"/>
                    <a:ea typeface="Amazon Ember" panose="02000000000000000000" pitchFamily="2" charset="0"/>
                  </a:rPr>
                  <a:t>STORAGE</a:t>
                </a:r>
              </a:p>
            </p:txBody>
          </p:sp>
          <p:sp>
            <p:nvSpPr>
              <p:cNvPr id="38" name="Rectangle 37">
                <a:extLst>
                  <a:ext uri="{FF2B5EF4-FFF2-40B4-BE49-F238E27FC236}">
                    <a16:creationId xmlns:a16="http://schemas.microsoft.com/office/drawing/2014/main" id="{0589C9F2-F406-46E9-B96C-F65BE5FEA67F}"/>
                  </a:ext>
                </a:extLst>
              </p:cNvPr>
              <p:cNvSpPr/>
              <p:nvPr/>
            </p:nvSpPr>
            <p:spPr>
              <a:xfrm>
                <a:off x="7989354" y="3907711"/>
                <a:ext cx="1656154" cy="57193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chemeClr val="tx1"/>
                    </a:solidFill>
                    <a:latin typeface="Amazon Ember" panose="02000000000000000000" pitchFamily="2" charset="0"/>
                    <a:ea typeface="Amazon Ember" panose="02000000000000000000" pitchFamily="2" charset="0"/>
                  </a:rPr>
                  <a:t>DATABASE</a:t>
                </a:r>
              </a:p>
            </p:txBody>
          </p:sp>
          <p:sp>
            <p:nvSpPr>
              <p:cNvPr id="39" name="Rectangle 38">
                <a:extLst>
                  <a:ext uri="{FF2B5EF4-FFF2-40B4-BE49-F238E27FC236}">
                    <a16:creationId xmlns:a16="http://schemas.microsoft.com/office/drawing/2014/main" id="{E2598D11-A2D4-4BA1-98D0-B50D77F0E271}"/>
                  </a:ext>
                </a:extLst>
              </p:cNvPr>
              <p:cNvSpPr/>
              <p:nvPr/>
            </p:nvSpPr>
            <p:spPr>
              <a:xfrm>
                <a:off x="9800012" y="3907711"/>
                <a:ext cx="1553789" cy="57193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chemeClr val="tx1"/>
                    </a:solidFill>
                    <a:latin typeface="Amazon Ember" panose="02000000000000000000" pitchFamily="2" charset="0"/>
                    <a:ea typeface="Amazon Ember" panose="02000000000000000000" pitchFamily="2" charset="0"/>
                  </a:rPr>
                  <a:t>NETWORKING</a:t>
                </a:r>
              </a:p>
            </p:txBody>
          </p:sp>
          <p:sp>
            <p:nvSpPr>
              <p:cNvPr id="40" name="Rectangle 39">
                <a:extLst>
                  <a:ext uri="{FF2B5EF4-FFF2-40B4-BE49-F238E27FC236}">
                    <a16:creationId xmlns:a16="http://schemas.microsoft.com/office/drawing/2014/main" id="{8B833759-8077-4642-BA19-805EB928602A}"/>
                  </a:ext>
                </a:extLst>
              </p:cNvPr>
              <p:cNvSpPr/>
              <p:nvPr/>
            </p:nvSpPr>
            <p:spPr>
              <a:xfrm>
                <a:off x="6178695" y="5404065"/>
                <a:ext cx="3466813" cy="57193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chemeClr val="tx1"/>
                    </a:solidFill>
                    <a:latin typeface="Amazon Ember"/>
                  </a:rPr>
                  <a:t>AVAILABILITY</a:t>
                </a:r>
                <a:r>
                  <a:rPr kumimoji="0" lang="en-US" sz="1400" i="0" strike="noStrike" kern="0" cap="none" spc="0" normalizeH="0" baseline="0" noProof="0" dirty="0">
                    <a:ln>
                      <a:noFill/>
                    </a:ln>
                    <a:solidFill>
                      <a:schemeClr val="tx1"/>
                    </a:solidFill>
                    <a:effectLst/>
                    <a:uLnTx/>
                    <a:uFillTx/>
                    <a:latin typeface="Amazon Ember"/>
                  </a:rPr>
                  <a:t> </a:t>
                </a:r>
                <a:r>
                  <a:rPr lang="en-US" sz="1400" kern="0" dirty="0">
                    <a:solidFill>
                      <a:schemeClr val="tx1"/>
                    </a:solidFill>
                    <a:latin typeface="Amazon Ember"/>
                  </a:rPr>
                  <a:t>ZONES</a:t>
                </a:r>
                <a:endParaRPr lang="en-US" sz="1400" kern="0" dirty="0">
                  <a:solidFill>
                    <a:schemeClr val="tx1"/>
                  </a:solidFill>
                  <a:latin typeface="Amazon Ember" panose="020B0604020202020204" charset="0"/>
                </a:endParaRPr>
              </a:p>
            </p:txBody>
          </p:sp>
          <p:sp>
            <p:nvSpPr>
              <p:cNvPr id="41" name="Rectangle 40">
                <a:extLst>
                  <a:ext uri="{FF2B5EF4-FFF2-40B4-BE49-F238E27FC236}">
                    <a16:creationId xmlns:a16="http://schemas.microsoft.com/office/drawing/2014/main" id="{4842452F-D843-4377-8DDA-B0BC2CA434EE}"/>
                  </a:ext>
                </a:extLst>
              </p:cNvPr>
              <p:cNvSpPr/>
              <p:nvPr/>
            </p:nvSpPr>
            <p:spPr>
              <a:xfrm>
                <a:off x="9800012" y="4634147"/>
                <a:ext cx="1553789" cy="134185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chemeClr val="tx1"/>
                    </a:solidFill>
                    <a:latin typeface="Amazon Ember" panose="02000000000000000000" pitchFamily="2" charset="0"/>
                    <a:ea typeface="Amazon Ember" panose="02000000000000000000" pitchFamily="2" charset="0"/>
                  </a:rPr>
                  <a:t>EDGE</a:t>
                </a:r>
                <a:r>
                  <a:rPr lang="en-US" sz="1400" b="1" kern="0" dirty="0">
                    <a:solidFill>
                      <a:schemeClr val="tx1"/>
                    </a:solidFill>
                    <a:latin typeface="Amazon Ember"/>
                  </a:rPr>
                  <a:t> </a:t>
                </a:r>
                <a:r>
                  <a:rPr lang="en-US" sz="1400" kern="0" dirty="0">
                    <a:solidFill>
                      <a:schemeClr val="tx1"/>
                    </a:solidFill>
                    <a:latin typeface="Amazon Ember" panose="02000000000000000000" pitchFamily="2" charset="0"/>
                    <a:ea typeface="Amazon Ember" panose="02000000000000000000" pitchFamily="2" charset="0"/>
                  </a:rPr>
                  <a:t>LOCATIONS</a:t>
                </a:r>
              </a:p>
            </p:txBody>
          </p:sp>
          <p:sp>
            <p:nvSpPr>
              <p:cNvPr id="42" name="Rectangle 41">
                <a:extLst>
                  <a:ext uri="{FF2B5EF4-FFF2-40B4-BE49-F238E27FC236}">
                    <a16:creationId xmlns:a16="http://schemas.microsoft.com/office/drawing/2014/main" id="{08C96676-64F6-4CF7-8A28-4AFA9EB333A1}"/>
                  </a:ext>
                </a:extLst>
              </p:cNvPr>
              <p:cNvSpPr/>
              <p:nvPr/>
            </p:nvSpPr>
            <p:spPr>
              <a:xfrm>
                <a:off x="4470400" y="4634148"/>
                <a:ext cx="1553791" cy="1341852"/>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i="0" u="none" strike="noStrike" kern="0" cap="none" spc="0" normalizeH="0" baseline="0" noProof="0" dirty="0">
                    <a:ln>
                      <a:noFill/>
                    </a:ln>
                    <a:solidFill>
                      <a:schemeClr val="tx1"/>
                    </a:solidFill>
                    <a:effectLst/>
                    <a:uLnTx/>
                    <a:uFillTx/>
                    <a:latin typeface="Amazon Ember"/>
                    <a:ea typeface="+mn-ea"/>
                    <a:cs typeface="+mn-cs"/>
                  </a:rPr>
                  <a:t>AWS GLOBAL INFRASTRUCTURE</a:t>
                </a:r>
              </a:p>
            </p:txBody>
          </p:sp>
        </p:grpSp>
        <p:cxnSp>
          <p:nvCxnSpPr>
            <p:cNvPr id="32" name="Straight Connector 31">
              <a:extLst>
                <a:ext uri="{FF2B5EF4-FFF2-40B4-BE49-F238E27FC236}">
                  <a16:creationId xmlns:a16="http://schemas.microsoft.com/office/drawing/2014/main" id="{FE2B6617-ED1F-48D5-AF2E-C87689780ABE}"/>
                </a:ext>
              </a:extLst>
            </p:cNvPr>
            <p:cNvCxnSpPr/>
            <p:nvPr/>
          </p:nvCxnSpPr>
          <p:spPr>
            <a:xfrm>
              <a:off x="838201" y="3862430"/>
              <a:ext cx="10515599" cy="0"/>
            </a:xfrm>
            <a:prstGeom prst="line">
              <a:avLst/>
            </a:prstGeo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3739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336E2-619E-436E-AD53-F3A4DC70C6D1}"/>
              </a:ext>
            </a:extLst>
          </p:cNvPr>
          <p:cNvSpPr>
            <a:spLocks noGrp="1"/>
          </p:cNvSpPr>
          <p:nvPr>
            <p:ph type="sldNum" sz="quarter" idx="17"/>
          </p:nvPr>
        </p:nvSpPr>
        <p:spPr/>
        <p:txBody>
          <a:bodyPr/>
          <a:lstStyle/>
          <a:p>
            <a:fld id="{4F9AC08D-23A9-440E-BCB9-AA1E9877CC38}" type="slidenum">
              <a:rPr lang="en-US" smtClean="0"/>
              <a:pPr/>
              <a:t>7</a:t>
            </a:fld>
            <a:endParaRPr lang="en-US" dirty="0"/>
          </a:p>
        </p:txBody>
      </p:sp>
      <p:sp>
        <p:nvSpPr>
          <p:cNvPr id="3" name="Title 2">
            <a:extLst>
              <a:ext uri="{FF2B5EF4-FFF2-40B4-BE49-F238E27FC236}">
                <a16:creationId xmlns:a16="http://schemas.microsoft.com/office/drawing/2014/main" id="{0EC87EE4-2722-464A-BA5A-64B8A6614AB3}"/>
              </a:ext>
            </a:extLst>
          </p:cNvPr>
          <p:cNvSpPr>
            <a:spLocks noGrp="1"/>
          </p:cNvSpPr>
          <p:nvPr>
            <p:ph type="title"/>
          </p:nvPr>
        </p:nvSpPr>
        <p:spPr>
          <a:xfrm>
            <a:off x="450010" y="326632"/>
            <a:ext cx="13500200" cy="1359871"/>
          </a:xfrm>
        </p:spPr>
        <p:txBody>
          <a:bodyPr/>
          <a:lstStyle/>
          <a:p>
            <a:r>
              <a:rPr lang="en-US" dirty="0">
                <a:solidFill>
                  <a:schemeClr val="bg1"/>
                </a:solidFill>
              </a:rPr>
              <a:t>AWS security services</a:t>
            </a:r>
          </a:p>
        </p:txBody>
      </p:sp>
      <p:sp>
        <p:nvSpPr>
          <p:cNvPr id="4" name="Footer Placeholder 3">
            <a:extLst>
              <a:ext uri="{FF2B5EF4-FFF2-40B4-BE49-F238E27FC236}">
                <a16:creationId xmlns:a16="http://schemas.microsoft.com/office/drawing/2014/main" id="{EFD32254-68AE-44BF-8BE8-5F70807CC102}"/>
              </a:ext>
            </a:extLst>
          </p:cNvPr>
          <p:cNvSpPr>
            <a:spLocks noGrp="1"/>
          </p:cNvSpPr>
          <p:nvPr>
            <p:ph type="ftr" sz="quarter" idx="16"/>
          </p:nvPr>
        </p:nvSpPr>
        <p:spPr/>
        <p:txBody>
          <a:bodyPr/>
          <a:lstStyle/>
          <a:p>
            <a:r>
              <a:rPr lang="en-US"/>
              <a:t>Copyright © 2020 Accenture. All rights reserved.</a:t>
            </a:r>
            <a:endParaRPr lang="en-US" dirty="0"/>
          </a:p>
        </p:txBody>
      </p:sp>
      <p:sp>
        <p:nvSpPr>
          <p:cNvPr id="5" name="TextBox 4">
            <a:extLst>
              <a:ext uri="{FF2B5EF4-FFF2-40B4-BE49-F238E27FC236}">
                <a16:creationId xmlns:a16="http://schemas.microsoft.com/office/drawing/2014/main" id="{1DD98406-4F6B-4A76-A037-D6A6191EFA75}"/>
              </a:ext>
            </a:extLst>
          </p:cNvPr>
          <p:cNvSpPr txBox="1"/>
          <p:nvPr/>
        </p:nvSpPr>
        <p:spPr>
          <a:xfrm>
            <a:off x="11180795" y="5221168"/>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 Artifact</a:t>
            </a:r>
          </a:p>
        </p:txBody>
      </p:sp>
      <p:pic>
        <p:nvPicPr>
          <p:cNvPr id="6" name="Picture 5">
            <a:extLst>
              <a:ext uri="{FF2B5EF4-FFF2-40B4-BE49-F238E27FC236}">
                <a16:creationId xmlns:a16="http://schemas.microsoft.com/office/drawing/2014/main" id="{4F80CF45-C75F-4960-BFA5-D526B50947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5410" y="1812061"/>
            <a:ext cx="482599" cy="914400"/>
          </a:xfrm>
          <a:prstGeom prst="rect">
            <a:avLst/>
          </a:prstGeom>
        </p:spPr>
      </p:pic>
      <p:sp>
        <p:nvSpPr>
          <p:cNvPr id="7" name="TextBox 6">
            <a:extLst>
              <a:ext uri="{FF2B5EF4-FFF2-40B4-BE49-F238E27FC236}">
                <a16:creationId xmlns:a16="http://schemas.microsoft.com/office/drawing/2014/main" id="{D838B344-2878-4528-A3DE-CE42BE1E77ED}"/>
              </a:ext>
            </a:extLst>
          </p:cNvPr>
          <p:cNvSpPr txBox="1"/>
          <p:nvPr/>
        </p:nvSpPr>
        <p:spPr>
          <a:xfrm>
            <a:off x="2236669" y="2935686"/>
            <a:ext cx="64008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 IAM</a:t>
            </a:r>
          </a:p>
        </p:txBody>
      </p:sp>
      <p:sp>
        <p:nvSpPr>
          <p:cNvPr id="8" name="TextBox 7">
            <a:extLst>
              <a:ext uri="{FF2B5EF4-FFF2-40B4-BE49-F238E27FC236}">
                <a16:creationId xmlns:a16="http://schemas.microsoft.com/office/drawing/2014/main" id="{A8C10DCF-2343-4F9A-B3B4-99F60314FAE0}"/>
              </a:ext>
            </a:extLst>
          </p:cNvPr>
          <p:cNvSpPr txBox="1"/>
          <p:nvPr/>
        </p:nvSpPr>
        <p:spPr>
          <a:xfrm>
            <a:off x="3208731" y="2935686"/>
            <a:ext cx="1084132"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Amazon </a:t>
            </a:r>
          </a:p>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Cloud Directory</a:t>
            </a:r>
          </a:p>
        </p:txBody>
      </p:sp>
      <p:pic>
        <p:nvPicPr>
          <p:cNvPr id="9" name="Picture 8">
            <a:extLst>
              <a:ext uri="{FF2B5EF4-FFF2-40B4-BE49-F238E27FC236}">
                <a16:creationId xmlns:a16="http://schemas.microsoft.com/office/drawing/2014/main" id="{1FA8C27C-7701-49CF-97D5-F838C1F694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1278" y="1812061"/>
            <a:ext cx="850780" cy="914400"/>
          </a:xfrm>
          <a:prstGeom prst="rect">
            <a:avLst/>
          </a:prstGeom>
        </p:spPr>
      </p:pic>
      <p:sp>
        <p:nvSpPr>
          <p:cNvPr id="10" name="TextBox 9">
            <a:extLst>
              <a:ext uri="{FF2B5EF4-FFF2-40B4-BE49-F238E27FC236}">
                <a16:creationId xmlns:a16="http://schemas.microsoft.com/office/drawing/2014/main" id="{D27729D2-8A54-458B-840B-3F18C07878CA}"/>
              </a:ext>
            </a:extLst>
          </p:cNvPr>
          <p:cNvSpPr txBox="1"/>
          <p:nvPr/>
        </p:nvSpPr>
        <p:spPr>
          <a:xfrm>
            <a:off x="5958832" y="2935686"/>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Amazon Inspector</a:t>
            </a:r>
          </a:p>
        </p:txBody>
      </p:sp>
      <p:pic>
        <p:nvPicPr>
          <p:cNvPr id="11" name="Picture 10">
            <a:extLst>
              <a:ext uri="{FF2B5EF4-FFF2-40B4-BE49-F238E27FC236}">
                <a16:creationId xmlns:a16="http://schemas.microsoft.com/office/drawing/2014/main" id="{7F9FAFAC-9E91-4CF0-84CC-AC863F84DF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0596" y="1812061"/>
            <a:ext cx="762000" cy="914400"/>
          </a:xfrm>
          <a:prstGeom prst="rect">
            <a:avLst/>
          </a:prstGeom>
        </p:spPr>
      </p:pic>
      <p:pic>
        <p:nvPicPr>
          <p:cNvPr id="12" name="Picture 11">
            <a:extLst>
              <a:ext uri="{FF2B5EF4-FFF2-40B4-BE49-F238E27FC236}">
                <a16:creationId xmlns:a16="http://schemas.microsoft.com/office/drawing/2014/main" id="{26BD7056-FC87-4EC3-85ED-DBA931D967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5865" y="1812061"/>
            <a:ext cx="1727200" cy="914400"/>
          </a:xfrm>
          <a:prstGeom prst="rect">
            <a:avLst/>
          </a:prstGeom>
        </p:spPr>
      </p:pic>
      <p:sp>
        <p:nvSpPr>
          <p:cNvPr id="13" name="TextBox 12">
            <a:extLst>
              <a:ext uri="{FF2B5EF4-FFF2-40B4-BE49-F238E27FC236}">
                <a16:creationId xmlns:a16="http://schemas.microsoft.com/office/drawing/2014/main" id="{9339E650-89DF-4870-89E3-87C84913FFBC}"/>
              </a:ext>
            </a:extLst>
          </p:cNvPr>
          <p:cNvSpPr txBox="1"/>
          <p:nvPr/>
        </p:nvSpPr>
        <p:spPr>
          <a:xfrm>
            <a:off x="7689799" y="2935686"/>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Macie</a:t>
            </a:r>
          </a:p>
        </p:txBody>
      </p:sp>
      <p:pic>
        <p:nvPicPr>
          <p:cNvPr id="14" name="Picture 13">
            <a:extLst>
              <a:ext uri="{FF2B5EF4-FFF2-40B4-BE49-F238E27FC236}">
                <a16:creationId xmlns:a16="http://schemas.microsoft.com/office/drawing/2014/main" id="{28B57F35-22C2-46D3-A81C-E023A39CC3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66334" y="1812061"/>
            <a:ext cx="1110342" cy="914400"/>
          </a:xfrm>
          <a:prstGeom prst="rect">
            <a:avLst/>
          </a:prstGeom>
        </p:spPr>
      </p:pic>
      <p:sp>
        <p:nvSpPr>
          <p:cNvPr id="15" name="TextBox 14">
            <a:extLst>
              <a:ext uri="{FF2B5EF4-FFF2-40B4-BE49-F238E27FC236}">
                <a16:creationId xmlns:a16="http://schemas.microsoft.com/office/drawing/2014/main" id="{8329CB87-0F72-4CDC-911E-D9984C0B75A6}"/>
              </a:ext>
            </a:extLst>
          </p:cNvPr>
          <p:cNvSpPr txBox="1"/>
          <p:nvPr/>
        </p:nvSpPr>
        <p:spPr>
          <a:xfrm>
            <a:off x="9628939" y="2935686"/>
            <a:ext cx="985132"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 Certificate Manager</a:t>
            </a:r>
          </a:p>
        </p:txBody>
      </p:sp>
      <p:sp>
        <p:nvSpPr>
          <p:cNvPr id="16" name="TextBox 15">
            <a:extLst>
              <a:ext uri="{FF2B5EF4-FFF2-40B4-BE49-F238E27FC236}">
                <a16:creationId xmlns:a16="http://schemas.microsoft.com/office/drawing/2014/main" id="{616F1A20-0171-49C0-A8BC-902E9999A065}"/>
              </a:ext>
            </a:extLst>
          </p:cNvPr>
          <p:cNvSpPr txBox="1"/>
          <p:nvPr/>
        </p:nvSpPr>
        <p:spPr>
          <a:xfrm>
            <a:off x="2277418" y="5222054"/>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a:t>
            </a:r>
            <a:b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CloudHSM</a:t>
            </a:r>
          </a:p>
        </p:txBody>
      </p:sp>
      <p:pic>
        <p:nvPicPr>
          <p:cNvPr id="17" name="Picture 16">
            <a:extLst>
              <a:ext uri="{FF2B5EF4-FFF2-40B4-BE49-F238E27FC236}">
                <a16:creationId xmlns:a16="http://schemas.microsoft.com/office/drawing/2014/main" id="{CD599885-C143-4B53-AD16-378122A19D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53686" y="4072221"/>
            <a:ext cx="758282" cy="914400"/>
          </a:xfrm>
          <a:prstGeom prst="rect">
            <a:avLst/>
          </a:prstGeom>
        </p:spPr>
      </p:pic>
      <p:pic>
        <p:nvPicPr>
          <p:cNvPr id="18" name="Picture 17">
            <a:extLst>
              <a:ext uri="{FF2B5EF4-FFF2-40B4-BE49-F238E27FC236}">
                <a16:creationId xmlns:a16="http://schemas.microsoft.com/office/drawing/2014/main" id="{7831F1B5-A5CE-4A12-8164-66CFA4857D0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94857" y="4072221"/>
            <a:ext cx="755177" cy="914400"/>
          </a:xfrm>
          <a:prstGeom prst="rect">
            <a:avLst/>
          </a:prstGeom>
        </p:spPr>
      </p:pic>
      <p:pic>
        <p:nvPicPr>
          <p:cNvPr id="19" name="Picture 18">
            <a:extLst>
              <a:ext uri="{FF2B5EF4-FFF2-40B4-BE49-F238E27FC236}">
                <a16:creationId xmlns:a16="http://schemas.microsoft.com/office/drawing/2014/main" id="{FDD57ABB-DDF0-4070-B794-B65420C8B1A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85026" y="4072221"/>
            <a:ext cx="758282" cy="914400"/>
          </a:xfrm>
          <a:prstGeom prst="rect">
            <a:avLst/>
          </a:prstGeom>
        </p:spPr>
      </p:pic>
      <p:sp>
        <p:nvSpPr>
          <p:cNvPr id="20" name="TextBox 19">
            <a:extLst>
              <a:ext uri="{FF2B5EF4-FFF2-40B4-BE49-F238E27FC236}">
                <a16:creationId xmlns:a16="http://schemas.microsoft.com/office/drawing/2014/main" id="{68712BDC-978D-4E74-9B20-0D4474739CBE}"/>
              </a:ext>
            </a:extLst>
          </p:cNvPr>
          <p:cNvSpPr txBox="1"/>
          <p:nvPr/>
        </p:nvSpPr>
        <p:spPr>
          <a:xfrm>
            <a:off x="5555640" y="5255196"/>
            <a:ext cx="1305942"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a:t>
            </a:r>
            <a:b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Organizations</a:t>
            </a:r>
          </a:p>
        </p:txBody>
      </p:sp>
      <p:sp>
        <p:nvSpPr>
          <p:cNvPr id="21" name="TextBox 20">
            <a:extLst>
              <a:ext uri="{FF2B5EF4-FFF2-40B4-BE49-F238E27FC236}">
                <a16:creationId xmlns:a16="http://schemas.microsoft.com/office/drawing/2014/main" id="{BC6AB681-73FD-4338-A7E3-FF72108AC455}"/>
              </a:ext>
            </a:extLst>
          </p:cNvPr>
          <p:cNvSpPr txBox="1"/>
          <p:nvPr/>
        </p:nvSpPr>
        <p:spPr>
          <a:xfrm>
            <a:off x="4115234" y="5235640"/>
            <a:ext cx="640080" cy="914400"/>
          </a:xfrm>
          <a:prstGeom prst="rect">
            <a:avLst/>
          </a:prstGeom>
          <a:noFill/>
        </p:spPr>
        <p:txBody>
          <a:bodyPr wrap="square" lIns="0" tIns="0" rIns="0" bIns="0" rtlCol="0" anchor="t">
            <a:noAutofit/>
          </a:bodyPr>
          <a:lstStyle/>
          <a:p>
            <a:pPr algn="ctr"/>
            <a:r>
              <a:rPr lang="en-US" sz="1400" b="1" spc="-50" dirty="0">
                <a:latin typeface="Amazon Ember Light" panose="020B0403020204020204" pitchFamily="34" charset="0"/>
                <a:ea typeface="Amazon Ember Light" panose="020B0403020204020204" pitchFamily="34" charset="0"/>
                <a:cs typeface="Amazon Ember Light" panose="020B0403020204020204" pitchFamily="34" charset="0"/>
              </a:rPr>
              <a:t>AWS KMS</a:t>
            </a:r>
          </a:p>
        </p:txBody>
      </p:sp>
      <p:pic>
        <p:nvPicPr>
          <p:cNvPr id="22" name="Picture 21">
            <a:extLst>
              <a:ext uri="{FF2B5EF4-FFF2-40B4-BE49-F238E27FC236}">
                <a16:creationId xmlns:a16="http://schemas.microsoft.com/office/drawing/2014/main" id="{7EABB6A2-2B28-471D-8636-F56FF4D59DB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17497" y="4072221"/>
            <a:ext cx="762000" cy="914400"/>
          </a:xfrm>
          <a:prstGeom prst="rect">
            <a:avLst/>
          </a:prstGeom>
        </p:spPr>
      </p:pic>
      <p:pic>
        <p:nvPicPr>
          <p:cNvPr id="23" name="Picture 22">
            <a:extLst>
              <a:ext uri="{FF2B5EF4-FFF2-40B4-BE49-F238E27FC236}">
                <a16:creationId xmlns:a16="http://schemas.microsoft.com/office/drawing/2014/main" id="{4127B51E-7295-4E5A-93AC-648F5F626AC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15327" y="1812061"/>
            <a:ext cx="762000" cy="914400"/>
          </a:xfrm>
          <a:prstGeom prst="rect">
            <a:avLst/>
          </a:prstGeom>
        </p:spPr>
      </p:pic>
      <p:sp>
        <p:nvSpPr>
          <p:cNvPr id="24" name="TextBox 23">
            <a:extLst>
              <a:ext uri="{FF2B5EF4-FFF2-40B4-BE49-F238E27FC236}">
                <a16:creationId xmlns:a16="http://schemas.microsoft.com/office/drawing/2014/main" id="{3B63E0F4-55B9-437B-9611-383A7B89E90D}"/>
              </a:ext>
            </a:extLst>
          </p:cNvPr>
          <p:cNvSpPr txBox="1"/>
          <p:nvPr/>
        </p:nvSpPr>
        <p:spPr>
          <a:xfrm>
            <a:off x="4643487" y="2935686"/>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 Directory Service</a:t>
            </a:r>
          </a:p>
        </p:txBody>
      </p:sp>
      <p:pic>
        <p:nvPicPr>
          <p:cNvPr id="25" name="Picture 24">
            <a:extLst>
              <a:ext uri="{FF2B5EF4-FFF2-40B4-BE49-F238E27FC236}">
                <a16:creationId xmlns:a16="http://schemas.microsoft.com/office/drawing/2014/main" id="{C27D706F-C575-4E91-B3C7-9283C7ADE22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548837" y="4072221"/>
            <a:ext cx="983848" cy="914400"/>
          </a:xfrm>
          <a:prstGeom prst="rect">
            <a:avLst/>
          </a:prstGeom>
        </p:spPr>
      </p:pic>
      <p:sp>
        <p:nvSpPr>
          <p:cNvPr id="26" name="TextBox 25">
            <a:extLst>
              <a:ext uri="{FF2B5EF4-FFF2-40B4-BE49-F238E27FC236}">
                <a16:creationId xmlns:a16="http://schemas.microsoft.com/office/drawing/2014/main" id="{85AAE68D-7847-4F44-8848-75B8B22788DC}"/>
              </a:ext>
            </a:extLst>
          </p:cNvPr>
          <p:cNvSpPr txBox="1"/>
          <p:nvPr/>
        </p:nvSpPr>
        <p:spPr>
          <a:xfrm>
            <a:off x="7618078" y="5222054"/>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 Shield</a:t>
            </a:r>
          </a:p>
        </p:txBody>
      </p:sp>
      <p:sp>
        <p:nvSpPr>
          <p:cNvPr id="27" name="TextBox 26">
            <a:extLst>
              <a:ext uri="{FF2B5EF4-FFF2-40B4-BE49-F238E27FC236}">
                <a16:creationId xmlns:a16="http://schemas.microsoft.com/office/drawing/2014/main" id="{D285FEF5-4EC7-4F1E-ABAB-C92DDB04D817}"/>
              </a:ext>
            </a:extLst>
          </p:cNvPr>
          <p:cNvSpPr txBox="1"/>
          <p:nvPr/>
        </p:nvSpPr>
        <p:spPr>
          <a:xfrm>
            <a:off x="9480749" y="5221168"/>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 WAF</a:t>
            </a:r>
          </a:p>
        </p:txBody>
      </p:sp>
      <p:pic>
        <p:nvPicPr>
          <p:cNvPr id="28" name="Picture 27">
            <a:extLst>
              <a:ext uri="{FF2B5EF4-FFF2-40B4-BE49-F238E27FC236}">
                <a16:creationId xmlns:a16="http://schemas.microsoft.com/office/drawing/2014/main" id="{36D4A203-CDB4-4AD5-B722-4CC0DA8361A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538214" y="4072221"/>
            <a:ext cx="751115" cy="914400"/>
          </a:xfrm>
          <a:prstGeom prst="rect">
            <a:avLst/>
          </a:prstGeom>
        </p:spPr>
      </p:pic>
      <p:pic>
        <p:nvPicPr>
          <p:cNvPr id="29" name="Picture 28">
            <a:extLst>
              <a:ext uri="{FF2B5EF4-FFF2-40B4-BE49-F238E27FC236}">
                <a16:creationId xmlns:a16="http://schemas.microsoft.com/office/drawing/2014/main" id="{3E987F63-C8F0-47F2-96D8-D28C8466B5B8}"/>
              </a:ext>
            </a:extLst>
          </p:cNvPr>
          <p:cNvPicPr>
            <a:picLocks noChangeAspect="1"/>
          </p:cNvPicPr>
          <p:nvPr/>
        </p:nvPicPr>
        <p:blipFill>
          <a:blip r:embed="rId14"/>
          <a:stretch>
            <a:fillRect/>
          </a:stretch>
        </p:blipFill>
        <p:spPr>
          <a:xfrm>
            <a:off x="11209945" y="1812061"/>
            <a:ext cx="914400" cy="914400"/>
          </a:xfrm>
          <a:prstGeom prst="rect">
            <a:avLst/>
          </a:prstGeom>
        </p:spPr>
      </p:pic>
      <p:sp>
        <p:nvSpPr>
          <p:cNvPr id="30" name="TextBox 29">
            <a:extLst>
              <a:ext uri="{FF2B5EF4-FFF2-40B4-BE49-F238E27FC236}">
                <a16:creationId xmlns:a16="http://schemas.microsoft.com/office/drawing/2014/main" id="{7DB464A5-75BA-421A-B3E8-D2EDACE4489A}"/>
              </a:ext>
            </a:extLst>
          </p:cNvPr>
          <p:cNvSpPr txBox="1"/>
          <p:nvPr/>
        </p:nvSpPr>
        <p:spPr>
          <a:xfrm>
            <a:off x="11231833" y="2935686"/>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Amazon GuardDuty</a:t>
            </a:r>
          </a:p>
        </p:txBody>
      </p:sp>
    </p:spTree>
    <p:extLst>
      <p:ext uri="{BB962C8B-B14F-4D97-AF65-F5344CB8AC3E}">
        <p14:creationId xmlns:p14="http://schemas.microsoft.com/office/powerpoint/2010/main" val="667726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4F3B93-1B60-4990-BA30-9BBF48CE5D89}"/>
              </a:ext>
            </a:extLst>
          </p:cNvPr>
          <p:cNvSpPr>
            <a:spLocks noGrp="1"/>
          </p:cNvSpPr>
          <p:nvPr>
            <p:ph type="sldNum" sz="quarter" idx="17"/>
          </p:nvPr>
        </p:nvSpPr>
        <p:spPr/>
        <p:txBody>
          <a:bodyPr/>
          <a:lstStyle/>
          <a:p>
            <a:fld id="{4F9AC08D-23A9-440E-BCB9-AA1E9877CC38}" type="slidenum">
              <a:rPr lang="en-US" smtClean="0"/>
              <a:pPr/>
              <a:t>8</a:t>
            </a:fld>
            <a:endParaRPr lang="en-US" dirty="0"/>
          </a:p>
        </p:txBody>
      </p:sp>
      <p:sp>
        <p:nvSpPr>
          <p:cNvPr id="3" name="Title 2">
            <a:extLst>
              <a:ext uri="{FF2B5EF4-FFF2-40B4-BE49-F238E27FC236}">
                <a16:creationId xmlns:a16="http://schemas.microsoft.com/office/drawing/2014/main" id="{732CD9EA-84C0-4478-8FC1-22C7ACC57952}"/>
              </a:ext>
            </a:extLst>
          </p:cNvPr>
          <p:cNvSpPr>
            <a:spLocks noGrp="1"/>
          </p:cNvSpPr>
          <p:nvPr>
            <p:ph type="title"/>
          </p:nvPr>
        </p:nvSpPr>
        <p:spPr>
          <a:xfrm>
            <a:off x="450010" y="301642"/>
            <a:ext cx="13500200" cy="1359871"/>
          </a:xfrm>
        </p:spPr>
        <p:txBody>
          <a:bodyPr/>
          <a:lstStyle/>
          <a:p>
            <a:r>
              <a:rPr lang="en-US" dirty="0">
                <a:solidFill>
                  <a:schemeClr val="bg1"/>
                </a:solidFill>
              </a:rPr>
              <a:t>AWS IAM</a:t>
            </a:r>
          </a:p>
        </p:txBody>
      </p:sp>
      <p:sp>
        <p:nvSpPr>
          <p:cNvPr id="4" name="Footer Placeholder 3">
            <a:extLst>
              <a:ext uri="{FF2B5EF4-FFF2-40B4-BE49-F238E27FC236}">
                <a16:creationId xmlns:a16="http://schemas.microsoft.com/office/drawing/2014/main" id="{9F0B81D4-5733-409C-91B0-18D5EA54F525}"/>
              </a:ext>
            </a:extLst>
          </p:cNvPr>
          <p:cNvSpPr>
            <a:spLocks noGrp="1"/>
          </p:cNvSpPr>
          <p:nvPr>
            <p:ph type="ftr" sz="quarter" idx="16"/>
          </p:nvPr>
        </p:nvSpPr>
        <p:spPr/>
        <p:txBody>
          <a:bodyPr/>
          <a:lstStyle/>
          <a:p>
            <a:r>
              <a:rPr lang="en-US"/>
              <a:t>Copyright © 2020 Accenture. All rights reserved.</a:t>
            </a:r>
            <a:endParaRPr lang="en-US" dirty="0"/>
          </a:p>
        </p:txBody>
      </p:sp>
      <p:sp>
        <p:nvSpPr>
          <p:cNvPr id="6" name="Rectangle 5">
            <a:extLst>
              <a:ext uri="{FF2B5EF4-FFF2-40B4-BE49-F238E27FC236}">
                <a16:creationId xmlns:a16="http://schemas.microsoft.com/office/drawing/2014/main" id="{A1AA29A6-112C-43F4-8360-28FEE97E1BB8}"/>
              </a:ext>
            </a:extLst>
          </p:cNvPr>
          <p:cNvSpPr/>
          <p:nvPr/>
        </p:nvSpPr>
        <p:spPr>
          <a:xfrm>
            <a:off x="5338918" y="2333251"/>
            <a:ext cx="7759676" cy="2532809"/>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Provides central management of authentication and authorization</a:t>
            </a:r>
          </a:p>
          <a:p>
            <a:pPr marL="285750" indent="-285750">
              <a:lnSpc>
                <a:spcPct val="150000"/>
              </a:lnSpc>
              <a:buFont typeface="Arial" panose="020B0604020202020204" pitchFamily="34" charset="0"/>
              <a:buChar char="•"/>
            </a:pPr>
            <a:r>
              <a:rPr lang="en-US" dirty="0">
                <a:solidFill>
                  <a:srgbClr val="18537D"/>
                </a:solidFill>
              </a:rPr>
              <a:t>Enable to create users, groups, and roles and apply policies to them</a:t>
            </a:r>
          </a:p>
          <a:p>
            <a:pPr marL="285750" indent="-285750">
              <a:lnSpc>
                <a:spcPct val="150000"/>
              </a:lnSpc>
              <a:buFont typeface="Arial" panose="020B0604020202020204" pitchFamily="34" charset="0"/>
              <a:buChar char="•"/>
            </a:pPr>
            <a:r>
              <a:rPr lang="en-US" dirty="0">
                <a:solidFill>
                  <a:srgbClr val="18537D"/>
                </a:solidFill>
              </a:rPr>
              <a:t>Apply the control on each and every user and AWS resource level</a:t>
            </a:r>
          </a:p>
          <a:p>
            <a:pPr marL="285750" indent="-285750">
              <a:lnSpc>
                <a:spcPct val="150000"/>
              </a:lnSpc>
              <a:buFont typeface="Arial" panose="020B0604020202020204" pitchFamily="34" charset="0"/>
              <a:buChar char="•"/>
            </a:pPr>
            <a:r>
              <a:rPr lang="en-US" dirty="0">
                <a:solidFill>
                  <a:srgbClr val="18537D"/>
                </a:solidFill>
              </a:rPr>
              <a:t>Define required programmatic and console credentials</a:t>
            </a:r>
          </a:p>
          <a:p>
            <a:pPr marL="285750" indent="-285750">
              <a:lnSpc>
                <a:spcPct val="150000"/>
              </a:lnSpc>
              <a:buFont typeface="Arial" panose="020B0604020202020204" pitchFamily="34" charset="0"/>
              <a:buChar char="•"/>
            </a:pPr>
            <a:r>
              <a:rPr lang="en-US" dirty="0">
                <a:solidFill>
                  <a:srgbClr val="18537D"/>
                </a:solidFill>
              </a:rPr>
              <a:t>Offered as an AWS account feature at no charge</a:t>
            </a:r>
          </a:p>
        </p:txBody>
      </p:sp>
      <p:pic>
        <p:nvPicPr>
          <p:cNvPr id="7" name="Picture 6" descr="IAM.png">
            <a:extLst>
              <a:ext uri="{FF2B5EF4-FFF2-40B4-BE49-F238E27FC236}">
                <a16:creationId xmlns:a16="http://schemas.microsoft.com/office/drawing/2014/main" id="{A55255EF-2112-4C8B-8992-735AFF8FE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8597" y="2915330"/>
            <a:ext cx="1584960" cy="1584960"/>
          </a:xfrm>
          <a:prstGeom prst="rect">
            <a:avLst/>
          </a:prstGeom>
        </p:spPr>
      </p:pic>
    </p:spTree>
    <p:extLst>
      <p:ext uri="{BB962C8B-B14F-4D97-AF65-F5344CB8AC3E}">
        <p14:creationId xmlns:p14="http://schemas.microsoft.com/office/powerpoint/2010/main" val="168161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40FC3E-84CF-4701-93B5-0CD690EB8799}"/>
              </a:ext>
            </a:extLst>
          </p:cNvPr>
          <p:cNvSpPr>
            <a:spLocks noGrp="1"/>
          </p:cNvSpPr>
          <p:nvPr>
            <p:ph type="sldNum" sz="quarter" idx="17"/>
          </p:nvPr>
        </p:nvSpPr>
        <p:spPr/>
        <p:txBody>
          <a:bodyPr/>
          <a:lstStyle/>
          <a:p>
            <a:fld id="{4F9AC08D-23A9-440E-BCB9-AA1E9877CC38}" type="slidenum">
              <a:rPr lang="en-US" smtClean="0"/>
              <a:pPr/>
              <a:t>9</a:t>
            </a:fld>
            <a:endParaRPr lang="en-US" dirty="0"/>
          </a:p>
        </p:txBody>
      </p:sp>
      <p:sp>
        <p:nvSpPr>
          <p:cNvPr id="3" name="Title 2">
            <a:extLst>
              <a:ext uri="{FF2B5EF4-FFF2-40B4-BE49-F238E27FC236}">
                <a16:creationId xmlns:a16="http://schemas.microsoft.com/office/drawing/2014/main" id="{68288C04-B5ED-4F8D-82CB-DDF1B67A3D35}"/>
              </a:ext>
            </a:extLst>
          </p:cNvPr>
          <p:cNvSpPr>
            <a:spLocks noGrp="1"/>
          </p:cNvSpPr>
          <p:nvPr>
            <p:ph type="title"/>
          </p:nvPr>
        </p:nvSpPr>
        <p:spPr>
          <a:xfrm>
            <a:off x="270007" y="263302"/>
            <a:ext cx="13500200" cy="584776"/>
          </a:xfrm>
        </p:spPr>
        <p:txBody>
          <a:bodyPr/>
          <a:lstStyle/>
          <a:p>
            <a:r>
              <a:rPr lang="en-US" dirty="0" err="1">
                <a:solidFill>
                  <a:schemeClr val="bg1"/>
                </a:solidFill>
              </a:rPr>
              <a:t>Iam</a:t>
            </a:r>
            <a:r>
              <a:rPr lang="en-US" dirty="0">
                <a:solidFill>
                  <a:schemeClr val="bg1"/>
                </a:solidFill>
              </a:rPr>
              <a:t> users and Groups</a:t>
            </a:r>
          </a:p>
        </p:txBody>
      </p:sp>
      <p:sp>
        <p:nvSpPr>
          <p:cNvPr id="4" name="Footer Placeholder 3">
            <a:extLst>
              <a:ext uri="{FF2B5EF4-FFF2-40B4-BE49-F238E27FC236}">
                <a16:creationId xmlns:a16="http://schemas.microsoft.com/office/drawing/2014/main" id="{69FA9A37-543B-43B2-9BD3-77A3D84ECAE6}"/>
              </a:ext>
            </a:extLst>
          </p:cNvPr>
          <p:cNvSpPr>
            <a:spLocks noGrp="1"/>
          </p:cNvSpPr>
          <p:nvPr>
            <p:ph type="ftr" sz="quarter" idx="16"/>
          </p:nvPr>
        </p:nvSpPr>
        <p:spPr/>
        <p:txBody>
          <a:bodyPr/>
          <a:lstStyle/>
          <a:p>
            <a:r>
              <a:rPr lang="en-US"/>
              <a:t>Copyright © 2020 Accenture. All rights reserved.</a:t>
            </a:r>
            <a:endParaRPr lang="en-US" dirty="0"/>
          </a:p>
        </p:txBody>
      </p:sp>
      <p:grpSp>
        <p:nvGrpSpPr>
          <p:cNvPr id="5" name="Group 4">
            <a:extLst>
              <a:ext uri="{FF2B5EF4-FFF2-40B4-BE49-F238E27FC236}">
                <a16:creationId xmlns:a16="http://schemas.microsoft.com/office/drawing/2014/main" id="{00E309ED-2A2A-4BE9-8969-E279744E37A5}"/>
              </a:ext>
            </a:extLst>
          </p:cNvPr>
          <p:cNvGrpSpPr/>
          <p:nvPr/>
        </p:nvGrpSpPr>
        <p:grpSpPr>
          <a:xfrm>
            <a:off x="7565817" y="1976146"/>
            <a:ext cx="2311067" cy="1174252"/>
            <a:chOff x="5768229" y="583348"/>
            <a:chExt cx="1733300" cy="880689"/>
          </a:xfrm>
        </p:grpSpPr>
        <p:pic>
          <p:nvPicPr>
            <p:cNvPr id="6" name="Picture 5" descr="User.png">
              <a:extLst>
                <a:ext uri="{FF2B5EF4-FFF2-40B4-BE49-F238E27FC236}">
                  <a16:creationId xmlns:a16="http://schemas.microsoft.com/office/drawing/2014/main" id="{297167F3-ED33-46AA-A9B0-77BD3DAFD6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55166" y="583348"/>
              <a:ext cx="647336" cy="555934"/>
            </a:xfrm>
            <a:prstGeom prst="rect">
              <a:avLst/>
            </a:prstGeom>
          </p:spPr>
        </p:pic>
        <p:sp>
          <p:nvSpPr>
            <p:cNvPr id="7" name="TextBox 6">
              <a:extLst>
                <a:ext uri="{FF2B5EF4-FFF2-40B4-BE49-F238E27FC236}">
                  <a16:creationId xmlns:a16="http://schemas.microsoft.com/office/drawing/2014/main" id="{68D80708-079F-4857-AC02-193BF15AAD6E}"/>
                </a:ext>
              </a:extLst>
            </p:cNvPr>
            <p:cNvSpPr txBox="1"/>
            <p:nvPr/>
          </p:nvSpPr>
          <p:spPr>
            <a:xfrm>
              <a:off x="5768229" y="1025456"/>
              <a:ext cx="1733300" cy="438581"/>
            </a:xfrm>
            <a:prstGeom prst="rect">
              <a:avLst/>
            </a:prstGeom>
            <a:noFill/>
          </p:spPr>
          <p:txBody>
            <a:bodyPr wrap="square" rtlCol="0">
              <a:spAutoFit/>
            </a:bodyPr>
            <a:lstStyle/>
            <a:p>
              <a:pPr algn="ctr" defTabSz="1219170">
                <a:defRPr/>
              </a:pPr>
              <a:r>
                <a:rPr lang="en-US" sz="1600" kern="0" dirty="0">
                  <a:solidFill>
                    <a:sysClr val="windowText" lastClr="000000"/>
                  </a:solidFill>
                  <a:latin typeface="Amazon Ember" panose="02000000000000000000" pitchFamily="2" charset="0"/>
                  <a:ea typeface="Amazon Ember" panose="02000000000000000000" pitchFamily="2" charset="0"/>
                  <a:cs typeface="Verdana" panose="020B0604030504040204" pitchFamily="34" charset="0"/>
                </a:rPr>
                <a:t>root@email.com</a:t>
              </a:r>
            </a:p>
            <a:p>
              <a:pPr algn="ctr" defTabSz="1219170">
                <a:defRPr/>
              </a:pPr>
              <a:r>
                <a:rPr lang="en-US" sz="1600" kern="0" dirty="0">
                  <a:solidFill>
                    <a:sysClr val="windowText" lastClr="000000"/>
                  </a:solidFill>
                  <a:latin typeface="Amazon Ember" panose="02000000000000000000" pitchFamily="2" charset="0"/>
                  <a:ea typeface="Amazon Ember" panose="02000000000000000000" pitchFamily="2" charset="0"/>
                  <a:cs typeface="Verdana" panose="020B0604030504040204" pitchFamily="34" charset="0"/>
                </a:rPr>
                <a:t>Password</a:t>
              </a:r>
            </a:p>
          </p:txBody>
        </p:sp>
      </p:grpSp>
      <p:sp>
        <p:nvSpPr>
          <p:cNvPr id="8" name="Rectangle 7">
            <a:extLst>
              <a:ext uri="{FF2B5EF4-FFF2-40B4-BE49-F238E27FC236}">
                <a16:creationId xmlns:a16="http://schemas.microsoft.com/office/drawing/2014/main" id="{C09297D7-1439-49EE-94F6-DF26CF9F170F}"/>
              </a:ext>
            </a:extLst>
          </p:cNvPr>
          <p:cNvSpPr/>
          <p:nvPr/>
        </p:nvSpPr>
        <p:spPr>
          <a:xfrm>
            <a:off x="9876884" y="2083894"/>
            <a:ext cx="2809807" cy="963457"/>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1219170">
              <a:defRPr/>
            </a:pPr>
            <a:endParaRPr lang="en-US" sz="2400" kern="0" dirty="0">
              <a:solidFill>
                <a:sysClr val="windowText" lastClr="000000"/>
              </a:solidFill>
              <a:latin typeface="Amazon Ember" panose="02000000000000000000" pitchFamily="2" charset="0"/>
              <a:ea typeface="Amazon Ember" panose="02000000000000000000" pitchFamily="2" charset="0"/>
            </a:endParaRPr>
          </a:p>
        </p:txBody>
      </p:sp>
      <p:sp>
        <p:nvSpPr>
          <p:cNvPr id="9" name="TextBox 8">
            <a:extLst>
              <a:ext uri="{FF2B5EF4-FFF2-40B4-BE49-F238E27FC236}">
                <a16:creationId xmlns:a16="http://schemas.microsoft.com/office/drawing/2014/main" id="{4DFC9D74-00D6-422E-8F51-D80B6F40D713}"/>
              </a:ext>
            </a:extLst>
          </p:cNvPr>
          <p:cNvSpPr txBox="1"/>
          <p:nvPr/>
        </p:nvSpPr>
        <p:spPr>
          <a:xfrm>
            <a:off x="11205710" y="2351440"/>
            <a:ext cx="1343720" cy="379656"/>
          </a:xfrm>
          <a:prstGeom prst="rect">
            <a:avLst/>
          </a:prstGeom>
          <a:noFill/>
          <a:ln>
            <a:noFill/>
          </a:ln>
        </p:spPr>
        <p:txBody>
          <a:bodyPr wrap="square" rtlCol="0">
            <a:spAutoFit/>
          </a:bodyPr>
          <a:lstStyle/>
          <a:p>
            <a:pPr algn="ctr" defTabSz="1219170">
              <a:defRPr/>
            </a:pPr>
            <a:r>
              <a:rPr lang="en-US" sz="1867" b="1" kern="0" dirty="0">
                <a:solidFill>
                  <a:sysClr val="windowText" lastClr="000000"/>
                </a:solidFill>
                <a:latin typeface="Amazon Ember" panose="02000000000000000000" pitchFamily="2" charset="0"/>
                <a:ea typeface="Amazon Ember" panose="02000000000000000000" pitchFamily="2" charset="0"/>
                <a:cs typeface="Verdana" panose="020B0604030504040204" pitchFamily="34" charset="0"/>
              </a:rPr>
              <a:t>Account</a:t>
            </a:r>
          </a:p>
        </p:txBody>
      </p:sp>
      <p:cxnSp>
        <p:nvCxnSpPr>
          <p:cNvPr id="10" name="Straight Arrow Connector 9">
            <a:extLst>
              <a:ext uri="{FF2B5EF4-FFF2-40B4-BE49-F238E27FC236}">
                <a16:creationId xmlns:a16="http://schemas.microsoft.com/office/drawing/2014/main" id="{3744296D-23F5-4EBA-B378-88DB33D59917}"/>
              </a:ext>
            </a:extLst>
          </p:cNvPr>
          <p:cNvCxnSpPr/>
          <p:nvPr/>
        </p:nvCxnSpPr>
        <p:spPr>
          <a:xfrm>
            <a:off x="9236681" y="2421447"/>
            <a:ext cx="60706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040C85B-EDC1-4F61-81EB-29F9EF8F46ED}"/>
              </a:ext>
            </a:extLst>
          </p:cNvPr>
          <p:cNvSpPr txBox="1"/>
          <p:nvPr/>
        </p:nvSpPr>
        <p:spPr>
          <a:xfrm>
            <a:off x="10232258" y="3608747"/>
            <a:ext cx="2072640" cy="379656"/>
          </a:xfrm>
          <a:prstGeom prst="rect">
            <a:avLst/>
          </a:prstGeom>
          <a:solidFill>
            <a:schemeClr val="bg1"/>
          </a:solidFill>
          <a:ln>
            <a:solidFill>
              <a:schemeClr val="bg1">
                <a:lumMod val="50000"/>
              </a:schemeClr>
            </a:solidFill>
          </a:ln>
        </p:spPr>
        <p:txBody>
          <a:bodyPr wrap="square" rtlCol="0">
            <a:spAutoFit/>
          </a:bodyPr>
          <a:lstStyle/>
          <a:p>
            <a:pPr algn="ctr" defTabSz="1219170">
              <a:defRPr/>
            </a:pPr>
            <a:r>
              <a:rPr lang="en-US" sz="1867" kern="0" dirty="0">
                <a:solidFill>
                  <a:sysClr val="windowText" lastClr="000000"/>
                </a:solidFill>
                <a:latin typeface="Amazon Ember" panose="02000000000000000000" pitchFamily="2" charset="0"/>
                <a:ea typeface="Amazon Ember" panose="02000000000000000000" pitchFamily="2" charset="0"/>
                <a:cs typeface="Verdana" panose="020B0604030504040204" pitchFamily="34" charset="0"/>
              </a:rPr>
              <a:t>Administrator</a:t>
            </a:r>
          </a:p>
        </p:txBody>
      </p:sp>
      <p:sp>
        <p:nvSpPr>
          <p:cNvPr id="12" name="TextBox 11">
            <a:extLst>
              <a:ext uri="{FF2B5EF4-FFF2-40B4-BE49-F238E27FC236}">
                <a16:creationId xmlns:a16="http://schemas.microsoft.com/office/drawing/2014/main" id="{AB06CD22-C3E1-4A49-A7EA-F5C238B9CBF5}"/>
              </a:ext>
            </a:extLst>
          </p:cNvPr>
          <p:cNvSpPr txBox="1"/>
          <p:nvPr/>
        </p:nvSpPr>
        <p:spPr>
          <a:xfrm>
            <a:off x="8807422" y="5234516"/>
            <a:ext cx="2072640" cy="666977"/>
          </a:xfrm>
          <a:prstGeom prst="rect">
            <a:avLst/>
          </a:prstGeom>
          <a:solidFill>
            <a:srgbClr val="FFFF99"/>
          </a:solidFill>
          <a:ln>
            <a:solidFill>
              <a:schemeClr val="bg1">
                <a:lumMod val="50000"/>
              </a:schemeClr>
            </a:solidFill>
          </a:ln>
        </p:spPr>
        <p:txBody>
          <a:bodyPr wrap="square" rtlCol="0">
            <a:spAutoFit/>
          </a:bodyPr>
          <a:lstStyle/>
          <a:p>
            <a:pPr algn="ctr" defTabSz="1219170">
              <a:defRPr/>
            </a:pPr>
            <a:r>
              <a:rPr lang="en-US" sz="1867" kern="0" dirty="0">
                <a:solidFill>
                  <a:sysClr val="windowText" lastClr="000000"/>
                </a:solidFill>
                <a:latin typeface="Amazon Ember" panose="02000000000000000000" pitchFamily="2" charset="0"/>
                <a:ea typeface="Amazon Ember" panose="02000000000000000000" pitchFamily="2" charset="0"/>
                <a:cs typeface="Verdana" panose="020B0604030504040204" pitchFamily="34" charset="0"/>
              </a:rPr>
              <a:t>Policy based IAM user</a:t>
            </a:r>
          </a:p>
        </p:txBody>
      </p:sp>
      <p:sp>
        <p:nvSpPr>
          <p:cNvPr id="13" name="TextBox 12">
            <a:extLst>
              <a:ext uri="{FF2B5EF4-FFF2-40B4-BE49-F238E27FC236}">
                <a16:creationId xmlns:a16="http://schemas.microsoft.com/office/drawing/2014/main" id="{03FEF01A-1823-4396-8FA6-1F0C6958B5A2}"/>
              </a:ext>
            </a:extLst>
          </p:cNvPr>
          <p:cNvSpPr txBox="1"/>
          <p:nvPr/>
        </p:nvSpPr>
        <p:spPr>
          <a:xfrm>
            <a:off x="10232258" y="4366733"/>
            <a:ext cx="2072640" cy="379656"/>
          </a:xfrm>
          <a:prstGeom prst="rect">
            <a:avLst/>
          </a:prstGeom>
          <a:solidFill>
            <a:schemeClr val="bg1"/>
          </a:solidFill>
          <a:ln>
            <a:solidFill>
              <a:schemeClr val="bg1">
                <a:lumMod val="50000"/>
              </a:schemeClr>
            </a:solidFill>
          </a:ln>
        </p:spPr>
        <p:txBody>
          <a:bodyPr wrap="square" rtlCol="0">
            <a:spAutoFit/>
          </a:bodyPr>
          <a:lstStyle/>
          <a:p>
            <a:pPr algn="ctr" defTabSz="1219170">
              <a:defRPr/>
            </a:pPr>
            <a:r>
              <a:rPr lang="en-US" sz="1867" kern="0" dirty="0">
                <a:solidFill>
                  <a:sysClr val="windowText" lastClr="000000"/>
                </a:solidFill>
                <a:latin typeface="Amazon Ember" panose="02000000000000000000" pitchFamily="2" charset="0"/>
                <a:ea typeface="Amazon Ember" panose="02000000000000000000" pitchFamily="2" charset="0"/>
                <a:cs typeface="Verdana" panose="020B0604030504040204" pitchFamily="34" charset="0"/>
              </a:rPr>
              <a:t>Group</a:t>
            </a:r>
          </a:p>
        </p:txBody>
      </p:sp>
      <p:cxnSp>
        <p:nvCxnSpPr>
          <p:cNvPr id="14" name="Straight Connector 13">
            <a:extLst>
              <a:ext uri="{FF2B5EF4-FFF2-40B4-BE49-F238E27FC236}">
                <a16:creationId xmlns:a16="http://schemas.microsoft.com/office/drawing/2014/main" id="{CFFC18C5-E8B8-46B7-AA9D-5BF2689DAD02}"/>
              </a:ext>
            </a:extLst>
          </p:cNvPr>
          <p:cNvCxnSpPr/>
          <p:nvPr/>
        </p:nvCxnSpPr>
        <p:spPr>
          <a:xfrm flipH="1">
            <a:off x="11268577" y="4017556"/>
            <a:ext cx="3" cy="36576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6D51399-D327-4387-94B3-6E5E8F05A9FC}"/>
              </a:ext>
            </a:extLst>
          </p:cNvPr>
          <p:cNvCxnSpPr/>
          <p:nvPr/>
        </p:nvCxnSpPr>
        <p:spPr>
          <a:xfrm>
            <a:off x="11265351" y="3095635"/>
            <a:ext cx="1" cy="48768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596D5B9B-08B6-41AD-A18C-5B6BC915B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7449" y="2325583"/>
            <a:ext cx="905074" cy="543045"/>
          </a:xfrm>
          <a:prstGeom prst="rect">
            <a:avLst/>
          </a:prstGeom>
        </p:spPr>
      </p:pic>
      <p:sp>
        <p:nvSpPr>
          <p:cNvPr id="18" name="TextBox 17">
            <a:extLst>
              <a:ext uri="{FF2B5EF4-FFF2-40B4-BE49-F238E27FC236}">
                <a16:creationId xmlns:a16="http://schemas.microsoft.com/office/drawing/2014/main" id="{42B3AEE6-03DE-4906-8C4A-E73C1EDB0738}"/>
              </a:ext>
            </a:extLst>
          </p:cNvPr>
          <p:cNvSpPr txBox="1"/>
          <p:nvPr/>
        </p:nvSpPr>
        <p:spPr>
          <a:xfrm>
            <a:off x="11877570" y="5244407"/>
            <a:ext cx="2072640" cy="666977"/>
          </a:xfrm>
          <a:prstGeom prst="rect">
            <a:avLst/>
          </a:prstGeom>
          <a:solidFill>
            <a:srgbClr val="FFFF99"/>
          </a:solidFill>
          <a:ln>
            <a:solidFill>
              <a:schemeClr val="bg1">
                <a:lumMod val="50000"/>
              </a:schemeClr>
            </a:solidFill>
          </a:ln>
        </p:spPr>
        <p:txBody>
          <a:bodyPr wrap="square" rtlCol="0">
            <a:spAutoFit/>
          </a:bodyPr>
          <a:lstStyle/>
          <a:p>
            <a:pPr algn="ctr" defTabSz="1219170">
              <a:defRPr/>
            </a:pPr>
            <a:r>
              <a:rPr lang="en-US" sz="1867" kern="0" dirty="0">
                <a:solidFill>
                  <a:sysClr val="windowText" lastClr="000000"/>
                </a:solidFill>
                <a:latin typeface="Amazon Ember" panose="02000000000000000000" pitchFamily="2" charset="0"/>
                <a:ea typeface="Amazon Ember" panose="02000000000000000000" pitchFamily="2" charset="0"/>
                <a:cs typeface="Verdana" panose="020B0604030504040204" pitchFamily="34" charset="0"/>
              </a:rPr>
              <a:t>Policy based IAM user</a:t>
            </a:r>
          </a:p>
        </p:txBody>
      </p:sp>
      <p:cxnSp>
        <p:nvCxnSpPr>
          <p:cNvPr id="20" name="Connector: Elbow 19">
            <a:extLst>
              <a:ext uri="{FF2B5EF4-FFF2-40B4-BE49-F238E27FC236}">
                <a16:creationId xmlns:a16="http://schemas.microsoft.com/office/drawing/2014/main" id="{4E20E129-A2A6-4F06-BF24-E842DB3B6FA8}"/>
              </a:ext>
            </a:extLst>
          </p:cNvPr>
          <p:cNvCxnSpPr>
            <a:cxnSpLocks/>
            <a:stCxn id="13" idx="2"/>
            <a:endCxn id="18" idx="0"/>
          </p:cNvCxnSpPr>
          <p:nvPr/>
        </p:nvCxnSpPr>
        <p:spPr>
          <a:xfrm rot="16200000" flipH="1">
            <a:off x="11842225" y="4172742"/>
            <a:ext cx="498018" cy="1645312"/>
          </a:xfrm>
          <a:prstGeom prst="bentConnector3">
            <a:avLst/>
          </a:prstGeom>
        </p:spPr>
        <p:style>
          <a:lnRef idx="1">
            <a:schemeClr val="dk1"/>
          </a:lnRef>
          <a:fillRef idx="0">
            <a:schemeClr val="dk1"/>
          </a:fillRef>
          <a:effectRef idx="0">
            <a:schemeClr val="dk1"/>
          </a:effectRef>
          <a:fontRef idx="minor">
            <a:schemeClr val="tx1"/>
          </a:fontRef>
        </p:style>
      </p:cxnSp>
      <p:cxnSp>
        <p:nvCxnSpPr>
          <p:cNvPr id="23" name="Connector: Elbow 22">
            <a:extLst>
              <a:ext uri="{FF2B5EF4-FFF2-40B4-BE49-F238E27FC236}">
                <a16:creationId xmlns:a16="http://schemas.microsoft.com/office/drawing/2014/main" id="{50646652-B428-491D-836A-51E5F9134A95}"/>
              </a:ext>
            </a:extLst>
          </p:cNvPr>
          <p:cNvCxnSpPr>
            <a:cxnSpLocks/>
            <a:stCxn id="13" idx="2"/>
            <a:endCxn id="12" idx="0"/>
          </p:cNvCxnSpPr>
          <p:nvPr/>
        </p:nvCxnSpPr>
        <p:spPr>
          <a:xfrm rot="5400000">
            <a:off x="10312097" y="4278034"/>
            <a:ext cx="488127" cy="1424836"/>
          </a:xfrm>
          <a:prstGeom prst="bentConnector3">
            <a:avLst/>
          </a:prstGeom>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9288D6A2-4911-4257-9AD9-B8EB18FFE670}"/>
              </a:ext>
            </a:extLst>
          </p:cNvPr>
          <p:cNvSpPr/>
          <p:nvPr/>
        </p:nvSpPr>
        <p:spPr>
          <a:xfrm>
            <a:off x="351521" y="1155042"/>
            <a:ext cx="7197725" cy="5441298"/>
          </a:xfrm>
          <a:prstGeom prst="rect">
            <a:avLst/>
          </a:prstGeom>
        </p:spPr>
        <p:txBody>
          <a:bodyPr>
            <a:spAutoFit/>
          </a:bodyPr>
          <a:lstStyle/>
          <a:p>
            <a:pPr>
              <a:lnSpc>
                <a:spcPct val="150000"/>
              </a:lnSpc>
            </a:pPr>
            <a:r>
              <a:rPr lang="en-US" b="1" dirty="0">
                <a:solidFill>
                  <a:srgbClr val="18537D"/>
                </a:solidFill>
              </a:rPr>
              <a:t>IAM users</a:t>
            </a:r>
          </a:p>
          <a:p>
            <a:pPr marL="285750" indent="-285750">
              <a:lnSpc>
                <a:spcPct val="150000"/>
              </a:lnSpc>
              <a:buFont typeface="Arial" panose="020B0604020202020204" pitchFamily="34" charset="0"/>
              <a:buChar char="•"/>
            </a:pPr>
            <a:r>
              <a:rPr lang="en-US" dirty="0">
                <a:solidFill>
                  <a:srgbClr val="18537D"/>
                </a:solidFill>
              </a:rPr>
              <a:t>Allow individuals to interact with AWS</a:t>
            </a:r>
          </a:p>
          <a:p>
            <a:pPr marL="285750" indent="-285750">
              <a:lnSpc>
                <a:spcPct val="150000"/>
              </a:lnSpc>
              <a:buFont typeface="Arial" panose="020B0604020202020204" pitchFamily="34" charset="0"/>
              <a:buChar char="•"/>
            </a:pPr>
            <a:r>
              <a:rPr lang="en-US" dirty="0">
                <a:solidFill>
                  <a:srgbClr val="18537D"/>
                </a:solidFill>
              </a:rPr>
              <a:t>No default security credentials for IAM users</a:t>
            </a:r>
          </a:p>
          <a:p>
            <a:pPr marL="285750" indent="-285750">
              <a:lnSpc>
                <a:spcPct val="150000"/>
              </a:lnSpc>
              <a:buFont typeface="Arial" panose="020B0604020202020204" pitchFamily="34" charset="0"/>
              <a:buChar char="•"/>
            </a:pPr>
            <a:r>
              <a:rPr lang="en-US" dirty="0">
                <a:solidFill>
                  <a:srgbClr val="18537D"/>
                </a:solidFill>
              </a:rPr>
              <a:t>Create IAM users with required privileges instead of using the root account is a best practice</a:t>
            </a:r>
          </a:p>
          <a:p>
            <a:pPr>
              <a:lnSpc>
                <a:spcPct val="150000"/>
              </a:lnSpc>
            </a:pPr>
            <a:r>
              <a:rPr lang="en-US" b="1" dirty="0">
                <a:solidFill>
                  <a:srgbClr val="18537D"/>
                </a:solidFill>
              </a:rPr>
              <a:t>IAM Groups</a:t>
            </a:r>
          </a:p>
          <a:p>
            <a:pPr marL="285750" indent="-285750">
              <a:lnSpc>
                <a:spcPct val="150000"/>
              </a:lnSpc>
              <a:buFont typeface="Arial" panose="020B0604020202020204" pitchFamily="34" charset="0"/>
              <a:buChar char="•"/>
            </a:pPr>
            <a:r>
              <a:rPr lang="en-US" dirty="0">
                <a:solidFill>
                  <a:srgbClr val="18537D"/>
                </a:solidFill>
              </a:rPr>
              <a:t>Collection of IAM users</a:t>
            </a:r>
          </a:p>
          <a:p>
            <a:pPr marL="285750" indent="-285750">
              <a:lnSpc>
                <a:spcPct val="150000"/>
              </a:lnSpc>
              <a:buFont typeface="Arial" panose="020B0604020202020204" pitchFamily="34" charset="0"/>
              <a:buChar char="•"/>
            </a:pPr>
            <a:r>
              <a:rPr lang="en-US" dirty="0">
                <a:solidFill>
                  <a:srgbClr val="18537D"/>
                </a:solidFill>
              </a:rPr>
              <a:t>Specify permissions with IAM policies</a:t>
            </a:r>
          </a:p>
          <a:p>
            <a:pPr marL="285750" indent="-285750">
              <a:lnSpc>
                <a:spcPct val="150000"/>
              </a:lnSpc>
              <a:buFont typeface="Arial" panose="020B0604020202020204" pitchFamily="34" charset="0"/>
              <a:buChar char="•"/>
            </a:pPr>
            <a:r>
              <a:rPr lang="en-US" dirty="0">
                <a:solidFill>
                  <a:srgbClr val="18537D"/>
                </a:solidFill>
              </a:rPr>
              <a:t>No default group</a:t>
            </a:r>
          </a:p>
          <a:p>
            <a:pPr marL="285750" indent="-285750">
              <a:lnSpc>
                <a:spcPct val="150000"/>
              </a:lnSpc>
              <a:buFont typeface="Arial" panose="020B0604020202020204" pitchFamily="34" charset="0"/>
              <a:buChar char="•"/>
            </a:pPr>
            <a:r>
              <a:rPr lang="en-US" dirty="0">
                <a:solidFill>
                  <a:srgbClr val="18537D"/>
                </a:solidFill>
              </a:rPr>
              <a:t>Cannot be nested</a:t>
            </a:r>
          </a:p>
          <a:p>
            <a:pPr marL="285750" indent="-285750">
              <a:lnSpc>
                <a:spcPct val="150000"/>
              </a:lnSpc>
              <a:buFont typeface="Arial" panose="020B0604020202020204" pitchFamily="34" charset="0"/>
              <a:buChar char="•"/>
            </a:pPr>
            <a:r>
              <a:rPr lang="en-US" dirty="0">
                <a:solidFill>
                  <a:srgbClr val="18537D"/>
                </a:solidFill>
              </a:rPr>
              <a:t>A user can belong to multiple groups</a:t>
            </a:r>
          </a:p>
          <a:p>
            <a:pPr marL="285750" indent="-285750">
              <a:lnSpc>
                <a:spcPct val="150000"/>
              </a:lnSpc>
              <a:buFont typeface="Arial" panose="020B0604020202020204" pitchFamily="34" charset="0"/>
              <a:buChar char="•"/>
            </a:pPr>
            <a:endParaRPr lang="en-US" dirty="0">
              <a:solidFill>
                <a:srgbClr val="18537D"/>
              </a:solidFill>
            </a:endParaRPr>
          </a:p>
          <a:p>
            <a:pPr marL="285750" indent="-285750">
              <a:lnSpc>
                <a:spcPct val="150000"/>
              </a:lnSpc>
              <a:buFont typeface="Arial" panose="020B0604020202020204" pitchFamily="34" charset="0"/>
              <a:buChar char="•"/>
            </a:pPr>
            <a:endParaRPr lang="en-US" dirty="0">
              <a:solidFill>
                <a:srgbClr val="18537D"/>
              </a:solidFill>
            </a:endParaRPr>
          </a:p>
        </p:txBody>
      </p:sp>
    </p:spTree>
    <p:extLst>
      <p:ext uri="{BB962C8B-B14F-4D97-AF65-F5344CB8AC3E}">
        <p14:creationId xmlns:p14="http://schemas.microsoft.com/office/powerpoint/2010/main" val="4262617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41030D-914C-405A-B05E-AD0801AD867B}"/>
              </a:ext>
            </a:extLst>
          </p:cNvPr>
          <p:cNvSpPr>
            <a:spLocks noGrp="1"/>
          </p:cNvSpPr>
          <p:nvPr>
            <p:ph type="sldNum" sz="quarter" idx="17"/>
          </p:nvPr>
        </p:nvSpPr>
        <p:spPr>
          <a:xfrm>
            <a:off x="13590205" y="6843454"/>
            <a:ext cx="568247" cy="216646"/>
          </a:xfrm>
        </p:spPr>
        <p:txBody>
          <a:bodyPr/>
          <a:lstStyle/>
          <a:p>
            <a:fld id="{4F9AC08D-23A9-440E-BCB9-AA1E9877CC38}" type="slidenum">
              <a:rPr lang="en-US" smtClean="0"/>
              <a:pPr/>
              <a:t>10</a:t>
            </a:fld>
            <a:endParaRPr lang="en-US" dirty="0"/>
          </a:p>
        </p:txBody>
      </p:sp>
      <p:sp>
        <p:nvSpPr>
          <p:cNvPr id="3" name="Title 2">
            <a:extLst>
              <a:ext uri="{FF2B5EF4-FFF2-40B4-BE49-F238E27FC236}">
                <a16:creationId xmlns:a16="http://schemas.microsoft.com/office/drawing/2014/main" id="{6D6BAB11-C074-48BF-8D7A-D42E8EABC211}"/>
              </a:ext>
            </a:extLst>
          </p:cNvPr>
          <p:cNvSpPr>
            <a:spLocks noGrp="1"/>
          </p:cNvSpPr>
          <p:nvPr>
            <p:ph type="title"/>
          </p:nvPr>
        </p:nvSpPr>
        <p:spPr>
          <a:xfrm>
            <a:off x="450006" y="262313"/>
            <a:ext cx="13500200" cy="1359871"/>
          </a:xfrm>
        </p:spPr>
        <p:txBody>
          <a:bodyPr/>
          <a:lstStyle/>
          <a:p>
            <a:r>
              <a:rPr lang="en-US" dirty="0" err="1">
                <a:solidFill>
                  <a:schemeClr val="bg1"/>
                </a:solidFill>
              </a:rPr>
              <a:t>Iam</a:t>
            </a:r>
            <a:r>
              <a:rPr lang="en-US" dirty="0">
                <a:solidFill>
                  <a:schemeClr val="bg1"/>
                </a:solidFill>
              </a:rPr>
              <a:t> Roles</a:t>
            </a:r>
          </a:p>
        </p:txBody>
      </p:sp>
      <p:sp>
        <p:nvSpPr>
          <p:cNvPr id="4" name="Footer Placeholder 3">
            <a:extLst>
              <a:ext uri="{FF2B5EF4-FFF2-40B4-BE49-F238E27FC236}">
                <a16:creationId xmlns:a16="http://schemas.microsoft.com/office/drawing/2014/main" id="{875FD025-BF62-45EB-854A-103D16BE34AD}"/>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DFA38AD1-A3CF-41D7-827C-257868C664B1}"/>
              </a:ext>
            </a:extLst>
          </p:cNvPr>
          <p:cNvSpPr/>
          <p:nvPr/>
        </p:nvSpPr>
        <p:spPr>
          <a:xfrm>
            <a:off x="572116" y="1066847"/>
            <a:ext cx="11600219" cy="2532809"/>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Used to provide permission to AWS resources to access other AWS resources</a:t>
            </a:r>
          </a:p>
          <a:p>
            <a:pPr marL="742950" lvl="1" indent="-285750">
              <a:lnSpc>
                <a:spcPct val="150000"/>
              </a:lnSpc>
              <a:buFont typeface="Arial" panose="020B0604020202020204" pitchFamily="34" charset="0"/>
              <a:buChar char="•"/>
            </a:pPr>
            <a:r>
              <a:rPr lang="en-US" dirty="0">
                <a:solidFill>
                  <a:srgbClr val="18537D"/>
                </a:solidFill>
              </a:rPr>
              <a:t>Access provided are temporary</a:t>
            </a:r>
          </a:p>
          <a:p>
            <a:pPr marL="742950" lvl="1" indent="-285750">
              <a:lnSpc>
                <a:spcPct val="150000"/>
              </a:lnSpc>
              <a:buFont typeface="Arial" panose="020B0604020202020204" pitchFamily="34" charset="0"/>
              <a:buChar char="•"/>
            </a:pPr>
            <a:r>
              <a:rPr lang="en-US" dirty="0">
                <a:solidFill>
                  <a:srgbClr val="18537D"/>
                </a:solidFill>
              </a:rPr>
              <a:t>Helps to eliminates the need for static AWS credentials</a:t>
            </a:r>
          </a:p>
          <a:p>
            <a:pPr marL="285750" indent="-285750">
              <a:lnSpc>
                <a:spcPct val="150000"/>
              </a:lnSpc>
              <a:buFont typeface="Arial" panose="020B0604020202020204" pitchFamily="34" charset="0"/>
              <a:buChar char="•"/>
            </a:pPr>
            <a:r>
              <a:rPr lang="en-US" dirty="0">
                <a:solidFill>
                  <a:srgbClr val="18537D"/>
                </a:solidFill>
              </a:rPr>
              <a:t>Permissions are provided by defined IAM Policies and its attached to the role, and assumed by IAM user</a:t>
            </a:r>
          </a:p>
          <a:p>
            <a:pPr marL="285750" indent="-285750">
              <a:lnSpc>
                <a:spcPct val="150000"/>
              </a:lnSpc>
              <a:buFont typeface="Arial" panose="020B0604020202020204" pitchFamily="34" charset="0"/>
              <a:buChar char="•"/>
            </a:pPr>
            <a:r>
              <a:rPr lang="en-US" dirty="0">
                <a:solidFill>
                  <a:srgbClr val="18537D"/>
                </a:solidFill>
              </a:rPr>
              <a:t>Also provide access for Single Sign-On (SAML 2.0, OAuth 2.0) and cross account</a:t>
            </a:r>
          </a:p>
        </p:txBody>
      </p:sp>
      <p:sp>
        <p:nvSpPr>
          <p:cNvPr id="6" name="Rectangle 5">
            <a:extLst>
              <a:ext uri="{FF2B5EF4-FFF2-40B4-BE49-F238E27FC236}">
                <a16:creationId xmlns:a16="http://schemas.microsoft.com/office/drawing/2014/main" id="{5C291399-FF5C-4ABB-9993-CF97924D536A}"/>
              </a:ext>
            </a:extLst>
          </p:cNvPr>
          <p:cNvSpPr/>
          <p:nvPr/>
        </p:nvSpPr>
        <p:spPr>
          <a:xfrm>
            <a:off x="1180618" y="3891062"/>
            <a:ext cx="1805651" cy="11227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API Gateway</a:t>
            </a:r>
          </a:p>
        </p:txBody>
      </p:sp>
      <p:sp>
        <p:nvSpPr>
          <p:cNvPr id="7" name="Rectangle 6">
            <a:extLst>
              <a:ext uri="{FF2B5EF4-FFF2-40B4-BE49-F238E27FC236}">
                <a16:creationId xmlns:a16="http://schemas.microsoft.com/office/drawing/2014/main" id="{FDED0786-93DA-4505-8778-6D8EE572C6DA}"/>
              </a:ext>
            </a:extLst>
          </p:cNvPr>
          <p:cNvSpPr/>
          <p:nvPr/>
        </p:nvSpPr>
        <p:spPr>
          <a:xfrm>
            <a:off x="6032339" y="3891062"/>
            <a:ext cx="1805651" cy="11227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Lambda Function</a:t>
            </a:r>
          </a:p>
        </p:txBody>
      </p:sp>
      <p:sp>
        <p:nvSpPr>
          <p:cNvPr id="8" name="Rectangle 7">
            <a:extLst>
              <a:ext uri="{FF2B5EF4-FFF2-40B4-BE49-F238E27FC236}">
                <a16:creationId xmlns:a16="http://schemas.microsoft.com/office/drawing/2014/main" id="{A7AAED38-0322-46F8-AEE0-1FCE8968EC84}"/>
              </a:ext>
            </a:extLst>
          </p:cNvPr>
          <p:cNvSpPr/>
          <p:nvPr/>
        </p:nvSpPr>
        <p:spPr>
          <a:xfrm>
            <a:off x="10884060" y="3891062"/>
            <a:ext cx="1805651" cy="11227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 Bucket</a:t>
            </a:r>
          </a:p>
        </p:txBody>
      </p:sp>
      <p:cxnSp>
        <p:nvCxnSpPr>
          <p:cNvPr id="10" name="Straight Arrow Connector 9">
            <a:extLst>
              <a:ext uri="{FF2B5EF4-FFF2-40B4-BE49-F238E27FC236}">
                <a16:creationId xmlns:a16="http://schemas.microsoft.com/office/drawing/2014/main" id="{63D243FF-D093-47EB-B870-0BC345ABFA86}"/>
              </a:ext>
            </a:extLst>
          </p:cNvPr>
          <p:cNvCxnSpPr>
            <a:stCxn id="6" idx="3"/>
            <a:endCxn id="7" idx="1"/>
          </p:cNvCxnSpPr>
          <p:nvPr/>
        </p:nvCxnSpPr>
        <p:spPr>
          <a:xfrm>
            <a:off x="2986269" y="4452434"/>
            <a:ext cx="3046070"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1" name="Straight Arrow Connector 10">
            <a:extLst>
              <a:ext uri="{FF2B5EF4-FFF2-40B4-BE49-F238E27FC236}">
                <a16:creationId xmlns:a16="http://schemas.microsoft.com/office/drawing/2014/main" id="{EB0FA149-03FA-4EEA-9E8E-974B258067FE}"/>
              </a:ext>
            </a:extLst>
          </p:cNvPr>
          <p:cNvCxnSpPr>
            <a:cxnSpLocks/>
            <a:stCxn id="7" idx="3"/>
            <a:endCxn id="8" idx="1"/>
          </p:cNvCxnSpPr>
          <p:nvPr/>
        </p:nvCxnSpPr>
        <p:spPr>
          <a:xfrm>
            <a:off x="7837990" y="4452434"/>
            <a:ext cx="3046070"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14" name="Rectangle 13">
            <a:extLst>
              <a:ext uri="{FF2B5EF4-FFF2-40B4-BE49-F238E27FC236}">
                <a16:creationId xmlns:a16="http://schemas.microsoft.com/office/drawing/2014/main" id="{FDC73F70-4DFE-41B9-9D6B-41DA46D291FC}"/>
              </a:ext>
            </a:extLst>
          </p:cNvPr>
          <p:cNvSpPr/>
          <p:nvPr/>
        </p:nvSpPr>
        <p:spPr>
          <a:xfrm>
            <a:off x="3107631" y="4083102"/>
            <a:ext cx="2932213" cy="338554"/>
          </a:xfrm>
          <a:prstGeom prst="rect">
            <a:avLst/>
          </a:prstGeom>
        </p:spPr>
        <p:txBody>
          <a:bodyPr wrap="none">
            <a:spAutoFit/>
          </a:bodyPr>
          <a:lstStyle/>
          <a:p>
            <a:r>
              <a:rPr lang="en-US" sz="1600" dirty="0">
                <a:solidFill>
                  <a:srgbClr val="18537D"/>
                </a:solidFill>
              </a:rPr>
              <a:t>Triggers a Lambda Function</a:t>
            </a:r>
            <a:endParaRPr lang="en-US" sz="1600" dirty="0"/>
          </a:p>
        </p:txBody>
      </p:sp>
      <p:sp>
        <p:nvSpPr>
          <p:cNvPr id="15" name="Rectangle 14">
            <a:extLst>
              <a:ext uri="{FF2B5EF4-FFF2-40B4-BE49-F238E27FC236}">
                <a16:creationId xmlns:a16="http://schemas.microsoft.com/office/drawing/2014/main" id="{00D93F42-7A7A-43B6-B35D-AF2129075616}"/>
              </a:ext>
            </a:extLst>
          </p:cNvPr>
          <p:cNvSpPr/>
          <p:nvPr/>
        </p:nvSpPr>
        <p:spPr>
          <a:xfrm>
            <a:off x="7998334" y="4113880"/>
            <a:ext cx="2885726" cy="338554"/>
          </a:xfrm>
          <a:prstGeom prst="rect">
            <a:avLst/>
          </a:prstGeom>
        </p:spPr>
        <p:txBody>
          <a:bodyPr wrap="none">
            <a:spAutoFit/>
          </a:bodyPr>
          <a:lstStyle/>
          <a:p>
            <a:r>
              <a:rPr lang="en-US" sz="1600" dirty="0">
                <a:solidFill>
                  <a:srgbClr val="18537D"/>
                </a:solidFill>
              </a:rPr>
              <a:t>Write the log or other data </a:t>
            </a:r>
            <a:endParaRPr lang="en-US" sz="1600" dirty="0"/>
          </a:p>
        </p:txBody>
      </p:sp>
      <p:sp>
        <p:nvSpPr>
          <p:cNvPr id="16" name="Rectangle 15">
            <a:extLst>
              <a:ext uri="{FF2B5EF4-FFF2-40B4-BE49-F238E27FC236}">
                <a16:creationId xmlns:a16="http://schemas.microsoft.com/office/drawing/2014/main" id="{DF1356CD-8A29-4E5F-B4FE-5E88BC0943A7}"/>
              </a:ext>
            </a:extLst>
          </p:cNvPr>
          <p:cNvSpPr/>
          <p:nvPr/>
        </p:nvSpPr>
        <p:spPr>
          <a:xfrm>
            <a:off x="4132153" y="5109334"/>
            <a:ext cx="5606022" cy="584775"/>
          </a:xfrm>
          <a:prstGeom prst="rect">
            <a:avLst/>
          </a:prstGeom>
        </p:spPr>
        <p:txBody>
          <a:bodyPr wrap="none">
            <a:spAutoFit/>
          </a:bodyPr>
          <a:lstStyle/>
          <a:p>
            <a:pPr algn="ctr"/>
            <a:r>
              <a:rPr lang="en-US" sz="1600" dirty="0">
                <a:solidFill>
                  <a:srgbClr val="18537D"/>
                </a:solidFill>
              </a:rPr>
              <a:t>Lambda Function need permission to access S3 Bucket</a:t>
            </a:r>
          </a:p>
          <a:p>
            <a:pPr algn="ctr"/>
            <a:r>
              <a:rPr lang="en-US" sz="1600" dirty="0">
                <a:solidFill>
                  <a:srgbClr val="18537D"/>
                </a:solidFill>
              </a:rPr>
              <a:t>Permission are provided by Roles</a:t>
            </a:r>
            <a:endParaRPr lang="en-US" sz="1600" dirty="0"/>
          </a:p>
        </p:txBody>
      </p:sp>
    </p:spTree>
    <p:extLst>
      <p:ext uri="{BB962C8B-B14F-4D97-AF65-F5344CB8AC3E}">
        <p14:creationId xmlns:p14="http://schemas.microsoft.com/office/powerpoint/2010/main" val="344723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E41A14-FC0F-481C-A7C9-134CE5AF6170}"/>
              </a:ext>
            </a:extLst>
          </p:cNvPr>
          <p:cNvSpPr>
            <a:spLocks noGrp="1"/>
          </p:cNvSpPr>
          <p:nvPr>
            <p:ph type="sldNum" sz="quarter" idx="17"/>
          </p:nvPr>
        </p:nvSpPr>
        <p:spPr>
          <a:xfrm>
            <a:off x="13590205" y="6843453"/>
            <a:ext cx="735395" cy="355859"/>
          </a:xfrm>
        </p:spPr>
        <p:txBody>
          <a:bodyPr/>
          <a:lstStyle/>
          <a:p>
            <a:fld id="{4F9AC08D-23A9-440E-BCB9-AA1E9877CC38}" type="slidenum">
              <a:rPr lang="en-US" smtClean="0"/>
              <a:pPr/>
              <a:t>11</a:t>
            </a:fld>
            <a:endParaRPr lang="en-US" dirty="0"/>
          </a:p>
        </p:txBody>
      </p:sp>
      <p:sp>
        <p:nvSpPr>
          <p:cNvPr id="3" name="Title 2">
            <a:extLst>
              <a:ext uri="{FF2B5EF4-FFF2-40B4-BE49-F238E27FC236}">
                <a16:creationId xmlns:a16="http://schemas.microsoft.com/office/drawing/2014/main" id="{8FC91F0A-A7B4-4080-BA45-880A59401D3E}"/>
              </a:ext>
            </a:extLst>
          </p:cNvPr>
          <p:cNvSpPr>
            <a:spLocks noGrp="1"/>
          </p:cNvSpPr>
          <p:nvPr>
            <p:ph type="title"/>
          </p:nvPr>
        </p:nvSpPr>
        <p:spPr>
          <a:xfrm>
            <a:off x="450006" y="301643"/>
            <a:ext cx="13500200" cy="1359871"/>
          </a:xfrm>
        </p:spPr>
        <p:txBody>
          <a:bodyPr/>
          <a:lstStyle/>
          <a:p>
            <a:r>
              <a:rPr lang="en-US">
                <a:solidFill>
                  <a:schemeClr val="bg1"/>
                </a:solidFill>
              </a:rPr>
              <a:t>Iam Policies and permissions</a:t>
            </a:r>
            <a:endParaRPr lang="en-US" dirty="0">
              <a:solidFill>
                <a:schemeClr val="bg1"/>
              </a:solidFill>
            </a:endParaRPr>
          </a:p>
        </p:txBody>
      </p:sp>
      <p:sp>
        <p:nvSpPr>
          <p:cNvPr id="4" name="Footer Placeholder 3">
            <a:extLst>
              <a:ext uri="{FF2B5EF4-FFF2-40B4-BE49-F238E27FC236}">
                <a16:creationId xmlns:a16="http://schemas.microsoft.com/office/drawing/2014/main" id="{8FECC247-ED99-4CF3-BB56-8FE228585F78}"/>
              </a:ext>
            </a:extLst>
          </p:cNvPr>
          <p:cNvSpPr>
            <a:spLocks noGrp="1"/>
          </p:cNvSpPr>
          <p:nvPr>
            <p:ph type="ftr" sz="quarter" idx="16"/>
          </p:nvPr>
        </p:nvSpPr>
        <p:spPr>
          <a:xfrm>
            <a:off x="656699" y="6882923"/>
            <a:ext cx="6750098" cy="216646"/>
          </a:xfrm>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367D9FF8-89D0-4C90-B4C9-92AB8893D7F8}"/>
              </a:ext>
            </a:extLst>
          </p:cNvPr>
          <p:cNvSpPr/>
          <p:nvPr/>
        </p:nvSpPr>
        <p:spPr>
          <a:xfrm>
            <a:off x="450006" y="760058"/>
            <a:ext cx="7197725" cy="2948308"/>
          </a:xfrm>
          <a:prstGeom prst="rect">
            <a:avLst/>
          </a:prstGeom>
        </p:spPr>
        <p:txBody>
          <a:bodyPr>
            <a:spAutoFit/>
          </a:bodyPr>
          <a:lstStyle/>
          <a:p>
            <a:pPr>
              <a:lnSpc>
                <a:spcPct val="150000"/>
              </a:lnSpc>
            </a:pPr>
            <a:r>
              <a:rPr lang="en-US" b="1" dirty="0">
                <a:solidFill>
                  <a:srgbClr val="18537D"/>
                </a:solidFill>
              </a:rPr>
              <a:t>Policies</a:t>
            </a:r>
          </a:p>
          <a:p>
            <a:pPr>
              <a:lnSpc>
                <a:spcPct val="150000"/>
              </a:lnSpc>
            </a:pPr>
            <a:r>
              <a:rPr lang="en-US" dirty="0">
                <a:solidFill>
                  <a:srgbClr val="18537D"/>
                </a:solidFill>
              </a:rPr>
              <a:t>Provides the required Permission to Users and Roles</a:t>
            </a:r>
          </a:p>
          <a:p>
            <a:pPr>
              <a:lnSpc>
                <a:spcPct val="150000"/>
              </a:lnSpc>
            </a:pPr>
            <a:r>
              <a:rPr lang="en-US" dirty="0">
                <a:solidFill>
                  <a:srgbClr val="18537D"/>
                </a:solidFill>
              </a:rPr>
              <a:t>Policy Types</a:t>
            </a:r>
          </a:p>
          <a:p>
            <a:pPr marL="742950" lvl="2" indent="-285750">
              <a:lnSpc>
                <a:spcPct val="150000"/>
              </a:lnSpc>
              <a:buFont typeface="Arial" panose="020B0604020202020204" pitchFamily="34" charset="0"/>
              <a:buChar char="•"/>
            </a:pPr>
            <a:r>
              <a:rPr lang="en-US" dirty="0">
                <a:solidFill>
                  <a:srgbClr val="18537D"/>
                </a:solidFill>
              </a:rPr>
              <a:t>Identity-based policies </a:t>
            </a:r>
          </a:p>
          <a:p>
            <a:pPr marL="742950" lvl="2" indent="-285750">
              <a:lnSpc>
                <a:spcPct val="150000"/>
              </a:lnSpc>
              <a:buFont typeface="Arial" panose="020B0604020202020204" pitchFamily="34" charset="0"/>
              <a:buChar char="•"/>
            </a:pPr>
            <a:r>
              <a:rPr lang="en-US" dirty="0">
                <a:solidFill>
                  <a:srgbClr val="18537D"/>
                </a:solidFill>
              </a:rPr>
              <a:t>Resource-based policies </a:t>
            </a:r>
          </a:p>
          <a:p>
            <a:pPr marL="742950" lvl="2" indent="-285750">
              <a:lnSpc>
                <a:spcPct val="150000"/>
              </a:lnSpc>
              <a:buFont typeface="Arial" panose="020B0604020202020204" pitchFamily="34" charset="0"/>
              <a:buChar char="•"/>
            </a:pPr>
            <a:r>
              <a:rPr lang="en-US" dirty="0">
                <a:solidFill>
                  <a:srgbClr val="18537D"/>
                </a:solidFill>
              </a:rPr>
              <a:t>AWS Organizations Service Control Policies (SCPs) </a:t>
            </a:r>
          </a:p>
          <a:p>
            <a:pPr marL="742950" lvl="2" indent="-285750">
              <a:lnSpc>
                <a:spcPct val="150000"/>
              </a:lnSpc>
              <a:buFont typeface="Arial" panose="020B0604020202020204" pitchFamily="34" charset="0"/>
              <a:buChar char="•"/>
            </a:pPr>
            <a:r>
              <a:rPr lang="en-US" dirty="0">
                <a:solidFill>
                  <a:srgbClr val="18537D"/>
                </a:solidFill>
              </a:rPr>
              <a:t>Access control lists (ACLs)</a:t>
            </a:r>
          </a:p>
        </p:txBody>
      </p:sp>
      <p:sp>
        <p:nvSpPr>
          <p:cNvPr id="7" name="Rectangle 6">
            <a:extLst>
              <a:ext uri="{FF2B5EF4-FFF2-40B4-BE49-F238E27FC236}">
                <a16:creationId xmlns:a16="http://schemas.microsoft.com/office/drawing/2014/main" id="{E394D6CD-5580-4704-B982-97D97E111F30}"/>
              </a:ext>
            </a:extLst>
          </p:cNvPr>
          <p:cNvSpPr/>
          <p:nvPr/>
        </p:nvSpPr>
        <p:spPr>
          <a:xfrm>
            <a:off x="450006" y="3856460"/>
            <a:ext cx="3031599" cy="369332"/>
          </a:xfrm>
          <a:prstGeom prst="rect">
            <a:avLst/>
          </a:prstGeom>
        </p:spPr>
        <p:txBody>
          <a:bodyPr wrap="none">
            <a:spAutoFit/>
          </a:bodyPr>
          <a:lstStyle/>
          <a:p>
            <a:r>
              <a:rPr lang="en-US" dirty="0">
                <a:solidFill>
                  <a:srgbClr val="18537D"/>
                </a:solidFill>
              </a:rPr>
              <a:t>IAM policy Decision Logic</a:t>
            </a:r>
          </a:p>
        </p:txBody>
      </p:sp>
      <p:sp>
        <p:nvSpPr>
          <p:cNvPr id="8" name="Rectangle 7">
            <a:extLst>
              <a:ext uri="{FF2B5EF4-FFF2-40B4-BE49-F238E27FC236}">
                <a16:creationId xmlns:a16="http://schemas.microsoft.com/office/drawing/2014/main" id="{29CC9C16-8D6E-44D5-8254-AA11382AF01A}"/>
              </a:ext>
            </a:extLst>
          </p:cNvPr>
          <p:cNvSpPr/>
          <p:nvPr/>
        </p:nvSpPr>
        <p:spPr>
          <a:xfrm>
            <a:off x="1059606" y="4366706"/>
            <a:ext cx="2081113" cy="710215"/>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1219170">
              <a:defRPr/>
            </a:pPr>
            <a:r>
              <a:rPr lang="en-US" dirty="0">
                <a:solidFill>
                  <a:schemeClr val="tx1"/>
                </a:solidFill>
              </a:rPr>
              <a:t>Collect relevant policy rules</a:t>
            </a:r>
          </a:p>
        </p:txBody>
      </p:sp>
      <p:sp>
        <p:nvSpPr>
          <p:cNvPr id="9" name="Flowchart: Decision 8">
            <a:extLst>
              <a:ext uri="{FF2B5EF4-FFF2-40B4-BE49-F238E27FC236}">
                <a16:creationId xmlns:a16="http://schemas.microsoft.com/office/drawing/2014/main" id="{F38DAEFD-0013-4745-9380-81A8A8763FC6}"/>
              </a:ext>
            </a:extLst>
          </p:cNvPr>
          <p:cNvSpPr/>
          <p:nvPr/>
        </p:nvSpPr>
        <p:spPr>
          <a:xfrm>
            <a:off x="3856883" y="3954173"/>
            <a:ext cx="2470174" cy="1559262"/>
          </a:xfrm>
          <a:prstGeom prst="flowChartDecision">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1219170">
              <a:defRPr/>
            </a:pPr>
            <a:r>
              <a:rPr lang="en-US" dirty="0">
                <a:solidFill>
                  <a:schemeClr val="tx1"/>
                </a:solidFill>
              </a:rPr>
              <a:t>In Action Explicit Denied?</a:t>
            </a:r>
          </a:p>
        </p:txBody>
      </p:sp>
      <p:sp>
        <p:nvSpPr>
          <p:cNvPr id="10" name="Flowchart: Decision 9">
            <a:extLst>
              <a:ext uri="{FF2B5EF4-FFF2-40B4-BE49-F238E27FC236}">
                <a16:creationId xmlns:a16="http://schemas.microsoft.com/office/drawing/2014/main" id="{DB02B5D0-6553-4796-906C-DA22FFB8BB8F}"/>
              </a:ext>
            </a:extLst>
          </p:cNvPr>
          <p:cNvSpPr/>
          <p:nvPr/>
        </p:nvSpPr>
        <p:spPr>
          <a:xfrm>
            <a:off x="7043221" y="3954173"/>
            <a:ext cx="2470175" cy="1535283"/>
          </a:xfrm>
          <a:prstGeom prst="flowChartDecision">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1219170">
              <a:defRPr/>
            </a:pPr>
            <a:r>
              <a:rPr lang="en-US" dirty="0">
                <a:solidFill>
                  <a:schemeClr val="tx1"/>
                </a:solidFill>
              </a:rPr>
              <a:t>In Action Explicit Allowed?</a:t>
            </a:r>
          </a:p>
        </p:txBody>
      </p:sp>
      <p:sp>
        <p:nvSpPr>
          <p:cNvPr id="11" name="Flowchart: Decision 10">
            <a:extLst>
              <a:ext uri="{FF2B5EF4-FFF2-40B4-BE49-F238E27FC236}">
                <a16:creationId xmlns:a16="http://schemas.microsoft.com/office/drawing/2014/main" id="{617F5767-7C38-4D0F-9F4A-4AD42A8BBD1C}"/>
              </a:ext>
            </a:extLst>
          </p:cNvPr>
          <p:cNvSpPr/>
          <p:nvPr/>
        </p:nvSpPr>
        <p:spPr>
          <a:xfrm>
            <a:off x="10250098" y="3954173"/>
            <a:ext cx="2470175" cy="1535283"/>
          </a:xfrm>
          <a:prstGeom prst="flowChartDecision">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1219170">
              <a:defRPr/>
            </a:pPr>
            <a:r>
              <a:rPr lang="en-US" dirty="0">
                <a:solidFill>
                  <a:schemeClr val="tx1"/>
                </a:solidFill>
              </a:rPr>
              <a:t>In No Action</a:t>
            </a:r>
          </a:p>
        </p:txBody>
      </p:sp>
      <p:sp>
        <p:nvSpPr>
          <p:cNvPr id="12" name="Rectangle 11">
            <a:extLst>
              <a:ext uri="{FF2B5EF4-FFF2-40B4-BE49-F238E27FC236}">
                <a16:creationId xmlns:a16="http://schemas.microsoft.com/office/drawing/2014/main" id="{5A97778C-55A2-4052-AB80-BC1189EDF8FB}"/>
              </a:ext>
            </a:extLst>
          </p:cNvPr>
          <p:cNvSpPr/>
          <p:nvPr/>
        </p:nvSpPr>
        <p:spPr>
          <a:xfrm>
            <a:off x="4051413" y="5964067"/>
            <a:ext cx="2081113" cy="420392"/>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defTabSz="1219170">
              <a:defRPr/>
            </a:pPr>
            <a:r>
              <a:rPr lang="en-US" dirty="0">
                <a:solidFill>
                  <a:schemeClr val="tx1"/>
                </a:solidFill>
              </a:rPr>
              <a:t>DENY</a:t>
            </a:r>
          </a:p>
        </p:txBody>
      </p:sp>
      <p:sp>
        <p:nvSpPr>
          <p:cNvPr id="13" name="Rectangle 12">
            <a:extLst>
              <a:ext uri="{FF2B5EF4-FFF2-40B4-BE49-F238E27FC236}">
                <a16:creationId xmlns:a16="http://schemas.microsoft.com/office/drawing/2014/main" id="{00683B8A-E626-47ED-8CCC-A24F29125C46}"/>
              </a:ext>
            </a:extLst>
          </p:cNvPr>
          <p:cNvSpPr/>
          <p:nvPr/>
        </p:nvSpPr>
        <p:spPr>
          <a:xfrm>
            <a:off x="7237751" y="5964067"/>
            <a:ext cx="2081113" cy="420392"/>
          </a:xfrm>
          <a:prstGeom prst="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defTabSz="1219170">
              <a:defRPr/>
            </a:pPr>
            <a:r>
              <a:rPr lang="en-US" dirty="0">
                <a:solidFill>
                  <a:schemeClr val="tx1"/>
                </a:solidFill>
              </a:rPr>
              <a:t>ALLOW</a:t>
            </a:r>
          </a:p>
        </p:txBody>
      </p:sp>
      <p:sp>
        <p:nvSpPr>
          <p:cNvPr id="14" name="Rectangle 13">
            <a:extLst>
              <a:ext uri="{FF2B5EF4-FFF2-40B4-BE49-F238E27FC236}">
                <a16:creationId xmlns:a16="http://schemas.microsoft.com/office/drawing/2014/main" id="{1B936AB7-3190-4D28-B2FF-8A9A3815CC6A}"/>
              </a:ext>
            </a:extLst>
          </p:cNvPr>
          <p:cNvSpPr/>
          <p:nvPr/>
        </p:nvSpPr>
        <p:spPr>
          <a:xfrm>
            <a:off x="10444628" y="5964066"/>
            <a:ext cx="2081113" cy="420392"/>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defTabSz="1219170">
              <a:defRPr/>
            </a:pPr>
            <a:r>
              <a:rPr lang="en-US" dirty="0">
                <a:solidFill>
                  <a:schemeClr val="tx1"/>
                </a:solidFill>
              </a:rPr>
              <a:t>DEFAULT DENY</a:t>
            </a:r>
          </a:p>
        </p:txBody>
      </p:sp>
      <p:cxnSp>
        <p:nvCxnSpPr>
          <p:cNvPr id="16" name="Straight Arrow Connector 15">
            <a:extLst>
              <a:ext uri="{FF2B5EF4-FFF2-40B4-BE49-F238E27FC236}">
                <a16:creationId xmlns:a16="http://schemas.microsoft.com/office/drawing/2014/main" id="{7F2CC257-C859-4760-9D7E-9D6ACFAB715C}"/>
              </a:ext>
            </a:extLst>
          </p:cNvPr>
          <p:cNvCxnSpPr>
            <a:cxnSpLocks/>
            <a:stCxn id="8" idx="3"/>
            <a:endCxn id="9" idx="1"/>
          </p:cNvCxnSpPr>
          <p:nvPr/>
        </p:nvCxnSpPr>
        <p:spPr>
          <a:xfrm>
            <a:off x="3140719" y="4721814"/>
            <a:ext cx="716164" cy="11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805B188A-52EC-470C-AAEB-4B781FA79530}"/>
              </a:ext>
            </a:extLst>
          </p:cNvPr>
          <p:cNvCxnSpPr>
            <a:cxnSpLocks/>
            <a:stCxn id="9" idx="3"/>
            <a:endCxn id="10" idx="1"/>
          </p:cNvCxnSpPr>
          <p:nvPr/>
        </p:nvCxnSpPr>
        <p:spPr>
          <a:xfrm flipV="1">
            <a:off x="6327057" y="4721815"/>
            <a:ext cx="716164" cy="119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1543F625-C2D5-4317-B6D5-9F2DC93DBE5F}"/>
              </a:ext>
            </a:extLst>
          </p:cNvPr>
          <p:cNvCxnSpPr>
            <a:cxnSpLocks/>
            <a:stCxn id="10" idx="3"/>
            <a:endCxn id="11" idx="1"/>
          </p:cNvCxnSpPr>
          <p:nvPr/>
        </p:nvCxnSpPr>
        <p:spPr>
          <a:xfrm>
            <a:off x="9513396" y="4721815"/>
            <a:ext cx="7367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A9D30565-5F34-4531-BE21-19EF82D5ACDA}"/>
              </a:ext>
            </a:extLst>
          </p:cNvPr>
          <p:cNvCxnSpPr>
            <a:cxnSpLocks/>
            <a:stCxn id="9" idx="2"/>
            <a:endCxn id="12" idx="0"/>
          </p:cNvCxnSpPr>
          <p:nvPr/>
        </p:nvCxnSpPr>
        <p:spPr>
          <a:xfrm>
            <a:off x="5091970" y="5513435"/>
            <a:ext cx="0" cy="4506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7E62A5FE-B7F3-42E3-B7CE-EAF4E6223203}"/>
              </a:ext>
            </a:extLst>
          </p:cNvPr>
          <p:cNvCxnSpPr>
            <a:cxnSpLocks/>
            <a:stCxn id="10" idx="2"/>
            <a:endCxn id="13" idx="0"/>
          </p:cNvCxnSpPr>
          <p:nvPr/>
        </p:nvCxnSpPr>
        <p:spPr>
          <a:xfrm flipH="1">
            <a:off x="8278308" y="5489456"/>
            <a:ext cx="1" cy="4746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CA2FAB81-14DA-4ED7-B3EF-3E4ABFEFE9A4}"/>
              </a:ext>
            </a:extLst>
          </p:cNvPr>
          <p:cNvCxnSpPr>
            <a:cxnSpLocks/>
            <a:stCxn id="11" idx="2"/>
            <a:endCxn id="14" idx="0"/>
          </p:cNvCxnSpPr>
          <p:nvPr/>
        </p:nvCxnSpPr>
        <p:spPr>
          <a:xfrm flipH="1">
            <a:off x="11485185" y="5489456"/>
            <a:ext cx="1" cy="474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02104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D3849D-08DE-46B0-B261-80994613C2F5}"/>
              </a:ext>
            </a:extLst>
          </p:cNvPr>
          <p:cNvSpPr>
            <a:spLocks noGrp="1"/>
          </p:cNvSpPr>
          <p:nvPr>
            <p:ph type="sldNum" sz="quarter" idx="17"/>
          </p:nvPr>
        </p:nvSpPr>
        <p:spPr/>
        <p:txBody>
          <a:bodyPr/>
          <a:lstStyle/>
          <a:p>
            <a:fld id="{4F9AC08D-23A9-440E-BCB9-AA1E9877CC38}" type="slidenum">
              <a:rPr lang="en-US" smtClean="0"/>
              <a:pPr/>
              <a:t>12</a:t>
            </a:fld>
            <a:endParaRPr lang="en-US" dirty="0"/>
          </a:p>
        </p:txBody>
      </p:sp>
      <p:sp>
        <p:nvSpPr>
          <p:cNvPr id="3" name="Title 2">
            <a:extLst>
              <a:ext uri="{FF2B5EF4-FFF2-40B4-BE49-F238E27FC236}">
                <a16:creationId xmlns:a16="http://schemas.microsoft.com/office/drawing/2014/main" id="{E68A2C62-7EB0-49EB-89FB-E1437A64AEC5}"/>
              </a:ext>
            </a:extLst>
          </p:cNvPr>
          <p:cNvSpPr>
            <a:spLocks noGrp="1"/>
          </p:cNvSpPr>
          <p:nvPr>
            <p:ph type="title"/>
          </p:nvPr>
        </p:nvSpPr>
        <p:spPr>
          <a:xfrm>
            <a:off x="450006" y="284218"/>
            <a:ext cx="13500200" cy="1359871"/>
          </a:xfrm>
        </p:spPr>
        <p:txBody>
          <a:bodyPr/>
          <a:lstStyle/>
          <a:p>
            <a:r>
              <a:rPr lang="en-US" dirty="0">
                <a:solidFill>
                  <a:schemeClr val="bg1"/>
                </a:solidFill>
              </a:rPr>
              <a:t>Multi-factor authentication (MFA)</a:t>
            </a:r>
          </a:p>
        </p:txBody>
      </p:sp>
      <p:sp>
        <p:nvSpPr>
          <p:cNvPr id="4" name="Footer Placeholder 3">
            <a:extLst>
              <a:ext uri="{FF2B5EF4-FFF2-40B4-BE49-F238E27FC236}">
                <a16:creationId xmlns:a16="http://schemas.microsoft.com/office/drawing/2014/main" id="{991A468D-D3B0-404E-A16F-99C6D20FE602}"/>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D5180F8F-742C-4F38-B74A-9A2192EADE75}"/>
              </a:ext>
            </a:extLst>
          </p:cNvPr>
          <p:cNvSpPr/>
          <p:nvPr/>
        </p:nvSpPr>
        <p:spPr>
          <a:xfrm>
            <a:off x="602607" y="1320923"/>
            <a:ext cx="12743003" cy="2862322"/>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With MFA, users must supply both a password and a one-time challenge/response token</a:t>
            </a:r>
            <a:r>
              <a:rPr lang="en-US" dirty="0"/>
              <a:t>.</a:t>
            </a:r>
          </a:p>
          <a:p>
            <a:pPr>
              <a:lnSpc>
                <a:spcPct val="150000"/>
              </a:lnSpc>
            </a:pPr>
            <a:r>
              <a:rPr lang="en-US" dirty="0">
                <a:solidFill>
                  <a:srgbClr val="18537D"/>
                </a:solidFill>
              </a:rPr>
              <a:t>Types of MFA</a:t>
            </a:r>
          </a:p>
          <a:p>
            <a:pPr marL="742950" lvl="1" indent="-285750">
              <a:lnSpc>
                <a:spcPct val="150000"/>
              </a:lnSpc>
              <a:buFont typeface="Arial" panose="020B0604020202020204" pitchFamily="34" charset="0"/>
              <a:buChar char="•"/>
            </a:pPr>
            <a:r>
              <a:rPr lang="en-US" dirty="0">
                <a:solidFill>
                  <a:srgbClr val="18537D"/>
                </a:solidFill>
              </a:rPr>
              <a:t>Hardware (Gemalto, </a:t>
            </a:r>
            <a:r>
              <a:rPr lang="en-US" dirty="0" err="1">
                <a:solidFill>
                  <a:srgbClr val="18537D"/>
                </a:solidFill>
              </a:rPr>
              <a:t>YubiKey</a:t>
            </a:r>
            <a:r>
              <a:rPr lang="en-US" dirty="0">
                <a:solidFill>
                  <a:srgbClr val="18537D"/>
                </a:solidFill>
              </a:rPr>
              <a:t>)</a:t>
            </a:r>
          </a:p>
          <a:p>
            <a:pPr marL="742950" lvl="1" indent="-285750">
              <a:lnSpc>
                <a:spcPct val="150000"/>
              </a:lnSpc>
              <a:buFont typeface="Arial" panose="020B0604020202020204" pitchFamily="34" charset="0"/>
              <a:buChar char="•"/>
            </a:pPr>
            <a:r>
              <a:rPr lang="en-US" dirty="0">
                <a:solidFill>
                  <a:srgbClr val="18537D"/>
                </a:solidFill>
              </a:rPr>
              <a:t>Virtual (e.g., </a:t>
            </a:r>
            <a:r>
              <a:rPr lang="en-US" dirty="0" err="1">
                <a:solidFill>
                  <a:srgbClr val="18537D"/>
                </a:solidFill>
              </a:rPr>
              <a:t>Authy</a:t>
            </a:r>
            <a:r>
              <a:rPr lang="en-US" dirty="0">
                <a:solidFill>
                  <a:srgbClr val="18537D"/>
                </a:solidFill>
              </a:rPr>
              <a:t>, Google Authenticator)</a:t>
            </a:r>
          </a:p>
          <a:p>
            <a:pPr marL="285750" indent="-285750">
              <a:lnSpc>
                <a:spcPct val="150000"/>
              </a:lnSpc>
              <a:buFont typeface="Arial" panose="020B0604020202020204" pitchFamily="34" charset="0"/>
              <a:buChar char="•"/>
            </a:pPr>
            <a:r>
              <a:rPr lang="en-US" dirty="0">
                <a:solidFill>
                  <a:srgbClr val="18537D"/>
                </a:solidFill>
              </a:rPr>
              <a:t>MFA Token device is device is synchronized with your AWS or IAM account.</a:t>
            </a:r>
          </a:p>
          <a:p>
            <a:pPr marL="285750" indent="-285750">
              <a:lnSpc>
                <a:spcPct val="150000"/>
              </a:lnSpc>
              <a:buFont typeface="Arial" panose="020B0604020202020204" pitchFamily="34" charset="0"/>
              <a:buChar char="•"/>
            </a:pPr>
            <a:endParaRPr lang="en-US" dirty="0"/>
          </a:p>
          <a:p>
            <a:endParaRPr lang="en-US" dirty="0"/>
          </a:p>
        </p:txBody>
      </p:sp>
      <p:grpSp>
        <p:nvGrpSpPr>
          <p:cNvPr id="6" name="Group 5">
            <a:extLst>
              <a:ext uri="{FF2B5EF4-FFF2-40B4-BE49-F238E27FC236}">
                <a16:creationId xmlns:a16="http://schemas.microsoft.com/office/drawing/2014/main" id="{4C83440F-9F4E-4B2F-B3C4-956931033698}"/>
              </a:ext>
            </a:extLst>
          </p:cNvPr>
          <p:cNvGrpSpPr/>
          <p:nvPr/>
        </p:nvGrpSpPr>
        <p:grpSpPr>
          <a:xfrm>
            <a:off x="3606943" y="3784402"/>
            <a:ext cx="2554815" cy="2554815"/>
            <a:chOff x="9347175" y="1234585"/>
            <a:chExt cx="2554815" cy="2554815"/>
          </a:xfrm>
        </p:grpSpPr>
        <p:pic>
          <p:nvPicPr>
            <p:cNvPr id="7" name="Picture 6">
              <a:extLst>
                <a:ext uri="{FF2B5EF4-FFF2-40B4-BE49-F238E27FC236}">
                  <a16:creationId xmlns:a16="http://schemas.microsoft.com/office/drawing/2014/main" id="{7E418546-199C-4852-8BFC-A4C6AA118F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47175" y="1234585"/>
              <a:ext cx="2554815" cy="2554815"/>
            </a:xfrm>
            <a:prstGeom prst="rect">
              <a:avLst/>
            </a:prstGeom>
          </p:spPr>
        </p:pic>
        <p:pic>
          <p:nvPicPr>
            <p:cNvPr id="8" name="Picture 7">
              <a:extLst>
                <a:ext uri="{FF2B5EF4-FFF2-40B4-BE49-F238E27FC236}">
                  <a16:creationId xmlns:a16="http://schemas.microsoft.com/office/drawing/2014/main" id="{96B585EA-1BD8-4185-8C95-4485767188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93517" y="1636729"/>
              <a:ext cx="635033" cy="381020"/>
            </a:xfrm>
            <a:prstGeom prst="rect">
              <a:avLst/>
            </a:prstGeom>
            <a:solidFill>
              <a:schemeClr val="bg1"/>
            </a:solidFill>
          </p:spPr>
        </p:pic>
      </p:grpSp>
      <p:sp>
        <p:nvSpPr>
          <p:cNvPr id="9" name="Plus Sign 8">
            <a:extLst>
              <a:ext uri="{FF2B5EF4-FFF2-40B4-BE49-F238E27FC236}">
                <a16:creationId xmlns:a16="http://schemas.microsoft.com/office/drawing/2014/main" id="{06256B02-DE1E-46C0-89D2-DE714E9E9F31}"/>
              </a:ext>
            </a:extLst>
          </p:cNvPr>
          <p:cNvSpPr/>
          <p:nvPr/>
        </p:nvSpPr>
        <p:spPr>
          <a:xfrm>
            <a:off x="6410988" y="4699321"/>
            <a:ext cx="972273" cy="833378"/>
          </a:xfrm>
          <a:prstGeom prst="mathPlu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0E6B3F19-39A1-4732-B956-973945F9A72E}"/>
              </a:ext>
            </a:extLst>
          </p:cNvPr>
          <p:cNvPicPr>
            <a:picLocks noChangeAspect="1"/>
          </p:cNvPicPr>
          <p:nvPr/>
        </p:nvPicPr>
        <p:blipFill>
          <a:blip r:embed="rId4"/>
          <a:stretch>
            <a:fillRect/>
          </a:stretch>
        </p:blipFill>
        <p:spPr>
          <a:xfrm>
            <a:off x="7794762" y="4685547"/>
            <a:ext cx="2506158" cy="847152"/>
          </a:xfrm>
          <a:prstGeom prst="rect">
            <a:avLst/>
          </a:prstGeom>
        </p:spPr>
      </p:pic>
    </p:spTree>
    <p:extLst>
      <p:ext uri="{BB962C8B-B14F-4D97-AF65-F5344CB8AC3E}">
        <p14:creationId xmlns:p14="http://schemas.microsoft.com/office/powerpoint/2010/main" val="123426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5A6227-5916-4FD6-99E1-9539096C3C78}"/>
              </a:ext>
            </a:extLst>
          </p:cNvPr>
          <p:cNvSpPr>
            <a:spLocks noGrp="1"/>
          </p:cNvSpPr>
          <p:nvPr>
            <p:ph type="sldNum" sz="quarter" idx="17"/>
          </p:nvPr>
        </p:nvSpPr>
        <p:spPr/>
        <p:txBody>
          <a:bodyPr/>
          <a:lstStyle/>
          <a:p>
            <a:fld id="{4F9AC08D-23A9-440E-BCB9-AA1E9877CC38}" type="slidenum">
              <a:rPr lang="en-US" smtClean="0"/>
              <a:pPr/>
              <a:t>13</a:t>
            </a:fld>
            <a:endParaRPr lang="en-US" dirty="0"/>
          </a:p>
        </p:txBody>
      </p:sp>
      <p:sp>
        <p:nvSpPr>
          <p:cNvPr id="3" name="Title 2">
            <a:extLst>
              <a:ext uri="{FF2B5EF4-FFF2-40B4-BE49-F238E27FC236}">
                <a16:creationId xmlns:a16="http://schemas.microsoft.com/office/drawing/2014/main" id="{FE3EA0A4-4972-4978-97CD-1E90227CD92D}"/>
              </a:ext>
            </a:extLst>
          </p:cNvPr>
          <p:cNvSpPr>
            <a:spLocks noGrp="1"/>
          </p:cNvSpPr>
          <p:nvPr>
            <p:ph type="title"/>
          </p:nvPr>
        </p:nvSpPr>
        <p:spPr>
          <a:xfrm>
            <a:off x="450006" y="261069"/>
            <a:ext cx="13500200" cy="1359871"/>
          </a:xfrm>
        </p:spPr>
        <p:txBody>
          <a:bodyPr>
            <a:normAutofit/>
          </a:bodyPr>
          <a:lstStyle/>
          <a:p>
            <a:r>
              <a:rPr lang="en-US" sz="3600" dirty="0">
                <a:solidFill>
                  <a:schemeClr val="bg1"/>
                </a:solidFill>
              </a:rPr>
              <a:t>Manage Multiple Account- AWS Organizations</a:t>
            </a:r>
          </a:p>
        </p:txBody>
      </p:sp>
      <p:sp>
        <p:nvSpPr>
          <p:cNvPr id="4" name="Footer Placeholder 3">
            <a:extLst>
              <a:ext uri="{FF2B5EF4-FFF2-40B4-BE49-F238E27FC236}">
                <a16:creationId xmlns:a16="http://schemas.microsoft.com/office/drawing/2014/main" id="{AEE615F0-3034-48F3-BFC9-68EC05FD927C}"/>
              </a:ext>
            </a:extLst>
          </p:cNvPr>
          <p:cNvSpPr>
            <a:spLocks noGrp="1"/>
          </p:cNvSpPr>
          <p:nvPr>
            <p:ph type="ftr" sz="quarter" idx="16"/>
          </p:nvPr>
        </p:nvSpPr>
        <p:spPr/>
        <p:txBody>
          <a:bodyPr/>
          <a:lstStyle/>
          <a:p>
            <a:r>
              <a:rPr lang="en-US"/>
              <a:t>Copyright © 2020 Accenture. All rights reserved.</a:t>
            </a:r>
            <a:endParaRPr lang="en-US" dirty="0"/>
          </a:p>
        </p:txBody>
      </p:sp>
      <p:sp>
        <p:nvSpPr>
          <p:cNvPr id="6" name="Rounded Rectangle 6">
            <a:extLst>
              <a:ext uri="{FF2B5EF4-FFF2-40B4-BE49-F238E27FC236}">
                <a16:creationId xmlns:a16="http://schemas.microsoft.com/office/drawing/2014/main" id="{B00F5605-2970-45A7-BA58-4E1EC9B83EB9}"/>
              </a:ext>
            </a:extLst>
          </p:cNvPr>
          <p:cNvSpPr/>
          <p:nvPr/>
        </p:nvSpPr>
        <p:spPr>
          <a:xfrm>
            <a:off x="1621143" y="1382117"/>
            <a:ext cx="11157925" cy="4875245"/>
          </a:xfrm>
          <a:prstGeom prst="roundRect">
            <a:avLst>
              <a:gd name="adj" fmla="val 6846"/>
            </a:avLst>
          </a:prstGeom>
          <a:noFill/>
          <a:ln>
            <a:solidFill>
              <a:schemeClr val="tx1"/>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Oval 6">
            <a:extLst>
              <a:ext uri="{FF2B5EF4-FFF2-40B4-BE49-F238E27FC236}">
                <a16:creationId xmlns:a16="http://schemas.microsoft.com/office/drawing/2014/main" id="{71EB48BF-D81D-49C6-B42E-624917CEB504}"/>
              </a:ext>
            </a:extLst>
          </p:cNvPr>
          <p:cNvSpPr/>
          <p:nvPr/>
        </p:nvSpPr>
        <p:spPr>
          <a:xfrm>
            <a:off x="9062396" y="5401073"/>
            <a:ext cx="1158405" cy="612973"/>
          </a:xfrm>
          <a:prstGeom prst="ellipse">
            <a:avLst/>
          </a:prstGeom>
          <a:solidFill>
            <a:srgbClr val="FFCC66"/>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account</a:t>
            </a:r>
          </a:p>
        </p:txBody>
      </p:sp>
      <p:sp>
        <p:nvSpPr>
          <p:cNvPr id="8" name="Oval 7">
            <a:extLst>
              <a:ext uri="{FF2B5EF4-FFF2-40B4-BE49-F238E27FC236}">
                <a16:creationId xmlns:a16="http://schemas.microsoft.com/office/drawing/2014/main" id="{16B09E86-4D15-4BEF-ADC0-7661BEECF540}"/>
              </a:ext>
            </a:extLst>
          </p:cNvPr>
          <p:cNvSpPr/>
          <p:nvPr/>
        </p:nvSpPr>
        <p:spPr>
          <a:xfrm>
            <a:off x="7033338" y="5390134"/>
            <a:ext cx="1158405" cy="612973"/>
          </a:xfrm>
          <a:prstGeom prst="ellipse">
            <a:avLst/>
          </a:prstGeom>
          <a:solidFill>
            <a:srgbClr val="FFCC66"/>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account</a:t>
            </a:r>
          </a:p>
        </p:txBody>
      </p:sp>
      <p:sp>
        <p:nvSpPr>
          <p:cNvPr id="9" name="Oval 8">
            <a:extLst>
              <a:ext uri="{FF2B5EF4-FFF2-40B4-BE49-F238E27FC236}">
                <a16:creationId xmlns:a16="http://schemas.microsoft.com/office/drawing/2014/main" id="{14AD5805-FAC8-46C9-80BB-6F03B8C7D277}"/>
              </a:ext>
            </a:extLst>
          </p:cNvPr>
          <p:cNvSpPr/>
          <p:nvPr/>
        </p:nvSpPr>
        <p:spPr>
          <a:xfrm>
            <a:off x="11091455" y="5401073"/>
            <a:ext cx="1158405" cy="612973"/>
          </a:xfrm>
          <a:prstGeom prst="ellipse">
            <a:avLst/>
          </a:prstGeom>
          <a:solidFill>
            <a:srgbClr val="FFCC66"/>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account</a:t>
            </a:r>
          </a:p>
        </p:txBody>
      </p:sp>
      <p:cxnSp>
        <p:nvCxnSpPr>
          <p:cNvPr id="10" name="Straight Connector 9">
            <a:extLst>
              <a:ext uri="{FF2B5EF4-FFF2-40B4-BE49-F238E27FC236}">
                <a16:creationId xmlns:a16="http://schemas.microsoft.com/office/drawing/2014/main" id="{627F789B-46E8-460F-9D23-229DFC9186D3}"/>
              </a:ext>
            </a:extLst>
          </p:cNvPr>
          <p:cNvCxnSpPr>
            <a:stCxn id="12" idx="2"/>
            <a:endCxn id="33" idx="0"/>
          </p:cNvCxnSpPr>
          <p:nvPr/>
        </p:nvCxnSpPr>
        <p:spPr>
          <a:xfrm flipH="1">
            <a:off x="5182843" y="2058624"/>
            <a:ext cx="2085139" cy="809999"/>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D7DF393D-D846-4ACE-BB9F-9491E22903F9}"/>
              </a:ext>
            </a:extLst>
          </p:cNvPr>
          <p:cNvCxnSpPr>
            <a:stCxn id="12" idx="2"/>
            <a:endCxn id="34" idx="0"/>
          </p:cNvCxnSpPr>
          <p:nvPr/>
        </p:nvCxnSpPr>
        <p:spPr>
          <a:xfrm>
            <a:off x="7267980" y="2058624"/>
            <a:ext cx="2299520" cy="762777"/>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sp>
        <p:nvSpPr>
          <p:cNvPr id="12" name="Rectangle 11">
            <a:extLst>
              <a:ext uri="{FF2B5EF4-FFF2-40B4-BE49-F238E27FC236}">
                <a16:creationId xmlns:a16="http://schemas.microsoft.com/office/drawing/2014/main" id="{7B899348-C449-422B-A56D-3B8A54C7FA4B}"/>
              </a:ext>
            </a:extLst>
          </p:cNvPr>
          <p:cNvSpPr/>
          <p:nvPr/>
        </p:nvSpPr>
        <p:spPr>
          <a:xfrm>
            <a:off x="6316702" y="1522174"/>
            <a:ext cx="1902559" cy="536448"/>
          </a:xfrm>
          <a:prstGeom prst="rect">
            <a:avLst/>
          </a:prstGeom>
          <a:solidFill>
            <a:srgbClr val="FFFF66"/>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Root</a:t>
            </a:r>
          </a:p>
        </p:txBody>
      </p:sp>
      <p:cxnSp>
        <p:nvCxnSpPr>
          <p:cNvPr id="13" name="Straight Connector 12">
            <a:extLst>
              <a:ext uri="{FF2B5EF4-FFF2-40B4-BE49-F238E27FC236}">
                <a16:creationId xmlns:a16="http://schemas.microsoft.com/office/drawing/2014/main" id="{D269FE3F-4829-486E-8FED-945E134F26D7}"/>
              </a:ext>
            </a:extLst>
          </p:cNvPr>
          <p:cNvCxnSpPr>
            <a:stCxn id="33" idx="2"/>
            <a:endCxn id="14" idx="7"/>
          </p:cNvCxnSpPr>
          <p:nvPr/>
        </p:nvCxnSpPr>
        <p:spPr>
          <a:xfrm flipH="1">
            <a:off x="3022398" y="3356303"/>
            <a:ext cx="2160447" cy="733863"/>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sp>
        <p:nvSpPr>
          <p:cNvPr id="14" name="Oval 13">
            <a:extLst>
              <a:ext uri="{FF2B5EF4-FFF2-40B4-BE49-F238E27FC236}">
                <a16:creationId xmlns:a16="http://schemas.microsoft.com/office/drawing/2014/main" id="{27285257-EF87-4A20-8D08-D382B61ACCB6}"/>
              </a:ext>
            </a:extLst>
          </p:cNvPr>
          <p:cNvSpPr/>
          <p:nvPr/>
        </p:nvSpPr>
        <p:spPr>
          <a:xfrm>
            <a:off x="2033635" y="4000397"/>
            <a:ext cx="1158405" cy="612973"/>
          </a:xfrm>
          <a:prstGeom prst="ellipse">
            <a:avLst/>
          </a:prstGeom>
          <a:solidFill>
            <a:srgbClr val="FFCC66"/>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account</a:t>
            </a:r>
          </a:p>
        </p:txBody>
      </p:sp>
      <p:cxnSp>
        <p:nvCxnSpPr>
          <p:cNvPr id="15" name="Straight Connector 14">
            <a:extLst>
              <a:ext uri="{FF2B5EF4-FFF2-40B4-BE49-F238E27FC236}">
                <a16:creationId xmlns:a16="http://schemas.microsoft.com/office/drawing/2014/main" id="{6DE873B5-6035-41CB-8D69-3E48715A88A0}"/>
              </a:ext>
            </a:extLst>
          </p:cNvPr>
          <p:cNvCxnSpPr>
            <a:stCxn id="33" idx="2"/>
            <a:endCxn id="20" idx="0"/>
          </p:cNvCxnSpPr>
          <p:nvPr/>
        </p:nvCxnSpPr>
        <p:spPr>
          <a:xfrm flipH="1">
            <a:off x="4620558" y="3356301"/>
            <a:ext cx="562285" cy="864757"/>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822D4DF5-1402-44F3-9D06-C4E79DD83DAC}"/>
              </a:ext>
            </a:extLst>
          </p:cNvPr>
          <p:cNvCxnSpPr>
            <a:stCxn id="20" idx="2"/>
            <a:endCxn id="19" idx="0"/>
          </p:cNvCxnSpPr>
          <p:nvPr/>
        </p:nvCxnSpPr>
        <p:spPr>
          <a:xfrm flipH="1">
            <a:off x="3070999" y="4708738"/>
            <a:ext cx="1549559" cy="724949"/>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08CB9C90-27AE-484E-8FB8-F7EF21954382}"/>
              </a:ext>
            </a:extLst>
          </p:cNvPr>
          <p:cNvCxnSpPr>
            <a:stCxn id="20" idx="2"/>
            <a:endCxn id="18" idx="0"/>
          </p:cNvCxnSpPr>
          <p:nvPr/>
        </p:nvCxnSpPr>
        <p:spPr>
          <a:xfrm>
            <a:off x="4620558" y="4708740"/>
            <a:ext cx="479500" cy="735887"/>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18DDCC36-8F1F-4BF0-BEEF-8327520D4011}"/>
              </a:ext>
            </a:extLst>
          </p:cNvPr>
          <p:cNvSpPr/>
          <p:nvPr/>
        </p:nvSpPr>
        <p:spPr>
          <a:xfrm>
            <a:off x="4520855" y="5444625"/>
            <a:ext cx="1158405" cy="612973"/>
          </a:xfrm>
          <a:prstGeom prst="ellipse">
            <a:avLst/>
          </a:prstGeom>
          <a:solidFill>
            <a:srgbClr val="FFCC66"/>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account</a:t>
            </a:r>
            <a:endParaRPr lang="en-US" sz="1200" dirty="0">
              <a:solidFill>
                <a:schemeClr val="bg2">
                  <a:lumMod val="1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 name="Oval 18">
            <a:extLst>
              <a:ext uri="{FF2B5EF4-FFF2-40B4-BE49-F238E27FC236}">
                <a16:creationId xmlns:a16="http://schemas.microsoft.com/office/drawing/2014/main" id="{4FFB9AD3-C845-4187-9369-C647C1E99128}"/>
              </a:ext>
            </a:extLst>
          </p:cNvPr>
          <p:cNvSpPr/>
          <p:nvPr/>
        </p:nvSpPr>
        <p:spPr>
          <a:xfrm>
            <a:off x="2491796" y="5433689"/>
            <a:ext cx="1158405" cy="612973"/>
          </a:xfrm>
          <a:prstGeom prst="ellipse">
            <a:avLst/>
          </a:prstGeom>
          <a:solidFill>
            <a:srgbClr val="FFCC66"/>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account</a:t>
            </a:r>
          </a:p>
        </p:txBody>
      </p:sp>
      <p:sp>
        <p:nvSpPr>
          <p:cNvPr id="20" name="Rounded Rectangle 29">
            <a:extLst>
              <a:ext uri="{FF2B5EF4-FFF2-40B4-BE49-F238E27FC236}">
                <a16:creationId xmlns:a16="http://schemas.microsoft.com/office/drawing/2014/main" id="{F57F818A-692E-4689-834A-EFAD4377D65B}"/>
              </a:ext>
            </a:extLst>
          </p:cNvPr>
          <p:cNvSpPr/>
          <p:nvPr/>
        </p:nvSpPr>
        <p:spPr>
          <a:xfrm>
            <a:off x="3797596" y="4221058"/>
            <a:ext cx="1645920" cy="487680"/>
          </a:xfrm>
          <a:prstGeom prst="roundRect">
            <a:avLst/>
          </a:prstGeom>
          <a:solidFill>
            <a:schemeClr val="accent5">
              <a:lumMod val="20000"/>
              <a:lumOff val="80000"/>
            </a:schemeClr>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67"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OU</a:t>
            </a:r>
          </a:p>
        </p:txBody>
      </p:sp>
      <p:cxnSp>
        <p:nvCxnSpPr>
          <p:cNvPr id="21" name="Straight Connector 20">
            <a:extLst>
              <a:ext uri="{FF2B5EF4-FFF2-40B4-BE49-F238E27FC236}">
                <a16:creationId xmlns:a16="http://schemas.microsoft.com/office/drawing/2014/main" id="{EF08BE95-4D8B-466E-87BF-4749CA8C3314}"/>
              </a:ext>
            </a:extLst>
          </p:cNvPr>
          <p:cNvCxnSpPr>
            <a:stCxn id="34" idx="2"/>
            <a:endCxn id="26" idx="0"/>
          </p:cNvCxnSpPr>
          <p:nvPr/>
        </p:nvCxnSpPr>
        <p:spPr>
          <a:xfrm>
            <a:off x="9567502" y="3309082"/>
            <a:ext cx="653300" cy="816609"/>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ADF69537-B10A-4818-BE57-52C0404C2424}"/>
              </a:ext>
            </a:extLst>
          </p:cNvPr>
          <p:cNvCxnSpPr>
            <a:stCxn id="34" idx="2"/>
            <a:endCxn id="23" idx="6"/>
          </p:cNvCxnSpPr>
          <p:nvPr/>
        </p:nvCxnSpPr>
        <p:spPr>
          <a:xfrm flipH="1">
            <a:off x="7681778" y="3309079"/>
            <a:ext cx="1885724" cy="1266027"/>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5217E788-5290-4CC5-BC59-9EDF3F1ECFBD}"/>
              </a:ext>
            </a:extLst>
          </p:cNvPr>
          <p:cNvSpPr/>
          <p:nvPr/>
        </p:nvSpPr>
        <p:spPr>
          <a:xfrm>
            <a:off x="6523372" y="4268621"/>
            <a:ext cx="1158405" cy="612973"/>
          </a:xfrm>
          <a:prstGeom prst="ellipse">
            <a:avLst/>
          </a:prstGeom>
          <a:solidFill>
            <a:srgbClr val="FFCC66"/>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a:t>
            </a:r>
          </a:p>
          <a:p>
            <a:pPr algn="ctr"/>
            <a:r>
              <a:rPr lang="en-US" sz="1200"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account</a:t>
            </a:r>
          </a:p>
        </p:txBody>
      </p:sp>
      <p:cxnSp>
        <p:nvCxnSpPr>
          <p:cNvPr id="24" name="Straight Connector 23">
            <a:extLst>
              <a:ext uri="{FF2B5EF4-FFF2-40B4-BE49-F238E27FC236}">
                <a16:creationId xmlns:a16="http://schemas.microsoft.com/office/drawing/2014/main" id="{B48E6055-205F-40E0-AA9E-60BD31B5721E}"/>
              </a:ext>
            </a:extLst>
          </p:cNvPr>
          <p:cNvCxnSpPr>
            <a:stCxn id="26" idx="2"/>
            <a:endCxn id="8" idx="7"/>
          </p:cNvCxnSpPr>
          <p:nvPr/>
        </p:nvCxnSpPr>
        <p:spPr>
          <a:xfrm flipH="1">
            <a:off x="8022099" y="4613369"/>
            <a:ext cx="2198703" cy="866533"/>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CC4A5903-FE3D-4F67-B8BA-0C34D220F3FC}"/>
              </a:ext>
            </a:extLst>
          </p:cNvPr>
          <p:cNvCxnSpPr>
            <a:stCxn id="26" idx="2"/>
            <a:endCxn id="9" idx="1"/>
          </p:cNvCxnSpPr>
          <p:nvPr/>
        </p:nvCxnSpPr>
        <p:spPr>
          <a:xfrm>
            <a:off x="10220802" y="4613371"/>
            <a:ext cx="1040297" cy="877471"/>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sp>
        <p:nvSpPr>
          <p:cNvPr id="26" name="Rounded Rectangle 35">
            <a:extLst>
              <a:ext uri="{FF2B5EF4-FFF2-40B4-BE49-F238E27FC236}">
                <a16:creationId xmlns:a16="http://schemas.microsoft.com/office/drawing/2014/main" id="{ED91388A-97EE-4BBA-ACFF-13BEB0B00AB5}"/>
              </a:ext>
            </a:extLst>
          </p:cNvPr>
          <p:cNvSpPr/>
          <p:nvPr/>
        </p:nvSpPr>
        <p:spPr>
          <a:xfrm>
            <a:off x="9397840" y="4125689"/>
            <a:ext cx="1645920" cy="487680"/>
          </a:xfrm>
          <a:prstGeom prst="roundRect">
            <a:avLst/>
          </a:prstGeom>
          <a:solidFill>
            <a:schemeClr val="accent5">
              <a:lumMod val="20000"/>
              <a:lumOff val="80000"/>
            </a:schemeClr>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67"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OU</a:t>
            </a:r>
          </a:p>
        </p:txBody>
      </p:sp>
      <p:cxnSp>
        <p:nvCxnSpPr>
          <p:cNvPr id="27" name="Straight Connector 26">
            <a:extLst>
              <a:ext uri="{FF2B5EF4-FFF2-40B4-BE49-F238E27FC236}">
                <a16:creationId xmlns:a16="http://schemas.microsoft.com/office/drawing/2014/main" id="{61A41A7D-D1F2-4E00-9B27-5DA419BA6791}"/>
              </a:ext>
            </a:extLst>
          </p:cNvPr>
          <p:cNvCxnSpPr>
            <a:stCxn id="26" idx="2"/>
            <a:endCxn id="7" idx="0"/>
          </p:cNvCxnSpPr>
          <p:nvPr/>
        </p:nvCxnSpPr>
        <p:spPr>
          <a:xfrm flipH="1">
            <a:off x="9641599" y="4613371"/>
            <a:ext cx="579203" cy="787703"/>
          </a:xfrm>
          <a:prstGeom prst="line">
            <a:avLst/>
          </a:prstGeom>
          <a:ln w="28575">
            <a:solidFill>
              <a:schemeClr val="bg2">
                <a:lumMod val="10000"/>
              </a:schemeClr>
            </a:solid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E230854D-612D-488A-97DA-298C290D32A3}"/>
              </a:ext>
            </a:extLst>
          </p:cNvPr>
          <p:cNvCxnSpPr>
            <a:cxnSpLocks/>
            <a:stCxn id="40" idx="2"/>
            <a:endCxn id="33" idx="0"/>
          </p:cNvCxnSpPr>
          <p:nvPr/>
        </p:nvCxnSpPr>
        <p:spPr>
          <a:xfrm flipH="1">
            <a:off x="5182844" y="2039490"/>
            <a:ext cx="3884241" cy="829131"/>
          </a:xfrm>
          <a:prstGeom prst="line">
            <a:avLst/>
          </a:prstGeom>
          <a:ln w="28575">
            <a:solidFill>
              <a:srgbClr val="FF6600"/>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1E7B0A07-CB3A-40D8-8812-9E976259A903}"/>
              </a:ext>
            </a:extLst>
          </p:cNvPr>
          <p:cNvCxnSpPr>
            <a:cxnSpLocks/>
            <a:stCxn id="43" idx="2"/>
            <a:endCxn id="34" idx="0"/>
          </p:cNvCxnSpPr>
          <p:nvPr/>
        </p:nvCxnSpPr>
        <p:spPr>
          <a:xfrm flipH="1">
            <a:off x="9567500" y="2039490"/>
            <a:ext cx="853373" cy="781909"/>
          </a:xfrm>
          <a:prstGeom prst="line">
            <a:avLst/>
          </a:prstGeom>
          <a:ln w="28575">
            <a:solidFill>
              <a:srgbClr val="FF6600"/>
            </a:solidFill>
            <a:prstDash val="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50FBC7E-E6E3-466F-9666-6CCFA90E1162}"/>
              </a:ext>
            </a:extLst>
          </p:cNvPr>
          <p:cNvCxnSpPr>
            <a:cxnSpLocks/>
            <a:stCxn id="46" idx="2"/>
            <a:endCxn id="26" idx="0"/>
          </p:cNvCxnSpPr>
          <p:nvPr/>
        </p:nvCxnSpPr>
        <p:spPr>
          <a:xfrm flipH="1">
            <a:off x="10220800" y="2053269"/>
            <a:ext cx="1545893" cy="2072420"/>
          </a:xfrm>
          <a:prstGeom prst="line">
            <a:avLst/>
          </a:prstGeom>
          <a:ln w="28575">
            <a:solidFill>
              <a:srgbClr val="FF6600"/>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DE8B046E-8118-4C0A-BF9E-7F0BDBF9E6C4}"/>
              </a:ext>
            </a:extLst>
          </p:cNvPr>
          <p:cNvSpPr txBox="1"/>
          <p:nvPr/>
        </p:nvSpPr>
        <p:spPr>
          <a:xfrm>
            <a:off x="1805648" y="1544177"/>
            <a:ext cx="2204450" cy="913199"/>
          </a:xfrm>
          <a:prstGeom prst="rect">
            <a:avLst/>
          </a:prstGeom>
          <a:noFill/>
        </p:spPr>
        <p:txBody>
          <a:bodyPr wrap="none" rtlCol="0">
            <a:spAutoFit/>
          </a:bodyPr>
          <a:lstStyle/>
          <a:p>
            <a:r>
              <a:rPr lang="en-US" sz="2667" dirty="0">
                <a:latin typeface="Amazon Ember" panose="02000000000000000000" pitchFamily="2" charset="0"/>
                <a:ea typeface="Amazon Ember" panose="02000000000000000000" pitchFamily="2" charset="0"/>
                <a:cs typeface="Amazon Ember Light" panose="020B0403020204020204" pitchFamily="34" charset="0"/>
              </a:rPr>
              <a:t>AWS </a:t>
            </a:r>
          </a:p>
          <a:p>
            <a:r>
              <a:rPr lang="en-US" sz="2667" dirty="0">
                <a:latin typeface="Amazon Ember" panose="02000000000000000000" pitchFamily="2" charset="0"/>
                <a:ea typeface="Amazon Ember" panose="02000000000000000000" pitchFamily="2" charset="0"/>
                <a:cs typeface="Amazon Ember Light" panose="020B0403020204020204" pitchFamily="34" charset="0"/>
              </a:rPr>
              <a:t>Organization</a:t>
            </a:r>
          </a:p>
        </p:txBody>
      </p:sp>
      <p:cxnSp>
        <p:nvCxnSpPr>
          <p:cNvPr id="32" name="Straight Connector 31">
            <a:extLst>
              <a:ext uri="{FF2B5EF4-FFF2-40B4-BE49-F238E27FC236}">
                <a16:creationId xmlns:a16="http://schemas.microsoft.com/office/drawing/2014/main" id="{BBDAF302-1269-45E7-8551-555B94169899}"/>
              </a:ext>
            </a:extLst>
          </p:cNvPr>
          <p:cNvCxnSpPr>
            <a:cxnSpLocks/>
            <a:stCxn id="40" idx="2"/>
            <a:endCxn id="23" idx="0"/>
          </p:cNvCxnSpPr>
          <p:nvPr/>
        </p:nvCxnSpPr>
        <p:spPr>
          <a:xfrm flipH="1">
            <a:off x="7102575" y="2039492"/>
            <a:ext cx="1964509" cy="2229129"/>
          </a:xfrm>
          <a:prstGeom prst="line">
            <a:avLst/>
          </a:prstGeom>
          <a:ln w="28575">
            <a:solidFill>
              <a:srgbClr val="FF6600"/>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42">
            <a:extLst>
              <a:ext uri="{FF2B5EF4-FFF2-40B4-BE49-F238E27FC236}">
                <a16:creationId xmlns:a16="http://schemas.microsoft.com/office/drawing/2014/main" id="{4050DB80-E6EF-4CDB-A1F7-98278075F87C}"/>
              </a:ext>
            </a:extLst>
          </p:cNvPr>
          <p:cNvSpPr/>
          <p:nvPr/>
        </p:nvSpPr>
        <p:spPr>
          <a:xfrm>
            <a:off x="4359883" y="2868621"/>
            <a:ext cx="1645920" cy="487680"/>
          </a:xfrm>
          <a:prstGeom prst="roundRect">
            <a:avLst/>
          </a:prstGeom>
          <a:solidFill>
            <a:schemeClr val="accent5">
              <a:lumMod val="20000"/>
              <a:lumOff val="80000"/>
            </a:schemeClr>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67"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OU</a:t>
            </a:r>
          </a:p>
        </p:txBody>
      </p:sp>
      <p:sp>
        <p:nvSpPr>
          <p:cNvPr id="34" name="Rounded Rectangle 43">
            <a:extLst>
              <a:ext uri="{FF2B5EF4-FFF2-40B4-BE49-F238E27FC236}">
                <a16:creationId xmlns:a16="http://schemas.microsoft.com/office/drawing/2014/main" id="{7D55C895-F2BF-40DB-80C3-D76346DB0467}"/>
              </a:ext>
            </a:extLst>
          </p:cNvPr>
          <p:cNvSpPr/>
          <p:nvPr/>
        </p:nvSpPr>
        <p:spPr>
          <a:xfrm>
            <a:off x="8744540" y="2821399"/>
            <a:ext cx="1645920" cy="487680"/>
          </a:xfrm>
          <a:prstGeom prst="roundRect">
            <a:avLst/>
          </a:prstGeom>
          <a:solidFill>
            <a:schemeClr val="accent5">
              <a:lumMod val="20000"/>
              <a:lumOff val="80000"/>
            </a:schemeClr>
          </a:solidFill>
          <a:ln>
            <a:solidFill>
              <a:schemeClr val="bg2">
                <a:lumMod val="1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67"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OU</a:t>
            </a:r>
          </a:p>
        </p:txBody>
      </p:sp>
      <p:grpSp>
        <p:nvGrpSpPr>
          <p:cNvPr id="35" name="Group 34">
            <a:extLst>
              <a:ext uri="{FF2B5EF4-FFF2-40B4-BE49-F238E27FC236}">
                <a16:creationId xmlns:a16="http://schemas.microsoft.com/office/drawing/2014/main" id="{B24F13A5-AB80-4AAA-BBDB-365479AA7D19}"/>
              </a:ext>
            </a:extLst>
          </p:cNvPr>
          <p:cNvGrpSpPr/>
          <p:nvPr/>
        </p:nvGrpSpPr>
        <p:grpSpPr>
          <a:xfrm>
            <a:off x="4571362" y="1528669"/>
            <a:ext cx="1149030" cy="508731"/>
            <a:chOff x="5659018" y="1033587"/>
            <a:chExt cx="861772" cy="381548"/>
          </a:xfrm>
          <a:noFill/>
        </p:grpSpPr>
        <p:sp>
          <p:nvSpPr>
            <p:cNvPr id="36" name="Flowchart: Decision 22">
              <a:extLst>
                <a:ext uri="{FF2B5EF4-FFF2-40B4-BE49-F238E27FC236}">
                  <a16:creationId xmlns:a16="http://schemas.microsoft.com/office/drawing/2014/main" id="{D9BA902D-80A6-4BD6-A2E8-4E429D5A4B9C}"/>
                </a:ext>
              </a:extLst>
            </p:cNvPr>
            <p:cNvSpPr/>
            <p:nvPr/>
          </p:nvSpPr>
          <p:spPr>
            <a:xfrm>
              <a:off x="5659018" y="1033587"/>
              <a:ext cx="861772" cy="381548"/>
            </a:xfrm>
            <a:prstGeom prst="flowChartDecision">
              <a:avLst/>
            </a:prstGeom>
            <a:grpFill/>
            <a:ln w="1905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67" dirty="0">
                <a:solidFill>
                  <a:schemeClr val="bg2">
                    <a:lumMod val="1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7" name="TextBox 36">
              <a:extLst>
                <a:ext uri="{FF2B5EF4-FFF2-40B4-BE49-F238E27FC236}">
                  <a16:creationId xmlns:a16="http://schemas.microsoft.com/office/drawing/2014/main" id="{C45927D1-40DC-4800-B185-A017FFEC1EB7}"/>
                </a:ext>
              </a:extLst>
            </p:cNvPr>
            <p:cNvSpPr txBox="1"/>
            <p:nvPr/>
          </p:nvSpPr>
          <p:spPr>
            <a:xfrm>
              <a:off x="5855388" y="1101904"/>
              <a:ext cx="514804" cy="238575"/>
            </a:xfrm>
            <a:prstGeom prst="rect">
              <a:avLst/>
            </a:prstGeom>
            <a:grpFill/>
          </p:spPr>
          <p:txBody>
            <a:bodyPr wrap="none" rtlCol="0">
              <a:spAutoFit/>
            </a:bodyPr>
            <a:lstStyle/>
            <a:p>
              <a:r>
                <a:rPr lang="en-US" sz="1467" dirty="0">
                  <a:latin typeface="Amazon Ember Light" panose="020B0403020204020204" pitchFamily="34" charset="0"/>
                  <a:ea typeface="Amazon Ember Light" panose="020B0403020204020204" pitchFamily="34" charset="0"/>
                  <a:cs typeface="Amazon Ember Light" panose="020B0403020204020204" pitchFamily="34" charset="0"/>
                </a:rPr>
                <a:t>Policy</a:t>
              </a:r>
            </a:p>
          </p:txBody>
        </p:sp>
      </p:grpSp>
      <p:cxnSp>
        <p:nvCxnSpPr>
          <p:cNvPr id="38" name="Straight Connector 37">
            <a:extLst>
              <a:ext uri="{FF2B5EF4-FFF2-40B4-BE49-F238E27FC236}">
                <a16:creationId xmlns:a16="http://schemas.microsoft.com/office/drawing/2014/main" id="{70EE21C8-87B1-4D2D-94EB-04DAD2F1CDB2}"/>
              </a:ext>
            </a:extLst>
          </p:cNvPr>
          <p:cNvCxnSpPr>
            <a:cxnSpLocks/>
            <a:stCxn id="12" idx="1"/>
            <a:endCxn id="36" idx="3"/>
          </p:cNvCxnSpPr>
          <p:nvPr/>
        </p:nvCxnSpPr>
        <p:spPr>
          <a:xfrm flipH="1" flipV="1">
            <a:off x="5720389" y="1783035"/>
            <a:ext cx="596313" cy="7364"/>
          </a:xfrm>
          <a:prstGeom prst="line">
            <a:avLst/>
          </a:prstGeom>
          <a:ln w="28575">
            <a:solidFill>
              <a:srgbClr val="FF6600"/>
            </a:solidFill>
            <a:prstDash val="dash"/>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EA121E1E-4AE2-45B7-A3A2-F56FD7F27024}"/>
              </a:ext>
            </a:extLst>
          </p:cNvPr>
          <p:cNvGrpSpPr/>
          <p:nvPr/>
        </p:nvGrpSpPr>
        <p:grpSpPr>
          <a:xfrm>
            <a:off x="8492570" y="1530761"/>
            <a:ext cx="1149030" cy="508731"/>
            <a:chOff x="5659018" y="1033587"/>
            <a:chExt cx="861772" cy="381548"/>
          </a:xfrm>
          <a:noFill/>
        </p:grpSpPr>
        <p:sp>
          <p:nvSpPr>
            <p:cNvPr id="40" name="Flowchart: Decision 22">
              <a:extLst>
                <a:ext uri="{FF2B5EF4-FFF2-40B4-BE49-F238E27FC236}">
                  <a16:creationId xmlns:a16="http://schemas.microsoft.com/office/drawing/2014/main" id="{640A5ADE-4896-4A6B-A84A-F0E772112ECE}"/>
                </a:ext>
              </a:extLst>
            </p:cNvPr>
            <p:cNvSpPr/>
            <p:nvPr/>
          </p:nvSpPr>
          <p:spPr>
            <a:xfrm>
              <a:off x="5659018" y="1033587"/>
              <a:ext cx="861772" cy="381548"/>
            </a:xfrm>
            <a:prstGeom prst="flowChartDecision">
              <a:avLst/>
            </a:prstGeom>
            <a:grpFill/>
            <a:ln w="1905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67" dirty="0">
                <a:solidFill>
                  <a:schemeClr val="bg2">
                    <a:lumMod val="1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1" name="TextBox 40">
              <a:extLst>
                <a:ext uri="{FF2B5EF4-FFF2-40B4-BE49-F238E27FC236}">
                  <a16:creationId xmlns:a16="http://schemas.microsoft.com/office/drawing/2014/main" id="{C7A05FB0-125F-4F3B-9A6B-D2AD195551A5}"/>
                </a:ext>
              </a:extLst>
            </p:cNvPr>
            <p:cNvSpPr txBox="1"/>
            <p:nvPr/>
          </p:nvSpPr>
          <p:spPr>
            <a:xfrm>
              <a:off x="5855388" y="1101904"/>
              <a:ext cx="514804" cy="238575"/>
            </a:xfrm>
            <a:prstGeom prst="rect">
              <a:avLst/>
            </a:prstGeom>
            <a:grpFill/>
          </p:spPr>
          <p:txBody>
            <a:bodyPr wrap="none" rtlCol="0">
              <a:spAutoFit/>
            </a:bodyPr>
            <a:lstStyle/>
            <a:p>
              <a:r>
                <a:rPr lang="en-US" sz="1467" dirty="0">
                  <a:latin typeface="Amazon Ember Light" panose="020B0403020204020204" pitchFamily="34" charset="0"/>
                  <a:ea typeface="Amazon Ember Light" panose="020B0403020204020204" pitchFamily="34" charset="0"/>
                  <a:cs typeface="Amazon Ember Light" panose="020B0403020204020204" pitchFamily="34" charset="0"/>
                </a:rPr>
                <a:t>Policy</a:t>
              </a:r>
            </a:p>
          </p:txBody>
        </p:sp>
      </p:grpSp>
      <p:grpSp>
        <p:nvGrpSpPr>
          <p:cNvPr id="42" name="Group 41">
            <a:extLst>
              <a:ext uri="{FF2B5EF4-FFF2-40B4-BE49-F238E27FC236}">
                <a16:creationId xmlns:a16="http://schemas.microsoft.com/office/drawing/2014/main" id="{C9574EFA-B6F2-46CC-965D-3F4015871ECC}"/>
              </a:ext>
            </a:extLst>
          </p:cNvPr>
          <p:cNvGrpSpPr/>
          <p:nvPr/>
        </p:nvGrpSpPr>
        <p:grpSpPr>
          <a:xfrm>
            <a:off x="9846361" y="1530760"/>
            <a:ext cx="1149030" cy="508731"/>
            <a:chOff x="5659018" y="1033587"/>
            <a:chExt cx="861772" cy="381548"/>
          </a:xfrm>
          <a:noFill/>
        </p:grpSpPr>
        <p:sp>
          <p:nvSpPr>
            <p:cNvPr id="43" name="Flowchart: Decision 22">
              <a:extLst>
                <a:ext uri="{FF2B5EF4-FFF2-40B4-BE49-F238E27FC236}">
                  <a16:creationId xmlns:a16="http://schemas.microsoft.com/office/drawing/2014/main" id="{4B8B7B3F-0202-4FFF-B16C-86E06050BE16}"/>
                </a:ext>
              </a:extLst>
            </p:cNvPr>
            <p:cNvSpPr/>
            <p:nvPr/>
          </p:nvSpPr>
          <p:spPr>
            <a:xfrm>
              <a:off x="5659018" y="1033587"/>
              <a:ext cx="861772" cy="381548"/>
            </a:xfrm>
            <a:prstGeom prst="flowChartDecision">
              <a:avLst/>
            </a:prstGeom>
            <a:grpFill/>
            <a:ln w="1905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67" dirty="0">
                <a:solidFill>
                  <a:schemeClr val="bg2">
                    <a:lumMod val="1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4" name="TextBox 43">
              <a:extLst>
                <a:ext uri="{FF2B5EF4-FFF2-40B4-BE49-F238E27FC236}">
                  <a16:creationId xmlns:a16="http://schemas.microsoft.com/office/drawing/2014/main" id="{CC62335F-2200-49C0-887F-DF78070E1643}"/>
                </a:ext>
              </a:extLst>
            </p:cNvPr>
            <p:cNvSpPr txBox="1"/>
            <p:nvPr/>
          </p:nvSpPr>
          <p:spPr>
            <a:xfrm>
              <a:off x="5855388" y="1101904"/>
              <a:ext cx="514804" cy="238575"/>
            </a:xfrm>
            <a:prstGeom prst="rect">
              <a:avLst/>
            </a:prstGeom>
            <a:grpFill/>
          </p:spPr>
          <p:txBody>
            <a:bodyPr wrap="none" rtlCol="0">
              <a:spAutoFit/>
            </a:bodyPr>
            <a:lstStyle/>
            <a:p>
              <a:r>
                <a:rPr lang="en-US" sz="1467" dirty="0">
                  <a:latin typeface="Amazon Ember Light" panose="020B0403020204020204" pitchFamily="34" charset="0"/>
                  <a:ea typeface="Amazon Ember Light" panose="020B0403020204020204" pitchFamily="34" charset="0"/>
                  <a:cs typeface="Amazon Ember Light" panose="020B0403020204020204" pitchFamily="34" charset="0"/>
                </a:rPr>
                <a:t>Policy</a:t>
              </a:r>
            </a:p>
          </p:txBody>
        </p:sp>
      </p:grpSp>
      <p:grpSp>
        <p:nvGrpSpPr>
          <p:cNvPr id="45" name="Group 44">
            <a:extLst>
              <a:ext uri="{FF2B5EF4-FFF2-40B4-BE49-F238E27FC236}">
                <a16:creationId xmlns:a16="http://schemas.microsoft.com/office/drawing/2014/main" id="{1C8D644A-D226-42F1-8BCD-2C868F60FDC2}"/>
              </a:ext>
            </a:extLst>
          </p:cNvPr>
          <p:cNvGrpSpPr/>
          <p:nvPr/>
        </p:nvGrpSpPr>
        <p:grpSpPr>
          <a:xfrm>
            <a:off x="11192181" y="1544539"/>
            <a:ext cx="1149030" cy="508731"/>
            <a:chOff x="5659018" y="1033587"/>
            <a:chExt cx="861772" cy="381548"/>
          </a:xfrm>
          <a:noFill/>
        </p:grpSpPr>
        <p:sp>
          <p:nvSpPr>
            <p:cNvPr id="46" name="Flowchart: Decision 22">
              <a:extLst>
                <a:ext uri="{FF2B5EF4-FFF2-40B4-BE49-F238E27FC236}">
                  <a16:creationId xmlns:a16="http://schemas.microsoft.com/office/drawing/2014/main" id="{4BE4232A-1B94-4804-8369-24C05F80C5AE}"/>
                </a:ext>
              </a:extLst>
            </p:cNvPr>
            <p:cNvSpPr/>
            <p:nvPr/>
          </p:nvSpPr>
          <p:spPr>
            <a:xfrm>
              <a:off x="5659018" y="1033587"/>
              <a:ext cx="861772" cy="381548"/>
            </a:xfrm>
            <a:prstGeom prst="flowChartDecision">
              <a:avLst/>
            </a:prstGeom>
            <a:grpFill/>
            <a:ln w="1905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67" dirty="0">
                <a:solidFill>
                  <a:schemeClr val="bg2">
                    <a:lumMod val="1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7" name="TextBox 46">
              <a:extLst>
                <a:ext uri="{FF2B5EF4-FFF2-40B4-BE49-F238E27FC236}">
                  <a16:creationId xmlns:a16="http://schemas.microsoft.com/office/drawing/2014/main" id="{B74C86FB-F239-4A63-94A7-0DB8EABB8777}"/>
                </a:ext>
              </a:extLst>
            </p:cNvPr>
            <p:cNvSpPr txBox="1"/>
            <p:nvPr/>
          </p:nvSpPr>
          <p:spPr>
            <a:xfrm>
              <a:off x="5855388" y="1101904"/>
              <a:ext cx="514804" cy="238575"/>
            </a:xfrm>
            <a:prstGeom prst="rect">
              <a:avLst/>
            </a:prstGeom>
            <a:grpFill/>
          </p:spPr>
          <p:txBody>
            <a:bodyPr wrap="none" rtlCol="0">
              <a:spAutoFit/>
            </a:bodyPr>
            <a:lstStyle/>
            <a:p>
              <a:r>
                <a:rPr lang="en-US" sz="1467" dirty="0">
                  <a:latin typeface="Amazon Ember Light" panose="020B0403020204020204" pitchFamily="34" charset="0"/>
                  <a:ea typeface="Amazon Ember Light" panose="020B0403020204020204" pitchFamily="34" charset="0"/>
                  <a:cs typeface="Amazon Ember Light" panose="020B0403020204020204" pitchFamily="34" charset="0"/>
                </a:rPr>
                <a:t>Policy</a:t>
              </a:r>
            </a:p>
          </p:txBody>
        </p:sp>
      </p:grpSp>
    </p:spTree>
    <p:extLst>
      <p:ext uri="{BB962C8B-B14F-4D97-AF65-F5344CB8AC3E}">
        <p14:creationId xmlns:p14="http://schemas.microsoft.com/office/powerpoint/2010/main" val="4214368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882AE7-6EFB-46E0-A606-9770FBCBE837}"/>
              </a:ext>
            </a:extLst>
          </p:cNvPr>
          <p:cNvSpPr>
            <a:spLocks noGrp="1"/>
          </p:cNvSpPr>
          <p:nvPr>
            <p:ph type="sldNum" sz="quarter" idx="17"/>
          </p:nvPr>
        </p:nvSpPr>
        <p:spPr>
          <a:xfrm>
            <a:off x="13590205" y="6843454"/>
            <a:ext cx="479756" cy="216646"/>
          </a:xfrm>
        </p:spPr>
        <p:txBody>
          <a:bodyPr/>
          <a:lstStyle/>
          <a:p>
            <a:fld id="{4F9AC08D-23A9-440E-BCB9-AA1E9877CC38}" type="slidenum">
              <a:rPr lang="en-US" smtClean="0"/>
              <a:pPr/>
              <a:t>14</a:t>
            </a:fld>
            <a:endParaRPr lang="en-US" dirty="0"/>
          </a:p>
        </p:txBody>
      </p:sp>
      <p:sp>
        <p:nvSpPr>
          <p:cNvPr id="3" name="Title 2">
            <a:extLst>
              <a:ext uri="{FF2B5EF4-FFF2-40B4-BE49-F238E27FC236}">
                <a16:creationId xmlns:a16="http://schemas.microsoft.com/office/drawing/2014/main" id="{A484B622-44AE-44EA-9743-FFBE3AC502D6}"/>
              </a:ext>
            </a:extLst>
          </p:cNvPr>
          <p:cNvSpPr>
            <a:spLocks noGrp="1"/>
          </p:cNvSpPr>
          <p:nvPr>
            <p:ph type="title"/>
          </p:nvPr>
        </p:nvSpPr>
        <p:spPr>
          <a:xfrm>
            <a:off x="307062" y="272450"/>
            <a:ext cx="13500200" cy="1359871"/>
          </a:xfrm>
        </p:spPr>
        <p:txBody>
          <a:bodyPr/>
          <a:lstStyle/>
          <a:p>
            <a:r>
              <a:rPr lang="en-US" dirty="0">
                <a:solidFill>
                  <a:schemeClr val="bg1"/>
                </a:solidFill>
                <a:ea typeface="Amazon Ember" panose="020B0603020204020204" pitchFamily="34" charset="0"/>
                <a:cs typeface="Amazon Ember" panose="020B0603020204020204" pitchFamily="34" charset="0"/>
              </a:rPr>
              <a:t>AWS Security Token Service</a:t>
            </a:r>
            <a:endParaRPr lang="en-US" dirty="0">
              <a:solidFill>
                <a:schemeClr val="bg1"/>
              </a:solidFill>
            </a:endParaRPr>
          </a:p>
        </p:txBody>
      </p:sp>
      <p:sp>
        <p:nvSpPr>
          <p:cNvPr id="4" name="Footer Placeholder 3">
            <a:extLst>
              <a:ext uri="{FF2B5EF4-FFF2-40B4-BE49-F238E27FC236}">
                <a16:creationId xmlns:a16="http://schemas.microsoft.com/office/drawing/2014/main" id="{48A85B73-51F2-498C-9A14-38982E7E1071}"/>
              </a:ext>
            </a:extLst>
          </p:cNvPr>
          <p:cNvSpPr>
            <a:spLocks noGrp="1"/>
          </p:cNvSpPr>
          <p:nvPr>
            <p:ph type="ftr" sz="quarter" idx="16"/>
          </p:nvPr>
        </p:nvSpPr>
        <p:spPr/>
        <p:txBody>
          <a:bodyPr/>
          <a:lstStyle/>
          <a:p>
            <a:r>
              <a:rPr lang="en-US"/>
              <a:t>Copyright © 2020 Accenture. All rights reserved.</a:t>
            </a:r>
            <a:endParaRPr lang="en-US" dirty="0"/>
          </a:p>
        </p:txBody>
      </p:sp>
      <p:grpSp>
        <p:nvGrpSpPr>
          <p:cNvPr id="9" name="Group 8">
            <a:extLst>
              <a:ext uri="{FF2B5EF4-FFF2-40B4-BE49-F238E27FC236}">
                <a16:creationId xmlns:a16="http://schemas.microsoft.com/office/drawing/2014/main" id="{7F670153-5837-4FA9-9A01-42A8E81753B9}"/>
              </a:ext>
            </a:extLst>
          </p:cNvPr>
          <p:cNvGrpSpPr/>
          <p:nvPr/>
        </p:nvGrpSpPr>
        <p:grpSpPr>
          <a:xfrm>
            <a:off x="1509480" y="1324274"/>
            <a:ext cx="10963611" cy="1863211"/>
            <a:chOff x="411236" y="1353848"/>
            <a:chExt cx="10963611" cy="1863211"/>
          </a:xfrm>
        </p:grpSpPr>
        <p:grpSp>
          <p:nvGrpSpPr>
            <p:cNvPr id="11" name="Group 23">
              <a:extLst>
                <a:ext uri="{FF2B5EF4-FFF2-40B4-BE49-F238E27FC236}">
                  <a16:creationId xmlns:a16="http://schemas.microsoft.com/office/drawing/2014/main" id="{6B641F70-9B04-438B-92DD-C5F5FD870CB6}"/>
                </a:ext>
              </a:extLst>
            </p:cNvPr>
            <p:cNvGrpSpPr/>
            <p:nvPr/>
          </p:nvGrpSpPr>
          <p:grpSpPr>
            <a:xfrm>
              <a:off x="411236" y="1723735"/>
              <a:ext cx="1472275" cy="1015841"/>
              <a:chOff x="4676775" y="4879368"/>
              <a:chExt cx="1752600" cy="1099671"/>
            </a:xfrm>
          </p:grpSpPr>
          <p:sp>
            <p:nvSpPr>
              <p:cNvPr id="28" name="Rounded Rectangle 24">
                <a:extLst>
                  <a:ext uri="{FF2B5EF4-FFF2-40B4-BE49-F238E27FC236}">
                    <a16:creationId xmlns:a16="http://schemas.microsoft.com/office/drawing/2014/main" id="{B5D9959B-A28D-48F6-A6AD-052867C49E1F}"/>
                  </a:ext>
                </a:extLst>
              </p:cNvPr>
              <p:cNvSpPr/>
              <p:nvPr/>
            </p:nvSpPr>
            <p:spPr>
              <a:xfrm>
                <a:off x="4676775" y="4879368"/>
                <a:ext cx="1752600" cy="109967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9" name="TextBox 37">
                <a:extLst>
                  <a:ext uri="{FF2B5EF4-FFF2-40B4-BE49-F238E27FC236}">
                    <a16:creationId xmlns:a16="http://schemas.microsoft.com/office/drawing/2014/main" id="{84AFE7AD-9945-40D6-B970-8445FC2C4323}"/>
                  </a:ext>
                </a:extLst>
              </p:cNvPr>
              <p:cNvSpPr txBox="1">
                <a:spLocks noChangeArrowheads="1"/>
              </p:cNvSpPr>
              <p:nvPr/>
            </p:nvSpPr>
            <p:spPr bwMode="auto">
              <a:xfrm>
                <a:off x="4775199" y="4945988"/>
                <a:ext cx="1555750" cy="1033051"/>
              </a:xfrm>
              <a:prstGeom prst="rect">
                <a:avLst/>
              </a:prstGeom>
              <a:noFill/>
              <a:ln w="9525">
                <a:noFill/>
                <a:miter lim="800000"/>
                <a:headEnd/>
                <a:tailEnd/>
              </a:ln>
            </p:spPr>
            <p:txBody>
              <a:bodyPr>
                <a:spAutoFit/>
              </a:bodyPr>
              <a:lstStyle/>
              <a:p>
                <a:pPr algn="ctr"/>
                <a:r>
                  <a:rPr lang="en-US" dirty="0">
                    <a:solidFill>
                      <a:srgbClr val="18537D"/>
                    </a:solidFill>
                  </a:rPr>
                  <a:t>Corporate Data Center</a:t>
                </a:r>
              </a:p>
            </p:txBody>
          </p:sp>
        </p:grpSp>
        <p:sp>
          <p:nvSpPr>
            <p:cNvPr id="12" name="Rounded Rectangle 11">
              <a:extLst>
                <a:ext uri="{FF2B5EF4-FFF2-40B4-BE49-F238E27FC236}">
                  <a16:creationId xmlns:a16="http://schemas.microsoft.com/office/drawing/2014/main" id="{2279DB29-7E73-4D7B-A121-EAD4AF27AAB2}"/>
                </a:ext>
              </a:extLst>
            </p:cNvPr>
            <p:cNvSpPr/>
            <p:nvPr/>
          </p:nvSpPr>
          <p:spPr>
            <a:xfrm>
              <a:off x="7276595" y="1723736"/>
              <a:ext cx="4098252" cy="1493323"/>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4" name="TextBox 13">
              <a:extLst>
                <a:ext uri="{FF2B5EF4-FFF2-40B4-BE49-F238E27FC236}">
                  <a16:creationId xmlns:a16="http://schemas.microsoft.com/office/drawing/2014/main" id="{187A7CF3-D418-4FD9-AB8D-74E2C4795C46}"/>
                </a:ext>
              </a:extLst>
            </p:cNvPr>
            <p:cNvSpPr txBox="1"/>
            <p:nvPr/>
          </p:nvSpPr>
          <p:spPr>
            <a:xfrm>
              <a:off x="7749136" y="1353848"/>
              <a:ext cx="3352689" cy="369332"/>
            </a:xfrm>
            <a:prstGeom prst="rect">
              <a:avLst/>
            </a:prstGeom>
            <a:noFill/>
          </p:spPr>
          <p:txBody>
            <a:bodyPr wrap="square" rtlCol="0">
              <a:spAutoFit/>
            </a:bodyPr>
            <a:lstStyle/>
            <a:p>
              <a:pPr algn="ctr"/>
              <a:r>
                <a:rPr lang="en-US" dirty="0">
                  <a:solidFill>
                    <a:srgbClr val="18537D"/>
                  </a:solidFill>
                </a:rPr>
                <a:t>AWS (Service Provider)</a:t>
              </a:r>
            </a:p>
          </p:txBody>
        </p:sp>
        <p:sp>
          <p:nvSpPr>
            <p:cNvPr id="16" name="TextBox 37">
              <a:extLst>
                <a:ext uri="{FF2B5EF4-FFF2-40B4-BE49-F238E27FC236}">
                  <a16:creationId xmlns:a16="http://schemas.microsoft.com/office/drawing/2014/main" id="{FF69B180-97ED-4C38-90F0-BEF4A9EA327C}"/>
                </a:ext>
              </a:extLst>
            </p:cNvPr>
            <p:cNvSpPr txBox="1">
              <a:spLocks noChangeArrowheads="1"/>
            </p:cNvSpPr>
            <p:nvPr/>
          </p:nvSpPr>
          <p:spPr bwMode="auto">
            <a:xfrm>
              <a:off x="9553757" y="2093245"/>
              <a:ext cx="1642647" cy="646331"/>
            </a:xfrm>
            <a:prstGeom prst="rect">
              <a:avLst/>
            </a:prstGeom>
            <a:noFill/>
            <a:ln w="9525">
              <a:noFill/>
              <a:miter lim="800000"/>
              <a:headEnd/>
              <a:tailEnd/>
            </a:ln>
          </p:spPr>
          <p:txBody>
            <a:bodyPr wrap="square">
              <a:spAutoFit/>
            </a:bodyPr>
            <a:lstStyle/>
            <a:p>
              <a:pPr algn="ctr"/>
              <a:r>
                <a:rPr lang="en-US" dirty="0">
                  <a:solidFill>
                    <a:srgbClr val="18537D"/>
                  </a:solidFill>
                </a:rPr>
                <a:t>AWS Services</a:t>
              </a:r>
            </a:p>
          </p:txBody>
        </p:sp>
        <p:cxnSp>
          <p:nvCxnSpPr>
            <p:cNvPr id="18" name="Straight Arrow Connector 17">
              <a:extLst>
                <a:ext uri="{FF2B5EF4-FFF2-40B4-BE49-F238E27FC236}">
                  <a16:creationId xmlns:a16="http://schemas.microsoft.com/office/drawing/2014/main" id="{07C955FC-D944-497B-8648-6077F90DE30A}"/>
                </a:ext>
              </a:extLst>
            </p:cNvPr>
            <p:cNvCxnSpPr>
              <a:cxnSpLocks/>
              <a:stCxn id="28" idx="3"/>
            </p:cNvCxnSpPr>
            <p:nvPr/>
          </p:nvCxnSpPr>
          <p:spPr>
            <a:xfrm>
              <a:off x="1883511" y="2231656"/>
              <a:ext cx="7503331" cy="5660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BB9579C-6A73-4EF1-9BFC-A0919119A7C6}"/>
                </a:ext>
              </a:extLst>
            </p:cNvPr>
            <p:cNvSpPr txBox="1"/>
            <p:nvPr/>
          </p:nvSpPr>
          <p:spPr>
            <a:xfrm>
              <a:off x="7066585" y="2501822"/>
              <a:ext cx="2163097" cy="379656"/>
            </a:xfrm>
            <a:prstGeom prst="rect">
              <a:avLst/>
            </a:prstGeom>
            <a:noFill/>
          </p:spPr>
          <p:txBody>
            <a:bodyPr wrap="square" rtlCol="0">
              <a:spAutoFit/>
            </a:bodyPr>
            <a:lstStyle/>
            <a:p>
              <a:pPr algn="ctr"/>
              <a:r>
                <a:rPr lang="en-US" dirty="0">
                  <a:solidFill>
                    <a:srgbClr val="18537D"/>
                  </a:solidFill>
                </a:rPr>
                <a:t>AWS STS</a:t>
              </a:r>
            </a:p>
          </p:txBody>
        </p:sp>
        <p:sp>
          <p:nvSpPr>
            <p:cNvPr id="21" name="TextBox 20">
              <a:extLst>
                <a:ext uri="{FF2B5EF4-FFF2-40B4-BE49-F238E27FC236}">
                  <a16:creationId xmlns:a16="http://schemas.microsoft.com/office/drawing/2014/main" id="{63972008-B44C-496E-8820-9F33E64E718D}"/>
                </a:ext>
              </a:extLst>
            </p:cNvPr>
            <p:cNvSpPr txBox="1"/>
            <p:nvPr/>
          </p:nvSpPr>
          <p:spPr>
            <a:xfrm>
              <a:off x="5586479" y="1836403"/>
              <a:ext cx="1268937" cy="379656"/>
            </a:xfrm>
            <a:prstGeom prst="rect">
              <a:avLst/>
            </a:prstGeom>
            <a:noFill/>
          </p:spPr>
          <p:txBody>
            <a:bodyPr wrap="square" rtlCol="0">
              <a:spAutoFit/>
            </a:bodyPr>
            <a:lstStyle/>
            <a:p>
              <a:pPr algn="ctr"/>
              <a:r>
                <a:rPr lang="en-US" dirty="0">
                  <a:solidFill>
                    <a:srgbClr val="18537D"/>
                  </a:solidFill>
                </a:rPr>
                <a:t>AWS API</a:t>
              </a:r>
            </a:p>
          </p:txBody>
        </p:sp>
        <p:sp>
          <p:nvSpPr>
            <p:cNvPr id="22" name="Rounded Rectangle 21">
              <a:extLst>
                <a:ext uri="{FF2B5EF4-FFF2-40B4-BE49-F238E27FC236}">
                  <a16:creationId xmlns:a16="http://schemas.microsoft.com/office/drawing/2014/main" id="{298927F9-84DA-4627-A70D-916D13A0B4A3}"/>
                </a:ext>
              </a:extLst>
            </p:cNvPr>
            <p:cNvSpPr/>
            <p:nvPr/>
          </p:nvSpPr>
          <p:spPr>
            <a:xfrm>
              <a:off x="9501331" y="1874095"/>
              <a:ext cx="1747501" cy="1116752"/>
            </a:xfrm>
            <a:prstGeom prst="roundRect">
              <a:avLst/>
            </a:prstGeom>
            <a:noFill/>
            <a:ln>
              <a:solidFill>
                <a:schemeClr val="accent1">
                  <a:shade val="95000"/>
                  <a:satMod val="105000"/>
                </a:schemeClr>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graphicFrame>
        <p:nvGraphicFramePr>
          <p:cNvPr id="30" name="Table 29">
            <a:extLst>
              <a:ext uri="{FF2B5EF4-FFF2-40B4-BE49-F238E27FC236}">
                <a16:creationId xmlns:a16="http://schemas.microsoft.com/office/drawing/2014/main" id="{3BD0DF03-4402-4F3B-853E-9B8480536565}"/>
              </a:ext>
            </a:extLst>
          </p:cNvPr>
          <p:cNvGraphicFramePr>
            <a:graphicFrameLocks noGrp="1"/>
          </p:cNvGraphicFramePr>
          <p:nvPr/>
        </p:nvGraphicFramePr>
        <p:xfrm>
          <a:off x="3926183" y="2327644"/>
          <a:ext cx="2301587" cy="2506132"/>
        </p:xfrm>
        <a:graphic>
          <a:graphicData uri="http://schemas.openxmlformats.org/drawingml/2006/table">
            <a:tbl>
              <a:tblPr firstRow="1" bandRow="1">
                <a:tableStyleId>{F5AB1C69-6EDB-4FF4-983F-18BD219EF322}</a:tableStyleId>
              </a:tblPr>
              <a:tblGrid>
                <a:gridCol w="2301587">
                  <a:extLst>
                    <a:ext uri="{9D8B030D-6E8A-4147-A177-3AD203B41FA5}">
                      <a16:colId xmlns:a16="http://schemas.microsoft.com/office/drawing/2014/main" val="20000"/>
                    </a:ext>
                  </a:extLst>
                </a:gridCol>
              </a:tblGrid>
              <a:tr h="528320">
                <a:tc>
                  <a:txBody>
                    <a:bodyPr/>
                    <a:lstStyle/>
                    <a:p>
                      <a:pPr marL="0" algn="ctr" defTabSz="914400" rtl="0" eaLnBrk="1" latinLnBrk="0" hangingPunct="1"/>
                      <a:r>
                        <a:rPr lang="en-US" sz="1800" kern="1200" dirty="0">
                          <a:solidFill>
                            <a:schemeClr val="bg1"/>
                          </a:solidFill>
                          <a:latin typeface="+mn-lt"/>
                          <a:ea typeface="+mn-ea"/>
                          <a:cs typeface="+mn-cs"/>
                        </a:rPr>
                        <a:t>Session</a:t>
                      </a:r>
                    </a:p>
                  </a:txBody>
                  <a:tcPr marL="121920" marR="121920" marT="60960" marB="60960"/>
                </a:tc>
                <a:extLst>
                  <a:ext uri="{0D108BD9-81ED-4DB2-BD59-A6C34878D82A}">
                    <a16:rowId xmlns:a16="http://schemas.microsoft.com/office/drawing/2014/main" val="10000"/>
                  </a:ext>
                </a:extLst>
              </a:tr>
              <a:tr h="494453">
                <a:tc>
                  <a:txBody>
                    <a:bodyPr/>
                    <a:lstStyle/>
                    <a:p>
                      <a:pPr marL="0" algn="ctr" defTabSz="914400" rtl="0" eaLnBrk="1" latinLnBrk="0" hangingPunct="1"/>
                      <a:r>
                        <a:rPr lang="en-US" sz="1800" kern="1200" dirty="0">
                          <a:solidFill>
                            <a:srgbClr val="18537D"/>
                          </a:solidFill>
                          <a:latin typeface="+mn-lt"/>
                          <a:ea typeface="+mn-ea"/>
                          <a:cs typeface="+mn-cs"/>
                        </a:rPr>
                        <a:t>Access Key ID</a:t>
                      </a:r>
                    </a:p>
                  </a:txBody>
                  <a:tcPr marL="121920" marR="121920" marT="60960" marB="60960"/>
                </a:tc>
                <a:extLst>
                  <a:ext uri="{0D108BD9-81ED-4DB2-BD59-A6C34878D82A}">
                    <a16:rowId xmlns:a16="http://schemas.microsoft.com/office/drawing/2014/main" val="10001"/>
                  </a:ext>
                </a:extLst>
              </a:tr>
              <a:tr h="494453">
                <a:tc>
                  <a:txBody>
                    <a:bodyPr/>
                    <a:lstStyle/>
                    <a:p>
                      <a:pPr marL="0" algn="ctr" defTabSz="914400" rtl="0" eaLnBrk="1" latinLnBrk="0" hangingPunct="1"/>
                      <a:r>
                        <a:rPr lang="en-US" sz="1800" kern="1200" dirty="0">
                          <a:solidFill>
                            <a:srgbClr val="18537D"/>
                          </a:solidFill>
                          <a:latin typeface="+mn-lt"/>
                          <a:ea typeface="+mn-ea"/>
                          <a:cs typeface="+mn-cs"/>
                        </a:rPr>
                        <a:t>Secret Access Key</a:t>
                      </a:r>
                    </a:p>
                  </a:txBody>
                  <a:tcPr marL="121920" marR="121920" marT="60960" marB="60960"/>
                </a:tc>
                <a:extLst>
                  <a:ext uri="{0D108BD9-81ED-4DB2-BD59-A6C34878D82A}">
                    <a16:rowId xmlns:a16="http://schemas.microsoft.com/office/drawing/2014/main" val="10002"/>
                  </a:ext>
                </a:extLst>
              </a:tr>
              <a:tr h="494453">
                <a:tc>
                  <a:txBody>
                    <a:bodyPr/>
                    <a:lstStyle/>
                    <a:p>
                      <a:pPr marL="0" algn="ctr" defTabSz="914400" rtl="0" eaLnBrk="1" latinLnBrk="0" hangingPunct="1"/>
                      <a:r>
                        <a:rPr lang="en-US" sz="1800" kern="1200" dirty="0">
                          <a:solidFill>
                            <a:srgbClr val="18537D"/>
                          </a:solidFill>
                          <a:latin typeface="+mn-lt"/>
                          <a:ea typeface="+mn-ea"/>
                          <a:cs typeface="+mn-cs"/>
                        </a:rPr>
                        <a:t>Session Token</a:t>
                      </a:r>
                    </a:p>
                  </a:txBody>
                  <a:tcPr marL="121920" marR="121920" marT="60960" marB="60960"/>
                </a:tc>
                <a:extLst>
                  <a:ext uri="{0D108BD9-81ED-4DB2-BD59-A6C34878D82A}">
                    <a16:rowId xmlns:a16="http://schemas.microsoft.com/office/drawing/2014/main" val="10003"/>
                  </a:ext>
                </a:extLst>
              </a:tr>
              <a:tr h="494453">
                <a:tc>
                  <a:txBody>
                    <a:bodyPr/>
                    <a:lstStyle/>
                    <a:p>
                      <a:pPr marL="0" algn="ctr" defTabSz="914400" rtl="0" eaLnBrk="1" latinLnBrk="0" hangingPunct="1"/>
                      <a:r>
                        <a:rPr lang="en-US" sz="1800" kern="1200" dirty="0">
                          <a:solidFill>
                            <a:srgbClr val="18537D"/>
                          </a:solidFill>
                          <a:latin typeface="+mn-lt"/>
                          <a:ea typeface="+mn-ea"/>
                          <a:cs typeface="+mn-cs"/>
                        </a:rPr>
                        <a:t>Expiration</a:t>
                      </a:r>
                    </a:p>
                  </a:txBody>
                  <a:tcPr marL="121920" marR="121920" marT="60960" marB="60960"/>
                </a:tc>
                <a:extLst>
                  <a:ext uri="{0D108BD9-81ED-4DB2-BD59-A6C34878D82A}">
                    <a16:rowId xmlns:a16="http://schemas.microsoft.com/office/drawing/2014/main" val="10004"/>
                  </a:ext>
                </a:extLst>
              </a:tr>
            </a:tbl>
          </a:graphicData>
        </a:graphic>
      </p:graphicFrame>
      <p:sp>
        <p:nvSpPr>
          <p:cNvPr id="31" name="Right Brace 30">
            <a:extLst>
              <a:ext uri="{FF2B5EF4-FFF2-40B4-BE49-F238E27FC236}">
                <a16:creationId xmlns:a16="http://schemas.microsoft.com/office/drawing/2014/main" id="{F30C051D-0F84-4682-8589-9517931A5B8B}"/>
              </a:ext>
            </a:extLst>
          </p:cNvPr>
          <p:cNvSpPr/>
          <p:nvPr/>
        </p:nvSpPr>
        <p:spPr>
          <a:xfrm>
            <a:off x="6227772" y="2874597"/>
            <a:ext cx="554181" cy="1425120"/>
          </a:xfrm>
          <a:prstGeom prst="rightBrace">
            <a:avLst/>
          </a:prstGeom>
          <a:ln>
            <a:solidFill>
              <a:schemeClr val="tx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p>
        </p:txBody>
      </p:sp>
      <p:sp>
        <p:nvSpPr>
          <p:cNvPr id="32" name="TextBox 31">
            <a:extLst>
              <a:ext uri="{FF2B5EF4-FFF2-40B4-BE49-F238E27FC236}">
                <a16:creationId xmlns:a16="http://schemas.microsoft.com/office/drawing/2014/main" id="{865866D3-D822-4562-9924-8D2950E0C1AB}"/>
              </a:ext>
            </a:extLst>
          </p:cNvPr>
          <p:cNvSpPr txBox="1"/>
          <p:nvPr/>
        </p:nvSpPr>
        <p:spPr>
          <a:xfrm>
            <a:off x="6733420" y="3405139"/>
            <a:ext cx="4499987" cy="369332"/>
          </a:xfrm>
          <a:prstGeom prst="rect">
            <a:avLst/>
          </a:prstGeom>
          <a:noFill/>
        </p:spPr>
        <p:txBody>
          <a:bodyPr wrap="square" rtlCol="0">
            <a:spAutoFit/>
          </a:bodyPr>
          <a:lstStyle/>
          <a:p>
            <a:r>
              <a:rPr lang="en-US" dirty="0">
                <a:solidFill>
                  <a:srgbClr val="18537D"/>
                </a:solidFill>
              </a:rPr>
              <a:t>Temporary Security Credentials</a:t>
            </a:r>
          </a:p>
        </p:txBody>
      </p:sp>
      <p:sp>
        <p:nvSpPr>
          <p:cNvPr id="33" name="Right Brace 32">
            <a:extLst>
              <a:ext uri="{FF2B5EF4-FFF2-40B4-BE49-F238E27FC236}">
                <a16:creationId xmlns:a16="http://schemas.microsoft.com/office/drawing/2014/main" id="{71358AC5-FE1F-4B35-BD48-7C6BC348C82C}"/>
              </a:ext>
            </a:extLst>
          </p:cNvPr>
          <p:cNvSpPr/>
          <p:nvPr/>
        </p:nvSpPr>
        <p:spPr>
          <a:xfrm>
            <a:off x="6227772" y="4318190"/>
            <a:ext cx="554180" cy="515587"/>
          </a:xfrm>
          <a:prstGeom prst="rightBrace">
            <a:avLst/>
          </a:prstGeom>
          <a:ln>
            <a:solidFill>
              <a:schemeClr val="tx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p>
        </p:txBody>
      </p:sp>
      <p:sp>
        <p:nvSpPr>
          <p:cNvPr id="34" name="TextBox 33">
            <a:extLst>
              <a:ext uri="{FF2B5EF4-FFF2-40B4-BE49-F238E27FC236}">
                <a16:creationId xmlns:a16="http://schemas.microsoft.com/office/drawing/2014/main" id="{44869549-FB09-4D3C-8959-A82EB81F9C12}"/>
              </a:ext>
            </a:extLst>
          </p:cNvPr>
          <p:cNvSpPr txBox="1"/>
          <p:nvPr/>
        </p:nvSpPr>
        <p:spPr>
          <a:xfrm>
            <a:off x="6781952" y="4360890"/>
            <a:ext cx="3162445" cy="369332"/>
          </a:xfrm>
          <a:prstGeom prst="rect">
            <a:avLst/>
          </a:prstGeom>
          <a:noFill/>
        </p:spPr>
        <p:txBody>
          <a:bodyPr wrap="square" rtlCol="0">
            <a:spAutoFit/>
          </a:bodyPr>
          <a:lstStyle/>
          <a:p>
            <a:r>
              <a:rPr lang="en-US" dirty="0">
                <a:solidFill>
                  <a:srgbClr val="18537D"/>
                </a:solidFill>
              </a:rPr>
              <a:t>15 minutes to 36 hours</a:t>
            </a:r>
          </a:p>
        </p:txBody>
      </p:sp>
      <p:sp>
        <p:nvSpPr>
          <p:cNvPr id="35" name="Freeform 42">
            <a:extLst>
              <a:ext uri="{FF2B5EF4-FFF2-40B4-BE49-F238E27FC236}">
                <a16:creationId xmlns:a16="http://schemas.microsoft.com/office/drawing/2014/main" id="{306DEA57-984D-4958-A727-1016BB6A9708}"/>
              </a:ext>
            </a:extLst>
          </p:cNvPr>
          <p:cNvSpPr>
            <a:spLocks noEditPoints="1"/>
          </p:cNvSpPr>
          <p:nvPr/>
        </p:nvSpPr>
        <p:spPr bwMode="auto">
          <a:xfrm rot="2700000">
            <a:off x="8963339" y="1979133"/>
            <a:ext cx="551599" cy="556459"/>
          </a:xfrm>
          <a:custGeom>
            <a:avLst/>
            <a:gdLst>
              <a:gd name="T0" fmla="*/ 30 w 96"/>
              <a:gd name="T1" fmla="*/ 96 h 96"/>
              <a:gd name="T2" fmla="*/ 60 w 96"/>
              <a:gd name="T3" fmla="*/ 66 h 96"/>
              <a:gd name="T4" fmla="*/ 57 w 96"/>
              <a:gd name="T5" fmla="*/ 54 h 96"/>
              <a:gd name="T6" fmla="*/ 69 w 96"/>
              <a:gd name="T7" fmla="*/ 42 h 96"/>
              <a:gd name="T8" fmla="*/ 76 w 96"/>
              <a:gd name="T9" fmla="*/ 42 h 96"/>
              <a:gd name="T10" fmla="*/ 76 w 96"/>
              <a:gd name="T11" fmla="*/ 35 h 96"/>
              <a:gd name="T12" fmla="*/ 77 w 96"/>
              <a:gd name="T13" fmla="*/ 34 h 96"/>
              <a:gd name="T14" fmla="*/ 84 w 96"/>
              <a:gd name="T15" fmla="*/ 34 h 96"/>
              <a:gd name="T16" fmla="*/ 84 w 96"/>
              <a:gd name="T17" fmla="*/ 27 h 96"/>
              <a:gd name="T18" fmla="*/ 85 w 96"/>
              <a:gd name="T19" fmla="*/ 26 h 96"/>
              <a:gd name="T20" fmla="*/ 92 w 96"/>
              <a:gd name="T21" fmla="*/ 26 h 96"/>
              <a:gd name="T22" fmla="*/ 92 w 96"/>
              <a:gd name="T23" fmla="*/ 19 h 96"/>
              <a:gd name="T24" fmla="*/ 96 w 96"/>
              <a:gd name="T25" fmla="*/ 15 h 96"/>
              <a:gd name="T26" fmla="*/ 96 w 96"/>
              <a:gd name="T27" fmla="*/ 0 h 96"/>
              <a:gd name="T28" fmla="*/ 81 w 96"/>
              <a:gd name="T29" fmla="*/ 0 h 96"/>
              <a:gd name="T30" fmla="*/ 42 w 96"/>
              <a:gd name="T31" fmla="*/ 39 h 96"/>
              <a:gd name="T32" fmla="*/ 30 w 96"/>
              <a:gd name="T33" fmla="*/ 36 h 96"/>
              <a:gd name="T34" fmla="*/ 0 w 96"/>
              <a:gd name="T35" fmla="*/ 66 h 96"/>
              <a:gd name="T36" fmla="*/ 30 w 96"/>
              <a:gd name="T37" fmla="*/ 96 h 96"/>
              <a:gd name="T38" fmla="*/ 22 w 96"/>
              <a:gd name="T39" fmla="*/ 66 h 96"/>
              <a:gd name="T40" fmla="*/ 30 w 96"/>
              <a:gd name="T41" fmla="*/ 74 h 96"/>
              <a:gd name="T42" fmla="*/ 22 w 96"/>
              <a:gd name="T43" fmla="*/ 82 h 96"/>
              <a:gd name="T44" fmla="*/ 14 w 96"/>
              <a:gd name="T45" fmla="*/ 74 h 96"/>
              <a:gd name="T46" fmla="*/ 22 w 96"/>
              <a:gd name="T47" fmla="*/ 6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96">
                <a:moveTo>
                  <a:pt x="30" y="96"/>
                </a:moveTo>
                <a:cubicBezTo>
                  <a:pt x="47" y="96"/>
                  <a:pt x="60" y="83"/>
                  <a:pt x="60" y="66"/>
                </a:cubicBezTo>
                <a:cubicBezTo>
                  <a:pt x="60" y="62"/>
                  <a:pt x="59" y="57"/>
                  <a:pt x="57" y="54"/>
                </a:cubicBezTo>
                <a:cubicBezTo>
                  <a:pt x="69" y="42"/>
                  <a:pt x="69" y="42"/>
                  <a:pt x="69" y="42"/>
                </a:cubicBezTo>
                <a:cubicBezTo>
                  <a:pt x="76" y="42"/>
                  <a:pt x="76" y="42"/>
                  <a:pt x="76" y="42"/>
                </a:cubicBezTo>
                <a:cubicBezTo>
                  <a:pt x="76" y="35"/>
                  <a:pt x="76" y="35"/>
                  <a:pt x="76" y="35"/>
                </a:cubicBezTo>
                <a:cubicBezTo>
                  <a:pt x="77" y="34"/>
                  <a:pt x="77" y="34"/>
                  <a:pt x="77" y="34"/>
                </a:cubicBezTo>
                <a:cubicBezTo>
                  <a:pt x="84" y="34"/>
                  <a:pt x="84" y="34"/>
                  <a:pt x="84" y="34"/>
                </a:cubicBezTo>
                <a:cubicBezTo>
                  <a:pt x="84" y="27"/>
                  <a:pt x="84" y="27"/>
                  <a:pt x="84" y="27"/>
                </a:cubicBezTo>
                <a:cubicBezTo>
                  <a:pt x="85" y="26"/>
                  <a:pt x="85" y="26"/>
                  <a:pt x="85" y="26"/>
                </a:cubicBezTo>
                <a:cubicBezTo>
                  <a:pt x="92" y="26"/>
                  <a:pt x="92" y="26"/>
                  <a:pt x="92" y="26"/>
                </a:cubicBezTo>
                <a:cubicBezTo>
                  <a:pt x="92" y="19"/>
                  <a:pt x="92" y="19"/>
                  <a:pt x="92" y="19"/>
                </a:cubicBezTo>
                <a:cubicBezTo>
                  <a:pt x="96" y="15"/>
                  <a:pt x="96" y="15"/>
                  <a:pt x="96" y="15"/>
                </a:cubicBezTo>
                <a:cubicBezTo>
                  <a:pt x="96" y="0"/>
                  <a:pt x="96" y="0"/>
                  <a:pt x="96" y="0"/>
                </a:cubicBezTo>
                <a:cubicBezTo>
                  <a:pt x="81" y="0"/>
                  <a:pt x="81" y="0"/>
                  <a:pt x="81" y="0"/>
                </a:cubicBezTo>
                <a:cubicBezTo>
                  <a:pt x="42" y="39"/>
                  <a:pt x="42" y="39"/>
                  <a:pt x="42" y="39"/>
                </a:cubicBezTo>
                <a:cubicBezTo>
                  <a:pt x="39" y="37"/>
                  <a:pt x="34" y="36"/>
                  <a:pt x="30" y="36"/>
                </a:cubicBezTo>
                <a:cubicBezTo>
                  <a:pt x="13" y="36"/>
                  <a:pt x="0" y="49"/>
                  <a:pt x="0" y="66"/>
                </a:cubicBezTo>
                <a:cubicBezTo>
                  <a:pt x="0" y="83"/>
                  <a:pt x="13" y="96"/>
                  <a:pt x="30" y="96"/>
                </a:cubicBezTo>
                <a:close/>
                <a:moveTo>
                  <a:pt x="22" y="66"/>
                </a:moveTo>
                <a:cubicBezTo>
                  <a:pt x="26" y="66"/>
                  <a:pt x="30" y="70"/>
                  <a:pt x="30" y="74"/>
                </a:cubicBezTo>
                <a:cubicBezTo>
                  <a:pt x="30" y="78"/>
                  <a:pt x="26" y="82"/>
                  <a:pt x="22" y="82"/>
                </a:cubicBezTo>
                <a:cubicBezTo>
                  <a:pt x="18" y="82"/>
                  <a:pt x="14" y="78"/>
                  <a:pt x="14" y="74"/>
                </a:cubicBezTo>
                <a:cubicBezTo>
                  <a:pt x="14" y="70"/>
                  <a:pt x="18" y="66"/>
                  <a:pt x="22" y="66"/>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sz="240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767932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63">
            <a:extLst>
              <a:ext uri="{FF2B5EF4-FFF2-40B4-BE49-F238E27FC236}">
                <a16:creationId xmlns:a16="http://schemas.microsoft.com/office/drawing/2014/main" id="{94A132D5-5C89-4587-BABC-226450C5F394}"/>
              </a:ext>
            </a:extLst>
          </p:cNvPr>
          <p:cNvPicPr>
            <a:picLocks noChangeAspect="1"/>
          </p:cNvPicPr>
          <p:nvPr/>
        </p:nvPicPr>
        <p:blipFill>
          <a:blip r:embed="rId2"/>
          <a:stretch>
            <a:fillRect/>
          </a:stretch>
        </p:blipFill>
        <p:spPr>
          <a:xfrm>
            <a:off x="11524786" y="4943268"/>
            <a:ext cx="514198" cy="498425"/>
          </a:xfrm>
          <a:prstGeom prst="rect">
            <a:avLst/>
          </a:prstGeom>
        </p:spPr>
      </p:pic>
      <p:sp>
        <p:nvSpPr>
          <p:cNvPr id="2" name="Footer Placeholder 1">
            <a:extLst>
              <a:ext uri="{FF2B5EF4-FFF2-40B4-BE49-F238E27FC236}">
                <a16:creationId xmlns:a16="http://schemas.microsoft.com/office/drawing/2014/main" id="{922061D0-E379-42DB-96B6-C5DEDAA714DE}"/>
              </a:ext>
            </a:extLst>
          </p:cNvPr>
          <p:cNvSpPr>
            <a:spLocks noGrp="1"/>
          </p:cNvSpPr>
          <p:nvPr>
            <p:ph type="ftr" sz="quarter" idx="16"/>
          </p:nvPr>
        </p:nvSpPr>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65C6ABD8-8B7E-4A40-B3B7-F93DECD6AF3D}"/>
              </a:ext>
            </a:extLst>
          </p:cNvPr>
          <p:cNvSpPr>
            <a:spLocks noGrp="1"/>
          </p:cNvSpPr>
          <p:nvPr>
            <p:ph type="sldNum" sz="quarter" idx="17"/>
          </p:nvPr>
        </p:nvSpPr>
        <p:spPr/>
        <p:txBody>
          <a:bodyPr/>
          <a:lstStyle/>
          <a:p>
            <a:fld id="{4F9AC08D-23A9-440E-BCB9-AA1E9877CC38}" type="slidenum">
              <a:rPr lang="en-US" smtClean="0"/>
              <a:pPr/>
              <a:t>15</a:t>
            </a:fld>
            <a:endParaRPr lang="en-US" dirty="0"/>
          </a:p>
        </p:txBody>
      </p:sp>
      <p:sp>
        <p:nvSpPr>
          <p:cNvPr id="4" name="Title 3">
            <a:extLst>
              <a:ext uri="{FF2B5EF4-FFF2-40B4-BE49-F238E27FC236}">
                <a16:creationId xmlns:a16="http://schemas.microsoft.com/office/drawing/2014/main" id="{EF960864-C7DC-4DE7-96B9-D42A48340FA2}"/>
              </a:ext>
            </a:extLst>
          </p:cNvPr>
          <p:cNvSpPr>
            <a:spLocks noGrp="1"/>
          </p:cNvSpPr>
          <p:nvPr>
            <p:ph type="title"/>
          </p:nvPr>
        </p:nvSpPr>
        <p:spPr>
          <a:xfrm>
            <a:off x="458040" y="331390"/>
            <a:ext cx="13500200" cy="1359871"/>
          </a:xfrm>
        </p:spPr>
        <p:txBody>
          <a:bodyPr/>
          <a:lstStyle/>
          <a:p>
            <a:r>
              <a:rPr lang="en-US" dirty="0">
                <a:solidFill>
                  <a:schemeClr val="bg1"/>
                </a:solidFill>
              </a:rPr>
              <a:t>Encryption</a:t>
            </a:r>
          </a:p>
        </p:txBody>
      </p:sp>
      <p:sp>
        <p:nvSpPr>
          <p:cNvPr id="5" name="Right Arrow 61">
            <a:extLst>
              <a:ext uri="{FF2B5EF4-FFF2-40B4-BE49-F238E27FC236}">
                <a16:creationId xmlns:a16="http://schemas.microsoft.com/office/drawing/2014/main" id="{E379DE0C-787B-43CB-AEAA-CEC0F2953294}"/>
              </a:ext>
            </a:extLst>
          </p:cNvPr>
          <p:cNvSpPr/>
          <p:nvPr/>
        </p:nvSpPr>
        <p:spPr>
          <a:xfrm>
            <a:off x="10288261" y="5193540"/>
            <a:ext cx="829737" cy="230909"/>
          </a:xfrm>
          <a:prstGeom prst="rightArrow">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7" dirty="0">
              <a:latin typeface="Amazon Ember Light" panose="020B0403020204020204" pitchFamily="34" charset="0"/>
            </a:endParaRPr>
          </a:p>
        </p:txBody>
      </p:sp>
      <p:sp>
        <p:nvSpPr>
          <p:cNvPr id="6" name="Plus 62">
            <a:extLst>
              <a:ext uri="{FF2B5EF4-FFF2-40B4-BE49-F238E27FC236}">
                <a16:creationId xmlns:a16="http://schemas.microsoft.com/office/drawing/2014/main" id="{F46EFB7E-52CC-4E09-8285-AB39338716E5}"/>
              </a:ext>
            </a:extLst>
          </p:cNvPr>
          <p:cNvSpPr/>
          <p:nvPr/>
        </p:nvSpPr>
        <p:spPr>
          <a:xfrm>
            <a:off x="8666548" y="4943268"/>
            <a:ext cx="410694" cy="374043"/>
          </a:xfrm>
          <a:prstGeom prst="mathPlus">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7" dirty="0">
              <a:latin typeface="Amazon Ember Light" panose="020B0403020204020204" pitchFamily="34" charset="0"/>
            </a:endParaRPr>
          </a:p>
        </p:txBody>
      </p:sp>
      <p:sp>
        <p:nvSpPr>
          <p:cNvPr id="7" name="Right Arrow 63">
            <a:extLst>
              <a:ext uri="{FF2B5EF4-FFF2-40B4-BE49-F238E27FC236}">
                <a16:creationId xmlns:a16="http://schemas.microsoft.com/office/drawing/2014/main" id="{DBCD1EFE-7A1E-488C-B178-8808AEEC5858}"/>
              </a:ext>
            </a:extLst>
          </p:cNvPr>
          <p:cNvSpPr/>
          <p:nvPr/>
        </p:nvSpPr>
        <p:spPr>
          <a:xfrm>
            <a:off x="10288261" y="2878597"/>
            <a:ext cx="919060" cy="213467"/>
          </a:xfrm>
          <a:prstGeom prst="rightArrow">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7" dirty="0">
              <a:latin typeface="Amazon Ember Light" panose="020B0403020204020204" pitchFamily="34" charset="0"/>
            </a:endParaRPr>
          </a:p>
        </p:txBody>
      </p:sp>
      <p:sp>
        <p:nvSpPr>
          <p:cNvPr id="8" name="Plus 64">
            <a:extLst>
              <a:ext uri="{FF2B5EF4-FFF2-40B4-BE49-F238E27FC236}">
                <a16:creationId xmlns:a16="http://schemas.microsoft.com/office/drawing/2014/main" id="{132D3178-44AD-43E7-BE39-466308BEBEA7}"/>
              </a:ext>
            </a:extLst>
          </p:cNvPr>
          <p:cNvSpPr/>
          <p:nvPr/>
        </p:nvSpPr>
        <p:spPr>
          <a:xfrm>
            <a:off x="8665378" y="2811897"/>
            <a:ext cx="410694" cy="374043"/>
          </a:xfrm>
          <a:prstGeom prst="mathPlus">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7" dirty="0">
              <a:latin typeface="Amazon Ember Light" panose="020B0403020204020204" pitchFamily="34" charset="0"/>
            </a:endParaRPr>
          </a:p>
        </p:txBody>
      </p:sp>
      <p:grpSp>
        <p:nvGrpSpPr>
          <p:cNvPr id="9" name="Group 8">
            <a:extLst>
              <a:ext uri="{FF2B5EF4-FFF2-40B4-BE49-F238E27FC236}">
                <a16:creationId xmlns:a16="http://schemas.microsoft.com/office/drawing/2014/main" id="{BF03EFA0-8027-4CE1-A370-B33ACE65E679}"/>
              </a:ext>
            </a:extLst>
          </p:cNvPr>
          <p:cNvGrpSpPr/>
          <p:nvPr/>
        </p:nvGrpSpPr>
        <p:grpSpPr>
          <a:xfrm>
            <a:off x="9115105" y="2652081"/>
            <a:ext cx="832232" cy="990961"/>
            <a:chOff x="5281710" y="1055273"/>
            <a:chExt cx="661075" cy="769590"/>
          </a:xfrm>
        </p:grpSpPr>
        <p:pic>
          <p:nvPicPr>
            <p:cNvPr id="10" name="Picture 9">
              <a:extLst>
                <a:ext uri="{FF2B5EF4-FFF2-40B4-BE49-F238E27FC236}">
                  <a16:creationId xmlns:a16="http://schemas.microsoft.com/office/drawing/2014/main" id="{7E4C4F4F-7E36-45B1-B779-966F88ED359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490996" y="1055273"/>
              <a:ext cx="327122" cy="421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a:extLst>
                <a:ext uri="{FF2B5EF4-FFF2-40B4-BE49-F238E27FC236}">
                  <a16:creationId xmlns:a16="http://schemas.microsoft.com/office/drawing/2014/main" id="{6616A455-F3FC-410F-AA68-EDA7CAEB34D5}"/>
                </a:ext>
              </a:extLst>
            </p:cNvPr>
            <p:cNvSpPr txBox="1"/>
            <p:nvPr/>
          </p:nvSpPr>
          <p:spPr>
            <a:xfrm>
              <a:off x="5281710" y="1490319"/>
              <a:ext cx="661075" cy="334544"/>
            </a:xfrm>
            <a:prstGeom prst="rect">
              <a:avLst/>
            </a:prstGeom>
            <a:noFill/>
          </p:spPr>
          <p:txBody>
            <a:bodyPr wrap="square" lIns="0" tIns="0" rIns="0" bIns="0" rtlCol="0">
              <a:spAutoFit/>
            </a:bodyPr>
            <a:lstStyle/>
            <a:p>
              <a:pPr algn="ctr"/>
              <a:r>
                <a:rPr lang="en-US" sz="1400" dirty="0">
                  <a:latin typeface="Amazon Ember" charset="0"/>
                  <a:ea typeface="Amazon Ember" charset="0"/>
                  <a:cs typeface="Amazon Ember" charset="0"/>
                </a:rPr>
                <a:t>Plain-text</a:t>
              </a:r>
              <a:br>
                <a:rPr lang="en-US" sz="1400" dirty="0">
                  <a:latin typeface="Amazon Ember" charset="0"/>
                  <a:ea typeface="Amazon Ember" charset="0"/>
                  <a:cs typeface="Amazon Ember" charset="0"/>
                </a:rPr>
              </a:br>
              <a:r>
                <a:rPr lang="en-US" sz="1400" dirty="0">
                  <a:latin typeface="Amazon Ember" charset="0"/>
                  <a:ea typeface="Amazon Ember" charset="0"/>
                  <a:cs typeface="Amazon Ember" charset="0"/>
                </a:rPr>
                <a:t>data</a:t>
              </a:r>
            </a:p>
          </p:txBody>
        </p:sp>
      </p:grpSp>
      <p:sp>
        <p:nvSpPr>
          <p:cNvPr id="12" name="Right Arrow 68">
            <a:extLst>
              <a:ext uri="{FF2B5EF4-FFF2-40B4-BE49-F238E27FC236}">
                <a16:creationId xmlns:a16="http://schemas.microsoft.com/office/drawing/2014/main" id="{2E9FD1A9-762A-43F8-9ABE-3E9CC51D7B68}"/>
              </a:ext>
            </a:extLst>
          </p:cNvPr>
          <p:cNvSpPr/>
          <p:nvPr/>
        </p:nvSpPr>
        <p:spPr>
          <a:xfrm>
            <a:off x="6559865" y="2811898"/>
            <a:ext cx="873728" cy="229465"/>
          </a:xfrm>
          <a:prstGeom prst="rightArrow">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7" dirty="0">
              <a:latin typeface="Amazon Ember Light" panose="020B0403020204020204" pitchFamily="34" charset="0"/>
            </a:endParaRPr>
          </a:p>
        </p:txBody>
      </p:sp>
      <p:grpSp>
        <p:nvGrpSpPr>
          <p:cNvPr id="13" name="Group 12">
            <a:extLst>
              <a:ext uri="{FF2B5EF4-FFF2-40B4-BE49-F238E27FC236}">
                <a16:creationId xmlns:a16="http://schemas.microsoft.com/office/drawing/2014/main" id="{57BCC89F-F008-48EA-AC51-F7AC4EAD8778}"/>
              </a:ext>
            </a:extLst>
          </p:cNvPr>
          <p:cNvGrpSpPr/>
          <p:nvPr/>
        </p:nvGrpSpPr>
        <p:grpSpPr>
          <a:xfrm>
            <a:off x="5464629" y="2660752"/>
            <a:ext cx="913444" cy="901278"/>
            <a:chOff x="916669" y="1138456"/>
            <a:chExt cx="725585" cy="699942"/>
          </a:xfrm>
        </p:grpSpPr>
        <p:sp>
          <p:nvSpPr>
            <p:cNvPr id="14" name="TextBox 13">
              <a:extLst>
                <a:ext uri="{FF2B5EF4-FFF2-40B4-BE49-F238E27FC236}">
                  <a16:creationId xmlns:a16="http://schemas.microsoft.com/office/drawing/2014/main" id="{C62344B9-55C4-497B-BB68-79132B300DC6}"/>
                </a:ext>
              </a:extLst>
            </p:cNvPr>
            <p:cNvSpPr txBox="1"/>
            <p:nvPr/>
          </p:nvSpPr>
          <p:spPr>
            <a:xfrm>
              <a:off x="916669" y="1503854"/>
              <a:ext cx="725585" cy="334544"/>
            </a:xfrm>
            <a:prstGeom prst="rect">
              <a:avLst/>
            </a:prstGeom>
            <a:noFill/>
          </p:spPr>
          <p:txBody>
            <a:bodyPr wrap="square" lIns="0" tIns="0" rIns="0" bIns="0" rtlCol="0">
              <a:spAutoFit/>
            </a:bodyPr>
            <a:lstStyle/>
            <a:p>
              <a:pPr algn="ctr"/>
              <a:r>
                <a:rPr lang="en-US" sz="1400" dirty="0">
                  <a:latin typeface="Amazon Ember" charset="0"/>
                  <a:ea typeface="Amazon Ember" charset="0"/>
                  <a:cs typeface="Amazon Ember" charset="0"/>
                </a:rPr>
                <a:t>Hardware/</a:t>
              </a:r>
              <a:br>
                <a:rPr lang="en-US" sz="1400" dirty="0">
                  <a:latin typeface="Amazon Ember" charset="0"/>
                  <a:ea typeface="Amazon Ember" charset="0"/>
                  <a:cs typeface="Amazon Ember" charset="0"/>
                </a:rPr>
              </a:br>
              <a:r>
                <a:rPr lang="en-US" sz="1400" dirty="0">
                  <a:latin typeface="Amazon Ember" charset="0"/>
                  <a:ea typeface="Amazon Ember" charset="0"/>
                  <a:cs typeface="Amazon Ember" charset="0"/>
                </a:rPr>
                <a:t>software</a:t>
              </a:r>
            </a:p>
          </p:txBody>
        </p:sp>
        <p:pic>
          <p:nvPicPr>
            <p:cNvPr id="15" name="Picture 2">
              <a:extLst>
                <a:ext uri="{FF2B5EF4-FFF2-40B4-BE49-F238E27FC236}">
                  <a16:creationId xmlns:a16="http://schemas.microsoft.com/office/drawing/2014/main" id="{21A9A92C-5B2F-4B3D-B361-B9C81ACC4C1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019080" y="1138456"/>
              <a:ext cx="450850"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 name="Group 15">
            <a:extLst>
              <a:ext uri="{FF2B5EF4-FFF2-40B4-BE49-F238E27FC236}">
                <a16:creationId xmlns:a16="http://schemas.microsoft.com/office/drawing/2014/main" id="{AA8357B4-1A1D-4D2D-B849-C529137A583C}"/>
              </a:ext>
            </a:extLst>
          </p:cNvPr>
          <p:cNvGrpSpPr/>
          <p:nvPr/>
        </p:nvGrpSpPr>
        <p:grpSpPr>
          <a:xfrm>
            <a:off x="11258340" y="2660751"/>
            <a:ext cx="929229" cy="1014243"/>
            <a:chOff x="5584553" y="1050727"/>
            <a:chExt cx="738124" cy="787671"/>
          </a:xfrm>
        </p:grpSpPr>
        <p:sp>
          <p:nvSpPr>
            <p:cNvPr id="17" name="TextBox 16">
              <a:extLst>
                <a:ext uri="{FF2B5EF4-FFF2-40B4-BE49-F238E27FC236}">
                  <a16:creationId xmlns:a16="http://schemas.microsoft.com/office/drawing/2014/main" id="{B9D3564C-ECC1-4B4A-AC41-F73334F6F3AE}"/>
                </a:ext>
              </a:extLst>
            </p:cNvPr>
            <p:cNvSpPr txBox="1"/>
            <p:nvPr/>
          </p:nvSpPr>
          <p:spPr>
            <a:xfrm>
              <a:off x="5584553" y="1503854"/>
              <a:ext cx="738124" cy="334544"/>
            </a:xfrm>
            <a:prstGeom prst="rect">
              <a:avLst/>
            </a:prstGeom>
            <a:noFill/>
          </p:spPr>
          <p:txBody>
            <a:bodyPr wrap="square" lIns="0" tIns="0" rIns="0" bIns="0" rtlCol="0">
              <a:spAutoFit/>
            </a:bodyPr>
            <a:lstStyle/>
            <a:p>
              <a:pPr algn="ctr"/>
              <a:r>
                <a:rPr lang="en-US" sz="1400" dirty="0">
                  <a:latin typeface="Amazon Ember" charset="0"/>
                  <a:ea typeface="Amazon Ember" charset="0"/>
                  <a:cs typeface="Amazon Ember" charset="0"/>
                </a:rPr>
                <a:t>Encrypted</a:t>
              </a:r>
              <a:br>
                <a:rPr lang="en-US" sz="1400" dirty="0">
                  <a:latin typeface="Amazon Ember" charset="0"/>
                  <a:ea typeface="Amazon Ember" charset="0"/>
                  <a:cs typeface="Amazon Ember" charset="0"/>
                </a:rPr>
              </a:br>
              <a:r>
                <a:rPr lang="en-US" sz="1400" dirty="0">
                  <a:latin typeface="Amazon Ember" charset="0"/>
                  <a:ea typeface="Amazon Ember" charset="0"/>
                  <a:cs typeface="Amazon Ember" charset="0"/>
                </a:rPr>
                <a:t>data</a:t>
              </a:r>
            </a:p>
          </p:txBody>
        </p:sp>
        <p:pic>
          <p:nvPicPr>
            <p:cNvPr id="18" name="Picture 17">
              <a:extLst>
                <a:ext uri="{FF2B5EF4-FFF2-40B4-BE49-F238E27FC236}">
                  <a16:creationId xmlns:a16="http://schemas.microsoft.com/office/drawing/2014/main" id="{DB0A6CF3-0117-447E-BFFE-E5502587723B}"/>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796522" y="1050727"/>
              <a:ext cx="353426" cy="441390"/>
            </a:xfrm>
            <a:prstGeom prst="rect">
              <a:avLst/>
            </a:prstGeom>
          </p:spPr>
        </p:pic>
      </p:grpSp>
      <p:grpSp>
        <p:nvGrpSpPr>
          <p:cNvPr id="19" name="Group 18">
            <a:extLst>
              <a:ext uri="{FF2B5EF4-FFF2-40B4-BE49-F238E27FC236}">
                <a16:creationId xmlns:a16="http://schemas.microsoft.com/office/drawing/2014/main" id="{63B0060D-4CEC-4AD5-9404-0581B2F5E535}"/>
              </a:ext>
            </a:extLst>
          </p:cNvPr>
          <p:cNvGrpSpPr/>
          <p:nvPr/>
        </p:nvGrpSpPr>
        <p:grpSpPr>
          <a:xfrm>
            <a:off x="12857968" y="3619834"/>
            <a:ext cx="772490" cy="790126"/>
            <a:chOff x="6253686" y="1881760"/>
            <a:chExt cx="772691" cy="790332"/>
          </a:xfrm>
        </p:grpSpPr>
        <p:pic>
          <p:nvPicPr>
            <p:cNvPr id="20" name="Picture 19" descr="EBS-Volume.png">
              <a:extLst>
                <a:ext uri="{FF2B5EF4-FFF2-40B4-BE49-F238E27FC236}">
                  <a16:creationId xmlns:a16="http://schemas.microsoft.com/office/drawing/2014/main" id="{EB1DB91F-7B8E-4E24-94A0-AB7F1EBFD19E}"/>
                </a:ext>
              </a:extLst>
            </p:cNvPr>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tretch>
              <a:fillRect/>
            </a:stretch>
          </p:blipFill>
          <p:spPr>
            <a:xfrm>
              <a:off x="6253686" y="1881760"/>
              <a:ext cx="772691" cy="790332"/>
            </a:xfrm>
            <a:prstGeom prst="rect">
              <a:avLst/>
            </a:prstGeom>
          </p:spPr>
        </p:pic>
        <p:pic>
          <p:nvPicPr>
            <p:cNvPr id="21" name="Picture 20">
              <a:extLst>
                <a:ext uri="{FF2B5EF4-FFF2-40B4-BE49-F238E27FC236}">
                  <a16:creationId xmlns:a16="http://schemas.microsoft.com/office/drawing/2014/main" id="{26B0E7EC-CBFE-4A0C-A8CB-278D10414D1C}"/>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499826" y="2152195"/>
              <a:ext cx="290121" cy="370601"/>
            </a:xfrm>
            <a:prstGeom prst="rect">
              <a:avLst/>
            </a:prstGeom>
          </p:spPr>
        </p:pic>
      </p:grpSp>
      <p:sp>
        <p:nvSpPr>
          <p:cNvPr id="22" name="TextBox 21">
            <a:extLst>
              <a:ext uri="{FF2B5EF4-FFF2-40B4-BE49-F238E27FC236}">
                <a16:creationId xmlns:a16="http://schemas.microsoft.com/office/drawing/2014/main" id="{CB70617D-C4FD-4F05-8469-2BCADA899C70}"/>
              </a:ext>
            </a:extLst>
          </p:cNvPr>
          <p:cNvSpPr txBox="1"/>
          <p:nvPr/>
        </p:nvSpPr>
        <p:spPr>
          <a:xfrm>
            <a:off x="12536230" y="4440511"/>
            <a:ext cx="1413975" cy="430775"/>
          </a:xfrm>
          <a:prstGeom prst="rect">
            <a:avLst/>
          </a:prstGeom>
          <a:noFill/>
        </p:spPr>
        <p:txBody>
          <a:bodyPr wrap="square" lIns="0" tIns="0" rIns="0" bIns="0" rtlCol="0">
            <a:spAutoFit/>
          </a:bodyPr>
          <a:lstStyle/>
          <a:p>
            <a:pPr algn="ctr"/>
            <a:r>
              <a:rPr lang="en-US" sz="1400" dirty="0">
                <a:latin typeface="Amazon Ember" charset="0"/>
                <a:ea typeface="Amazon Ember" charset="0"/>
                <a:cs typeface="Amazon Ember" charset="0"/>
              </a:rPr>
              <a:t>Encrypted</a:t>
            </a:r>
            <a:br>
              <a:rPr lang="en-US" sz="1400" dirty="0">
                <a:latin typeface="Amazon Ember" charset="0"/>
                <a:ea typeface="Amazon Ember" charset="0"/>
                <a:cs typeface="Amazon Ember" charset="0"/>
              </a:rPr>
            </a:br>
            <a:r>
              <a:rPr lang="en-US" sz="1400" dirty="0">
                <a:latin typeface="Amazon Ember" charset="0"/>
                <a:ea typeface="Amazon Ember" charset="0"/>
                <a:cs typeface="Amazon Ember" charset="0"/>
              </a:rPr>
              <a:t>data in storage</a:t>
            </a:r>
          </a:p>
        </p:txBody>
      </p:sp>
      <p:grpSp>
        <p:nvGrpSpPr>
          <p:cNvPr id="23" name="Group 22">
            <a:extLst>
              <a:ext uri="{FF2B5EF4-FFF2-40B4-BE49-F238E27FC236}">
                <a16:creationId xmlns:a16="http://schemas.microsoft.com/office/drawing/2014/main" id="{1C04804D-2717-4143-ABEB-1228346DD95B}"/>
              </a:ext>
            </a:extLst>
          </p:cNvPr>
          <p:cNvGrpSpPr/>
          <p:nvPr/>
        </p:nvGrpSpPr>
        <p:grpSpPr>
          <a:xfrm>
            <a:off x="11117999" y="5242008"/>
            <a:ext cx="1259310" cy="745003"/>
            <a:chOff x="4323117" y="2349435"/>
            <a:chExt cx="1000320" cy="578577"/>
          </a:xfrm>
        </p:grpSpPr>
        <p:sp>
          <p:nvSpPr>
            <p:cNvPr id="24" name="TextBox 23">
              <a:extLst>
                <a:ext uri="{FF2B5EF4-FFF2-40B4-BE49-F238E27FC236}">
                  <a16:creationId xmlns:a16="http://schemas.microsoft.com/office/drawing/2014/main" id="{A507B53F-1FAF-4463-A0F6-985E0291E1AA}"/>
                </a:ext>
              </a:extLst>
            </p:cNvPr>
            <p:cNvSpPr txBox="1"/>
            <p:nvPr/>
          </p:nvSpPr>
          <p:spPr>
            <a:xfrm>
              <a:off x="4323117" y="2593468"/>
              <a:ext cx="1000320" cy="334544"/>
            </a:xfrm>
            <a:prstGeom prst="rect">
              <a:avLst/>
            </a:prstGeom>
            <a:noFill/>
          </p:spPr>
          <p:txBody>
            <a:bodyPr wrap="square" lIns="0" tIns="0" rIns="0" bIns="0" rtlCol="0">
              <a:spAutoFit/>
            </a:bodyPr>
            <a:lstStyle/>
            <a:p>
              <a:pPr algn="ctr"/>
              <a:r>
                <a:rPr lang="en-US" sz="1400" dirty="0">
                  <a:latin typeface="Amazon Ember" charset="0"/>
                  <a:ea typeface="Amazon Ember" charset="0"/>
                  <a:cs typeface="Amazon Ember" charset="0"/>
                </a:rPr>
                <a:t>Encrypted data key</a:t>
              </a:r>
            </a:p>
          </p:txBody>
        </p:sp>
        <p:pic>
          <p:nvPicPr>
            <p:cNvPr id="27" name="Picture 26">
              <a:extLst>
                <a:ext uri="{FF2B5EF4-FFF2-40B4-BE49-F238E27FC236}">
                  <a16:creationId xmlns:a16="http://schemas.microsoft.com/office/drawing/2014/main" id="{29FF606C-8704-4FBF-A38F-198FE2276091}"/>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29381" y="2349435"/>
              <a:ext cx="158123" cy="173696"/>
            </a:xfrm>
            <a:prstGeom prst="rect">
              <a:avLst/>
            </a:prstGeom>
          </p:spPr>
        </p:pic>
      </p:grpSp>
      <p:sp>
        <p:nvSpPr>
          <p:cNvPr id="29" name="TextBox 28">
            <a:extLst>
              <a:ext uri="{FF2B5EF4-FFF2-40B4-BE49-F238E27FC236}">
                <a16:creationId xmlns:a16="http://schemas.microsoft.com/office/drawing/2014/main" id="{43B38D64-45F5-4988-8E65-AC8D16FD9316}"/>
              </a:ext>
            </a:extLst>
          </p:cNvPr>
          <p:cNvSpPr txBox="1"/>
          <p:nvPr/>
        </p:nvSpPr>
        <p:spPr>
          <a:xfrm>
            <a:off x="7537927" y="3214583"/>
            <a:ext cx="1259310" cy="430775"/>
          </a:xfrm>
          <a:prstGeom prst="rect">
            <a:avLst/>
          </a:prstGeom>
          <a:noFill/>
        </p:spPr>
        <p:txBody>
          <a:bodyPr wrap="square" lIns="0" tIns="0" rIns="0" bIns="0" rtlCol="0">
            <a:spAutoFit/>
          </a:bodyPr>
          <a:lstStyle/>
          <a:p>
            <a:pPr algn="ctr"/>
            <a:r>
              <a:rPr lang="en-US" sz="1400" dirty="0">
                <a:latin typeface="Amazon Ember" charset="0"/>
                <a:ea typeface="Amazon Ember" charset="0"/>
                <a:cs typeface="Amazon Ember" charset="0"/>
              </a:rPr>
              <a:t>Symmetric</a:t>
            </a:r>
            <a:br>
              <a:rPr lang="en-US" sz="1400" dirty="0">
                <a:latin typeface="Amazon Ember" charset="0"/>
                <a:ea typeface="Amazon Ember" charset="0"/>
                <a:cs typeface="Amazon Ember" charset="0"/>
              </a:rPr>
            </a:br>
            <a:r>
              <a:rPr lang="en-US" sz="1400" dirty="0">
                <a:latin typeface="Amazon Ember" charset="0"/>
                <a:ea typeface="Amazon Ember" charset="0"/>
                <a:cs typeface="Amazon Ember" charset="0"/>
              </a:rPr>
              <a:t>data key</a:t>
            </a:r>
          </a:p>
        </p:txBody>
      </p:sp>
      <p:sp>
        <p:nvSpPr>
          <p:cNvPr id="32" name="TextBox 31">
            <a:extLst>
              <a:ext uri="{FF2B5EF4-FFF2-40B4-BE49-F238E27FC236}">
                <a16:creationId xmlns:a16="http://schemas.microsoft.com/office/drawing/2014/main" id="{7B2740B7-3092-42C3-AB5D-2151927B95E5}"/>
              </a:ext>
            </a:extLst>
          </p:cNvPr>
          <p:cNvSpPr txBox="1"/>
          <p:nvPr/>
        </p:nvSpPr>
        <p:spPr>
          <a:xfrm>
            <a:off x="8899265" y="5333335"/>
            <a:ext cx="1390019" cy="215387"/>
          </a:xfrm>
          <a:prstGeom prst="rect">
            <a:avLst/>
          </a:prstGeom>
          <a:noFill/>
        </p:spPr>
        <p:txBody>
          <a:bodyPr wrap="square" lIns="0" tIns="0" rIns="0" bIns="0" rtlCol="0">
            <a:spAutoFit/>
          </a:bodyPr>
          <a:lstStyle/>
          <a:p>
            <a:pPr algn="ctr"/>
            <a:r>
              <a:rPr lang="en-US" sz="1400" dirty="0">
                <a:latin typeface="Amazon Ember" charset="0"/>
                <a:ea typeface="Amazon Ember" charset="0"/>
                <a:cs typeface="Amazon Ember" charset="0"/>
              </a:rPr>
              <a:t>Master key</a:t>
            </a:r>
          </a:p>
        </p:txBody>
      </p:sp>
      <p:grpSp>
        <p:nvGrpSpPr>
          <p:cNvPr id="34" name="Group 33">
            <a:extLst>
              <a:ext uri="{FF2B5EF4-FFF2-40B4-BE49-F238E27FC236}">
                <a16:creationId xmlns:a16="http://schemas.microsoft.com/office/drawing/2014/main" id="{907BAAE5-62C6-4D43-AF68-A0DECFF978D9}"/>
              </a:ext>
            </a:extLst>
          </p:cNvPr>
          <p:cNvGrpSpPr/>
          <p:nvPr/>
        </p:nvGrpSpPr>
        <p:grpSpPr>
          <a:xfrm>
            <a:off x="12857967" y="3611663"/>
            <a:ext cx="772491" cy="790126"/>
            <a:chOff x="6473973" y="2750905"/>
            <a:chExt cx="613620" cy="613620"/>
          </a:xfrm>
        </p:grpSpPr>
        <p:pic>
          <p:nvPicPr>
            <p:cNvPr id="35" name="Picture 34" descr="EBS-Volume.png">
              <a:extLst>
                <a:ext uri="{FF2B5EF4-FFF2-40B4-BE49-F238E27FC236}">
                  <a16:creationId xmlns:a16="http://schemas.microsoft.com/office/drawing/2014/main" id="{75593AE9-F9B8-46EA-BE90-7C58E5AC2EB8}"/>
                </a:ext>
              </a:extLst>
            </p:cNvPr>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tretch>
              <a:fillRect/>
            </a:stretch>
          </p:blipFill>
          <p:spPr>
            <a:xfrm>
              <a:off x="6473973" y="2750905"/>
              <a:ext cx="613620" cy="613620"/>
            </a:xfrm>
            <a:prstGeom prst="rect">
              <a:avLst/>
            </a:prstGeom>
          </p:spPr>
        </p:pic>
        <p:pic>
          <p:nvPicPr>
            <p:cNvPr id="36" name="Picture 35">
              <a:extLst>
                <a:ext uri="{FF2B5EF4-FFF2-40B4-BE49-F238E27FC236}">
                  <a16:creationId xmlns:a16="http://schemas.microsoft.com/office/drawing/2014/main" id="{C88AC977-3BEB-4386-8BFB-5B946483333F}"/>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637692" y="2941823"/>
              <a:ext cx="115198" cy="143869"/>
            </a:xfrm>
            <a:prstGeom prst="rect">
              <a:avLst/>
            </a:prstGeom>
          </p:spPr>
        </p:pic>
        <p:grpSp>
          <p:nvGrpSpPr>
            <p:cNvPr id="37" name="Group 36">
              <a:extLst>
                <a:ext uri="{FF2B5EF4-FFF2-40B4-BE49-F238E27FC236}">
                  <a16:creationId xmlns:a16="http://schemas.microsoft.com/office/drawing/2014/main" id="{0AC13A53-4916-412A-A49A-58A823EFF4D2}"/>
                </a:ext>
              </a:extLst>
            </p:cNvPr>
            <p:cNvGrpSpPr/>
            <p:nvPr/>
          </p:nvGrpSpPr>
          <p:grpSpPr>
            <a:xfrm>
              <a:off x="6639721" y="3112399"/>
              <a:ext cx="282123" cy="172378"/>
              <a:chOff x="6255654" y="3262044"/>
              <a:chExt cx="564246" cy="344756"/>
            </a:xfrm>
          </p:grpSpPr>
          <p:sp>
            <p:nvSpPr>
              <p:cNvPr id="38" name="Rectangle 37">
                <a:extLst>
                  <a:ext uri="{FF2B5EF4-FFF2-40B4-BE49-F238E27FC236}">
                    <a16:creationId xmlns:a16="http://schemas.microsoft.com/office/drawing/2014/main" id="{FEE8C3BF-2187-430D-8CE7-F47C31A4BE40}"/>
                  </a:ext>
                </a:extLst>
              </p:cNvPr>
              <p:cNvSpPr/>
              <p:nvPr/>
            </p:nvSpPr>
            <p:spPr>
              <a:xfrm>
                <a:off x="6255654" y="3262044"/>
                <a:ext cx="564246" cy="344756"/>
              </a:xfrm>
              <a:prstGeom prst="rect">
                <a:avLst/>
              </a:prstGeom>
              <a:solidFill>
                <a:schemeClr val="bg1">
                  <a:lumMod val="85000"/>
                </a:schemeClr>
              </a:soli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797" dirty="0">
                  <a:latin typeface="Amazon Ember Light" panose="020B0403020204020204" pitchFamily="34" charset="0"/>
                </a:endParaRPr>
              </a:p>
            </p:txBody>
          </p:sp>
          <p:pic>
            <p:nvPicPr>
              <p:cNvPr id="40" name="Picture 39">
                <a:extLst>
                  <a:ext uri="{FF2B5EF4-FFF2-40B4-BE49-F238E27FC236}">
                    <a16:creationId xmlns:a16="http://schemas.microsoft.com/office/drawing/2014/main" id="{64CD669B-B3FF-40CC-A3C1-4841C6E2B0D5}"/>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281054" y="3397631"/>
                <a:ext cx="158123" cy="173696"/>
              </a:xfrm>
              <a:prstGeom prst="rect">
                <a:avLst/>
              </a:prstGeom>
              <a:noFill/>
            </p:spPr>
          </p:pic>
        </p:grpSp>
      </p:grpSp>
      <p:sp>
        <p:nvSpPr>
          <p:cNvPr id="42" name="TextBox 41">
            <a:extLst>
              <a:ext uri="{FF2B5EF4-FFF2-40B4-BE49-F238E27FC236}">
                <a16:creationId xmlns:a16="http://schemas.microsoft.com/office/drawing/2014/main" id="{20123BF2-1296-466A-9733-A353F4A2A905}"/>
              </a:ext>
            </a:extLst>
          </p:cNvPr>
          <p:cNvSpPr txBox="1"/>
          <p:nvPr/>
        </p:nvSpPr>
        <p:spPr>
          <a:xfrm>
            <a:off x="7556749" y="5341506"/>
            <a:ext cx="1259310" cy="430775"/>
          </a:xfrm>
          <a:prstGeom prst="rect">
            <a:avLst/>
          </a:prstGeom>
          <a:noFill/>
        </p:spPr>
        <p:txBody>
          <a:bodyPr wrap="square" lIns="0" tIns="0" rIns="0" bIns="0" rtlCol="0">
            <a:spAutoFit/>
          </a:bodyPr>
          <a:lstStyle/>
          <a:p>
            <a:pPr algn="ctr"/>
            <a:r>
              <a:rPr lang="en-US" sz="1400" dirty="0">
                <a:latin typeface="Amazon Ember" charset="0"/>
                <a:ea typeface="Amazon Ember" charset="0"/>
                <a:cs typeface="Amazon Ember" charset="0"/>
              </a:rPr>
              <a:t>Symmetric</a:t>
            </a:r>
            <a:br>
              <a:rPr lang="en-US" sz="1400" dirty="0">
                <a:latin typeface="Amazon Ember" charset="0"/>
                <a:ea typeface="Amazon Ember" charset="0"/>
                <a:cs typeface="Amazon Ember" charset="0"/>
              </a:rPr>
            </a:br>
            <a:r>
              <a:rPr lang="en-US" sz="1400" dirty="0">
                <a:latin typeface="Amazon Ember" charset="0"/>
                <a:ea typeface="Amazon Ember" charset="0"/>
                <a:cs typeface="Amazon Ember" charset="0"/>
              </a:rPr>
              <a:t>data key</a:t>
            </a:r>
          </a:p>
        </p:txBody>
      </p:sp>
      <p:sp>
        <p:nvSpPr>
          <p:cNvPr id="44" name="Bent-Up Arrow 101">
            <a:extLst>
              <a:ext uri="{FF2B5EF4-FFF2-40B4-BE49-F238E27FC236}">
                <a16:creationId xmlns:a16="http://schemas.microsoft.com/office/drawing/2014/main" id="{7DFF0D55-5763-493F-9E61-C2469BB506F8}"/>
              </a:ext>
            </a:extLst>
          </p:cNvPr>
          <p:cNvSpPr/>
          <p:nvPr/>
        </p:nvSpPr>
        <p:spPr>
          <a:xfrm flipV="1">
            <a:off x="12287986" y="2878597"/>
            <a:ext cx="1056117" cy="446350"/>
          </a:xfrm>
          <a:prstGeom prst="bentUpArrow">
            <a:avLst>
              <a:gd name="adj1" fmla="val 25000"/>
              <a:gd name="adj2" fmla="val 25000"/>
              <a:gd name="adj3" fmla="val 25000"/>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7" dirty="0">
              <a:latin typeface="Amazon Ember Light" panose="020B0403020204020204" pitchFamily="34" charset="0"/>
            </a:endParaRPr>
          </a:p>
        </p:txBody>
      </p:sp>
      <p:sp>
        <p:nvSpPr>
          <p:cNvPr id="45" name="Bent-Up Arrow 102">
            <a:extLst>
              <a:ext uri="{FF2B5EF4-FFF2-40B4-BE49-F238E27FC236}">
                <a16:creationId xmlns:a16="http://schemas.microsoft.com/office/drawing/2014/main" id="{C00FD1AD-4714-4791-8674-DF702CDF9E56}"/>
              </a:ext>
            </a:extLst>
          </p:cNvPr>
          <p:cNvSpPr/>
          <p:nvPr/>
        </p:nvSpPr>
        <p:spPr>
          <a:xfrm>
            <a:off x="12304024" y="5014177"/>
            <a:ext cx="1032054" cy="351248"/>
          </a:xfrm>
          <a:prstGeom prst="bentUpArrow">
            <a:avLst>
              <a:gd name="adj1" fmla="val 25000"/>
              <a:gd name="adj2" fmla="val 25000"/>
              <a:gd name="adj3" fmla="val 25000"/>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7" dirty="0">
              <a:latin typeface="Amazon Ember Light" panose="020B0403020204020204" pitchFamily="34" charset="0"/>
            </a:endParaRPr>
          </a:p>
        </p:txBody>
      </p:sp>
      <p:sp>
        <p:nvSpPr>
          <p:cNvPr id="52" name="Rounded Rectangle 111">
            <a:extLst>
              <a:ext uri="{FF2B5EF4-FFF2-40B4-BE49-F238E27FC236}">
                <a16:creationId xmlns:a16="http://schemas.microsoft.com/office/drawing/2014/main" id="{04CBE89D-F65C-48FA-81F3-09EA0D4E0575}"/>
              </a:ext>
            </a:extLst>
          </p:cNvPr>
          <p:cNvSpPr/>
          <p:nvPr/>
        </p:nvSpPr>
        <p:spPr>
          <a:xfrm>
            <a:off x="7627030" y="2339152"/>
            <a:ext cx="2468546" cy="1359905"/>
          </a:xfrm>
          <a:prstGeom prst="roundRect">
            <a:avLst/>
          </a:prstGeom>
          <a:noFill/>
          <a:ln>
            <a:solidFill>
              <a:schemeClr val="bg1">
                <a:lumMod val="65000"/>
              </a:schemeClr>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797" dirty="0">
              <a:latin typeface="Amazon Ember Light" panose="020B0403020204020204" pitchFamily="34" charset="0"/>
            </a:endParaRPr>
          </a:p>
        </p:txBody>
      </p:sp>
      <p:sp>
        <p:nvSpPr>
          <p:cNvPr id="53" name="TextBox 52">
            <a:extLst>
              <a:ext uri="{FF2B5EF4-FFF2-40B4-BE49-F238E27FC236}">
                <a16:creationId xmlns:a16="http://schemas.microsoft.com/office/drawing/2014/main" id="{E70FC9AB-3393-4935-A3C6-629D6A77F5F3}"/>
              </a:ext>
            </a:extLst>
          </p:cNvPr>
          <p:cNvSpPr txBox="1"/>
          <p:nvPr/>
        </p:nvSpPr>
        <p:spPr>
          <a:xfrm>
            <a:off x="5477301" y="1727266"/>
            <a:ext cx="1957042" cy="738472"/>
          </a:xfrm>
          <a:prstGeom prst="rect">
            <a:avLst/>
          </a:prstGeom>
          <a:solidFill>
            <a:schemeClr val="accent5">
              <a:lumMod val="20000"/>
              <a:lumOff val="80000"/>
            </a:schemeClr>
          </a:solidFill>
          <a:ln>
            <a:solidFill>
              <a:schemeClr val="accent1"/>
            </a:solidFill>
          </a:ln>
        </p:spPr>
        <p:txBody>
          <a:bodyPr wrap="square" rtlCol="0">
            <a:spAutoFit/>
          </a:bodyPr>
          <a:lstStyle/>
          <a:p>
            <a:pPr algn="ctr"/>
            <a:r>
              <a:rPr lang="en-US" sz="1400" dirty="0">
                <a:latin typeface="Amazon Ember" charset="0"/>
                <a:ea typeface="Amazon Ember" charset="0"/>
                <a:cs typeface="Amazon Ember" charset="0"/>
              </a:rPr>
              <a:t>Key is generated from either software or hardware device</a:t>
            </a:r>
          </a:p>
        </p:txBody>
      </p:sp>
      <p:sp>
        <p:nvSpPr>
          <p:cNvPr id="54" name="TextBox 53">
            <a:extLst>
              <a:ext uri="{FF2B5EF4-FFF2-40B4-BE49-F238E27FC236}">
                <a16:creationId xmlns:a16="http://schemas.microsoft.com/office/drawing/2014/main" id="{42790132-0683-47B9-9B3D-AD638AAE3151}"/>
              </a:ext>
            </a:extLst>
          </p:cNvPr>
          <p:cNvSpPr txBox="1"/>
          <p:nvPr/>
        </p:nvSpPr>
        <p:spPr>
          <a:xfrm>
            <a:off x="10624560" y="1685402"/>
            <a:ext cx="2482681" cy="738472"/>
          </a:xfrm>
          <a:prstGeom prst="rect">
            <a:avLst/>
          </a:prstGeom>
          <a:solidFill>
            <a:schemeClr val="accent5">
              <a:lumMod val="20000"/>
              <a:lumOff val="80000"/>
            </a:schemeClr>
          </a:solidFill>
          <a:ln>
            <a:solidFill>
              <a:schemeClr val="accent1"/>
            </a:solidFill>
          </a:ln>
        </p:spPr>
        <p:txBody>
          <a:bodyPr wrap="square" rtlCol="0">
            <a:spAutoFit/>
          </a:bodyPr>
          <a:lstStyle/>
          <a:p>
            <a:pPr algn="ctr"/>
            <a:r>
              <a:rPr lang="en-US" sz="1400" dirty="0">
                <a:latin typeface="Amazon Ember" charset="0"/>
                <a:ea typeface="Amazon Ember" charset="0"/>
                <a:cs typeface="Amazon Ember" charset="0"/>
              </a:rPr>
              <a:t>Key is used to encrypt data along with an encryption algorithm (e.g., AES)</a:t>
            </a:r>
          </a:p>
        </p:txBody>
      </p:sp>
      <p:sp>
        <p:nvSpPr>
          <p:cNvPr id="55" name="TextBox 54">
            <a:extLst>
              <a:ext uri="{FF2B5EF4-FFF2-40B4-BE49-F238E27FC236}">
                <a16:creationId xmlns:a16="http://schemas.microsoft.com/office/drawing/2014/main" id="{1DE81ABA-FC31-4720-AC6C-471D72B8AC36}"/>
              </a:ext>
            </a:extLst>
          </p:cNvPr>
          <p:cNvSpPr txBox="1"/>
          <p:nvPr/>
        </p:nvSpPr>
        <p:spPr>
          <a:xfrm>
            <a:off x="5209860" y="4831537"/>
            <a:ext cx="1931327" cy="738472"/>
          </a:xfrm>
          <a:prstGeom prst="rect">
            <a:avLst/>
          </a:prstGeom>
          <a:solidFill>
            <a:schemeClr val="accent5">
              <a:lumMod val="20000"/>
              <a:lumOff val="80000"/>
            </a:schemeClr>
          </a:solidFill>
          <a:ln>
            <a:solidFill>
              <a:schemeClr val="accent1"/>
            </a:solidFill>
          </a:ln>
        </p:spPr>
        <p:txBody>
          <a:bodyPr wrap="square" rtlCol="0">
            <a:spAutoFit/>
          </a:bodyPr>
          <a:lstStyle/>
          <a:p>
            <a:pPr algn="ctr"/>
            <a:r>
              <a:rPr lang="en-US" sz="1400" dirty="0">
                <a:latin typeface="Amazon Ember" charset="0"/>
                <a:ea typeface="Amazon Ember" charset="0"/>
                <a:cs typeface="Amazon Ember" charset="0"/>
              </a:rPr>
              <a:t>You don’t want to store the key with the encrypted data!</a:t>
            </a:r>
          </a:p>
        </p:txBody>
      </p:sp>
      <p:sp>
        <p:nvSpPr>
          <p:cNvPr id="56" name="Rounded Rectangle 115">
            <a:extLst>
              <a:ext uri="{FF2B5EF4-FFF2-40B4-BE49-F238E27FC236}">
                <a16:creationId xmlns:a16="http://schemas.microsoft.com/office/drawing/2014/main" id="{C02DBEDA-5B14-41F7-8EB7-EED8858ECCC2}"/>
              </a:ext>
            </a:extLst>
          </p:cNvPr>
          <p:cNvSpPr/>
          <p:nvPr/>
        </p:nvSpPr>
        <p:spPr>
          <a:xfrm>
            <a:off x="7660865" y="4589044"/>
            <a:ext cx="2468546" cy="1223460"/>
          </a:xfrm>
          <a:prstGeom prst="roundRect">
            <a:avLst/>
          </a:prstGeom>
          <a:noFill/>
          <a:ln>
            <a:solidFill>
              <a:schemeClr val="bg1">
                <a:lumMod val="65000"/>
              </a:schemeClr>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797" dirty="0">
              <a:latin typeface="Amazon Ember Light" panose="020B0403020204020204" pitchFamily="34" charset="0"/>
            </a:endParaRPr>
          </a:p>
        </p:txBody>
      </p:sp>
      <p:sp>
        <p:nvSpPr>
          <p:cNvPr id="57" name="Line Callout 1 116">
            <a:extLst>
              <a:ext uri="{FF2B5EF4-FFF2-40B4-BE49-F238E27FC236}">
                <a16:creationId xmlns:a16="http://schemas.microsoft.com/office/drawing/2014/main" id="{5DADDB41-8AF7-42C6-A8C5-C1DB5F1D90EF}"/>
              </a:ext>
            </a:extLst>
          </p:cNvPr>
          <p:cNvSpPr/>
          <p:nvPr/>
        </p:nvSpPr>
        <p:spPr>
          <a:xfrm>
            <a:off x="9049348" y="5757369"/>
            <a:ext cx="1835363" cy="422045"/>
          </a:xfrm>
          <a:prstGeom prst="borderCallout1">
            <a:avLst>
              <a:gd name="adj1" fmla="val -7528"/>
              <a:gd name="adj2" fmla="val 39568"/>
              <a:gd name="adj3" fmla="val -52335"/>
              <a:gd name="adj4" fmla="val 31617"/>
            </a:avLst>
          </a:prstGeom>
          <a:solidFill>
            <a:schemeClr val="accent5">
              <a:lumMod val="20000"/>
              <a:lumOff val="80000"/>
            </a:schemeClr>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latin typeface="Amazon Ember" charset="0"/>
                <a:ea typeface="Amazon Ember" charset="0"/>
                <a:cs typeface="Amazon Ember" charset="0"/>
              </a:rPr>
              <a:t>Key encryption key</a:t>
            </a:r>
          </a:p>
        </p:txBody>
      </p:sp>
      <p:sp>
        <p:nvSpPr>
          <p:cNvPr id="58" name="TextBox 57">
            <a:extLst>
              <a:ext uri="{FF2B5EF4-FFF2-40B4-BE49-F238E27FC236}">
                <a16:creationId xmlns:a16="http://schemas.microsoft.com/office/drawing/2014/main" id="{7A9E34A2-6E79-4457-AE83-515E8584FDA4}"/>
              </a:ext>
            </a:extLst>
          </p:cNvPr>
          <p:cNvSpPr txBox="1"/>
          <p:nvPr/>
        </p:nvSpPr>
        <p:spPr>
          <a:xfrm>
            <a:off x="7208140" y="4839434"/>
            <a:ext cx="376928" cy="646163"/>
          </a:xfrm>
          <a:prstGeom prst="rect">
            <a:avLst/>
          </a:prstGeom>
          <a:noFill/>
        </p:spPr>
        <p:txBody>
          <a:bodyPr wrap="none" rtlCol="0">
            <a:spAutoFit/>
          </a:bodyPr>
          <a:lstStyle/>
          <a:p>
            <a:r>
              <a:rPr lang="en-US" sz="3599" b="1" dirty="0">
                <a:latin typeface="Amazon Ember Light" panose="020B0403020204020204" pitchFamily="34" charset="0"/>
              </a:rPr>
              <a:t>?</a:t>
            </a:r>
            <a:endParaRPr lang="en-US" sz="1797" b="1" dirty="0">
              <a:latin typeface="Amazon Ember Light" panose="020B0403020204020204" pitchFamily="34" charset="0"/>
            </a:endParaRPr>
          </a:p>
        </p:txBody>
      </p:sp>
      <p:pic>
        <p:nvPicPr>
          <p:cNvPr id="60" name="Picture 59">
            <a:extLst>
              <a:ext uri="{FF2B5EF4-FFF2-40B4-BE49-F238E27FC236}">
                <a16:creationId xmlns:a16="http://schemas.microsoft.com/office/drawing/2014/main" id="{35676E37-03E4-4466-8FBB-28FE5EDEEDC9}"/>
              </a:ext>
            </a:extLst>
          </p:cNvPr>
          <p:cNvPicPr>
            <a:picLocks noChangeAspect="1"/>
          </p:cNvPicPr>
          <p:nvPr/>
        </p:nvPicPr>
        <p:blipFill>
          <a:blip r:embed="rId2"/>
          <a:stretch>
            <a:fillRect/>
          </a:stretch>
        </p:blipFill>
        <p:spPr>
          <a:xfrm>
            <a:off x="7933948" y="2666917"/>
            <a:ext cx="514198" cy="498425"/>
          </a:xfrm>
          <a:prstGeom prst="rect">
            <a:avLst/>
          </a:prstGeom>
        </p:spPr>
      </p:pic>
      <p:pic>
        <p:nvPicPr>
          <p:cNvPr id="62" name="Picture 61">
            <a:extLst>
              <a:ext uri="{FF2B5EF4-FFF2-40B4-BE49-F238E27FC236}">
                <a16:creationId xmlns:a16="http://schemas.microsoft.com/office/drawing/2014/main" id="{2977291F-CA44-4B76-94FB-CBE8EF0A1DA4}"/>
              </a:ext>
            </a:extLst>
          </p:cNvPr>
          <p:cNvPicPr>
            <a:picLocks noChangeAspect="1"/>
          </p:cNvPicPr>
          <p:nvPr/>
        </p:nvPicPr>
        <p:blipFill>
          <a:blip r:embed="rId2"/>
          <a:stretch>
            <a:fillRect/>
          </a:stretch>
        </p:blipFill>
        <p:spPr>
          <a:xfrm>
            <a:off x="7933948" y="4794919"/>
            <a:ext cx="514198" cy="498425"/>
          </a:xfrm>
          <a:prstGeom prst="rect">
            <a:avLst/>
          </a:prstGeom>
        </p:spPr>
      </p:pic>
      <p:pic>
        <p:nvPicPr>
          <p:cNvPr id="61" name="Picture 60">
            <a:extLst>
              <a:ext uri="{FF2B5EF4-FFF2-40B4-BE49-F238E27FC236}">
                <a16:creationId xmlns:a16="http://schemas.microsoft.com/office/drawing/2014/main" id="{137B6665-1EED-408C-9F41-1C02CF70FDAB}"/>
              </a:ext>
            </a:extLst>
          </p:cNvPr>
          <p:cNvPicPr>
            <a:picLocks noChangeAspect="1"/>
          </p:cNvPicPr>
          <p:nvPr/>
        </p:nvPicPr>
        <p:blipFill>
          <a:blip r:embed="rId9"/>
          <a:stretch>
            <a:fillRect/>
          </a:stretch>
        </p:blipFill>
        <p:spPr>
          <a:xfrm>
            <a:off x="9369011" y="4863063"/>
            <a:ext cx="410694" cy="405495"/>
          </a:xfrm>
          <a:prstGeom prst="rect">
            <a:avLst/>
          </a:prstGeom>
        </p:spPr>
      </p:pic>
      <p:pic>
        <p:nvPicPr>
          <p:cNvPr id="65" name="Picture 64">
            <a:extLst>
              <a:ext uri="{FF2B5EF4-FFF2-40B4-BE49-F238E27FC236}">
                <a16:creationId xmlns:a16="http://schemas.microsoft.com/office/drawing/2014/main" id="{2D1951DD-C6A3-4146-9C38-D159765FFBD7}"/>
              </a:ext>
            </a:extLst>
          </p:cNvPr>
          <p:cNvPicPr>
            <a:picLocks noChangeAspect="1"/>
          </p:cNvPicPr>
          <p:nvPr/>
        </p:nvPicPr>
        <p:blipFill>
          <a:blip r:embed="rId2"/>
          <a:stretch>
            <a:fillRect/>
          </a:stretch>
        </p:blipFill>
        <p:spPr>
          <a:xfrm>
            <a:off x="13156672" y="4099233"/>
            <a:ext cx="161116" cy="156174"/>
          </a:xfrm>
          <a:prstGeom prst="rect">
            <a:avLst/>
          </a:prstGeom>
        </p:spPr>
      </p:pic>
      <p:sp>
        <p:nvSpPr>
          <p:cNvPr id="25" name="Rectangle 24">
            <a:extLst>
              <a:ext uri="{FF2B5EF4-FFF2-40B4-BE49-F238E27FC236}">
                <a16:creationId xmlns:a16="http://schemas.microsoft.com/office/drawing/2014/main" id="{4A19940D-797D-43B6-A6EF-FE007385F3EB}"/>
              </a:ext>
            </a:extLst>
          </p:cNvPr>
          <p:cNvSpPr/>
          <p:nvPr/>
        </p:nvSpPr>
        <p:spPr>
          <a:xfrm>
            <a:off x="227839" y="1629304"/>
            <a:ext cx="5105877" cy="4190378"/>
          </a:xfrm>
          <a:prstGeom prst="rect">
            <a:avLst/>
          </a:prstGeom>
        </p:spPr>
        <p:txBody>
          <a:bodyPr wrap="square">
            <a:spAutoFit/>
          </a:bodyPr>
          <a:lstStyle/>
          <a:p>
            <a:pPr>
              <a:lnSpc>
                <a:spcPct val="150000"/>
              </a:lnSpc>
            </a:pPr>
            <a:r>
              <a:rPr lang="en-US" b="1" dirty="0">
                <a:solidFill>
                  <a:srgbClr val="18537D"/>
                </a:solidFill>
              </a:rPr>
              <a:t>Client-side encryption</a:t>
            </a:r>
          </a:p>
          <a:p>
            <a:pPr marL="285750" indent="-285750">
              <a:lnSpc>
                <a:spcPct val="150000"/>
              </a:lnSpc>
              <a:buFont typeface="Arial" panose="020B0604020202020204" pitchFamily="34" charset="0"/>
              <a:buChar char="•"/>
            </a:pPr>
            <a:r>
              <a:rPr lang="en-US" dirty="0">
                <a:solidFill>
                  <a:srgbClr val="18537D"/>
                </a:solidFill>
              </a:rPr>
              <a:t>You encrypt your data before data submitted to service</a:t>
            </a:r>
          </a:p>
          <a:p>
            <a:pPr marL="285750" indent="-285750">
              <a:lnSpc>
                <a:spcPct val="150000"/>
              </a:lnSpc>
              <a:buFont typeface="Arial" panose="020B0604020202020204" pitchFamily="34" charset="0"/>
              <a:buChar char="•"/>
            </a:pPr>
            <a:r>
              <a:rPr lang="en-US" dirty="0">
                <a:solidFill>
                  <a:srgbClr val="18537D"/>
                </a:solidFill>
              </a:rPr>
              <a:t>You supply encryption keys or use keys in your AWS account</a:t>
            </a:r>
          </a:p>
          <a:p>
            <a:pPr>
              <a:lnSpc>
                <a:spcPct val="150000"/>
              </a:lnSpc>
            </a:pPr>
            <a:r>
              <a:rPr lang="en-US" b="1" dirty="0">
                <a:solidFill>
                  <a:srgbClr val="18537D"/>
                </a:solidFill>
              </a:rPr>
              <a:t>Server-side encryption</a:t>
            </a:r>
          </a:p>
          <a:p>
            <a:pPr marL="285750" indent="-285750">
              <a:lnSpc>
                <a:spcPct val="150000"/>
              </a:lnSpc>
              <a:buFont typeface="Arial" panose="020B0604020202020204" pitchFamily="34" charset="0"/>
              <a:buChar char="•"/>
            </a:pPr>
            <a:r>
              <a:rPr lang="en-US" dirty="0">
                <a:solidFill>
                  <a:srgbClr val="18537D"/>
                </a:solidFill>
              </a:rPr>
              <a:t>AWS encrypts data on your behalf after data is received by service </a:t>
            </a:r>
          </a:p>
          <a:p>
            <a:pPr>
              <a:lnSpc>
                <a:spcPct val="150000"/>
              </a:lnSpc>
            </a:pPr>
            <a:r>
              <a:rPr lang="en-US" b="1" dirty="0">
                <a:solidFill>
                  <a:srgbClr val="18537D"/>
                </a:solidFill>
              </a:rPr>
              <a:t>AWS Key Management Service </a:t>
            </a:r>
          </a:p>
          <a:p>
            <a:pPr>
              <a:lnSpc>
                <a:spcPct val="150000"/>
              </a:lnSpc>
            </a:pPr>
            <a:r>
              <a:rPr lang="en-US" b="1" dirty="0">
                <a:solidFill>
                  <a:srgbClr val="18537D"/>
                </a:solidFill>
              </a:rPr>
              <a:t>AWS </a:t>
            </a:r>
            <a:r>
              <a:rPr lang="en-US" b="1" dirty="0" err="1">
                <a:solidFill>
                  <a:srgbClr val="18537D"/>
                </a:solidFill>
              </a:rPr>
              <a:t>CloudHSM</a:t>
            </a:r>
            <a:endParaRPr lang="en-US" b="1" dirty="0">
              <a:solidFill>
                <a:srgbClr val="18537D"/>
              </a:solidFill>
            </a:endParaRPr>
          </a:p>
        </p:txBody>
      </p:sp>
    </p:spTree>
    <p:extLst>
      <p:ext uri="{BB962C8B-B14F-4D97-AF65-F5344CB8AC3E}">
        <p14:creationId xmlns:p14="http://schemas.microsoft.com/office/powerpoint/2010/main" val="759859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2E0108F-AEB6-4853-9EDB-BE621BC91DAF}"/>
              </a:ext>
            </a:extLst>
          </p:cNvPr>
          <p:cNvSpPr>
            <a:spLocks noGrp="1"/>
          </p:cNvSpPr>
          <p:nvPr>
            <p:ph type="ftr" sz="quarter" idx="16"/>
          </p:nvPr>
        </p:nvSpPr>
        <p:spPr>
          <a:xfrm>
            <a:off x="450010" y="6853845"/>
            <a:ext cx="6750098" cy="216646"/>
          </a:xfrm>
        </p:spPr>
        <p:txBody>
          <a:bodyPr/>
          <a:lstStyle/>
          <a:p>
            <a:r>
              <a:rPr lang="en-US"/>
              <a:t>Copyright © 2020 Accenture. All rights reserved.</a:t>
            </a:r>
            <a:endParaRPr lang="en-US" dirty="0"/>
          </a:p>
        </p:txBody>
      </p:sp>
      <p:sp>
        <p:nvSpPr>
          <p:cNvPr id="3" name="Slide Number Placeholder 2">
            <a:extLst>
              <a:ext uri="{FF2B5EF4-FFF2-40B4-BE49-F238E27FC236}">
                <a16:creationId xmlns:a16="http://schemas.microsoft.com/office/drawing/2014/main" id="{50698BC7-F94C-478B-860B-18CF401B0C43}"/>
              </a:ext>
            </a:extLst>
          </p:cNvPr>
          <p:cNvSpPr>
            <a:spLocks noGrp="1"/>
          </p:cNvSpPr>
          <p:nvPr>
            <p:ph type="sldNum" sz="quarter" idx="17"/>
          </p:nvPr>
        </p:nvSpPr>
        <p:spPr/>
        <p:txBody>
          <a:bodyPr/>
          <a:lstStyle/>
          <a:p>
            <a:fld id="{4F9AC08D-23A9-440E-BCB9-AA1E9877CC38}" type="slidenum">
              <a:rPr lang="en-US" smtClean="0"/>
              <a:pPr/>
              <a:t>16</a:t>
            </a:fld>
            <a:endParaRPr lang="en-US" dirty="0"/>
          </a:p>
        </p:txBody>
      </p:sp>
      <p:sp>
        <p:nvSpPr>
          <p:cNvPr id="4" name="Title 3">
            <a:extLst>
              <a:ext uri="{FF2B5EF4-FFF2-40B4-BE49-F238E27FC236}">
                <a16:creationId xmlns:a16="http://schemas.microsoft.com/office/drawing/2014/main" id="{87A3587A-0671-479B-B455-B4C1AF76702D}"/>
              </a:ext>
            </a:extLst>
          </p:cNvPr>
          <p:cNvSpPr>
            <a:spLocks noGrp="1"/>
          </p:cNvSpPr>
          <p:nvPr>
            <p:ph type="title"/>
          </p:nvPr>
        </p:nvSpPr>
        <p:spPr>
          <a:xfrm>
            <a:off x="450010" y="301122"/>
            <a:ext cx="13500200" cy="1359871"/>
          </a:xfrm>
        </p:spPr>
        <p:txBody>
          <a:bodyPr/>
          <a:lstStyle/>
          <a:p>
            <a:r>
              <a:rPr lang="en-US" dirty="0">
                <a:solidFill>
                  <a:schemeClr val="bg1"/>
                </a:solidFill>
              </a:rPr>
              <a:t>AWS KMS</a:t>
            </a:r>
            <a:br>
              <a:rPr lang="en-US" sz="4400" dirty="0">
                <a:latin typeface="Amazon Ember" charset="0"/>
                <a:ea typeface="Amazon Ember" charset="0"/>
                <a:cs typeface="Amazon Ember" charset="0"/>
              </a:rPr>
            </a:br>
            <a:endParaRPr lang="en-US" dirty="0"/>
          </a:p>
        </p:txBody>
      </p:sp>
      <p:sp>
        <p:nvSpPr>
          <p:cNvPr id="5" name="TextBox 4">
            <a:extLst>
              <a:ext uri="{FF2B5EF4-FFF2-40B4-BE49-F238E27FC236}">
                <a16:creationId xmlns:a16="http://schemas.microsoft.com/office/drawing/2014/main" id="{0865263C-72D3-45CB-9742-E8705760B626}"/>
              </a:ext>
            </a:extLst>
          </p:cNvPr>
          <p:cNvSpPr txBox="1"/>
          <p:nvPr/>
        </p:nvSpPr>
        <p:spPr>
          <a:xfrm>
            <a:off x="2205429" y="3738221"/>
            <a:ext cx="1295065" cy="321039"/>
          </a:xfrm>
          <a:prstGeom prst="rect">
            <a:avLst/>
          </a:prstGeom>
          <a:noFill/>
        </p:spPr>
        <p:txBody>
          <a:bodyPr wrap="square" lIns="0" tIns="0" rIns="0" bIns="0" rtlCol="0" anchor="t">
            <a:noAutofit/>
          </a:bodyPr>
          <a:lstStyle/>
          <a:p>
            <a:pPr algn="ctr"/>
            <a:r>
              <a:rPr lang="en-US" sz="1867" b="1" dirty="0">
                <a:latin typeface="Amazon Ember" charset="0"/>
                <a:ea typeface="Amazon Ember" charset="0"/>
                <a:cs typeface="Amazon Ember" charset="0"/>
              </a:rPr>
              <a:t>AWS KMS</a:t>
            </a:r>
          </a:p>
        </p:txBody>
      </p:sp>
      <p:pic>
        <p:nvPicPr>
          <p:cNvPr id="6" name="Picture 5">
            <a:extLst>
              <a:ext uri="{FF2B5EF4-FFF2-40B4-BE49-F238E27FC236}">
                <a16:creationId xmlns:a16="http://schemas.microsoft.com/office/drawing/2014/main" id="{5686BAA5-0338-4896-B0B3-05AF134F19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1962" y="2823821"/>
            <a:ext cx="762000" cy="914400"/>
          </a:xfrm>
          <a:prstGeom prst="rect">
            <a:avLst/>
          </a:prstGeom>
        </p:spPr>
      </p:pic>
      <p:sp>
        <p:nvSpPr>
          <p:cNvPr id="7" name="Rectangle 6">
            <a:extLst>
              <a:ext uri="{FF2B5EF4-FFF2-40B4-BE49-F238E27FC236}">
                <a16:creationId xmlns:a16="http://schemas.microsoft.com/office/drawing/2014/main" id="{16CBE895-4C25-42FD-B15B-E9FCD0DAA986}"/>
              </a:ext>
            </a:extLst>
          </p:cNvPr>
          <p:cNvSpPr/>
          <p:nvPr/>
        </p:nvSpPr>
        <p:spPr>
          <a:xfrm>
            <a:off x="4364775" y="2252135"/>
            <a:ext cx="9051404" cy="3293209"/>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18537D"/>
                </a:solidFill>
              </a:rPr>
              <a:t>Fully managed and centralized service for creating, protecting, and enforcing encryption keys</a:t>
            </a:r>
          </a:p>
          <a:p>
            <a:pPr marL="285750" indent="-285750">
              <a:buFont typeface="Arial" panose="020B0604020202020204" pitchFamily="34" charset="0"/>
              <a:buChar char="•"/>
            </a:pPr>
            <a:endParaRPr lang="en-US" sz="2000" dirty="0">
              <a:solidFill>
                <a:srgbClr val="18537D"/>
              </a:solidFill>
            </a:endParaRPr>
          </a:p>
          <a:p>
            <a:pPr marL="285750" indent="-285750">
              <a:buFont typeface="Arial" panose="020B0604020202020204" pitchFamily="34" charset="0"/>
              <a:buChar char="•"/>
            </a:pPr>
            <a:r>
              <a:rPr lang="en-US" sz="2000" dirty="0">
                <a:solidFill>
                  <a:srgbClr val="18537D"/>
                </a:solidFill>
              </a:rPr>
              <a:t>AWS Key Management Service (AWS KMS) uses FIPS 140-2 validated hardware security modules (HSMs) to generate and protect keys</a:t>
            </a:r>
          </a:p>
          <a:p>
            <a:pPr marL="285750" indent="-285750">
              <a:buFont typeface="Arial" panose="020B0604020202020204" pitchFamily="34" charset="0"/>
              <a:buChar char="•"/>
            </a:pPr>
            <a:endParaRPr lang="en-US" sz="2000" dirty="0">
              <a:solidFill>
                <a:srgbClr val="18537D"/>
              </a:solidFill>
            </a:endParaRPr>
          </a:p>
          <a:p>
            <a:pPr marL="285750" indent="-285750">
              <a:buFont typeface="Arial" panose="020B0604020202020204" pitchFamily="34" charset="0"/>
              <a:buChar char="•"/>
            </a:pPr>
            <a:r>
              <a:rPr lang="en-US" sz="2000" dirty="0">
                <a:solidFill>
                  <a:srgbClr val="18537D"/>
                </a:solidFill>
              </a:rPr>
              <a:t>Certified under multiple compliance schemes to simplify your own compliance obligations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214837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00D1A8-6DBF-4853-94FA-1CDB94ABAF96}"/>
              </a:ext>
            </a:extLst>
          </p:cNvPr>
          <p:cNvSpPr>
            <a:spLocks noGrp="1"/>
          </p:cNvSpPr>
          <p:nvPr>
            <p:ph type="sldNum" sz="quarter" idx="17"/>
          </p:nvPr>
        </p:nvSpPr>
        <p:spPr/>
        <p:txBody>
          <a:bodyPr/>
          <a:lstStyle/>
          <a:p>
            <a:fld id="{4F9AC08D-23A9-440E-BCB9-AA1E9877CC38}" type="slidenum">
              <a:rPr lang="en-US" smtClean="0"/>
              <a:pPr/>
              <a:t>17</a:t>
            </a:fld>
            <a:endParaRPr lang="en-US" dirty="0"/>
          </a:p>
        </p:txBody>
      </p:sp>
      <p:sp>
        <p:nvSpPr>
          <p:cNvPr id="3" name="Title 2">
            <a:extLst>
              <a:ext uri="{FF2B5EF4-FFF2-40B4-BE49-F238E27FC236}">
                <a16:creationId xmlns:a16="http://schemas.microsoft.com/office/drawing/2014/main" id="{40C8D8CA-D8A5-45C2-A929-DFCAC424211E}"/>
              </a:ext>
            </a:extLst>
          </p:cNvPr>
          <p:cNvSpPr>
            <a:spLocks noGrp="1"/>
          </p:cNvSpPr>
          <p:nvPr>
            <p:ph type="title"/>
          </p:nvPr>
        </p:nvSpPr>
        <p:spPr>
          <a:xfrm>
            <a:off x="450006" y="272145"/>
            <a:ext cx="13500200" cy="1359871"/>
          </a:xfrm>
        </p:spPr>
        <p:txBody>
          <a:bodyPr/>
          <a:lstStyle/>
          <a:p>
            <a:r>
              <a:rPr lang="en-US" dirty="0">
                <a:solidFill>
                  <a:schemeClr val="bg1"/>
                </a:solidFill>
              </a:rPr>
              <a:t>AWS CERTIFICATE manager</a:t>
            </a:r>
          </a:p>
        </p:txBody>
      </p:sp>
      <p:sp>
        <p:nvSpPr>
          <p:cNvPr id="4" name="Footer Placeholder 3">
            <a:extLst>
              <a:ext uri="{FF2B5EF4-FFF2-40B4-BE49-F238E27FC236}">
                <a16:creationId xmlns:a16="http://schemas.microsoft.com/office/drawing/2014/main" id="{85533CFB-D5FB-41CB-A5A0-F106D39F67CB}"/>
              </a:ext>
            </a:extLst>
          </p:cNvPr>
          <p:cNvSpPr>
            <a:spLocks noGrp="1"/>
          </p:cNvSpPr>
          <p:nvPr>
            <p:ph type="ftr" sz="quarter" idx="16"/>
          </p:nvPr>
        </p:nvSpPr>
        <p:spPr/>
        <p:txBody>
          <a:bodyPr/>
          <a:lstStyle/>
          <a:p>
            <a:r>
              <a:rPr lang="en-US"/>
              <a:t>Copyright © 2020 Accenture. All rights reserved.</a:t>
            </a:r>
            <a:endParaRPr lang="en-US" dirty="0"/>
          </a:p>
        </p:txBody>
      </p:sp>
      <p:grpSp>
        <p:nvGrpSpPr>
          <p:cNvPr id="5" name="Group 4">
            <a:extLst>
              <a:ext uri="{FF2B5EF4-FFF2-40B4-BE49-F238E27FC236}">
                <a16:creationId xmlns:a16="http://schemas.microsoft.com/office/drawing/2014/main" id="{10475B6C-16CD-46E1-965E-B832911D1F9E}"/>
              </a:ext>
            </a:extLst>
          </p:cNvPr>
          <p:cNvGrpSpPr/>
          <p:nvPr/>
        </p:nvGrpSpPr>
        <p:grpSpPr>
          <a:xfrm>
            <a:off x="1107217" y="2198462"/>
            <a:ext cx="10784858" cy="3411120"/>
            <a:chOff x="531116" y="2062183"/>
            <a:chExt cx="10430707" cy="2953512"/>
          </a:xfrm>
        </p:grpSpPr>
        <p:pic>
          <p:nvPicPr>
            <p:cNvPr id="9" name="Picture 8">
              <a:extLst>
                <a:ext uri="{FF2B5EF4-FFF2-40B4-BE49-F238E27FC236}">
                  <a16:creationId xmlns:a16="http://schemas.microsoft.com/office/drawing/2014/main" id="{60B71A75-D014-4D98-82A6-BC4597ECD39D}"/>
                </a:ext>
              </a:extLst>
            </p:cNvPr>
            <p:cNvPicPr>
              <a:picLocks noChangeAspect="1"/>
            </p:cNvPicPr>
            <p:nvPr/>
          </p:nvPicPr>
          <p:blipFill>
            <a:blip r:embed="rId2"/>
            <a:stretch>
              <a:fillRect/>
            </a:stretch>
          </p:blipFill>
          <p:spPr>
            <a:xfrm>
              <a:off x="8383758" y="2062183"/>
              <a:ext cx="656753" cy="659450"/>
            </a:xfrm>
            <a:prstGeom prst="rect">
              <a:avLst/>
            </a:prstGeom>
          </p:spPr>
        </p:pic>
        <p:pic>
          <p:nvPicPr>
            <p:cNvPr id="10" name="Picture 9">
              <a:extLst>
                <a:ext uri="{FF2B5EF4-FFF2-40B4-BE49-F238E27FC236}">
                  <a16:creationId xmlns:a16="http://schemas.microsoft.com/office/drawing/2014/main" id="{81574044-675A-4A15-B63D-4B0C25D274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3758" y="3915901"/>
              <a:ext cx="604182" cy="625760"/>
            </a:xfrm>
            <a:prstGeom prst="rect">
              <a:avLst/>
            </a:prstGeom>
          </p:spPr>
        </p:pic>
        <p:sp>
          <p:nvSpPr>
            <p:cNvPr id="12" name="TextBox 11">
              <a:extLst>
                <a:ext uri="{FF2B5EF4-FFF2-40B4-BE49-F238E27FC236}">
                  <a16:creationId xmlns:a16="http://schemas.microsoft.com/office/drawing/2014/main" id="{46B9F335-E834-42E5-A880-239598D2603C}"/>
                </a:ext>
              </a:extLst>
            </p:cNvPr>
            <p:cNvSpPr txBox="1"/>
            <p:nvPr/>
          </p:nvSpPr>
          <p:spPr>
            <a:xfrm>
              <a:off x="531116" y="3348204"/>
              <a:ext cx="1465273" cy="31978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b="1" dirty="0">
                  <a:solidFill>
                    <a:schemeClr val="bg1"/>
                  </a:solidFill>
                </a:rPr>
                <a:t>Developer</a:t>
              </a:r>
            </a:p>
          </p:txBody>
        </p:sp>
        <p:sp>
          <p:nvSpPr>
            <p:cNvPr id="13" name="TextBox 12">
              <a:extLst>
                <a:ext uri="{FF2B5EF4-FFF2-40B4-BE49-F238E27FC236}">
                  <a16:creationId xmlns:a16="http://schemas.microsoft.com/office/drawing/2014/main" id="{A69EC1A1-C567-4B8B-BEA3-D4FB82D865B4}"/>
                </a:ext>
              </a:extLst>
            </p:cNvPr>
            <p:cNvSpPr txBox="1"/>
            <p:nvPr/>
          </p:nvSpPr>
          <p:spPr>
            <a:xfrm>
              <a:off x="2969649" y="3116438"/>
              <a:ext cx="1563979" cy="7994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b="1" dirty="0">
                  <a:solidFill>
                    <a:schemeClr val="bg1"/>
                  </a:solidFill>
                </a:rPr>
                <a:t>AWS Certificate Manager</a:t>
              </a:r>
            </a:p>
          </p:txBody>
        </p:sp>
        <p:sp>
          <p:nvSpPr>
            <p:cNvPr id="14" name="TextBox 13">
              <a:extLst>
                <a:ext uri="{FF2B5EF4-FFF2-40B4-BE49-F238E27FC236}">
                  <a16:creationId xmlns:a16="http://schemas.microsoft.com/office/drawing/2014/main" id="{B88A85F9-67E5-4899-B537-4CCA41F3DA76}"/>
                </a:ext>
              </a:extLst>
            </p:cNvPr>
            <p:cNvSpPr txBox="1"/>
            <p:nvPr/>
          </p:nvSpPr>
          <p:spPr>
            <a:xfrm>
              <a:off x="8060244" y="4562666"/>
              <a:ext cx="1251212" cy="453029"/>
            </a:xfrm>
            <a:prstGeom prst="rect">
              <a:avLst/>
            </a:prstGeom>
            <a:noFill/>
          </p:spPr>
          <p:txBody>
            <a:bodyPr wrap="square" rtlCol="0">
              <a:spAutoFit/>
            </a:bodyPr>
            <a:lstStyle/>
            <a:p>
              <a:pPr algn="ctr"/>
              <a:r>
                <a:rPr lang="en-US" sz="1400" dirty="0">
                  <a:solidFill>
                    <a:srgbClr val="18537D"/>
                  </a:solidFill>
                </a:rPr>
                <a:t>CloudFront Distribution</a:t>
              </a:r>
            </a:p>
          </p:txBody>
        </p:sp>
        <p:sp>
          <p:nvSpPr>
            <p:cNvPr id="15" name="TextBox 14">
              <a:extLst>
                <a:ext uri="{FF2B5EF4-FFF2-40B4-BE49-F238E27FC236}">
                  <a16:creationId xmlns:a16="http://schemas.microsoft.com/office/drawing/2014/main" id="{47CD41AD-EA8D-48BC-93C2-9819310B475A}"/>
                </a:ext>
              </a:extLst>
            </p:cNvPr>
            <p:cNvSpPr txBox="1"/>
            <p:nvPr/>
          </p:nvSpPr>
          <p:spPr>
            <a:xfrm>
              <a:off x="5453407" y="3143087"/>
              <a:ext cx="1829974" cy="74616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endParaRPr lang="en-US" sz="1200" b="1" dirty="0">
                <a:solidFill>
                  <a:schemeClr val="bg1"/>
                </a:solidFill>
              </a:endParaRPr>
            </a:p>
            <a:p>
              <a:pPr algn="ctr"/>
              <a:r>
                <a:rPr lang="en-US" b="1" dirty="0">
                  <a:solidFill>
                    <a:schemeClr val="bg1"/>
                  </a:solidFill>
                </a:rPr>
                <a:t>ACM certificate</a:t>
              </a:r>
            </a:p>
          </p:txBody>
        </p:sp>
        <p:sp>
          <p:nvSpPr>
            <p:cNvPr id="16" name="TextBox 15">
              <a:extLst>
                <a:ext uri="{FF2B5EF4-FFF2-40B4-BE49-F238E27FC236}">
                  <a16:creationId xmlns:a16="http://schemas.microsoft.com/office/drawing/2014/main" id="{A7B80C69-0576-4CD8-9D58-B5CA99AFF4D3}"/>
                </a:ext>
              </a:extLst>
            </p:cNvPr>
            <p:cNvSpPr txBox="1"/>
            <p:nvPr/>
          </p:nvSpPr>
          <p:spPr>
            <a:xfrm>
              <a:off x="7712632" y="2724219"/>
              <a:ext cx="2073315" cy="266488"/>
            </a:xfrm>
            <a:prstGeom prst="rect">
              <a:avLst/>
            </a:prstGeom>
            <a:noFill/>
          </p:spPr>
          <p:txBody>
            <a:bodyPr wrap="square" rtlCol="0">
              <a:spAutoFit/>
            </a:bodyPr>
            <a:lstStyle/>
            <a:p>
              <a:pPr algn="ctr"/>
              <a:r>
                <a:rPr lang="en-US" sz="1400" dirty="0">
                  <a:solidFill>
                    <a:srgbClr val="18537D"/>
                  </a:solidFill>
                </a:rPr>
                <a:t>Elastic Load Balancing</a:t>
              </a:r>
            </a:p>
          </p:txBody>
        </p:sp>
        <p:pic>
          <p:nvPicPr>
            <p:cNvPr id="20" name="Picture 19">
              <a:extLst>
                <a:ext uri="{FF2B5EF4-FFF2-40B4-BE49-F238E27FC236}">
                  <a16:creationId xmlns:a16="http://schemas.microsoft.com/office/drawing/2014/main" id="{6EA8B07E-96EA-451A-A733-B2E8D35EDB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9793" y="3092900"/>
              <a:ext cx="590781" cy="708938"/>
            </a:xfrm>
            <a:prstGeom prst="rect">
              <a:avLst/>
            </a:prstGeom>
          </p:spPr>
        </p:pic>
        <p:sp>
          <p:nvSpPr>
            <p:cNvPr id="22" name="TextBox 21">
              <a:extLst>
                <a:ext uri="{FF2B5EF4-FFF2-40B4-BE49-F238E27FC236}">
                  <a16:creationId xmlns:a16="http://schemas.microsoft.com/office/drawing/2014/main" id="{037E29C7-70F4-4B91-B38F-1EC754F8837B}"/>
                </a:ext>
              </a:extLst>
            </p:cNvPr>
            <p:cNvSpPr txBox="1"/>
            <p:nvPr/>
          </p:nvSpPr>
          <p:spPr>
            <a:xfrm>
              <a:off x="9628544" y="3834491"/>
              <a:ext cx="1333279" cy="266488"/>
            </a:xfrm>
            <a:prstGeom prst="rect">
              <a:avLst/>
            </a:prstGeom>
            <a:noFill/>
          </p:spPr>
          <p:txBody>
            <a:bodyPr wrap="square" rtlCol="0">
              <a:spAutoFit/>
            </a:bodyPr>
            <a:lstStyle/>
            <a:p>
              <a:pPr algn="ctr"/>
              <a:r>
                <a:rPr lang="en-US" sz="1400" dirty="0">
                  <a:solidFill>
                    <a:srgbClr val="18537D"/>
                  </a:solidFill>
                </a:rPr>
                <a:t>API Gateway</a:t>
              </a:r>
            </a:p>
          </p:txBody>
        </p:sp>
        <p:pic>
          <p:nvPicPr>
            <p:cNvPr id="8" name="Picture 7">
              <a:extLst>
                <a:ext uri="{FF2B5EF4-FFF2-40B4-BE49-F238E27FC236}">
                  <a16:creationId xmlns:a16="http://schemas.microsoft.com/office/drawing/2014/main" id="{827F5E6E-6AEA-4C15-95A3-CC62322155BA}"/>
                </a:ext>
              </a:extLst>
            </p:cNvPr>
            <p:cNvPicPr>
              <a:picLocks noChangeAspect="1"/>
            </p:cNvPicPr>
            <p:nvPr/>
          </p:nvPicPr>
          <p:blipFill>
            <a:blip r:embed="rId5"/>
            <a:stretch>
              <a:fillRect/>
            </a:stretch>
          </p:blipFill>
          <p:spPr>
            <a:xfrm>
              <a:off x="5431521" y="3153847"/>
              <a:ext cx="539930" cy="454949"/>
            </a:xfrm>
            <a:prstGeom prst="rect">
              <a:avLst/>
            </a:prstGeom>
          </p:spPr>
        </p:pic>
      </p:grpSp>
      <p:cxnSp>
        <p:nvCxnSpPr>
          <p:cNvPr id="24" name="Straight Arrow Connector 23">
            <a:extLst>
              <a:ext uri="{FF2B5EF4-FFF2-40B4-BE49-F238E27FC236}">
                <a16:creationId xmlns:a16="http://schemas.microsoft.com/office/drawing/2014/main" id="{FA07E900-73E5-46EB-93C8-CBF9485915EB}"/>
              </a:ext>
            </a:extLst>
          </p:cNvPr>
          <p:cNvCxnSpPr>
            <a:stCxn id="12" idx="3"/>
            <a:endCxn id="13" idx="1"/>
          </p:cNvCxnSpPr>
          <p:nvPr/>
        </p:nvCxnSpPr>
        <p:spPr>
          <a:xfrm>
            <a:off x="2622240" y="3868402"/>
            <a:ext cx="1006305" cy="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93861E3-6178-49A4-A149-2662A3C7979E}"/>
              </a:ext>
            </a:extLst>
          </p:cNvPr>
          <p:cNvCxnSpPr>
            <a:stCxn id="13" idx="3"/>
            <a:endCxn id="15" idx="1"/>
          </p:cNvCxnSpPr>
          <p:nvPr/>
        </p:nvCxnSpPr>
        <p:spPr>
          <a:xfrm>
            <a:off x="5245625" y="3877725"/>
            <a:ext cx="9510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F2647BC-7CCC-4A2A-9B08-3B4A93929F2F}"/>
              </a:ext>
            </a:extLst>
          </p:cNvPr>
          <p:cNvCxnSpPr>
            <a:cxnSpLocks/>
            <a:stCxn id="15" idx="3"/>
            <a:endCxn id="16" idx="2"/>
          </p:cNvCxnSpPr>
          <p:nvPr/>
        </p:nvCxnSpPr>
        <p:spPr>
          <a:xfrm flipV="1">
            <a:off x="8088740" y="3270849"/>
            <a:ext cx="1515680" cy="606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B30F1E8-9B6B-4F82-9ED6-E5BD8D6CDD10}"/>
              </a:ext>
            </a:extLst>
          </p:cNvPr>
          <p:cNvCxnSpPr>
            <a:cxnSpLocks/>
            <a:stCxn id="15" idx="3"/>
          </p:cNvCxnSpPr>
          <p:nvPr/>
        </p:nvCxnSpPr>
        <p:spPr>
          <a:xfrm flipV="1">
            <a:off x="8088740" y="3868402"/>
            <a:ext cx="2587535" cy="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86E329C-17F0-4D6D-936C-2E5AD097D033}"/>
              </a:ext>
            </a:extLst>
          </p:cNvPr>
          <p:cNvCxnSpPr>
            <a:cxnSpLocks/>
            <a:stCxn id="15" idx="3"/>
            <a:endCxn id="10" idx="1"/>
          </p:cNvCxnSpPr>
          <p:nvPr/>
        </p:nvCxnSpPr>
        <p:spPr>
          <a:xfrm>
            <a:off x="8088740" y="3877725"/>
            <a:ext cx="1137738" cy="823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903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53B6D3-A84B-42BC-8435-011CBB63EE94}"/>
              </a:ext>
            </a:extLst>
          </p:cNvPr>
          <p:cNvSpPr>
            <a:spLocks noGrp="1"/>
          </p:cNvSpPr>
          <p:nvPr>
            <p:ph type="sldNum" sz="quarter" idx="17"/>
          </p:nvPr>
        </p:nvSpPr>
        <p:spPr/>
        <p:txBody>
          <a:bodyPr/>
          <a:lstStyle/>
          <a:p>
            <a:fld id="{4F9AC08D-23A9-440E-BCB9-AA1E9877CC38}" type="slidenum">
              <a:rPr lang="en-US" smtClean="0"/>
              <a:pPr/>
              <a:t>18</a:t>
            </a:fld>
            <a:endParaRPr lang="en-US" dirty="0"/>
          </a:p>
        </p:txBody>
      </p:sp>
      <p:sp>
        <p:nvSpPr>
          <p:cNvPr id="3" name="Title 2">
            <a:extLst>
              <a:ext uri="{FF2B5EF4-FFF2-40B4-BE49-F238E27FC236}">
                <a16:creationId xmlns:a16="http://schemas.microsoft.com/office/drawing/2014/main" id="{9B1CFDF4-A617-4926-B519-1CED49009679}"/>
              </a:ext>
            </a:extLst>
          </p:cNvPr>
          <p:cNvSpPr>
            <a:spLocks noGrp="1"/>
          </p:cNvSpPr>
          <p:nvPr>
            <p:ph type="title"/>
          </p:nvPr>
        </p:nvSpPr>
        <p:spPr>
          <a:xfrm>
            <a:off x="450010" y="272145"/>
            <a:ext cx="13500200" cy="1359871"/>
          </a:xfrm>
        </p:spPr>
        <p:txBody>
          <a:bodyPr/>
          <a:lstStyle/>
          <a:p>
            <a:r>
              <a:rPr lang="en-US" dirty="0">
                <a:solidFill>
                  <a:schemeClr val="bg1"/>
                </a:solidFill>
              </a:rPr>
              <a:t>AWS Secrets Manager</a:t>
            </a:r>
            <a:br>
              <a:rPr lang="en-US" dirty="0">
                <a:solidFill>
                  <a:schemeClr val="bg1"/>
                </a:solidFill>
              </a:rPr>
            </a:br>
            <a:endParaRPr lang="en-US" dirty="0">
              <a:solidFill>
                <a:schemeClr val="bg1"/>
              </a:solidFill>
            </a:endParaRPr>
          </a:p>
        </p:txBody>
      </p:sp>
      <p:sp>
        <p:nvSpPr>
          <p:cNvPr id="4" name="Footer Placeholder 3">
            <a:extLst>
              <a:ext uri="{FF2B5EF4-FFF2-40B4-BE49-F238E27FC236}">
                <a16:creationId xmlns:a16="http://schemas.microsoft.com/office/drawing/2014/main" id="{4F08C0F7-0FAD-49CC-ABFD-B94CC002E9B4}"/>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9C0BE376-5F17-4075-A753-71B5C96DE811}"/>
              </a:ext>
            </a:extLst>
          </p:cNvPr>
          <p:cNvSpPr/>
          <p:nvPr/>
        </p:nvSpPr>
        <p:spPr>
          <a:xfrm>
            <a:off x="9002416" y="2372238"/>
            <a:ext cx="1770846" cy="1865135"/>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t"/>
          <a:lstStyle/>
          <a:p>
            <a:pPr algn="ctr"/>
            <a:r>
              <a:rPr lang="en-US" sz="2000" dirty="0"/>
              <a:t>AWS </a:t>
            </a:r>
            <a:r>
              <a:rPr lang="en-US" sz="2000" dirty="0">
                <a:solidFill>
                  <a:srgbClr val="FFFFFF"/>
                </a:solidFill>
              </a:rPr>
              <a:t>resources</a:t>
            </a:r>
            <a:endParaRPr lang="en-US" sz="2000" dirty="0">
              <a:solidFill>
                <a:srgbClr val="FFFFFF"/>
              </a:solidFill>
              <a:latin typeface="Arial" panose="020B0604020202020204" pitchFamily="34" charset="0"/>
            </a:endParaRPr>
          </a:p>
        </p:txBody>
      </p:sp>
      <p:sp>
        <p:nvSpPr>
          <p:cNvPr id="6" name="Rectangle 5">
            <a:extLst>
              <a:ext uri="{FF2B5EF4-FFF2-40B4-BE49-F238E27FC236}">
                <a16:creationId xmlns:a16="http://schemas.microsoft.com/office/drawing/2014/main" id="{5C481054-9F79-4B5E-9F4B-04A863F07A40}"/>
              </a:ext>
            </a:extLst>
          </p:cNvPr>
          <p:cNvSpPr/>
          <p:nvPr/>
        </p:nvSpPr>
        <p:spPr>
          <a:xfrm>
            <a:off x="2084438" y="1705617"/>
            <a:ext cx="2514305" cy="1053809"/>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2400" dirty="0"/>
              <a:t>Your Code</a:t>
            </a:r>
          </a:p>
        </p:txBody>
      </p:sp>
      <p:sp>
        <p:nvSpPr>
          <p:cNvPr id="7" name="Rectangle 6">
            <a:extLst>
              <a:ext uri="{FF2B5EF4-FFF2-40B4-BE49-F238E27FC236}">
                <a16:creationId xmlns:a16="http://schemas.microsoft.com/office/drawing/2014/main" id="{F524AD7D-697D-492E-BB5C-F2636F127DED}"/>
              </a:ext>
            </a:extLst>
          </p:cNvPr>
          <p:cNvSpPr/>
          <p:nvPr/>
        </p:nvSpPr>
        <p:spPr>
          <a:xfrm>
            <a:off x="2084439" y="4127308"/>
            <a:ext cx="2514304" cy="102479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2000" dirty="0">
                <a:solidFill>
                  <a:srgbClr val="FFFFFF"/>
                </a:solidFill>
              </a:rPr>
              <a:t>EC2 instance</a:t>
            </a:r>
            <a:endParaRPr lang="en-US" sz="2000" dirty="0">
              <a:solidFill>
                <a:srgbClr val="FFFFFF"/>
              </a:solidFill>
              <a:latin typeface="Arial" panose="020B0604020202020204" pitchFamily="34" charset="0"/>
            </a:endParaRPr>
          </a:p>
        </p:txBody>
      </p:sp>
      <p:pic>
        <p:nvPicPr>
          <p:cNvPr id="10" name="Picture 9">
            <a:extLst>
              <a:ext uri="{FF2B5EF4-FFF2-40B4-BE49-F238E27FC236}">
                <a16:creationId xmlns:a16="http://schemas.microsoft.com/office/drawing/2014/main" id="{4FAE3E8D-D80D-4D8D-99A5-356B97D5E7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0508" y="2051554"/>
            <a:ext cx="555623" cy="500060"/>
          </a:xfrm>
          <a:prstGeom prst="rect">
            <a:avLst/>
          </a:prstGeom>
        </p:spPr>
      </p:pic>
      <p:pic>
        <p:nvPicPr>
          <p:cNvPr id="11" name="Picture 10">
            <a:extLst>
              <a:ext uri="{FF2B5EF4-FFF2-40B4-BE49-F238E27FC236}">
                <a16:creationId xmlns:a16="http://schemas.microsoft.com/office/drawing/2014/main" id="{208F8AFA-F38D-48CE-9F5A-BE1D0BC80C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0411" y="4372653"/>
            <a:ext cx="731519" cy="627016"/>
          </a:xfrm>
          <a:prstGeom prst="rect">
            <a:avLst/>
          </a:prstGeom>
        </p:spPr>
      </p:pic>
      <p:pic>
        <p:nvPicPr>
          <p:cNvPr id="12" name="Picture 11">
            <a:extLst>
              <a:ext uri="{FF2B5EF4-FFF2-40B4-BE49-F238E27FC236}">
                <a16:creationId xmlns:a16="http://schemas.microsoft.com/office/drawing/2014/main" id="{94A2849C-AD31-4652-8284-8158409ACF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5012" y="4866094"/>
            <a:ext cx="410878" cy="547838"/>
          </a:xfrm>
          <a:prstGeom prst="rect">
            <a:avLst/>
          </a:prstGeom>
        </p:spPr>
      </p:pic>
      <p:sp>
        <p:nvSpPr>
          <p:cNvPr id="14" name="Freeform 13">
            <a:extLst>
              <a:ext uri="{FF2B5EF4-FFF2-40B4-BE49-F238E27FC236}">
                <a16:creationId xmlns:a16="http://schemas.microsoft.com/office/drawing/2014/main" id="{FC4DCA2D-44FC-495B-B6C1-4DA687C6B20D}"/>
              </a:ext>
            </a:extLst>
          </p:cNvPr>
          <p:cNvSpPr/>
          <p:nvPr/>
        </p:nvSpPr>
        <p:spPr>
          <a:xfrm>
            <a:off x="4648511" y="3320689"/>
            <a:ext cx="609776" cy="1306285"/>
          </a:xfrm>
          <a:custGeom>
            <a:avLst/>
            <a:gdLst>
              <a:gd name="connsiteX0" fmla="*/ 37323 w 457332"/>
              <a:gd name="connsiteY0" fmla="*/ 979714 h 979714"/>
              <a:gd name="connsiteX1" fmla="*/ 457200 w 457332"/>
              <a:gd name="connsiteY1" fmla="*/ 522514 h 979714"/>
              <a:gd name="connsiteX2" fmla="*/ 0 w 457332"/>
              <a:gd name="connsiteY2" fmla="*/ 0 h 979714"/>
            </a:gdLst>
            <a:ahLst/>
            <a:cxnLst>
              <a:cxn ang="0">
                <a:pos x="connsiteX0" y="connsiteY0"/>
              </a:cxn>
              <a:cxn ang="0">
                <a:pos x="connsiteX1" y="connsiteY1"/>
              </a:cxn>
              <a:cxn ang="0">
                <a:pos x="connsiteX2" y="connsiteY2"/>
              </a:cxn>
            </a:cxnLst>
            <a:rect l="l" t="t" r="r" b="b"/>
            <a:pathLst>
              <a:path w="457332" h="979714">
                <a:moveTo>
                  <a:pt x="37323" y="979714"/>
                </a:moveTo>
                <a:cubicBezTo>
                  <a:pt x="250371" y="832757"/>
                  <a:pt x="463420" y="685800"/>
                  <a:pt x="457200" y="522514"/>
                </a:cubicBezTo>
                <a:cubicBezTo>
                  <a:pt x="450980" y="359228"/>
                  <a:pt x="225490" y="179614"/>
                  <a:pt x="0" y="0"/>
                </a:cubicBezTo>
              </a:path>
            </a:pathLst>
          </a:custGeom>
          <a:ln w="9525"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sz="2400" dirty="0"/>
          </a:p>
        </p:txBody>
      </p:sp>
      <p:cxnSp>
        <p:nvCxnSpPr>
          <p:cNvPr id="15" name="Straight Arrow Connector 14">
            <a:extLst>
              <a:ext uri="{FF2B5EF4-FFF2-40B4-BE49-F238E27FC236}">
                <a16:creationId xmlns:a16="http://schemas.microsoft.com/office/drawing/2014/main" id="{407A661B-E834-4309-903D-74A9C6B915A0}"/>
              </a:ext>
            </a:extLst>
          </p:cNvPr>
          <p:cNvCxnSpPr>
            <a:cxnSpLocks/>
          </p:cNvCxnSpPr>
          <p:nvPr/>
        </p:nvCxnSpPr>
        <p:spPr>
          <a:xfrm>
            <a:off x="4648512" y="2342130"/>
            <a:ext cx="4307235" cy="971698"/>
          </a:xfrm>
          <a:prstGeom prst="straightConnector1">
            <a:avLst/>
          </a:prstGeom>
          <a:ln w="9525"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B13DDDF6-220F-4320-B926-AB44D7ABD786}"/>
              </a:ext>
            </a:extLst>
          </p:cNvPr>
          <p:cNvSpPr txBox="1"/>
          <p:nvPr/>
        </p:nvSpPr>
        <p:spPr>
          <a:xfrm rot="793504">
            <a:off x="5316030" y="2120374"/>
            <a:ext cx="3504657" cy="646331"/>
          </a:xfrm>
          <a:prstGeom prst="rect">
            <a:avLst/>
          </a:prstGeom>
          <a:noFill/>
        </p:spPr>
        <p:txBody>
          <a:bodyPr wrap="square" rtlCol="0">
            <a:spAutoFit/>
          </a:bodyPr>
          <a:lstStyle/>
          <a:p>
            <a:r>
              <a:rPr lang="en-US" dirty="0">
                <a:solidFill>
                  <a:srgbClr val="18537D"/>
                </a:solidFill>
                <a:latin typeface="+mj-lt"/>
                <a:ea typeface="Amazon Ember Light" panose="020B0403020204020204" pitchFamily="34" charset="0"/>
                <a:cs typeface="Amazon Ember Light" panose="020B0403020204020204" pitchFamily="34" charset="0"/>
              </a:rPr>
              <a:t>Authorized call to Secrets Manager</a:t>
            </a:r>
          </a:p>
        </p:txBody>
      </p:sp>
      <p:sp>
        <p:nvSpPr>
          <p:cNvPr id="17" name="Rectangle 16">
            <a:extLst>
              <a:ext uri="{FF2B5EF4-FFF2-40B4-BE49-F238E27FC236}">
                <a16:creationId xmlns:a16="http://schemas.microsoft.com/office/drawing/2014/main" id="{33EAD2A1-B68A-4D67-A3C1-9479C8C384D5}"/>
              </a:ext>
            </a:extLst>
          </p:cNvPr>
          <p:cNvSpPr/>
          <p:nvPr/>
        </p:nvSpPr>
        <p:spPr>
          <a:xfrm>
            <a:off x="9429079" y="5248606"/>
            <a:ext cx="1657968" cy="75724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t"/>
          <a:lstStyle/>
          <a:p>
            <a:pPr algn="ctr"/>
            <a:r>
              <a:rPr lang="en-US" dirty="0"/>
              <a:t>Other r</a:t>
            </a:r>
            <a:r>
              <a:rPr lang="en-US" dirty="0">
                <a:solidFill>
                  <a:srgbClr val="FFFFFF"/>
                </a:solidFill>
              </a:rPr>
              <a:t>esources</a:t>
            </a:r>
            <a:endParaRPr lang="en-US" dirty="0">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3031FB9F-23FD-426A-B7E3-188DF8107D05}"/>
              </a:ext>
            </a:extLst>
          </p:cNvPr>
          <p:cNvSpPr txBox="1"/>
          <p:nvPr/>
        </p:nvSpPr>
        <p:spPr>
          <a:xfrm>
            <a:off x="4918308" y="4720634"/>
            <a:ext cx="2096340" cy="646331"/>
          </a:xfrm>
          <a:prstGeom prst="rect">
            <a:avLst/>
          </a:prstGeom>
          <a:noFill/>
        </p:spPr>
        <p:txBody>
          <a:bodyPr wrap="square" rtlCol="0">
            <a:spAutoFit/>
          </a:bodyPr>
          <a:lstStyle/>
          <a:p>
            <a:r>
              <a:rPr lang="en-US" dirty="0">
                <a:solidFill>
                  <a:srgbClr val="18537D"/>
                </a:solidFill>
                <a:ea typeface="Amazon Ember Light" panose="020B0403020204020204" pitchFamily="34" charset="0"/>
                <a:cs typeface="Amazon Ember Light" panose="020B0403020204020204" pitchFamily="34" charset="0"/>
              </a:rPr>
              <a:t>AWS credentials via IAM roles</a:t>
            </a:r>
          </a:p>
        </p:txBody>
      </p:sp>
      <p:pic>
        <p:nvPicPr>
          <p:cNvPr id="20" name="Picture 19">
            <a:extLst>
              <a:ext uri="{FF2B5EF4-FFF2-40B4-BE49-F238E27FC236}">
                <a16:creationId xmlns:a16="http://schemas.microsoft.com/office/drawing/2014/main" id="{4F0E46FA-A0A3-4B08-8A02-8DDE58B2B8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16624" y="3158050"/>
            <a:ext cx="957757" cy="957757"/>
          </a:xfrm>
          <a:prstGeom prst="rect">
            <a:avLst/>
          </a:prstGeom>
        </p:spPr>
      </p:pic>
      <p:cxnSp>
        <p:nvCxnSpPr>
          <p:cNvPr id="21" name="Straight Arrow Connector 20">
            <a:extLst>
              <a:ext uri="{FF2B5EF4-FFF2-40B4-BE49-F238E27FC236}">
                <a16:creationId xmlns:a16="http://schemas.microsoft.com/office/drawing/2014/main" id="{DEA75E8C-20B7-47C6-A2E3-D3A7A18EB837}"/>
              </a:ext>
            </a:extLst>
          </p:cNvPr>
          <p:cNvCxnSpPr>
            <a:cxnSpLocks/>
          </p:cNvCxnSpPr>
          <p:nvPr/>
        </p:nvCxnSpPr>
        <p:spPr>
          <a:xfrm flipH="1" flipV="1">
            <a:off x="10868359" y="3248912"/>
            <a:ext cx="1692519" cy="366321"/>
          </a:xfrm>
          <a:prstGeom prst="straightConnector1">
            <a:avLst/>
          </a:prstGeom>
          <a:ln w="9525"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7D68A872-4620-47F6-8B65-E674015FCB44}"/>
              </a:ext>
            </a:extLst>
          </p:cNvPr>
          <p:cNvSpPr txBox="1"/>
          <p:nvPr/>
        </p:nvSpPr>
        <p:spPr>
          <a:xfrm>
            <a:off x="11368256" y="2812641"/>
            <a:ext cx="1770846" cy="646331"/>
          </a:xfrm>
          <a:prstGeom prst="rect">
            <a:avLst/>
          </a:prstGeom>
          <a:noFill/>
        </p:spPr>
        <p:txBody>
          <a:bodyPr wrap="square" rtlCol="0">
            <a:spAutoFit/>
          </a:bodyPr>
          <a:lstStyle/>
          <a:p>
            <a:r>
              <a:rPr lang="en-US" dirty="0">
                <a:solidFill>
                  <a:srgbClr val="18537D"/>
                </a:solidFill>
                <a:latin typeface="+mj-lt"/>
                <a:ea typeface="Amazon Ember Light" panose="020B0403020204020204" pitchFamily="34" charset="0"/>
                <a:cs typeface="Amazon Ember Light" panose="020B0403020204020204" pitchFamily="34" charset="0"/>
              </a:rPr>
              <a:t>DB creds </a:t>
            </a:r>
          </a:p>
          <a:p>
            <a:r>
              <a:rPr lang="en-US" dirty="0">
                <a:solidFill>
                  <a:srgbClr val="18537D"/>
                </a:solidFill>
                <a:latin typeface="+mj-lt"/>
                <a:ea typeface="Amazon Ember Light" panose="020B0403020204020204" pitchFamily="34" charset="0"/>
                <a:cs typeface="Amazon Ember Light" panose="020B0403020204020204" pitchFamily="34" charset="0"/>
              </a:rPr>
              <a:t>loaded</a:t>
            </a:r>
            <a:endParaRPr lang="en-US" sz="2400" dirty="0">
              <a:solidFill>
                <a:srgbClr val="18537D"/>
              </a:solidFill>
              <a:latin typeface="+mj-lt"/>
              <a:ea typeface="Amazon Ember Light" panose="020B0403020204020204" pitchFamily="34" charset="0"/>
              <a:cs typeface="Amazon Ember Light" panose="020B0403020204020204" pitchFamily="34" charset="0"/>
            </a:endParaRPr>
          </a:p>
        </p:txBody>
      </p:sp>
      <p:cxnSp>
        <p:nvCxnSpPr>
          <p:cNvPr id="23" name="Straight Arrow Connector 22">
            <a:extLst>
              <a:ext uri="{FF2B5EF4-FFF2-40B4-BE49-F238E27FC236}">
                <a16:creationId xmlns:a16="http://schemas.microsoft.com/office/drawing/2014/main" id="{82D997FB-3403-468D-B73A-111DFF6E8CD4}"/>
              </a:ext>
            </a:extLst>
          </p:cNvPr>
          <p:cNvCxnSpPr>
            <a:cxnSpLocks/>
          </p:cNvCxnSpPr>
          <p:nvPr/>
        </p:nvCxnSpPr>
        <p:spPr>
          <a:xfrm flipH="1" flipV="1">
            <a:off x="4648514" y="2460921"/>
            <a:ext cx="4280127" cy="1007196"/>
          </a:xfrm>
          <a:prstGeom prst="straightConnector1">
            <a:avLst/>
          </a:prstGeom>
          <a:ln w="9525"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E6E05EEE-F8B2-4288-BAA2-4DC6E799BC2B}"/>
              </a:ext>
            </a:extLst>
          </p:cNvPr>
          <p:cNvSpPr txBox="1"/>
          <p:nvPr/>
        </p:nvSpPr>
        <p:spPr>
          <a:xfrm rot="793504">
            <a:off x="5610876" y="3120140"/>
            <a:ext cx="3504657" cy="369332"/>
          </a:xfrm>
          <a:prstGeom prst="rect">
            <a:avLst/>
          </a:prstGeom>
          <a:noFill/>
        </p:spPr>
        <p:txBody>
          <a:bodyPr wrap="square" rtlCol="0">
            <a:spAutoFit/>
          </a:bodyPr>
          <a:lstStyle/>
          <a:p>
            <a:r>
              <a:rPr lang="en-US" dirty="0">
                <a:solidFill>
                  <a:srgbClr val="18537D"/>
                </a:solidFill>
                <a:latin typeface="+mj-lt"/>
                <a:ea typeface="Amazon Ember Light" panose="020B0403020204020204" pitchFamily="34" charset="0"/>
                <a:cs typeface="Amazon Ember Light" panose="020B0403020204020204" pitchFamily="34" charset="0"/>
              </a:rPr>
              <a:t>DB creds returned</a:t>
            </a:r>
          </a:p>
        </p:txBody>
      </p:sp>
      <p:cxnSp>
        <p:nvCxnSpPr>
          <p:cNvPr id="25" name="Straight Arrow Connector 24">
            <a:extLst>
              <a:ext uri="{FF2B5EF4-FFF2-40B4-BE49-F238E27FC236}">
                <a16:creationId xmlns:a16="http://schemas.microsoft.com/office/drawing/2014/main" id="{72C69506-D672-422A-9EC9-2D3C7D6BC50F}"/>
              </a:ext>
            </a:extLst>
          </p:cNvPr>
          <p:cNvCxnSpPr/>
          <p:nvPr/>
        </p:nvCxnSpPr>
        <p:spPr>
          <a:xfrm>
            <a:off x="4665936" y="2621244"/>
            <a:ext cx="5076927" cy="2948337"/>
          </a:xfrm>
          <a:prstGeom prst="straightConnector1">
            <a:avLst/>
          </a:prstGeom>
          <a:ln w="9525"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58D3EFAB-4817-4EBA-9396-9829B8C37A22}"/>
              </a:ext>
            </a:extLst>
          </p:cNvPr>
          <p:cNvSpPr txBox="1"/>
          <p:nvPr/>
        </p:nvSpPr>
        <p:spPr>
          <a:xfrm rot="1819387">
            <a:off x="5514240" y="4202649"/>
            <a:ext cx="3504657" cy="400110"/>
          </a:xfrm>
          <a:prstGeom prst="rect">
            <a:avLst/>
          </a:prstGeom>
          <a:noFill/>
        </p:spPr>
        <p:txBody>
          <a:bodyPr wrap="square" rtlCol="0">
            <a:spAutoFit/>
          </a:bodyPr>
          <a:lstStyle/>
          <a:p>
            <a:r>
              <a:rPr lang="en-US" sz="2000" dirty="0">
                <a:solidFill>
                  <a:srgbClr val="18537D"/>
                </a:solidFill>
                <a:latin typeface="Amazon Ember Light" panose="020B0403020204020204" pitchFamily="34" charset="0"/>
                <a:ea typeface="Amazon Ember Light" panose="020B0403020204020204" pitchFamily="34" charset="0"/>
                <a:cs typeface="Amazon Ember Light" panose="020B0403020204020204" pitchFamily="34" charset="0"/>
              </a:rPr>
              <a:t>Connection established</a:t>
            </a:r>
          </a:p>
        </p:txBody>
      </p:sp>
      <p:sp>
        <p:nvSpPr>
          <p:cNvPr id="27" name="Freeform 27">
            <a:extLst>
              <a:ext uri="{FF2B5EF4-FFF2-40B4-BE49-F238E27FC236}">
                <a16:creationId xmlns:a16="http://schemas.microsoft.com/office/drawing/2014/main" id="{5086E22C-97EC-4F54-B05D-8C6B2F3C41CC}"/>
              </a:ext>
            </a:extLst>
          </p:cNvPr>
          <p:cNvSpPr/>
          <p:nvPr/>
        </p:nvSpPr>
        <p:spPr>
          <a:xfrm>
            <a:off x="10815778" y="3664403"/>
            <a:ext cx="745704" cy="2072362"/>
          </a:xfrm>
          <a:custGeom>
            <a:avLst/>
            <a:gdLst>
              <a:gd name="connsiteX0" fmla="*/ 0 w 995278"/>
              <a:gd name="connsiteY0" fmla="*/ 0 h 1427583"/>
              <a:gd name="connsiteX1" fmla="*/ 989045 w 995278"/>
              <a:gd name="connsiteY1" fmla="*/ 849085 h 1427583"/>
              <a:gd name="connsiteX2" fmla="*/ 345232 w 995278"/>
              <a:gd name="connsiteY2" fmla="*/ 1427583 h 1427583"/>
            </a:gdLst>
            <a:ahLst/>
            <a:cxnLst>
              <a:cxn ang="0">
                <a:pos x="connsiteX0" y="connsiteY0"/>
              </a:cxn>
              <a:cxn ang="0">
                <a:pos x="connsiteX1" y="connsiteY1"/>
              </a:cxn>
              <a:cxn ang="0">
                <a:pos x="connsiteX2" y="connsiteY2"/>
              </a:cxn>
            </a:cxnLst>
            <a:rect l="l" t="t" r="r" b="b"/>
            <a:pathLst>
              <a:path w="995278" h="1427583">
                <a:moveTo>
                  <a:pt x="0" y="0"/>
                </a:moveTo>
                <a:cubicBezTo>
                  <a:pt x="465753" y="305577"/>
                  <a:pt x="931506" y="611155"/>
                  <a:pt x="989045" y="849085"/>
                </a:cubicBezTo>
                <a:cubicBezTo>
                  <a:pt x="1046584" y="1087016"/>
                  <a:pt x="695908" y="1257299"/>
                  <a:pt x="345232" y="1427583"/>
                </a:cubicBezTo>
              </a:path>
            </a:pathLst>
          </a:custGeom>
          <a:ln w="9525"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sz="2400" dirty="0"/>
          </a:p>
        </p:txBody>
      </p:sp>
      <p:sp>
        <p:nvSpPr>
          <p:cNvPr id="28" name="TextBox 27">
            <a:extLst>
              <a:ext uri="{FF2B5EF4-FFF2-40B4-BE49-F238E27FC236}">
                <a16:creationId xmlns:a16="http://schemas.microsoft.com/office/drawing/2014/main" id="{FCE7C056-53A7-442E-B844-87B60D51DAAA}"/>
              </a:ext>
            </a:extLst>
          </p:cNvPr>
          <p:cNvSpPr txBox="1"/>
          <p:nvPr/>
        </p:nvSpPr>
        <p:spPr>
          <a:xfrm>
            <a:off x="11493232" y="5044600"/>
            <a:ext cx="1600189" cy="369332"/>
          </a:xfrm>
          <a:prstGeom prst="rect">
            <a:avLst/>
          </a:prstGeom>
          <a:noFill/>
        </p:spPr>
        <p:txBody>
          <a:bodyPr wrap="square" rtlCol="0">
            <a:spAutoFit/>
          </a:bodyPr>
          <a:lstStyle/>
          <a:p>
            <a:r>
              <a:rPr lang="en-US" dirty="0">
                <a:solidFill>
                  <a:srgbClr val="18537D"/>
                </a:solidFill>
                <a:latin typeface="Amazon Ember Light" panose="020B0403020204020204" pitchFamily="34" charset="0"/>
                <a:ea typeface="Amazon Ember Light" panose="020B0403020204020204" pitchFamily="34" charset="0"/>
                <a:cs typeface="Amazon Ember Light" panose="020B0403020204020204" pitchFamily="34" charset="0"/>
              </a:rPr>
              <a:t>Safe rotation</a:t>
            </a:r>
          </a:p>
        </p:txBody>
      </p:sp>
      <p:sp>
        <p:nvSpPr>
          <p:cNvPr id="32" name="Rectangle 31">
            <a:extLst>
              <a:ext uri="{FF2B5EF4-FFF2-40B4-BE49-F238E27FC236}">
                <a16:creationId xmlns:a16="http://schemas.microsoft.com/office/drawing/2014/main" id="{22CE0C1E-4052-4F6F-9BD4-68238D29ABB2}"/>
              </a:ext>
            </a:extLst>
          </p:cNvPr>
          <p:cNvSpPr/>
          <p:nvPr/>
        </p:nvSpPr>
        <p:spPr>
          <a:xfrm>
            <a:off x="2218899" y="926922"/>
            <a:ext cx="10341979" cy="646331"/>
          </a:xfrm>
          <a:prstGeom prst="rect">
            <a:avLst/>
          </a:prstGeom>
        </p:spPr>
        <p:txBody>
          <a:bodyPr wrap="square">
            <a:spAutoFit/>
          </a:bodyPr>
          <a:lstStyle/>
          <a:p>
            <a:pPr algn="ctr"/>
            <a:r>
              <a:rPr lang="en-US" b="1" dirty="0">
                <a:solidFill>
                  <a:srgbClr val="18537D"/>
                </a:solidFill>
              </a:rPr>
              <a:t>Rotate, manage, and retrieve database credentials, API keys, and other secrets throughout their lifecycle.</a:t>
            </a:r>
          </a:p>
        </p:txBody>
      </p:sp>
    </p:spTree>
    <p:extLst>
      <p:ext uri="{BB962C8B-B14F-4D97-AF65-F5344CB8AC3E}">
        <p14:creationId xmlns:p14="http://schemas.microsoft.com/office/powerpoint/2010/main" val="4268555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P spid="16" grpId="0"/>
      <p:bldP spid="19" grpId="0"/>
      <p:bldP spid="22" grpId="0"/>
      <p:bldP spid="24" grpId="0"/>
      <p:bldP spid="26" grpId="0"/>
      <p:bldP spid="27" grpId="0" animBg="1"/>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BDB40BA-93BE-4FF3-B351-F3D349468DC2}"/>
              </a:ext>
            </a:extLst>
          </p:cNvPr>
          <p:cNvSpPr>
            <a:spLocks noGrp="1"/>
          </p:cNvSpPr>
          <p:nvPr>
            <p:ph type="ftr" sz="quarter" idx="16"/>
          </p:nvPr>
        </p:nvSpPr>
        <p:spPr/>
        <p:txBody>
          <a:bodyPr/>
          <a:lstStyle/>
          <a:p>
            <a:r>
              <a:rPr lang="en-US" dirty="0"/>
              <a:t>Copyright © 2020 Accenture. All rights reserved.</a:t>
            </a:r>
          </a:p>
        </p:txBody>
      </p:sp>
      <p:sp>
        <p:nvSpPr>
          <p:cNvPr id="3" name="Slide Number Placeholder 2">
            <a:extLst>
              <a:ext uri="{FF2B5EF4-FFF2-40B4-BE49-F238E27FC236}">
                <a16:creationId xmlns:a16="http://schemas.microsoft.com/office/drawing/2014/main" id="{33B8E8BF-1718-4CFA-A4FB-BC2E2BA104E2}"/>
              </a:ext>
            </a:extLst>
          </p:cNvPr>
          <p:cNvSpPr>
            <a:spLocks noGrp="1"/>
          </p:cNvSpPr>
          <p:nvPr>
            <p:ph type="sldNum" sz="quarter" idx="17"/>
          </p:nvPr>
        </p:nvSpPr>
        <p:spPr/>
        <p:txBody>
          <a:bodyPr/>
          <a:lstStyle/>
          <a:p>
            <a:fld id="{4F9AC08D-23A9-440E-BCB9-AA1E9877CC38}" type="slidenum">
              <a:rPr lang="en-US" smtClean="0"/>
              <a:pPr/>
              <a:t>19</a:t>
            </a:fld>
            <a:endParaRPr lang="en-US" dirty="0"/>
          </a:p>
        </p:txBody>
      </p:sp>
      <p:sp>
        <p:nvSpPr>
          <p:cNvPr id="4" name="Title 3">
            <a:extLst>
              <a:ext uri="{FF2B5EF4-FFF2-40B4-BE49-F238E27FC236}">
                <a16:creationId xmlns:a16="http://schemas.microsoft.com/office/drawing/2014/main" id="{8ADFE451-9587-4612-86C8-1ED09E2ED11A}"/>
              </a:ext>
            </a:extLst>
          </p:cNvPr>
          <p:cNvSpPr>
            <a:spLocks noGrp="1"/>
          </p:cNvSpPr>
          <p:nvPr>
            <p:ph type="title"/>
          </p:nvPr>
        </p:nvSpPr>
        <p:spPr>
          <a:xfrm>
            <a:off x="481333" y="277911"/>
            <a:ext cx="13500200" cy="1359871"/>
          </a:xfrm>
        </p:spPr>
        <p:txBody>
          <a:bodyPr/>
          <a:lstStyle/>
          <a:p>
            <a:r>
              <a:rPr lang="en-IN" dirty="0">
                <a:solidFill>
                  <a:schemeClr val="bg1"/>
                </a:solidFill>
              </a:rPr>
              <a:t>WAF &amp; shield</a:t>
            </a:r>
            <a:endParaRPr lang="en-US" dirty="0">
              <a:solidFill>
                <a:schemeClr val="bg1"/>
              </a:solidFill>
            </a:endParaRPr>
          </a:p>
        </p:txBody>
      </p:sp>
      <p:sp>
        <p:nvSpPr>
          <p:cNvPr id="5" name="Rectangle 4">
            <a:extLst>
              <a:ext uri="{FF2B5EF4-FFF2-40B4-BE49-F238E27FC236}">
                <a16:creationId xmlns:a16="http://schemas.microsoft.com/office/drawing/2014/main" id="{6BC3DB8D-8A5E-4B9A-BEC5-3BF6FF77EEE9}"/>
              </a:ext>
            </a:extLst>
          </p:cNvPr>
          <p:cNvSpPr/>
          <p:nvPr/>
        </p:nvSpPr>
        <p:spPr>
          <a:xfrm>
            <a:off x="5655391" y="1534992"/>
            <a:ext cx="8436530" cy="646331"/>
          </a:xfrm>
          <a:prstGeom prst="rect">
            <a:avLst/>
          </a:prstGeom>
        </p:spPr>
        <p:txBody>
          <a:bodyPr wrap="square">
            <a:spAutoFit/>
          </a:bodyPr>
          <a:lstStyle/>
          <a:p>
            <a:pPr marL="285750" indent="-285750">
              <a:buFont typeface="Arial" panose="020B0604020202020204" pitchFamily="34" charset="0"/>
              <a:buChar char="•"/>
            </a:pPr>
            <a:r>
              <a:rPr lang="en-US" b="1" dirty="0">
                <a:solidFill>
                  <a:srgbClr val="18537D"/>
                </a:solidFill>
                <a:latin typeface="Amazon Ember Light" panose="020B0403020204020204" pitchFamily="34" charset="0"/>
                <a:ea typeface="Amazon Ember Light" panose="020B0403020204020204" pitchFamily="34" charset="0"/>
                <a:cs typeface="Amazon Ember Light" panose="020B0403020204020204" pitchFamily="34" charset="0"/>
              </a:rPr>
              <a:t>AWS WAF is a web application firewall that helps protect your web applications</a:t>
            </a:r>
          </a:p>
          <a:p>
            <a:pPr marL="285750" indent="-285750">
              <a:buFont typeface="Arial" panose="020B0604020202020204" pitchFamily="34" charset="0"/>
              <a:buChar char="•"/>
            </a:pPr>
            <a:endParaRPr lang="en-US" b="1" dirty="0"/>
          </a:p>
        </p:txBody>
      </p:sp>
      <p:sp>
        <p:nvSpPr>
          <p:cNvPr id="6" name="Rectangle 5">
            <a:extLst>
              <a:ext uri="{FF2B5EF4-FFF2-40B4-BE49-F238E27FC236}">
                <a16:creationId xmlns:a16="http://schemas.microsoft.com/office/drawing/2014/main" id="{8B5D22EE-6F32-4019-8EE3-AF5921D98A3D}"/>
              </a:ext>
            </a:extLst>
          </p:cNvPr>
          <p:cNvSpPr/>
          <p:nvPr/>
        </p:nvSpPr>
        <p:spPr>
          <a:xfrm>
            <a:off x="6375270" y="1914931"/>
            <a:ext cx="7606264" cy="2117311"/>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Increased protection from web attacks</a:t>
            </a:r>
          </a:p>
          <a:p>
            <a:pPr marL="285750" indent="-285750">
              <a:lnSpc>
                <a:spcPct val="150000"/>
              </a:lnSpc>
              <a:buFont typeface="Arial" panose="020B0604020202020204" pitchFamily="34" charset="0"/>
              <a:buChar char="•"/>
            </a:pPr>
            <a:r>
              <a:rPr lang="en-US" dirty="0">
                <a:solidFill>
                  <a:srgbClr val="18537D"/>
                </a:solidFill>
              </a:rPr>
              <a:t>Integrated security with other AWS services</a:t>
            </a:r>
          </a:p>
          <a:p>
            <a:pPr marL="285750" indent="-285750">
              <a:lnSpc>
                <a:spcPct val="150000"/>
              </a:lnSpc>
              <a:buFont typeface="Arial" panose="020B0604020202020204" pitchFamily="34" charset="0"/>
              <a:buChar char="•"/>
            </a:pPr>
            <a:r>
              <a:rPr lang="en-US" dirty="0">
                <a:solidFill>
                  <a:srgbClr val="18537D"/>
                </a:solidFill>
              </a:rPr>
              <a:t>Improved web traffic visibility</a:t>
            </a:r>
          </a:p>
          <a:p>
            <a:pPr marL="285750" indent="-285750">
              <a:lnSpc>
                <a:spcPct val="150000"/>
              </a:lnSpc>
              <a:buFont typeface="Arial" panose="020B0604020202020204" pitchFamily="34" charset="0"/>
              <a:buChar char="•"/>
            </a:pPr>
            <a:r>
              <a:rPr lang="en-US" dirty="0">
                <a:solidFill>
                  <a:srgbClr val="18537D"/>
                </a:solidFill>
              </a:rPr>
              <a:t>Enhanced security with managed rules</a:t>
            </a:r>
          </a:p>
          <a:p>
            <a:pPr marL="285750" indent="-285750">
              <a:lnSpc>
                <a:spcPct val="150000"/>
              </a:lnSpc>
              <a:buFont typeface="Arial" panose="020B0604020202020204" pitchFamily="34" charset="0"/>
              <a:buChar char="•"/>
            </a:pPr>
            <a:endParaRPr lang="en-US" dirty="0"/>
          </a:p>
        </p:txBody>
      </p:sp>
      <p:sp>
        <p:nvSpPr>
          <p:cNvPr id="7" name="Rectangle 6">
            <a:extLst>
              <a:ext uri="{FF2B5EF4-FFF2-40B4-BE49-F238E27FC236}">
                <a16:creationId xmlns:a16="http://schemas.microsoft.com/office/drawing/2014/main" id="{ECAEC6A0-07F3-4EB9-9292-3D302B9BF1AB}"/>
              </a:ext>
            </a:extLst>
          </p:cNvPr>
          <p:cNvSpPr/>
          <p:nvPr/>
        </p:nvSpPr>
        <p:spPr>
          <a:xfrm>
            <a:off x="5655392" y="4089015"/>
            <a:ext cx="8326142" cy="369332"/>
          </a:xfrm>
          <a:prstGeom prst="rect">
            <a:avLst/>
          </a:prstGeom>
        </p:spPr>
        <p:txBody>
          <a:bodyPr wrap="square">
            <a:spAutoFit/>
          </a:bodyPr>
          <a:lstStyle/>
          <a:p>
            <a:pPr marL="285750" lvl="0" indent="-285750">
              <a:buFont typeface="Arial" panose="020B0604020202020204" pitchFamily="34" charset="0"/>
              <a:buChar char="•"/>
              <a:defRPr/>
            </a:pPr>
            <a:r>
              <a:rPr lang="en-US" b="1" dirty="0">
                <a:solidFill>
                  <a:srgbClr val="18537D"/>
                </a:solidFill>
                <a:latin typeface="Amazon Ember Light" panose="020B0403020204020204" pitchFamily="34" charset="0"/>
                <a:ea typeface="Amazon Ember Light" panose="020B0403020204020204" pitchFamily="34" charset="0"/>
                <a:cs typeface="Amazon Ember Light" panose="020B0403020204020204" pitchFamily="34" charset="0"/>
              </a:rPr>
              <a:t>All AWS customers are protected by AWS Shield at no additional cost </a:t>
            </a:r>
          </a:p>
        </p:txBody>
      </p:sp>
      <p:sp>
        <p:nvSpPr>
          <p:cNvPr id="8" name="Rectangle 7">
            <a:extLst>
              <a:ext uri="{FF2B5EF4-FFF2-40B4-BE49-F238E27FC236}">
                <a16:creationId xmlns:a16="http://schemas.microsoft.com/office/drawing/2014/main" id="{F2CDB85E-5885-4323-A38D-4353D06C2D1A}"/>
              </a:ext>
            </a:extLst>
          </p:cNvPr>
          <p:cNvSpPr/>
          <p:nvPr/>
        </p:nvSpPr>
        <p:spPr>
          <a:xfrm>
            <a:off x="6375269" y="4677330"/>
            <a:ext cx="7871673" cy="1286314"/>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solidFill>
                  <a:srgbClr val="18537D"/>
                </a:solidFill>
              </a:rPr>
              <a:t>Defends against most network and transport layer attacks</a:t>
            </a:r>
          </a:p>
          <a:p>
            <a:pPr marL="285750" indent="-285750">
              <a:lnSpc>
                <a:spcPct val="150000"/>
              </a:lnSpc>
              <a:buFont typeface="Arial" panose="020B0604020202020204" pitchFamily="34" charset="0"/>
              <a:buChar char="•"/>
            </a:pPr>
            <a:r>
              <a:rPr lang="en-US" dirty="0">
                <a:solidFill>
                  <a:srgbClr val="18537D"/>
                </a:solidFill>
              </a:rPr>
              <a:t>For additional security, you can subscribe to AWS Shield Advanced</a:t>
            </a:r>
          </a:p>
          <a:p>
            <a:pPr marL="285750" indent="-285750">
              <a:lnSpc>
                <a:spcPct val="150000"/>
              </a:lnSpc>
              <a:buFont typeface="Arial" panose="020B0604020202020204" pitchFamily="34" charset="0"/>
              <a:buChar char="•"/>
            </a:pPr>
            <a:endParaRPr lang="en-US" dirty="0">
              <a:solidFill>
                <a:srgbClr val="18537D"/>
              </a:solidFill>
            </a:endParaRPr>
          </a:p>
        </p:txBody>
      </p:sp>
      <p:sp>
        <p:nvSpPr>
          <p:cNvPr id="9" name="Rectangle 8">
            <a:extLst>
              <a:ext uri="{FF2B5EF4-FFF2-40B4-BE49-F238E27FC236}">
                <a16:creationId xmlns:a16="http://schemas.microsoft.com/office/drawing/2014/main" id="{4A8EC86F-58DB-4E36-93B7-6A6A16BD6FD9}"/>
              </a:ext>
            </a:extLst>
          </p:cNvPr>
          <p:cNvSpPr/>
          <p:nvPr/>
        </p:nvSpPr>
        <p:spPr>
          <a:xfrm>
            <a:off x="5687260" y="1056169"/>
            <a:ext cx="876100" cy="369332"/>
          </a:xfrm>
          <a:prstGeom prst="rect">
            <a:avLst/>
          </a:prstGeom>
        </p:spPr>
        <p:txBody>
          <a:bodyPr wrap="square">
            <a:spAutoFit/>
          </a:bodyPr>
          <a:lstStyle/>
          <a:p>
            <a:r>
              <a:rPr lang="en-IN" b="1" dirty="0">
                <a:solidFill>
                  <a:srgbClr val="18537D"/>
                </a:solidFill>
              </a:rPr>
              <a:t>WAF</a:t>
            </a:r>
            <a:endParaRPr lang="en-US" b="1" dirty="0">
              <a:solidFill>
                <a:srgbClr val="18537D"/>
              </a:solidFill>
            </a:endParaRPr>
          </a:p>
        </p:txBody>
      </p:sp>
      <p:sp>
        <p:nvSpPr>
          <p:cNvPr id="10" name="Rectangle 9">
            <a:extLst>
              <a:ext uri="{FF2B5EF4-FFF2-40B4-BE49-F238E27FC236}">
                <a16:creationId xmlns:a16="http://schemas.microsoft.com/office/drawing/2014/main" id="{7B6AA54C-5D8D-47E5-AD11-A61BD2DC7612}"/>
              </a:ext>
            </a:extLst>
          </p:cNvPr>
          <p:cNvSpPr/>
          <p:nvPr/>
        </p:nvSpPr>
        <p:spPr>
          <a:xfrm>
            <a:off x="5810853" y="3610192"/>
            <a:ext cx="1095994" cy="369332"/>
          </a:xfrm>
          <a:prstGeom prst="rect">
            <a:avLst/>
          </a:prstGeom>
        </p:spPr>
        <p:txBody>
          <a:bodyPr wrap="square">
            <a:spAutoFit/>
          </a:bodyPr>
          <a:lstStyle/>
          <a:p>
            <a:r>
              <a:rPr lang="en-IN" b="1" dirty="0">
                <a:solidFill>
                  <a:srgbClr val="18537D"/>
                </a:solidFill>
              </a:rPr>
              <a:t>Shield</a:t>
            </a:r>
            <a:endParaRPr lang="en-US" b="1" dirty="0">
              <a:solidFill>
                <a:srgbClr val="18537D"/>
              </a:solidFill>
            </a:endParaRPr>
          </a:p>
        </p:txBody>
      </p:sp>
      <p:pic>
        <p:nvPicPr>
          <p:cNvPr id="11" name="Picture 10">
            <a:extLst>
              <a:ext uri="{FF2B5EF4-FFF2-40B4-BE49-F238E27FC236}">
                <a16:creationId xmlns:a16="http://schemas.microsoft.com/office/drawing/2014/main" id="{A8B7AA5A-98F2-445B-BF03-74529EC6DD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1259" y="4094420"/>
            <a:ext cx="983848" cy="914400"/>
          </a:xfrm>
          <a:prstGeom prst="rect">
            <a:avLst/>
          </a:prstGeom>
        </p:spPr>
      </p:pic>
      <p:sp>
        <p:nvSpPr>
          <p:cNvPr id="12" name="TextBox 11">
            <a:extLst>
              <a:ext uri="{FF2B5EF4-FFF2-40B4-BE49-F238E27FC236}">
                <a16:creationId xmlns:a16="http://schemas.microsoft.com/office/drawing/2014/main" id="{5CEB7500-33EC-4EEC-B948-9C7599081040}"/>
              </a:ext>
            </a:extLst>
          </p:cNvPr>
          <p:cNvSpPr txBox="1"/>
          <p:nvPr/>
        </p:nvSpPr>
        <p:spPr>
          <a:xfrm>
            <a:off x="2690500" y="5244253"/>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 Shield</a:t>
            </a:r>
          </a:p>
        </p:txBody>
      </p:sp>
      <p:sp>
        <p:nvSpPr>
          <p:cNvPr id="13" name="TextBox 12">
            <a:extLst>
              <a:ext uri="{FF2B5EF4-FFF2-40B4-BE49-F238E27FC236}">
                <a16:creationId xmlns:a16="http://schemas.microsoft.com/office/drawing/2014/main" id="{2A6D5B73-08A0-4478-A61E-DF4E1FDB11A4}"/>
              </a:ext>
            </a:extLst>
          </p:cNvPr>
          <p:cNvSpPr txBox="1"/>
          <p:nvPr/>
        </p:nvSpPr>
        <p:spPr>
          <a:xfrm>
            <a:off x="2661557" y="2838063"/>
            <a:ext cx="943550" cy="914400"/>
          </a:xfrm>
          <a:prstGeom prst="rect">
            <a:avLst/>
          </a:prstGeom>
          <a:noFill/>
        </p:spPr>
        <p:txBody>
          <a:bodyPr wrap="square" lIns="0" tIns="0" rIns="0" bIns="0" rtlCol="0" anchor="t">
            <a:noAutofit/>
          </a:bodyPr>
          <a:lstStyle/>
          <a:p>
            <a:pPr algn="ct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AWS WAF</a:t>
            </a:r>
          </a:p>
        </p:txBody>
      </p:sp>
      <p:pic>
        <p:nvPicPr>
          <p:cNvPr id="14" name="Picture 13">
            <a:extLst>
              <a:ext uri="{FF2B5EF4-FFF2-40B4-BE49-F238E27FC236}">
                <a16:creationId xmlns:a16="http://schemas.microsoft.com/office/drawing/2014/main" id="{E07E29F3-65DC-425C-A767-D7C3812062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9022" y="1689116"/>
            <a:ext cx="751115" cy="914400"/>
          </a:xfrm>
          <a:prstGeom prst="rect">
            <a:avLst/>
          </a:prstGeom>
        </p:spPr>
      </p:pic>
    </p:spTree>
    <p:extLst>
      <p:ext uri="{BB962C8B-B14F-4D97-AF65-F5344CB8AC3E}">
        <p14:creationId xmlns:p14="http://schemas.microsoft.com/office/powerpoint/2010/main" val="2983052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3A64F46-B999-429D-ABEC-AF73D6FBC8C0}"/>
              </a:ext>
            </a:extLst>
          </p:cNvPr>
          <p:cNvSpPr>
            <a:spLocks noGrp="1"/>
          </p:cNvSpPr>
          <p:nvPr>
            <p:ph type="ftr" sz="quarter" idx="16"/>
          </p:nvPr>
        </p:nvSpPr>
        <p:spPr/>
        <p:txBody>
          <a:bodyPr/>
          <a:lstStyle/>
          <a:p>
            <a:r>
              <a:rPr lang="en-US" dirty="0"/>
              <a:t>Copyright © 2020 Accenture. All rights reserved.</a:t>
            </a:r>
          </a:p>
        </p:txBody>
      </p:sp>
      <p:sp>
        <p:nvSpPr>
          <p:cNvPr id="3" name="Slide Number Placeholder 2">
            <a:extLst>
              <a:ext uri="{FF2B5EF4-FFF2-40B4-BE49-F238E27FC236}">
                <a16:creationId xmlns:a16="http://schemas.microsoft.com/office/drawing/2014/main" id="{0B58CBEE-540F-4ECF-8B84-294A598FCEE4}"/>
              </a:ext>
            </a:extLst>
          </p:cNvPr>
          <p:cNvSpPr>
            <a:spLocks noGrp="1"/>
          </p:cNvSpPr>
          <p:nvPr>
            <p:ph type="sldNum" sz="quarter" idx="17"/>
          </p:nvPr>
        </p:nvSpPr>
        <p:spPr/>
        <p:txBody>
          <a:bodyPr/>
          <a:lstStyle/>
          <a:p>
            <a:fld id="{4F9AC08D-23A9-440E-BCB9-AA1E9877CC38}" type="slidenum">
              <a:rPr lang="en-US" smtClean="0"/>
              <a:pPr/>
              <a:t>20</a:t>
            </a:fld>
            <a:endParaRPr lang="en-US" dirty="0"/>
          </a:p>
        </p:txBody>
      </p:sp>
      <p:sp>
        <p:nvSpPr>
          <p:cNvPr id="4" name="Title 3">
            <a:extLst>
              <a:ext uri="{FF2B5EF4-FFF2-40B4-BE49-F238E27FC236}">
                <a16:creationId xmlns:a16="http://schemas.microsoft.com/office/drawing/2014/main" id="{C0109D8B-8439-4A7E-BBDE-43C30FCA3728}"/>
              </a:ext>
            </a:extLst>
          </p:cNvPr>
          <p:cNvSpPr>
            <a:spLocks noGrp="1"/>
          </p:cNvSpPr>
          <p:nvPr>
            <p:ph type="title"/>
          </p:nvPr>
        </p:nvSpPr>
        <p:spPr/>
        <p:txBody>
          <a:bodyPr/>
          <a:lstStyle/>
          <a:p>
            <a:r>
              <a:rPr lang="en-US" dirty="0">
                <a:solidFill>
                  <a:schemeClr val="bg1"/>
                </a:solidFill>
              </a:rPr>
              <a:t>AWS WAF Conditions</a:t>
            </a:r>
          </a:p>
        </p:txBody>
      </p:sp>
      <p:graphicFrame>
        <p:nvGraphicFramePr>
          <p:cNvPr id="5" name="Table 4">
            <a:extLst>
              <a:ext uri="{FF2B5EF4-FFF2-40B4-BE49-F238E27FC236}">
                <a16:creationId xmlns:a16="http://schemas.microsoft.com/office/drawing/2014/main" id="{B4D6E1DD-057F-4ADB-8049-263A02BEF90F}"/>
              </a:ext>
            </a:extLst>
          </p:cNvPr>
          <p:cNvGraphicFramePr>
            <a:graphicFrameLocks noGrp="1"/>
          </p:cNvGraphicFramePr>
          <p:nvPr/>
        </p:nvGraphicFramePr>
        <p:xfrm>
          <a:off x="2625071" y="1323767"/>
          <a:ext cx="9150069" cy="4403692"/>
        </p:xfrm>
        <a:graphic>
          <a:graphicData uri="http://schemas.openxmlformats.org/drawingml/2006/table">
            <a:tbl>
              <a:tblPr firstRow="1" bandRow="1">
                <a:tableStyleId>{00A15C55-8517-42AA-B614-E9B94910E393}</a:tableStyleId>
              </a:tblPr>
              <a:tblGrid>
                <a:gridCol w="2909988">
                  <a:extLst>
                    <a:ext uri="{9D8B030D-6E8A-4147-A177-3AD203B41FA5}">
                      <a16:colId xmlns:a16="http://schemas.microsoft.com/office/drawing/2014/main" val="20001"/>
                    </a:ext>
                  </a:extLst>
                </a:gridCol>
                <a:gridCol w="6240081">
                  <a:extLst>
                    <a:ext uri="{9D8B030D-6E8A-4147-A177-3AD203B41FA5}">
                      <a16:colId xmlns:a16="http://schemas.microsoft.com/office/drawing/2014/main" val="20002"/>
                    </a:ext>
                  </a:extLst>
                </a:gridCol>
              </a:tblGrid>
              <a:tr h="441293">
                <a:tc>
                  <a:txBody>
                    <a:bodyPr/>
                    <a:lstStyle/>
                    <a:p>
                      <a:pPr algn="ctr"/>
                      <a:r>
                        <a:rPr lang="en-US" sz="1800" dirty="0"/>
                        <a:t>Condition</a:t>
                      </a:r>
                      <a:endParaRPr lang="en-US" sz="1800" dirty="0">
                        <a:latin typeface="Amazon Ember" charset="0"/>
                        <a:ea typeface="Amazon Ember" charset="0"/>
                        <a:cs typeface="Amazon Ember" charset="0"/>
                      </a:endParaRPr>
                    </a:p>
                  </a:txBody>
                  <a:tcPr anchor="ctr"/>
                </a:tc>
                <a:tc>
                  <a:txBody>
                    <a:bodyPr/>
                    <a:lstStyle/>
                    <a:p>
                      <a:pPr algn="ctr"/>
                      <a:r>
                        <a:rPr lang="en-US" sz="1800" dirty="0"/>
                        <a:t>Allow or Block Requests Based On…</a:t>
                      </a:r>
                      <a:endParaRPr lang="en-US" sz="1800" dirty="0">
                        <a:latin typeface="Amazon Ember" charset="0"/>
                        <a:ea typeface="Amazon Ember" charset="0"/>
                        <a:cs typeface="Amazon Ember" charset="0"/>
                      </a:endParaRPr>
                    </a:p>
                  </a:txBody>
                  <a:tcPr anchor="ctr"/>
                </a:tc>
                <a:extLst>
                  <a:ext uri="{0D108BD9-81ED-4DB2-BD59-A6C34878D82A}">
                    <a16:rowId xmlns:a16="http://schemas.microsoft.com/office/drawing/2014/main" val="10000"/>
                  </a:ext>
                </a:extLst>
              </a:tr>
              <a:tr h="5509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kern="1200" dirty="0">
                          <a:effectLst/>
                        </a:rPr>
                        <a:t> Cross-site scripting match</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kern="1200" dirty="0">
                          <a:effectLst/>
                        </a:rPr>
                        <a:t>Whether the requests appear to contain malicious scripts</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002"/>
                  </a:ext>
                </a:extLst>
              </a:tr>
              <a:tr h="50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700" dirty="0"/>
                        <a:t>IP match</a:t>
                      </a:r>
                      <a:endParaRPr lang="en-US" sz="1700"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The IP addresses that they originate from</a:t>
                      </a:r>
                      <a:endParaRPr lang="en-US" sz="1700"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003"/>
                  </a:ext>
                </a:extLst>
              </a:tr>
              <a:tr h="5418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kern="1200" dirty="0">
                          <a:effectLst/>
                        </a:rPr>
                        <a:t>Geographic match</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kern="1200" dirty="0">
                          <a:effectLst/>
                        </a:rPr>
                        <a:t>The country that they originate from</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005"/>
                  </a:ext>
                </a:extLst>
              </a:tr>
              <a:tr h="5418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kern="1200" dirty="0">
                          <a:effectLst/>
                        </a:rPr>
                        <a:t>Size constraint </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kern="1200" dirty="0">
                          <a:effectLst/>
                        </a:rPr>
                        <a:t>Whether the requests exceed a specified length</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007"/>
                  </a:ext>
                </a:extLst>
              </a:tr>
              <a:tr h="5926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kern="1200" dirty="0">
                          <a:effectLst/>
                        </a:rPr>
                        <a:t>SQL injection match</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kern="1200" dirty="0">
                          <a:effectLst/>
                        </a:rPr>
                        <a:t>Whether the requests appear to contain malicious SQL code</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010"/>
                  </a:ext>
                </a:extLst>
              </a:tr>
              <a:tr h="5757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kern="1200" dirty="0">
                          <a:effectLst/>
                        </a:rPr>
                        <a:t>String match</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kern="1200" dirty="0">
                          <a:effectLst/>
                        </a:rPr>
                        <a:t>Strings that appear in the requests</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2885109056"/>
                  </a:ext>
                </a:extLst>
              </a:tr>
              <a:tr h="5757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kern="1200" dirty="0">
                          <a:effectLst/>
                        </a:rPr>
                        <a:t>Regex match</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kern="1200" dirty="0">
                          <a:effectLst/>
                        </a:rPr>
                        <a:t>A regex pattern that appears in the requests</a:t>
                      </a:r>
                      <a:endParaRPr lang="en-US" sz="17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3767887484"/>
                  </a:ext>
                </a:extLst>
              </a:tr>
            </a:tbl>
          </a:graphicData>
        </a:graphic>
      </p:graphicFrame>
    </p:spTree>
    <p:extLst>
      <p:ext uri="{BB962C8B-B14F-4D97-AF65-F5344CB8AC3E}">
        <p14:creationId xmlns:p14="http://schemas.microsoft.com/office/powerpoint/2010/main" val="1311211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C51D3DC-BF1F-4678-B999-CABA4B6F8AFC}"/>
              </a:ext>
            </a:extLst>
          </p:cNvPr>
          <p:cNvSpPr>
            <a:spLocks noGrp="1"/>
          </p:cNvSpPr>
          <p:nvPr>
            <p:ph type="ftr" sz="quarter" idx="16"/>
          </p:nvPr>
        </p:nvSpPr>
        <p:spPr/>
        <p:txBody>
          <a:bodyPr/>
          <a:lstStyle/>
          <a:p>
            <a:r>
              <a:rPr lang="en-US" dirty="0"/>
              <a:t>Copyright © 2020 Accenture. All rights reserved.</a:t>
            </a:r>
          </a:p>
        </p:txBody>
      </p:sp>
      <p:sp>
        <p:nvSpPr>
          <p:cNvPr id="4" name="Title 3">
            <a:extLst>
              <a:ext uri="{FF2B5EF4-FFF2-40B4-BE49-F238E27FC236}">
                <a16:creationId xmlns:a16="http://schemas.microsoft.com/office/drawing/2014/main" id="{4F65A37B-AE87-42E0-BAE3-69B446F19EAA}"/>
              </a:ext>
            </a:extLst>
          </p:cNvPr>
          <p:cNvSpPr>
            <a:spLocks noGrp="1"/>
          </p:cNvSpPr>
          <p:nvPr>
            <p:ph type="title"/>
          </p:nvPr>
        </p:nvSpPr>
        <p:spPr>
          <a:xfrm>
            <a:off x="450008" y="295793"/>
            <a:ext cx="13500200" cy="1359871"/>
          </a:xfrm>
        </p:spPr>
        <p:txBody>
          <a:bodyPr/>
          <a:lstStyle/>
          <a:p>
            <a:r>
              <a:rPr lang="en-IN" dirty="0">
                <a:solidFill>
                  <a:schemeClr val="bg1"/>
                </a:solidFill>
              </a:rPr>
              <a:t>Introduction to VPC</a:t>
            </a:r>
            <a:endParaRPr lang="en-US" dirty="0">
              <a:solidFill>
                <a:schemeClr val="bg1"/>
              </a:solidFill>
            </a:endParaRPr>
          </a:p>
        </p:txBody>
      </p:sp>
      <p:sp>
        <p:nvSpPr>
          <p:cNvPr id="6" name="Rectangle 5">
            <a:extLst>
              <a:ext uri="{FF2B5EF4-FFF2-40B4-BE49-F238E27FC236}">
                <a16:creationId xmlns:a16="http://schemas.microsoft.com/office/drawing/2014/main" id="{1AD075D0-D184-4651-92B6-F3B163A5E1EB}"/>
              </a:ext>
            </a:extLst>
          </p:cNvPr>
          <p:cNvSpPr/>
          <p:nvPr/>
        </p:nvSpPr>
        <p:spPr>
          <a:xfrm>
            <a:off x="450005" y="1162323"/>
            <a:ext cx="6336875" cy="5909310"/>
          </a:xfrm>
          <a:prstGeom prst="rect">
            <a:avLst/>
          </a:prstGeom>
        </p:spPr>
        <p:txBody>
          <a:bodyPr wrap="square">
            <a:spAutoFit/>
          </a:bodyPr>
          <a:lstStyle/>
          <a:p>
            <a:pPr marL="285750" indent="-285750">
              <a:buFont typeface="Arial" panose="020B0604020202020204" pitchFamily="34" charset="0"/>
              <a:buChar char="•"/>
            </a:pPr>
            <a:r>
              <a:rPr lang="en-US" dirty="0">
                <a:solidFill>
                  <a:srgbClr val="18537D"/>
                </a:solidFill>
              </a:rPr>
              <a:t>A VPC is a virtual network dedicated to your AWS account</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 Exists either in the IPv4 or IPv6 address ranges</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Enables you to create specific CIDR ranges for your resources to occupy</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Provides strict access rules for inbound and outbound traffic.</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Major Components of VPC</a:t>
            </a:r>
          </a:p>
          <a:p>
            <a:pPr marL="742950" lvl="1" indent="-285750">
              <a:buFont typeface="Arial" panose="020B0604020202020204" pitchFamily="34" charset="0"/>
              <a:buChar char="•"/>
            </a:pPr>
            <a:r>
              <a:rPr lang="en-US" dirty="0">
                <a:solidFill>
                  <a:srgbClr val="18537D"/>
                </a:solidFill>
              </a:rPr>
              <a:t>Subnet (Public and Private Subnet)</a:t>
            </a:r>
          </a:p>
          <a:p>
            <a:pPr marL="742950" lvl="1" indent="-285750">
              <a:buFont typeface="Arial" panose="020B0604020202020204" pitchFamily="34" charset="0"/>
              <a:buChar char="•"/>
            </a:pPr>
            <a:r>
              <a:rPr lang="en-US" dirty="0">
                <a:solidFill>
                  <a:srgbClr val="18537D"/>
                </a:solidFill>
              </a:rPr>
              <a:t>Internet Gateway</a:t>
            </a:r>
          </a:p>
          <a:p>
            <a:pPr marL="742950" lvl="1" indent="-285750">
              <a:buFont typeface="Arial" panose="020B0604020202020204" pitchFamily="34" charset="0"/>
              <a:buChar char="•"/>
            </a:pPr>
            <a:r>
              <a:rPr lang="en-US" dirty="0">
                <a:solidFill>
                  <a:srgbClr val="18537D"/>
                </a:solidFill>
              </a:rPr>
              <a:t>NAT Gateway</a:t>
            </a:r>
          </a:p>
          <a:p>
            <a:pPr marL="742950" lvl="1" indent="-285750">
              <a:buFont typeface="Arial" panose="020B0604020202020204" pitchFamily="34" charset="0"/>
              <a:buChar char="•"/>
            </a:pPr>
            <a:r>
              <a:rPr lang="en-US" dirty="0">
                <a:solidFill>
                  <a:srgbClr val="18537D"/>
                </a:solidFill>
              </a:rPr>
              <a:t>Route Table</a:t>
            </a:r>
          </a:p>
          <a:p>
            <a:pPr marL="742950" lvl="1" indent="-285750">
              <a:buFont typeface="Arial" panose="020B0604020202020204" pitchFamily="34" charset="0"/>
              <a:buChar char="•"/>
            </a:pPr>
            <a:r>
              <a:rPr lang="en-US" dirty="0">
                <a:solidFill>
                  <a:srgbClr val="18537D"/>
                </a:solidFill>
              </a:rPr>
              <a:t>VPN</a:t>
            </a:r>
          </a:p>
          <a:p>
            <a:pPr marL="742950" lvl="1" indent="-285750">
              <a:buFont typeface="Arial" panose="020B0604020202020204" pitchFamily="34" charset="0"/>
              <a:buChar char="•"/>
            </a:pPr>
            <a:r>
              <a:rPr lang="en-US" dirty="0">
                <a:solidFill>
                  <a:srgbClr val="18537D"/>
                </a:solidFill>
              </a:rPr>
              <a:t>Security Group</a:t>
            </a:r>
          </a:p>
          <a:p>
            <a:pPr marL="742950" lvl="1" indent="-285750">
              <a:buFont typeface="Arial" panose="020B0604020202020204" pitchFamily="34" charset="0"/>
              <a:buChar char="•"/>
            </a:pPr>
            <a:r>
              <a:rPr lang="en-US" dirty="0">
                <a:solidFill>
                  <a:srgbClr val="18537D"/>
                </a:solidFill>
              </a:rPr>
              <a:t>NACL</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101" name="Picture 100">
            <a:extLst>
              <a:ext uri="{FF2B5EF4-FFF2-40B4-BE49-F238E27FC236}">
                <a16:creationId xmlns:a16="http://schemas.microsoft.com/office/drawing/2014/main" id="{EA5B8208-2BA3-4319-B151-D280A4D63928}"/>
              </a:ext>
            </a:extLst>
          </p:cNvPr>
          <p:cNvPicPr>
            <a:picLocks noChangeAspect="1"/>
          </p:cNvPicPr>
          <p:nvPr/>
        </p:nvPicPr>
        <p:blipFill>
          <a:blip r:embed="rId2"/>
          <a:stretch>
            <a:fillRect/>
          </a:stretch>
        </p:blipFill>
        <p:spPr>
          <a:xfrm>
            <a:off x="7688518" y="1079900"/>
            <a:ext cx="5981320" cy="5347683"/>
          </a:xfrm>
          <a:prstGeom prst="rect">
            <a:avLst/>
          </a:prstGeom>
        </p:spPr>
      </p:pic>
    </p:spTree>
    <p:extLst>
      <p:ext uri="{BB962C8B-B14F-4D97-AF65-F5344CB8AC3E}">
        <p14:creationId xmlns:p14="http://schemas.microsoft.com/office/powerpoint/2010/main" val="3675408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70BD701-A875-4E45-BC4D-4DC450A5E828}"/>
              </a:ext>
            </a:extLst>
          </p:cNvPr>
          <p:cNvSpPr>
            <a:spLocks noGrp="1"/>
          </p:cNvSpPr>
          <p:nvPr>
            <p:ph type="ftr" sz="quarter" idx="16"/>
          </p:nvPr>
        </p:nvSpPr>
        <p:spPr/>
        <p:txBody>
          <a:bodyPr/>
          <a:lstStyle/>
          <a:p>
            <a:r>
              <a:rPr lang="en-US" dirty="0"/>
              <a:t>Copyright © 2020 Accenture. All rights reserved.</a:t>
            </a:r>
          </a:p>
        </p:txBody>
      </p:sp>
      <p:sp>
        <p:nvSpPr>
          <p:cNvPr id="4" name="Title 3">
            <a:extLst>
              <a:ext uri="{FF2B5EF4-FFF2-40B4-BE49-F238E27FC236}">
                <a16:creationId xmlns:a16="http://schemas.microsoft.com/office/drawing/2014/main" id="{81814DD9-FDF7-4BD3-A843-8D82C96220B8}"/>
              </a:ext>
            </a:extLst>
          </p:cNvPr>
          <p:cNvSpPr>
            <a:spLocks noGrp="1"/>
          </p:cNvSpPr>
          <p:nvPr>
            <p:ph type="title"/>
          </p:nvPr>
        </p:nvSpPr>
        <p:spPr/>
        <p:txBody>
          <a:bodyPr/>
          <a:lstStyle/>
          <a:p>
            <a:r>
              <a:rPr lang="en-IN" dirty="0">
                <a:solidFill>
                  <a:schemeClr val="bg1"/>
                </a:solidFill>
              </a:rPr>
              <a:t>VPC-Peering</a:t>
            </a:r>
            <a:endParaRPr lang="en-US" dirty="0">
              <a:solidFill>
                <a:schemeClr val="bg1"/>
              </a:solidFill>
            </a:endParaRPr>
          </a:p>
        </p:txBody>
      </p:sp>
      <p:grpSp>
        <p:nvGrpSpPr>
          <p:cNvPr id="15" name="Group 14">
            <a:extLst>
              <a:ext uri="{FF2B5EF4-FFF2-40B4-BE49-F238E27FC236}">
                <a16:creationId xmlns:a16="http://schemas.microsoft.com/office/drawing/2014/main" id="{1D6FC8B0-046F-4D9F-BE24-559F67E75AEC}"/>
              </a:ext>
            </a:extLst>
          </p:cNvPr>
          <p:cNvGrpSpPr/>
          <p:nvPr/>
        </p:nvGrpSpPr>
        <p:grpSpPr>
          <a:xfrm>
            <a:off x="619521" y="1343297"/>
            <a:ext cx="2498533" cy="5005051"/>
            <a:chOff x="8580284" y="1448757"/>
            <a:chExt cx="2498533" cy="5005051"/>
          </a:xfrm>
        </p:grpSpPr>
        <p:sp>
          <p:nvSpPr>
            <p:cNvPr id="16" name="Rectangle 15">
              <a:extLst>
                <a:ext uri="{FF2B5EF4-FFF2-40B4-BE49-F238E27FC236}">
                  <a16:creationId xmlns:a16="http://schemas.microsoft.com/office/drawing/2014/main" id="{12321231-62AF-402A-B024-17A6190D3303}"/>
                </a:ext>
              </a:extLst>
            </p:cNvPr>
            <p:cNvSpPr/>
            <p:nvPr/>
          </p:nvSpPr>
          <p:spPr>
            <a:xfrm>
              <a:off x="8580284" y="1448757"/>
              <a:ext cx="2498533" cy="5005051"/>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C92809DC-FB05-47E6-AEBA-D54B8ED99AAC}"/>
                </a:ext>
              </a:extLst>
            </p:cNvPr>
            <p:cNvGrpSpPr/>
            <p:nvPr/>
          </p:nvGrpSpPr>
          <p:grpSpPr>
            <a:xfrm>
              <a:off x="8957822" y="1655477"/>
              <a:ext cx="1743456" cy="4591611"/>
              <a:chOff x="9051221" y="1625183"/>
              <a:chExt cx="1743456" cy="4591611"/>
            </a:xfrm>
          </p:grpSpPr>
          <p:cxnSp>
            <p:nvCxnSpPr>
              <p:cNvPr id="18" name="Straight Arrow Connector 17">
                <a:extLst>
                  <a:ext uri="{FF2B5EF4-FFF2-40B4-BE49-F238E27FC236}">
                    <a16:creationId xmlns:a16="http://schemas.microsoft.com/office/drawing/2014/main" id="{98A6C6A1-F320-4C9A-A80B-A0B86557C2EE}"/>
                  </a:ext>
                </a:extLst>
              </p:cNvPr>
              <p:cNvCxnSpPr>
                <a:cxnSpLocks/>
                <a:stCxn id="30" idx="2"/>
                <a:endCxn id="26" idx="0"/>
              </p:cNvCxnSpPr>
              <p:nvPr/>
            </p:nvCxnSpPr>
            <p:spPr>
              <a:xfrm>
                <a:off x="9922949" y="2807472"/>
                <a:ext cx="1" cy="510684"/>
              </a:xfrm>
              <a:prstGeom prst="straightConnector1">
                <a:avLst/>
              </a:prstGeom>
              <a:ln w="28575">
                <a:solidFill>
                  <a:srgbClr val="4AC1F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98486816-968C-43B5-9BC9-A9A8F756B99C}"/>
                  </a:ext>
                </a:extLst>
              </p:cNvPr>
              <p:cNvCxnSpPr>
                <a:stCxn id="28" idx="0"/>
                <a:endCxn id="25" idx="2"/>
              </p:cNvCxnSpPr>
              <p:nvPr/>
            </p:nvCxnSpPr>
            <p:spPr>
              <a:xfrm flipH="1" flipV="1">
                <a:off x="9922949" y="4511796"/>
                <a:ext cx="1" cy="510685"/>
              </a:xfrm>
              <a:prstGeom prst="straightConnector1">
                <a:avLst/>
              </a:prstGeom>
              <a:ln w="28575">
                <a:solidFill>
                  <a:srgbClr val="4AC1FF"/>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20" name="Group 19">
                <a:extLst>
                  <a:ext uri="{FF2B5EF4-FFF2-40B4-BE49-F238E27FC236}">
                    <a16:creationId xmlns:a16="http://schemas.microsoft.com/office/drawing/2014/main" id="{279E413C-98C3-4D61-8E2D-CF2A3DF9F8D6}"/>
                  </a:ext>
                </a:extLst>
              </p:cNvPr>
              <p:cNvGrpSpPr/>
              <p:nvPr/>
            </p:nvGrpSpPr>
            <p:grpSpPr>
              <a:xfrm>
                <a:off x="9051221" y="1625183"/>
                <a:ext cx="1743456" cy="1182289"/>
                <a:chOff x="7631119" y="2383874"/>
                <a:chExt cx="1743456" cy="1182289"/>
              </a:xfrm>
            </p:grpSpPr>
            <p:sp>
              <p:nvSpPr>
                <p:cNvPr id="30" name="TextBox 29">
                  <a:extLst>
                    <a:ext uri="{FF2B5EF4-FFF2-40B4-BE49-F238E27FC236}">
                      <a16:creationId xmlns:a16="http://schemas.microsoft.com/office/drawing/2014/main" id="{5F3DB396-2DE6-443C-A2F5-6E008EBBD59F}"/>
                    </a:ext>
                  </a:extLst>
                </p:cNvPr>
                <p:cNvSpPr txBox="1"/>
                <p:nvPr/>
              </p:nvSpPr>
              <p:spPr>
                <a:xfrm>
                  <a:off x="7631119" y="3227609"/>
                  <a:ext cx="1743456" cy="338554"/>
                </a:xfrm>
                <a:prstGeom prst="rect">
                  <a:avLst/>
                </a:prstGeom>
                <a:noFill/>
              </p:spPr>
              <p:txBody>
                <a:bodyPr wrap="square" rtlCol="0">
                  <a:spAutoFit/>
                </a:bodyPr>
                <a:lstStyle/>
                <a:p>
                  <a:pPr algn="ctr"/>
                  <a:r>
                    <a:rPr lang="en-US" sz="1600"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10.1.0.0/16</a:t>
                  </a:r>
                </a:p>
              </p:txBody>
            </p:sp>
            <p:sp>
              <p:nvSpPr>
                <p:cNvPr id="31" name="TextBox 30">
                  <a:extLst>
                    <a:ext uri="{FF2B5EF4-FFF2-40B4-BE49-F238E27FC236}">
                      <a16:creationId xmlns:a16="http://schemas.microsoft.com/office/drawing/2014/main" id="{3D7BBC90-9B5A-4621-9E92-7BB7902F63E2}"/>
                    </a:ext>
                  </a:extLst>
                </p:cNvPr>
                <p:cNvSpPr txBox="1"/>
                <p:nvPr/>
              </p:nvSpPr>
              <p:spPr>
                <a:xfrm>
                  <a:off x="8177339" y="2383874"/>
                  <a:ext cx="651016" cy="379656"/>
                </a:xfrm>
                <a:prstGeom prst="rect">
                  <a:avLst/>
                </a:prstGeom>
                <a:noFill/>
              </p:spPr>
              <p:txBody>
                <a:bodyPr wrap="square" rtlCol="0">
                  <a:spAutoFit/>
                </a:bodyPr>
                <a:lstStyle/>
                <a:p>
                  <a:pPr algn="ctr"/>
                  <a:r>
                    <a:rPr lang="en-US" sz="1867" b="1"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Dev</a:t>
                  </a:r>
                </a:p>
              </p:txBody>
            </p:sp>
            <p:pic>
              <p:nvPicPr>
                <p:cNvPr id="32" name="Graphic 12">
                  <a:extLst>
                    <a:ext uri="{FF2B5EF4-FFF2-40B4-BE49-F238E27FC236}">
                      <a16:creationId xmlns:a16="http://schemas.microsoft.com/office/drawing/2014/main" id="{F25BF8B8-8B12-46FD-A251-9F17AC5233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50932" y="2720111"/>
                  <a:ext cx="503830" cy="503830"/>
                </a:xfrm>
                <a:prstGeom prst="rect">
                  <a:avLst/>
                </a:prstGeom>
              </p:spPr>
            </p:pic>
          </p:grpSp>
          <p:grpSp>
            <p:nvGrpSpPr>
              <p:cNvPr id="21" name="Group 20">
                <a:extLst>
                  <a:ext uri="{FF2B5EF4-FFF2-40B4-BE49-F238E27FC236}">
                    <a16:creationId xmlns:a16="http://schemas.microsoft.com/office/drawing/2014/main" id="{2FE0D5AB-3E31-4059-B30A-0002D92C558F}"/>
                  </a:ext>
                </a:extLst>
              </p:cNvPr>
              <p:cNvGrpSpPr/>
              <p:nvPr/>
            </p:nvGrpSpPr>
            <p:grpSpPr>
              <a:xfrm>
                <a:off x="9051221" y="5022481"/>
                <a:ext cx="1743456" cy="1194313"/>
                <a:chOff x="10742325" y="2383874"/>
                <a:chExt cx="1743456" cy="1194313"/>
              </a:xfrm>
            </p:grpSpPr>
            <p:sp>
              <p:nvSpPr>
                <p:cNvPr id="27" name="TextBox 26">
                  <a:extLst>
                    <a:ext uri="{FF2B5EF4-FFF2-40B4-BE49-F238E27FC236}">
                      <a16:creationId xmlns:a16="http://schemas.microsoft.com/office/drawing/2014/main" id="{78018EEE-490B-46B2-8D52-4F429FA98A7C}"/>
                    </a:ext>
                  </a:extLst>
                </p:cNvPr>
                <p:cNvSpPr txBox="1"/>
                <p:nvPr/>
              </p:nvSpPr>
              <p:spPr>
                <a:xfrm>
                  <a:off x="10742325" y="3239633"/>
                  <a:ext cx="1743456" cy="338554"/>
                </a:xfrm>
                <a:prstGeom prst="rect">
                  <a:avLst/>
                </a:prstGeom>
                <a:noFill/>
              </p:spPr>
              <p:txBody>
                <a:bodyPr wrap="square" rtlCol="0">
                  <a:spAutoFit/>
                </a:bodyPr>
                <a:lstStyle/>
                <a:p>
                  <a:pPr algn="ctr"/>
                  <a:r>
                    <a:rPr lang="en-US" sz="1600"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10.3.0.0/16</a:t>
                  </a:r>
                </a:p>
              </p:txBody>
            </p:sp>
            <p:sp>
              <p:nvSpPr>
                <p:cNvPr id="28" name="TextBox 27">
                  <a:extLst>
                    <a:ext uri="{FF2B5EF4-FFF2-40B4-BE49-F238E27FC236}">
                      <a16:creationId xmlns:a16="http://schemas.microsoft.com/office/drawing/2014/main" id="{C6A5CB8D-2552-4034-9551-76D2AC861091}"/>
                    </a:ext>
                  </a:extLst>
                </p:cNvPr>
                <p:cNvSpPr txBox="1"/>
                <p:nvPr/>
              </p:nvSpPr>
              <p:spPr>
                <a:xfrm>
                  <a:off x="11199016" y="2383874"/>
                  <a:ext cx="830075" cy="379656"/>
                </a:xfrm>
                <a:prstGeom prst="rect">
                  <a:avLst/>
                </a:prstGeom>
                <a:noFill/>
              </p:spPr>
              <p:txBody>
                <a:bodyPr wrap="square" rtlCol="0">
                  <a:spAutoFit/>
                </a:bodyPr>
                <a:lstStyle/>
                <a:p>
                  <a:pPr algn="ctr"/>
                  <a:r>
                    <a:rPr lang="en-US" sz="1867" b="1"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Prod</a:t>
                  </a:r>
                </a:p>
              </p:txBody>
            </p:sp>
            <p:pic>
              <p:nvPicPr>
                <p:cNvPr id="29" name="Graphic 12">
                  <a:extLst>
                    <a:ext uri="{FF2B5EF4-FFF2-40B4-BE49-F238E27FC236}">
                      <a16:creationId xmlns:a16="http://schemas.microsoft.com/office/drawing/2014/main" id="{A1081F5D-E2BD-4EC5-9C15-0D3C5289AEE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65081" y="2726741"/>
                  <a:ext cx="503830" cy="503830"/>
                </a:xfrm>
                <a:prstGeom prst="rect">
                  <a:avLst/>
                </a:prstGeom>
              </p:spPr>
            </p:pic>
          </p:grpSp>
          <p:grpSp>
            <p:nvGrpSpPr>
              <p:cNvPr id="22" name="Group 21">
                <a:extLst>
                  <a:ext uri="{FF2B5EF4-FFF2-40B4-BE49-F238E27FC236}">
                    <a16:creationId xmlns:a16="http://schemas.microsoft.com/office/drawing/2014/main" id="{ADE588B6-8714-4448-B02A-B6BD98C7EF83}"/>
                  </a:ext>
                </a:extLst>
              </p:cNvPr>
              <p:cNvGrpSpPr/>
              <p:nvPr/>
            </p:nvGrpSpPr>
            <p:grpSpPr>
              <a:xfrm>
                <a:off x="9051221" y="3318156"/>
                <a:ext cx="1743456" cy="1193640"/>
                <a:chOff x="9133945" y="3654423"/>
                <a:chExt cx="1743456" cy="1193640"/>
              </a:xfrm>
            </p:grpSpPr>
            <p:grpSp>
              <p:nvGrpSpPr>
                <p:cNvPr id="23" name="Group 22">
                  <a:extLst>
                    <a:ext uri="{FF2B5EF4-FFF2-40B4-BE49-F238E27FC236}">
                      <a16:creationId xmlns:a16="http://schemas.microsoft.com/office/drawing/2014/main" id="{6F7E4D97-4E6B-4F62-A71A-0EF19147E36A}"/>
                    </a:ext>
                  </a:extLst>
                </p:cNvPr>
                <p:cNvGrpSpPr/>
                <p:nvPr/>
              </p:nvGrpSpPr>
              <p:grpSpPr>
                <a:xfrm>
                  <a:off x="9133945" y="3654423"/>
                  <a:ext cx="1743456" cy="1193640"/>
                  <a:chOff x="2327213" y="3180724"/>
                  <a:chExt cx="1743456" cy="1193640"/>
                </a:xfrm>
              </p:grpSpPr>
              <p:sp>
                <p:nvSpPr>
                  <p:cNvPr id="25" name="TextBox 24">
                    <a:extLst>
                      <a:ext uri="{FF2B5EF4-FFF2-40B4-BE49-F238E27FC236}">
                        <a16:creationId xmlns:a16="http://schemas.microsoft.com/office/drawing/2014/main" id="{18206F1B-6916-4533-AEFF-EA4AA6266353}"/>
                      </a:ext>
                    </a:extLst>
                  </p:cNvPr>
                  <p:cNvSpPr txBox="1"/>
                  <p:nvPr/>
                </p:nvSpPr>
                <p:spPr>
                  <a:xfrm>
                    <a:off x="2327213" y="4035810"/>
                    <a:ext cx="1743456" cy="338554"/>
                  </a:xfrm>
                  <a:prstGeom prst="rect">
                    <a:avLst/>
                  </a:prstGeom>
                  <a:noFill/>
                </p:spPr>
                <p:txBody>
                  <a:bodyPr wrap="square" rtlCol="0">
                    <a:spAutoFit/>
                  </a:bodyPr>
                  <a:lstStyle/>
                  <a:p>
                    <a:pPr algn="ctr"/>
                    <a:r>
                      <a:rPr lang="en-US" sz="1600"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10.2.0.0/16</a:t>
                    </a:r>
                  </a:p>
                </p:txBody>
              </p:sp>
              <p:sp>
                <p:nvSpPr>
                  <p:cNvPr id="26" name="TextBox 25">
                    <a:extLst>
                      <a:ext uri="{FF2B5EF4-FFF2-40B4-BE49-F238E27FC236}">
                        <a16:creationId xmlns:a16="http://schemas.microsoft.com/office/drawing/2014/main" id="{966E338B-C474-4559-8304-D17D4B470505}"/>
                      </a:ext>
                    </a:extLst>
                  </p:cNvPr>
                  <p:cNvSpPr txBox="1"/>
                  <p:nvPr/>
                </p:nvSpPr>
                <p:spPr>
                  <a:xfrm>
                    <a:off x="2857438" y="3180724"/>
                    <a:ext cx="683007" cy="379656"/>
                  </a:xfrm>
                  <a:prstGeom prst="rect">
                    <a:avLst/>
                  </a:prstGeom>
                  <a:noFill/>
                </p:spPr>
                <p:txBody>
                  <a:bodyPr wrap="square" rtlCol="0">
                    <a:spAutoFit/>
                  </a:bodyPr>
                  <a:lstStyle/>
                  <a:p>
                    <a:pPr algn="ctr"/>
                    <a:r>
                      <a:rPr lang="en-US" sz="1867" b="1"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Test</a:t>
                    </a:r>
                  </a:p>
                </p:txBody>
              </p:sp>
            </p:grpSp>
            <p:pic>
              <p:nvPicPr>
                <p:cNvPr id="24" name="Graphic 12">
                  <a:extLst>
                    <a:ext uri="{FF2B5EF4-FFF2-40B4-BE49-F238E27FC236}">
                      <a16:creationId xmlns:a16="http://schemas.microsoft.com/office/drawing/2014/main" id="{8F97286F-DD01-42EC-930C-D42A26A457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51865" y="4034079"/>
                  <a:ext cx="503830" cy="503830"/>
                </a:xfrm>
                <a:prstGeom prst="rect">
                  <a:avLst/>
                </a:prstGeom>
              </p:spPr>
            </p:pic>
          </p:grpSp>
        </p:grpSp>
      </p:grpSp>
      <p:cxnSp>
        <p:nvCxnSpPr>
          <p:cNvPr id="35" name="Connector: Elbow 34">
            <a:extLst>
              <a:ext uri="{FF2B5EF4-FFF2-40B4-BE49-F238E27FC236}">
                <a16:creationId xmlns:a16="http://schemas.microsoft.com/office/drawing/2014/main" id="{A1D69A94-F9D2-4294-9173-F890F18A6A90}"/>
              </a:ext>
            </a:extLst>
          </p:cNvPr>
          <p:cNvCxnSpPr>
            <a:stCxn id="29" idx="1"/>
            <a:endCxn id="32" idx="1"/>
          </p:cNvCxnSpPr>
          <p:nvPr/>
        </p:nvCxnSpPr>
        <p:spPr>
          <a:xfrm rot="10800000">
            <a:off x="1616873" y="2138169"/>
            <a:ext cx="2943" cy="3403928"/>
          </a:xfrm>
          <a:prstGeom prst="bentConnector3">
            <a:avLst>
              <a:gd name="adj1" fmla="val 19273157"/>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Cross 36">
            <a:extLst>
              <a:ext uri="{FF2B5EF4-FFF2-40B4-BE49-F238E27FC236}">
                <a16:creationId xmlns:a16="http://schemas.microsoft.com/office/drawing/2014/main" id="{DB6AE179-5B1C-4205-8390-322390B9088B}"/>
              </a:ext>
            </a:extLst>
          </p:cNvPr>
          <p:cNvSpPr/>
          <p:nvPr/>
        </p:nvSpPr>
        <p:spPr>
          <a:xfrm rot="18705031">
            <a:off x="693256" y="3476817"/>
            <a:ext cx="727912" cy="735189"/>
          </a:xfrm>
          <a:prstGeom prst="plus">
            <a:avLst>
              <a:gd name="adj" fmla="val 4106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38" name="Graphic 37">
            <a:extLst>
              <a:ext uri="{FF2B5EF4-FFF2-40B4-BE49-F238E27FC236}">
                <a16:creationId xmlns:a16="http://schemas.microsoft.com/office/drawing/2014/main" id="{816DEE30-3A5D-4C92-BECA-9B19FD96E3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2117" y="1352231"/>
            <a:ext cx="277535" cy="277535"/>
          </a:xfrm>
          <a:prstGeom prst="rect">
            <a:avLst/>
          </a:prstGeom>
        </p:spPr>
      </p:pic>
      <p:sp>
        <p:nvSpPr>
          <p:cNvPr id="39" name="Rectangle 38">
            <a:extLst>
              <a:ext uri="{FF2B5EF4-FFF2-40B4-BE49-F238E27FC236}">
                <a16:creationId xmlns:a16="http://schemas.microsoft.com/office/drawing/2014/main" id="{B99F1490-BA46-4895-8A3F-04DD9DCC143B}"/>
              </a:ext>
            </a:extLst>
          </p:cNvPr>
          <p:cNvSpPr/>
          <p:nvPr/>
        </p:nvSpPr>
        <p:spPr>
          <a:xfrm>
            <a:off x="950548" y="1343297"/>
            <a:ext cx="659155" cy="369332"/>
          </a:xfrm>
          <a:prstGeom prst="rect">
            <a:avLst/>
          </a:prstGeom>
        </p:spPr>
        <p:txBody>
          <a:bodyPr wrap="none">
            <a:spAutoFit/>
          </a:bodyPr>
          <a:lstStyle/>
          <a:p>
            <a:r>
              <a:rPr lang="en-US" kern="0" dirty="0">
                <a:ln w="0"/>
                <a:solidFill>
                  <a:srgbClr val="1D8900"/>
                </a:solidFill>
                <a:latin typeface="Arial" panose="020B0604020202020204" pitchFamily="34" charset="0"/>
                <a:cs typeface="Arial" panose="020B0604020202020204" pitchFamily="34" charset="0"/>
              </a:rPr>
              <a:t>VPC</a:t>
            </a:r>
            <a:endParaRPr lang="en-US" dirty="0"/>
          </a:p>
        </p:txBody>
      </p:sp>
      <p:grpSp>
        <p:nvGrpSpPr>
          <p:cNvPr id="41" name="Group 40">
            <a:extLst>
              <a:ext uri="{FF2B5EF4-FFF2-40B4-BE49-F238E27FC236}">
                <a16:creationId xmlns:a16="http://schemas.microsoft.com/office/drawing/2014/main" id="{08AB11C2-8ABF-43A8-BD17-CD78CEF24686}"/>
              </a:ext>
            </a:extLst>
          </p:cNvPr>
          <p:cNvGrpSpPr/>
          <p:nvPr/>
        </p:nvGrpSpPr>
        <p:grpSpPr>
          <a:xfrm>
            <a:off x="8715096" y="1046504"/>
            <a:ext cx="5612649" cy="1669774"/>
            <a:chOff x="458940" y="1762539"/>
            <a:chExt cx="6218079" cy="1669774"/>
          </a:xfrm>
        </p:grpSpPr>
        <p:sp>
          <p:nvSpPr>
            <p:cNvPr id="42" name="Rectangle 41">
              <a:extLst>
                <a:ext uri="{FF2B5EF4-FFF2-40B4-BE49-F238E27FC236}">
                  <a16:creationId xmlns:a16="http://schemas.microsoft.com/office/drawing/2014/main" id="{685359FB-49ED-4B9C-B1E5-6E658621E02B}"/>
                </a:ext>
              </a:extLst>
            </p:cNvPr>
            <p:cNvSpPr/>
            <p:nvPr/>
          </p:nvSpPr>
          <p:spPr>
            <a:xfrm>
              <a:off x="584194" y="1762539"/>
              <a:ext cx="5962380" cy="1669774"/>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3" name="Group 42">
              <a:extLst>
                <a:ext uri="{FF2B5EF4-FFF2-40B4-BE49-F238E27FC236}">
                  <a16:creationId xmlns:a16="http://schemas.microsoft.com/office/drawing/2014/main" id="{5A204976-7EB1-4B30-B13D-AD6B68A23B59}"/>
                </a:ext>
              </a:extLst>
            </p:cNvPr>
            <p:cNvGrpSpPr/>
            <p:nvPr/>
          </p:nvGrpSpPr>
          <p:grpSpPr>
            <a:xfrm>
              <a:off x="458940" y="1865471"/>
              <a:ext cx="6218079" cy="1245769"/>
              <a:chOff x="7125411" y="2099196"/>
              <a:chExt cx="6218079" cy="1245769"/>
            </a:xfrm>
          </p:grpSpPr>
          <p:cxnSp>
            <p:nvCxnSpPr>
              <p:cNvPr id="46" name="Straight Arrow Connector 45">
                <a:extLst>
                  <a:ext uri="{FF2B5EF4-FFF2-40B4-BE49-F238E27FC236}">
                    <a16:creationId xmlns:a16="http://schemas.microsoft.com/office/drawing/2014/main" id="{B17899AD-D4C2-4668-825F-A40D405F010A}"/>
                  </a:ext>
                </a:extLst>
              </p:cNvPr>
              <p:cNvCxnSpPr>
                <a:stCxn id="54" idx="1"/>
                <a:endCxn id="57" idx="3"/>
              </p:cNvCxnSpPr>
              <p:nvPr/>
            </p:nvCxnSpPr>
            <p:spPr>
              <a:xfrm flipH="1" flipV="1">
                <a:off x="8249054" y="2698726"/>
                <a:ext cx="3973737" cy="619"/>
              </a:xfrm>
              <a:prstGeom prst="straightConnector1">
                <a:avLst/>
              </a:prstGeom>
              <a:ln w="28575">
                <a:solidFill>
                  <a:srgbClr val="4AC1FF"/>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5F53CC4D-5BA5-43A7-89D0-CBBA5969101D}"/>
                  </a:ext>
                </a:extLst>
              </p:cNvPr>
              <p:cNvGrpSpPr/>
              <p:nvPr/>
            </p:nvGrpSpPr>
            <p:grpSpPr>
              <a:xfrm>
                <a:off x="7125411" y="2110575"/>
                <a:ext cx="1743456" cy="1182288"/>
                <a:chOff x="7631119" y="2383875"/>
                <a:chExt cx="1743456" cy="1182288"/>
              </a:xfrm>
            </p:grpSpPr>
            <p:sp>
              <p:nvSpPr>
                <p:cNvPr id="55" name="TextBox 54">
                  <a:extLst>
                    <a:ext uri="{FF2B5EF4-FFF2-40B4-BE49-F238E27FC236}">
                      <a16:creationId xmlns:a16="http://schemas.microsoft.com/office/drawing/2014/main" id="{8D7AFA35-E818-41EA-B52F-8F9C6D9B5EE7}"/>
                    </a:ext>
                  </a:extLst>
                </p:cNvPr>
                <p:cNvSpPr txBox="1"/>
                <p:nvPr/>
              </p:nvSpPr>
              <p:spPr>
                <a:xfrm>
                  <a:off x="7631119" y="3227609"/>
                  <a:ext cx="1743456" cy="338554"/>
                </a:xfrm>
                <a:prstGeom prst="rect">
                  <a:avLst/>
                </a:prstGeom>
                <a:noFill/>
              </p:spPr>
              <p:txBody>
                <a:bodyPr wrap="square" rtlCol="0">
                  <a:spAutoFit/>
                </a:bodyPr>
                <a:lstStyle/>
                <a:p>
                  <a:pPr algn="ctr"/>
                  <a:r>
                    <a:rPr lang="en-US" sz="1600"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10.1.0.0/16</a:t>
                  </a:r>
                </a:p>
              </p:txBody>
            </p:sp>
            <p:sp>
              <p:nvSpPr>
                <p:cNvPr id="56" name="TextBox 55">
                  <a:extLst>
                    <a:ext uri="{FF2B5EF4-FFF2-40B4-BE49-F238E27FC236}">
                      <a16:creationId xmlns:a16="http://schemas.microsoft.com/office/drawing/2014/main" id="{B2B80D8B-7324-40F9-80FD-7AD824C0917A}"/>
                    </a:ext>
                  </a:extLst>
                </p:cNvPr>
                <p:cNvSpPr txBox="1"/>
                <p:nvPr/>
              </p:nvSpPr>
              <p:spPr>
                <a:xfrm>
                  <a:off x="8177338" y="2383875"/>
                  <a:ext cx="651016" cy="379656"/>
                </a:xfrm>
                <a:prstGeom prst="rect">
                  <a:avLst/>
                </a:prstGeom>
                <a:noFill/>
              </p:spPr>
              <p:txBody>
                <a:bodyPr wrap="square" rtlCol="0">
                  <a:spAutoFit/>
                </a:bodyPr>
                <a:lstStyle/>
                <a:p>
                  <a:pPr algn="ctr"/>
                  <a:r>
                    <a:rPr lang="en-US" sz="1867" b="1"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Dev</a:t>
                  </a:r>
                </a:p>
              </p:txBody>
            </p:sp>
            <p:pic>
              <p:nvPicPr>
                <p:cNvPr id="57" name="Graphic 12">
                  <a:extLst>
                    <a:ext uri="{FF2B5EF4-FFF2-40B4-BE49-F238E27FC236}">
                      <a16:creationId xmlns:a16="http://schemas.microsoft.com/office/drawing/2014/main" id="{4492520B-2EEB-4543-AA6D-78FF4E6400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50932" y="2720111"/>
                  <a:ext cx="503830" cy="503830"/>
                </a:xfrm>
                <a:prstGeom prst="rect">
                  <a:avLst/>
                </a:prstGeom>
              </p:spPr>
            </p:pic>
          </p:grpSp>
          <p:grpSp>
            <p:nvGrpSpPr>
              <p:cNvPr id="48" name="Group 47">
                <a:extLst>
                  <a:ext uri="{FF2B5EF4-FFF2-40B4-BE49-F238E27FC236}">
                    <a16:creationId xmlns:a16="http://schemas.microsoft.com/office/drawing/2014/main" id="{5A1E2D4A-AC56-41B3-9A99-C978A1212E46}"/>
                  </a:ext>
                </a:extLst>
              </p:cNvPr>
              <p:cNvGrpSpPr/>
              <p:nvPr/>
            </p:nvGrpSpPr>
            <p:grpSpPr>
              <a:xfrm>
                <a:off x="11600034" y="2104562"/>
                <a:ext cx="1743456" cy="1194313"/>
                <a:chOff x="10742322" y="2383874"/>
                <a:chExt cx="1743456" cy="1194313"/>
              </a:xfrm>
            </p:grpSpPr>
            <p:sp>
              <p:nvSpPr>
                <p:cNvPr id="52" name="TextBox 51">
                  <a:extLst>
                    <a:ext uri="{FF2B5EF4-FFF2-40B4-BE49-F238E27FC236}">
                      <a16:creationId xmlns:a16="http://schemas.microsoft.com/office/drawing/2014/main" id="{621D7C3C-1512-45CE-8106-6773ABDE022E}"/>
                    </a:ext>
                  </a:extLst>
                </p:cNvPr>
                <p:cNvSpPr txBox="1"/>
                <p:nvPr/>
              </p:nvSpPr>
              <p:spPr>
                <a:xfrm>
                  <a:off x="10742322" y="3239633"/>
                  <a:ext cx="1743456" cy="338554"/>
                </a:xfrm>
                <a:prstGeom prst="rect">
                  <a:avLst/>
                </a:prstGeom>
                <a:noFill/>
              </p:spPr>
              <p:txBody>
                <a:bodyPr wrap="square" rtlCol="0">
                  <a:spAutoFit/>
                </a:bodyPr>
                <a:lstStyle/>
                <a:p>
                  <a:pPr algn="ctr"/>
                  <a:r>
                    <a:rPr lang="en-US" sz="1600"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10.2.0.0/16</a:t>
                  </a:r>
                </a:p>
              </p:txBody>
            </p:sp>
            <p:sp>
              <p:nvSpPr>
                <p:cNvPr id="53" name="TextBox 52">
                  <a:extLst>
                    <a:ext uri="{FF2B5EF4-FFF2-40B4-BE49-F238E27FC236}">
                      <a16:creationId xmlns:a16="http://schemas.microsoft.com/office/drawing/2014/main" id="{52132974-4F86-43F3-BF47-750D2DF54BE2}"/>
                    </a:ext>
                  </a:extLst>
                </p:cNvPr>
                <p:cNvSpPr txBox="1"/>
                <p:nvPr/>
              </p:nvSpPr>
              <p:spPr>
                <a:xfrm>
                  <a:off x="11199015" y="2383874"/>
                  <a:ext cx="830075" cy="379656"/>
                </a:xfrm>
                <a:prstGeom prst="rect">
                  <a:avLst/>
                </a:prstGeom>
                <a:noFill/>
              </p:spPr>
              <p:txBody>
                <a:bodyPr wrap="square" rtlCol="0">
                  <a:spAutoFit/>
                </a:bodyPr>
                <a:lstStyle/>
                <a:p>
                  <a:pPr algn="ctr"/>
                  <a:r>
                    <a:rPr lang="en-US" sz="1867" b="1"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Prod</a:t>
                  </a:r>
                </a:p>
              </p:txBody>
            </p:sp>
            <p:pic>
              <p:nvPicPr>
                <p:cNvPr id="54" name="Graphic 12">
                  <a:extLst>
                    <a:ext uri="{FF2B5EF4-FFF2-40B4-BE49-F238E27FC236}">
                      <a16:creationId xmlns:a16="http://schemas.microsoft.com/office/drawing/2014/main" id="{4E38F968-017F-4BB4-83AE-54A89C9B72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65079" y="2726742"/>
                  <a:ext cx="503830" cy="503830"/>
                </a:xfrm>
                <a:prstGeom prst="rect">
                  <a:avLst/>
                </a:prstGeom>
              </p:spPr>
            </p:pic>
          </p:grpSp>
          <p:pic>
            <p:nvPicPr>
              <p:cNvPr id="49" name="Graphic 44">
                <a:extLst>
                  <a:ext uri="{FF2B5EF4-FFF2-40B4-BE49-F238E27FC236}">
                    <a16:creationId xmlns:a16="http://schemas.microsoft.com/office/drawing/2014/main" id="{5096A8E7-A881-45C4-8F89-5B10F49F2DC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21323" y="2374480"/>
                <a:ext cx="649729" cy="649729"/>
              </a:xfrm>
              <a:prstGeom prst="rect">
                <a:avLst/>
              </a:prstGeom>
              <a:solidFill>
                <a:schemeClr val="bg1"/>
              </a:solidFill>
            </p:spPr>
          </p:pic>
          <p:sp>
            <p:nvSpPr>
              <p:cNvPr id="50" name="TextBox 49">
                <a:extLst>
                  <a:ext uri="{FF2B5EF4-FFF2-40B4-BE49-F238E27FC236}">
                    <a16:creationId xmlns:a16="http://schemas.microsoft.com/office/drawing/2014/main" id="{868C8F83-FC52-448A-BD7D-D9029203390E}"/>
                  </a:ext>
                </a:extLst>
              </p:cNvPr>
              <p:cNvSpPr txBox="1"/>
              <p:nvPr/>
            </p:nvSpPr>
            <p:spPr>
              <a:xfrm>
                <a:off x="9854340" y="2099196"/>
                <a:ext cx="983693" cy="338554"/>
              </a:xfrm>
              <a:prstGeom prst="rect">
                <a:avLst/>
              </a:prstGeom>
              <a:noFill/>
            </p:spPr>
            <p:txBody>
              <a:bodyPr wrap="square" rtlCol="0">
                <a:spAutoFit/>
              </a:bodyPr>
              <a:lstStyle/>
              <a:p>
                <a:pPr algn="ctr"/>
                <a:r>
                  <a:rPr lang="en-US" sz="1600" b="1" dirty="0">
                    <a:solidFill>
                      <a:schemeClr val="accent3">
                        <a:lumMod val="75000"/>
                      </a:schemeClr>
                    </a:solidFill>
                    <a:latin typeface="Amazon Ember" panose="020B0603020204020204" pitchFamily="34" charset="0"/>
                    <a:ea typeface="Amazon Ember" panose="020B0603020204020204" pitchFamily="34" charset="0"/>
                    <a:cs typeface="Amazon Ember" panose="020B0603020204020204" pitchFamily="34" charset="0"/>
                  </a:rPr>
                  <a:t>PCX-1</a:t>
                </a:r>
              </a:p>
            </p:txBody>
          </p:sp>
          <p:sp>
            <p:nvSpPr>
              <p:cNvPr id="51" name="TextBox 50">
                <a:extLst>
                  <a:ext uri="{FF2B5EF4-FFF2-40B4-BE49-F238E27FC236}">
                    <a16:creationId xmlns:a16="http://schemas.microsoft.com/office/drawing/2014/main" id="{44CFE916-3585-4FDF-A868-34D6FF38CE91}"/>
                  </a:ext>
                </a:extLst>
              </p:cNvPr>
              <p:cNvSpPr txBox="1"/>
              <p:nvPr/>
            </p:nvSpPr>
            <p:spPr>
              <a:xfrm>
                <a:off x="9454848" y="3006411"/>
                <a:ext cx="1782676" cy="338554"/>
              </a:xfrm>
              <a:prstGeom prst="rect">
                <a:avLst/>
              </a:prstGeom>
              <a:noFill/>
            </p:spPr>
            <p:txBody>
              <a:bodyPr wrap="square" rtlCol="0">
                <a:spAutoFit/>
              </a:bodyPr>
              <a:lstStyle/>
              <a:p>
                <a:pPr algn="ctr"/>
                <a:r>
                  <a:rPr lang="en-US" sz="1600" dirty="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VPC peering</a:t>
                </a:r>
              </a:p>
            </p:txBody>
          </p:sp>
        </p:grpSp>
        <p:sp>
          <p:nvSpPr>
            <p:cNvPr id="44" name="Rectangle 43">
              <a:extLst>
                <a:ext uri="{FF2B5EF4-FFF2-40B4-BE49-F238E27FC236}">
                  <a16:creationId xmlns:a16="http://schemas.microsoft.com/office/drawing/2014/main" id="{027BF484-43C7-4390-8837-4D854BD12E1E}"/>
                </a:ext>
              </a:extLst>
            </p:cNvPr>
            <p:cNvSpPr/>
            <p:nvPr/>
          </p:nvSpPr>
          <p:spPr>
            <a:xfrm>
              <a:off x="1166199" y="3042599"/>
              <a:ext cx="328936" cy="369332"/>
            </a:xfrm>
            <a:prstGeom prst="rect">
              <a:avLst/>
            </a:prstGeom>
          </p:spPr>
          <p:txBody>
            <a:bodyPr wrap="none">
              <a:spAutoFit/>
            </a:bodyPr>
            <a:lstStyle/>
            <a:p>
              <a:r>
                <a:rPr lang="en-US" sz="1800" b="1" dirty="0">
                  <a:solidFill>
                    <a:srgbClr val="FF5050"/>
                  </a:solidFill>
                  <a:latin typeface="Amazon Ember Light" panose="020B0403020204020204" pitchFamily="34" charset="0"/>
                  <a:ea typeface="Amazon Ember Light" panose="020B0403020204020204" pitchFamily="34" charset="0"/>
                  <a:cs typeface="Amazon Ember Light" panose="020B0403020204020204" pitchFamily="34" charset="0"/>
                </a:rPr>
                <a:t>A</a:t>
              </a:r>
              <a:endParaRPr lang="en-US" b="1" dirty="0">
                <a:solidFill>
                  <a:srgbClr val="FF5050"/>
                </a:solidFill>
              </a:endParaRPr>
            </a:p>
          </p:txBody>
        </p:sp>
        <p:sp>
          <p:nvSpPr>
            <p:cNvPr id="45" name="Rectangle 44">
              <a:extLst>
                <a:ext uri="{FF2B5EF4-FFF2-40B4-BE49-F238E27FC236}">
                  <a16:creationId xmlns:a16="http://schemas.microsoft.com/office/drawing/2014/main" id="{1FCDD9B4-50D5-4D8B-A4E2-93C2F3BF4F83}"/>
                </a:ext>
              </a:extLst>
            </p:cNvPr>
            <p:cNvSpPr/>
            <p:nvPr/>
          </p:nvSpPr>
          <p:spPr>
            <a:xfrm>
              <a:off x="5640823" y="3056107"/>
              <a:ext cx="328936" cy="369332"/>
            </a:xfrm>
            <a:prstGeom prst="rect">
              <a:avLst/>
            </a:prstGeom>
          </p:spPr>
          <p:txBody>
            <a:bodyPr wrap="none">
              <a:spAutoFit/>
            </a:bodyPr>
            <a:lstStyle/>
            <a:p>
              <a:r>
                <a:rPr lang="en-US" sz="1800" b="1" dirty="0">
                  <a:solidFill>
                    <a:srgbClr val="FF5050"/>
                  </a:solidFill>
                  <a:latin typeface="Amazon Ember Light" panose="020B0403020204020204" pitchFamily="34" charset="0"/>
                  <a:ea typeface="Amazon Ember Light" panose="020B0403020204020204" pitchFamily="34" charset="0"/>
                  <a:cs typeface="Amazon Ember Light" panose="020B0403020204020204" pitchFamily="34" charset="0"/>
                </a:rPr>
                <a:t>B</a:t>
              </a:r>
              <a:endParaRPr lang="en-US" b="1" dirty="0">
                <a:solidFill>
                  <a:srgbClr val="FF5050"/>
                </a:solidFill>
              </a:endParaRPr>
            </a:p>
          </p:txBody>
        </p:sp>
      </p:grpSp>
      <p:sp>
        <p:nvSpPr>
          <p:cNvPr id="58" name="Rectangle 57">
            <a:extLst>
              <a:ext uri="{FF2B5EF4-FFF2-40B4-BE49-F238E27FC236}">
                <a16:creationId xmlns:a16="http://schemas.microsoft.com/office/drawing/2014/main" id="{5E127441-5E18-4B4F-AB26-23A65A7D9D77}"/>
              </a:ext>
            </a:extLst>
          </p:cNvPr>
          <p:cNvSpPr/>
          <p:nvPr/>
        </p:nvSpPr>
        <p:spPr>
          <a:xfrm>
            <a:off x="9206786" y="2945944"/>
            <a:ext cx="4688382" cy="3661681"/>
          </a:xfrm>
          <a:prstGeom prst="rect">
            <a:avLst/>
          </a:prstGeom>
          <a:solidFill>
            <a:schemeClr val="bg1"/>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9" name="Table 58">
            <a:extLst>
              <a:ext uri="{FF2B5EF4-FFF2-40B4-BE49-F238E27FC236}">
                <a16:creationId xmlns:a16="http://schemas.microsoft.com/office/drawing/2014/main" id="{E10B72E1-9C9F-43B9-8EDC-F78F6A6EB29A}"/>
              </a:ext>
            </a:extLst>
          </p:cNvPr>
          <p:cNvGraphicFramePr>
            <a:graphicFrameLocks noGrp="1"/>
          </p:cNvGraphicFramePr>
          <p:nvPr/>
        </p:nvGraphicFramePr>
        <p:xfrm>
          <a:off x="10134310" y="5034383"/>
          <a:ext cx="2989072" cy="1110771"/>
        </p:xfrm>
        <a:graphic>
          <a:graphicData uri="http://schemas.openxmlformats.org/drawingml/2006/table">
            <a:tbl>
              <a:tblPr firstRow="1" bandRow="1">
                <a:tableStyleId>{1FECB4D8-DB02-4DC6-A0A2-4F2EBAE1DC90}</a:tableStyleId>
              </a:tblPr>
              <a:tblGrid>
                <a:gridCol w="1740909">
                  <a:extLst>
                    <a:ext uri="{9D8B030D-6E8A-4147-A177-3AD203B41FA5}">
                      <a16:colId xmlns:a16="http://schemas.microsoft.com/office/drawing/2014/main" val="20000"/>
                    </a:ext>
                  </a:extLst>
                </a:gridCol>
                <a:gridCol w="1248163">
                  <a:extLst>
                    <a:ext uri="{9D8B030D-6E8A-4147-A177-3AD203B41FA5}">
                      <a16:colId xmlns:a16="http://schemas.microsoft.com/office/drawing/2014/main" val="20001"/>
                    </a:ext>
                  </a:extLst>
                </a:gridCol>
              </a:tblGrid>
              <a:tr h="370257">
                <a:tc>
                  <a:txBody>
                    <a:bodyPr/>
                    <a:lstStyle/>
                    <a:p>
                      <a:pPr algn="ctr"/>
                      <a:r>
                        <a:rPr lang="en-US" sz="1600" dirty="0"/>
                        <a:t>Destination</a:t>
                      </a:r>
                    </a:p>
                  </a:txBody>
                  <a:tcPr marL="121920" marR="121920" marT="60960" marB="60960"/>
                </a:tc>
                <a:tc>
                  <a:txBody>
                    <a:bodyPr/>
                    <a:lstStyle/>
                    <a:p>
                      <a:pPr algn="ctr"/>
                      <a:r>
                        <a:rPr lang="en-US" sz="1600" dirty="0"/>
                        <a:t>Target</a:t>
                      </a:r>
                    </a:p>
                  </a:txBody>
                  <a:tcPr marL="121920" marR="121920" marT="60960" marB="60960"/>
                </a:tc>
                <a:extLst>
                  <a:ext uri="{0D108BD9-81ED-4DB2-BD59-A6C34878D82A}">
                    <a16:rowId xmlns:a16="http://schemas.microsoft.com/office/drawing/2014/main" val="10000"/>
                  </a:ext>
                </a:extLst>
              </a:tr>
              <a:tr h="370257">
                <a:tc>
                  <a:txBody>
                    <a:bodyPr/>
                    <a:lstStyle/>
                    <a:p>
                      <a:r>
                        <a:rPr lang="en-US" sz="1600" dirty="0"/>
                        <a:t>10.2.0.0/16</a:t>
                      </a:r>
                    </a:p>
                  </a:txBody>
                  <a:tcPr marL="121920" marR="121920" marT="60960" marB="60960"/>
                </a:tc>
                <a:tc>
                  <a:txBody>
                    <a:bodyPr/>
                    <a:lstStyle/>
                    <a:p>
                      <a:r>
                        <a:rPr lang="en-US" sz="1600" dirty="0"/>
                        <a:t>local</a:t>
                      </a:r>
                    </a:p>
                  </a:txBody>
                  <a:tcPr marL="121920" marR="121920" marT="60960" marB="60960"/>
                </a:tc>
                <a:extLst>
                  <a:ext uri="{0D108BD9-81ED-4DB2-BD59-A6C34878D82A}">
                    <a16:rowId xmlns:a16="http://schemas.microsoft.com/office/drawing/2014/main" val="10001"/>
                  </a:ext>
                </a:extLst>
              </a:tr>
              <a:tr h="370257">
                <a:tc>
                  <a:txBody>
                    <a:bodyPr/>
                    <a:lstStyle/>
                    <a:p>
                      <a:r>
                        <a:rPr lang="en-US" sz="1600" dirty="0"/>
                        <a:t>10.1.0.0/16</a:t>
                      </a:r>
                      <a:endParaRPr lang="en-US" sz="1600" b="1" dirty="0"/>
                    </a:p>
                  </a:txBody>
                  <a:tcPr marL="121920" marR="121920" marT="60960" marB="60960"/>
                </a:tc>
                <a:tc>
                  <a:txBody>
                    <a:bodyPr/>
                    <a:lstStyle/>
                    <a:p>
                      <a:r>
                        <a:rPr lang="en-US" sz="1600" dirty="0"/>
                        <a:t>PCX-1</a:t>
                      </a:r>
                      <a:endParaRPr lang="en-US" sz="1600" b="1" dirty="0"/>
                    </a:p>
                  </a:txBody>
                  <a:tcPr marL="121920" marR="121920" marT="60960" marB="60960"/>
                </a:tc>
                <a:extLst>
                  <a:ext uri="{0D108BD9-81ED-4DB2-BD59-A6C34878D82A}">
                    <a16:rowId xmlns:a16="http://schemas.microsoft.com/office/drawing/2014/main" val="10002"/>
                  </a:ext>
                </a:extLst>
              </a:tr>
            </a:tbl>
          </a:graphicData>
        </a:graphic>
      </p:graphicFrame>
      <p:sp>
        <p:nvSpPr>
          <p:cNvPr id="60" name="TextBox 59">
            <a:extLst>
              <a:ext uri="{FF2B5EF4-FFF2-40B4-BE49-F238E27FC236}">
                <a16:creationId xmlns:a16="http://schemas.microsoft.com/office/drawing/2014/main" id="{8F89A05A-B0B1-4BC4-ADFC-77F8D8841216}"/>
              </a:ext>
            </a:extLst>
          </p:cNvPr>
          <p:cNvSpPr txBox="1"/>
          <p:nvPr/>
        </p:nvSpPr>
        <p:spPr>
          <a:xfrm>
            <a:off x="11059503" y="4766282"/>
            <a:ext cx="1611562"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Route table</a:t>
            </a:r>
          </a:p>
        </p:txBody>
      </p:sp>
      <p:graphicFrame>
        <p:nvGraphicFramePr>
          <p:cNvPr id="61" name="Table 60">
            <a:extLst>
              <a:ext uri="{FF2B5EF4-FFF2-40B4-BE49-F238E27FC236}">
                <a16:creationId xmlns:a16="http://schemas.microsoft.com/office/drawing/2014/main" id="{51331F08-F8A0-42B6-931F-32B667BA021C}"/>
              </a:ext>
            </a:extLst>
          </p:cNvPr>
          <p:cNvGraphicFramePr>
            <a:graphicFrameLocks noGrp="1"/>
          </p:cNvGraphicFramePr>
          <p:nvPr/>
        </p:nvGraphicFramePr>
        <p:xfrm>
          <a:off x="10119844" y="3363140"/>
          <a:ext cx="2989072" cy="1110771"/>
        </p:xfrm>
        <a:graphic>
          <a:graphicData uri="http://schemas.openxmlformats.org/drawingml/2006/table">
            <a:tbl>
              <a:tblPr firstRow="1" bandRow="1">
                <a:tableStyleId>{F5AB1C69-6EDB-4FF4-983F-18BD219EF322}</a:tableStyleId>
              </a:tblPr>
              <a:tblGrid>
                <a:gridCol w="1740909">
                  <a:extLst>
                    <a:ext uri="{9D8B030D-6E8A-4147-A177-3AD203B41FA5}">
                      <a16:colId xmlns:a16="http://schemas.microsoft.com/office/drawing/2014/main" val="20000"/>
                    </a:ext>
                  </a:extLst>
                </a:gridCol>
                <a:gridCol w="1248163">
                  <a:extLst>
                    <a:ext uri="{9D8B030D-6E8A-4147-A177-3AD203B41FA5}">
                      <a16:colId xmlns:a16="http://schemas.microsoft.com/office/drawing/2014/main" val="20001"/>
                    </a:ext>
                  </a:extLst>
                </a:gridCol>
              </a:tblGrid>
              <a:tr h="370257">
                <a:tc>
                  <a:txBody>
                    <a:bodyPr/>
                    <a:lstStyle/>
                    <a:p>
                      <a:pPr algn="ctr"/>
                      <a:r>
                        <a:rPr lang="en-US" sz="1600" dirty="0"/>
                        <a:t>Destination</a:t>
                      </a:r>
                    </a:p>
                  </a:txBody>
                  <a:tcPr marL="121920" marR="121920" marT="60960" marB="60960"/>
                </a:tc>
                <a:tc>
                  <a:txBody>
                    <a:bodyPr/>
                    <a:lstStyle/>
                    <a:p>
                      <a:pPr algn="ctr"/>
                      <a:r>
                        <a:rPr lang="en-US" sz="1600" dirty="0"/>
                        <a:t>Target</a:t>
                      </a:r>
                    </a:p>
                  </a:txBody>
                  <a:tcPr marL="121920" marR="121920" marT="60960" marB="60960"/>
                </a:tc>
                <a:extLst>
                  <a:ext uri="{0D108BD9-81ED-4DB2-BD59-A6C34878D82A}">
                    <a16:rowId xmlns:a16="http://schemas.microsoft.com/office/drawing/2014/main" val="10000"/>
                  </a:ext>
                </a:extLst>
              </a:tr>
              <a:tr h="370257">
                <a:tc>
                  <a:txBody>
                    <a:bodyPr/>
                    <a:lstStyle/>
                    <a:p>
                      <a:r>
                        <a:rPr lang="en-US" sz="1600" dirty="0"/>
                        <a:t>10.1.0.0/16</a:t>
                      </a:r>
                    </a:p>
                  </a:txBody>
                  <a:tcPr marL="121920" marR="121920" marT="60960" marB="60960"/>
                </a:tc>
                <a:tc>
                  <a:txBody>
                    <a:bodyPr/>
                    <a:lstStyle/>
                    <a:p>
                      <a:r>
                        <a:rPr lang="en-US" sz="1600" dirty="0"/>
                        <a:t>local</a:t>
                      </a:r>
                    </a:p>
                  </a:txBody>
                  <a:tcPr marL="121920" marR="121920" marT="60960" marB="60960"/>
                </a:tc>
                <a:extLst>
                  <a:ext uri="{0D108BD9-81ED-4DB2-BD59-A6C34878D82A}">
                    <a16:rowId xmlns:a16="http://schemas.microsoft.com/office/drawing/2014/main" val="10001"/>
                  </a:ext>
                </a:extLst>
              </a:tr>
              <a:tr h="370257">
                <a:tc>
                  <a:txBody>
                    <a:bodyPr/>
                    <a:lstStyle/>
                    <a:p>
                      <a:r>
                        <a:rPr lang="en-US" sz="1600" dirty="0"/>
                        <a:t>10.2.0.0/16</a:t>
                      </a:r>
                      <a:endParaRPr lang="en-US" sz="1600" b="1" dirty="0"/>
                    </a:p>
                  </a:txBody>
                  <a:tcPr marL="121920" marR="121920" marT="60960" marB="60960"/>
                </a:tc>
                <a:tc>
                  <a:txBody>
                    <a:bodyPr/>
                    <a:lstStyle/>
                    <a:p>
                      <a:r>
                        <a:rPr lang="en-US" sz="1600" dirty="0"/>
                        <a:t>PCX-1</a:t>
                      </a:r>
                      <a:endParaRPr lang="en-US" sz="1600" b="1" dirty="0"/>
                    </a:p>
                  </a:txBody>
                  <a:tcPr marL="121920" marR="121920" marT="60960" marB="60960"/>
                </a:tc>
                <a:extLst>
                  <a:ext uri="{0D108BD9-81ED-4DB2-BD59-A6C34878D82A}">
                    <a16:rowId xmlns:a16="http://schemas.microsoft.com/office/drawing/2014/main" val="10002"/>
                  </a:ext>
                </a:extLst>
              </a:tr>
            </a:tbl>
          </a:graphicData>
        </a:graphic>
      </p:graphicFrame>
      <p:sp>
        <p:nvSpPr>
          <p:cNvPr id="62" name="TextBox 61">
            <a:extLst>
              <a:ext uri="{FF2B5EF4-FFF2-40B4-BE49-F238E27FC236}">
                <a16:creationId xmlns:a16="http://schemas.microsoft.com/office/drawing/2014/main" id="{C3D5B08A-1E6A-4A08-A9BB-89C82BA1C5E6}"/>
              </a:ext>
            </a:extLst>
          </p:cNvPr>
          <p:cNvSpPr txBox="1"/>
          <p:nvPr/>
        </p:nvSpPr>
        <p:spPr>
          <a:xfrm>
            <a:off x="10808599" y="3019542"/>
            <a:ext cx="1611562"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Route table</a:t>
            </a:r>
          </a:p>
        </p:txBody>
      </p:sp>
      <p:sp>
        <p:nvSpPr>
          <p:cNvPr id="63" name="Rectangle 62">
            <a:extLst>
              <a:ext uri="{FF2B5EF4-FFF2-40B4-BE49-F238E27FC236}">
                <a16:creationId xmlns:a16="http://schemas.microsoft.com/office/drawing/2014/main" id="{4E709B93-6DE6-4956-AB2B-D0654EB251F5}"/>
              </a:ext>
            </a:extLst>
          </p:cNvPr>
          <p:cNvSpPr/>
          <p:nvPr/>
        </p:nvSpPr>
        <p:spPr>
          <a:xfrm>
            <a:off x="9587621" y="3710436"/>
            <a:ext cx="297362" cy="369332"/>
          </a:xfrm>
          <a:prstGeom prst="rect">
            <a:avLst/>
          </a:prstGeom>
        </p:spPr>
        <p:txBody>
          <a:bodyPr wrap="square">
            <a:spAutoFit/>
          </a:bodyPr>
          <a:lstStyle/>
          <a:p>
            <a:r>
              <a:rPr lang="en-US" sz="1800" b="1" dirty="0">
                <a:solidFill>
                  <a:srgbClr val="FF5050"/>
                </a:solidFill>
                <a:latin typeface="Amazon Ember Light" panose="020B0403020204020204" pitchFamily="34" charset="0"/>
                <a:ea typeface="Amazon Ember Light" panose="020B0403020204020204" pitchFamily="34" charset="0"/>
                <a:cs typeface="Amazon Ember Light" panose="020B0403020204020204" pitchFamily="34" charset="0"/>
              </a:rPr>
              <a:t>A</a:t>
            </a:r>
            <a:endParaRPr lang="en-US" b="1" dirty="0">
              <a:solidFill>
                <a:srgbClr val="FF5050"/>
              </a:solidFill>
            </a:endParaRPr>
          </a:p>
        </p:txBody>
      </p:sp>
      <p:sp>
        <p:nvSpPr>
          <p:cNvPr id="64" name="Rectangle 63">
            <a:extLst>
              <a:ext uri="{FF2B5EF4-FFF2-40B4-BE49-F238E27FC236}">
                <a16:creationId xmlns:a16="http://schemas.microsoft.com/office/drawing/2014/main" id="{49385CFA-46C7-4C98-A46F-8958510BA78E}"/>
              </a:ext>
            </a:extLst>
          </p:cNvPr>
          <p:cNvSpPr/>
          <p:nvPr/>
        </p:nvSpPr>
        <p:spPr>
          <a:xfrm>
            <a:off x="9579791" y="5381679"/>
            <a:ext cx="297362" cy="369332"/>
          </a:xfrm>
          <a:prstGeom prst="rect">
            <a:avLst/>
          </a:prstGeom>
        </p:spPr>
        <p:txBody>
          <a:bodyPr wrap="square">
            <a:spAutoFit/>
          </a:bodyPr>
          <a:lstStyle/>
          <a:p>
            <a:r>
              <a:rPr lang="en-US" sz="1800" b="1" dirty="0">
                <a:solidFill>
                  <a:srgbClr val="FF5050"/>
                </a:solidFill>
                <a:latin typeface="Amazon Ember Light" panose="020B0403020204020204" pitchFamily="34" charset="0"/>
                <a:ea typeface="Amazon Ember Light" panose="020B0403020204020204" pitchFamily="34" charset="0"/>
                <a:cs typeface="Amazon Ember Light" panose="020B0403020204020204" pitchFamily="34" charset="0"/>
              </a:rPr>
              <a:t>B</a:t>
            </a:r>
            <a:endParaRPr lang="en-US" b="1" dirty="0">
              <a:solidFill>
                <a:srgbClr val="FF5050"/>
              </a:solidFill>
            </a:endParaRPr>
          </a:p>
        </p:txBody>
      </p:sp>
      <p:sp>
        <p:nvSpPr>
          <p:cNvPr id="75" name="Rectangle 74">
            <a:extLst>
              <a:ext uri="{FF2B5EF4-FFF2-40B4-BE49-F238E27FC236}">
                <a16:creationId xmlns:a16="http://schemas.microsoft.com/office/drawing/2014/main" id="{1B5C569F-49B8-4F86-9BDB-F184016DA814}"/>
              </a:ext>
            </a:extLst>
          </p:cNvPr>
          <p:cNvSpPr/>
          <p:nvPr/>
        </p:nvSpPr>
        <p:spPr>
          <a:xfrm>
            <a:off x="3274647" y="1318713"/>
            <a:ext cx="5612648" cy="5355312"/>
          </a:xfrm>
          <a:prstGeom prst="rect">
            <a:avLst/>
          </a:prstGeom>
        </p:spPr>
        <p:txBody>
          <a:bodyPr wrap="square">
            <a:spAutoFit/>
          </a:bodyPr>
          <a:lstStyle/>
          <a:p>
            <a:pPr marL="285750" indent="-285750">
              <a:buFont typeface="Arial" panose="020B0604020202020204" pitchFamily="34" charset="0"/>
              <a:buChar char="•"/>
            </a:pPr>
            <a:r>
              <a:rPr lang="en-US" dirty="0">
                <a:solidFill>
                  <a:srgbClr val="18537D"/>
                </a:solidFill>
              </a:rPr>
              <a:t>Instances can communicate across a peering connection as if they were in the same network.</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Use private IP addresses</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Intra- and inter-region support</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IP spaces cannot overlap</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Only one peering resource between any two VPCs</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Transitive peering relationships are not supported</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Can be established between different AWS accounts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52382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par>
                                <p:cTn id="8" presetID="10" presetClass="entr" presetSubtype="0" fill="hold"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fade">
                                      <p:cBhvr>
                                        <p:cTn id="10" dur="500"/>
                                        <p:tgtEl>
                                          <p:spTgt spid="5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fade">
                                      <p:cBhvr>
                                        <p:cTn id="13" dur="500"/>
                                        <p:tgtEl>
                                          <p:spTgt spid="60"/>
                                        </p:tgtEl>
                                      </p:cBhvr>
                                    </p:animEffect>
                                  </p:childTnLst>
                                </p:cTn>
                              </p:par>
                              <p:par>
                                <p:cTn id="14" presetID="10" presetClass="entr" presetSubtype="0" fill="hold" nodeType="with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500"/>
                                        <p:tgtEl>
                                          <p:spTgt spid="6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fade">
                                      <p:cBhvr>
                                        <p:cTn id="19" dur="500"/>
                                        <p:tgtEl>
                                          <p:spTgt spid="6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500"/>
                                        <p:tgtEl>
                                          <p:spTgt spid="6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60" grpId="0"/>
      <p:bldP spid="62" grpId="0"/>
      <p:bldP spid="63" grpId="0"/>
      <p:bldP spid="6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0567C10-3832-40E5-A2D0-EF1ECC39F351}"/>
              </a:ext>
            </a:extLst>
          </p:cNvPr>
          <p:cNvSpPr>
            <a:spLocks noGrp="1"/>
          </p:cNvSpPr>
          <p:nvPr>
            <p:ph type="ftr" sz="quarter" idx="16"/>
          </p:nvPr>
        </p:nvSpPr>
        <p:spPr/>
        <p:txBody>
          <a:bodyPr/>
          <a:lstStyle/>
          <a:p>
            <a:r>
              <a:rPr lang="en-US" dirty="0"/>
              <a:t>Copyright © 2020 Accenture. All rights reserved.</a:t>
            </a:r>
          </a:p>
        </p:txBody>
      </p:sp>
      <p:sp>
        <p:nvSpPr>
          <p:cNvPr id="3" name="Slide Number Placeholder 2">
            <a:extLst>
              <a:ext uri="{FF2B5EF4-FFF2-40B4-BE49-F238E27FC236}">
                <a16:creationId xmlns:a16="http://schemas.microsoft.com/office/drawing/2014/main" id="{A03FA6A4-2E6F-4317-B4BD-3703EE855B87}"/>
              </a:ext>
            </a:extLst>
          </p:cNvPr>
          <p:cNvSpPr>
            <a:spLocks noGrp="1"/>
          </p:cNvSpPr>
          <p:nvPr>
            <p:ph type="sldNum" sz="quarter" idx="17"/>
          </p:nvPr>
        </p:nvSpPr>
        <p:spPr/>
        <p:txBody>
          <a:bodyPr/>
          <a:lstStyle/>
          <a:p>
            <a:fld id="{4F9AC08D-23A9-440E-BCB9-AA1E9877CC38}" type="slidenum">
              <a:rPr lang="en-US" smtClean="0"/>
              <a:pPr/>
              <a:t>23</a:t>
            </a:fld>
            <a:endParaRPr lang="en-US" dirty="0"/>
          </a:p>
        </p:txBody>
      </p:sp>
      <p:sp>
        <p:nvSpPr>
          <p:cNvPr id="4" name="Title 3">
            <a:extLst>
              <a:ext uri="{FF2B5EF4-FFF2-40B4-BE49-F238E27FC236}">
                <a16:creationId xmlns:a16="http://schemas.microsoft.com/office/drawing/2014/main" id="{84208E7D-D2EA-470A-ADDB-4BF799A87D58}"/>
              </a:ext>
            </a:extLst>
          </p:cNvPr>
          <p:cNvSpPr>
            <a:spLocks noGrp="1"/>
          </p:cNvSpPr>
          <p:nvPr>
            <p:ph type="title"/>
          </p:nvPr>
        </p:nvSpPr>
        <p:spPr/>
        <p:txBody>
          <a:bodyPr/>
          <a:lstStyle/>
          <a:p>
            <a:r>
              <a:rPr lang="en-IN" dirty="0">
                <a:solidFill>
                  <a:schemeClr val="bg1"/>
                </a:solidFill>
              </a:rPr>
              <a:t>AWS VPN</a:t>
            </a:r>
            <a:endParaRPr lang="en-US" dirty="0"/>
          </a:p>
        </p:txBody>
      </p:sp>
      <p:sp>
        <p:nvSpPr>
          <p:cNvPr id="5" name="Rectangle 4">
            <a:extLst>
              <a:ext uri="{FF2B5EF4-FFF2-40B4-BE49-F238E27FC236}">
                <a16:creationId xmlns:a16="http://schemas.microsoft.com/office/drawing/2014/main" id="{5A8E9773-09DE-42F6-AD34-F579A7B4991F}"/>
              </a:ext>
            </a:extLst>
          </p:cNvPr>
          <p:cNvSpPr/>
          <p:nvPr/>
        </p:nvSpPr>
        <p:spPr>
          <a:xfrm>
            <a:off x="450005" y="1256150"/>
            <a:ext cx="11437195" cy="1754326"/>
          </a:xfrm>
          <a:prstGeom prst="rect">
            <a:avLst/>
          </a:prstGeom>
        </p:spPr>
        <p:txBody>
          <a:bodyPr wrap="square">
            <a:spAutoFit/>
          </a:bodyPr>
          <a:lstStyle/>
          <a:p>
            <a:pPr marL="285750" indent="-285750">
              <a:buFont typeface="Arial" panose="020B0604020202020204" pitchFamily="34" charset="0"/>
              <a:buChar char="•"/>
            </a:pPr>
            <a:r>
              <a:rPr lang="en-US" dirty="0">
                <a:solidFill>
                  <a:srgbClr val="18537D"/>
                </a:solidFill>
              </a:rPr>
              <a:t>To establish private connections between an Amazon VPC and another network</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Virtual private gateway links to your Amazon VPC</a:t>
            </a:r>
          </a:p>
          <a:p>
            <a:pPr marL="285750" indent="-285750">
              <a:buFont typeface="Arial" panose="020B0604020202020204" pitchFamily="34" charset="0"/>
              <a:buChar char="•"/>
            </a:pPr>
            <a:endParaRPr lang="en-US" dirty="0">
              <a:solidFill>
                <a:srgbClr val="18537D"/>
              </a:solidFill>
            </a:endParaRPr>
          </a:p>
          <a:p>
            <a:pPr marL="285750" indent="-285750">
              <a:buFont typeface="Arial" panose="020B0604020202020204" pitchFamily="34" charset="0"/>
              <a:buChar char="•"/>
            </a:pPr>
            <a:r>
              <a:rPr lang="en-US" dirty="0">
                <a:solidFill>
                  <a:srgbClr val="18537D"/>
                </a:solidFill>
              </a:rPr>
              <a:t>A customer gateway is the anchor on your side of that connection (on premises)</a:t>
            </a:r>
          </a:p>
          <a:p>
            <a:pPr marL="285750" indent="-285750">
              <a:buFont typeface="Arial" panose="020B0604020202020204" pitchFamily="34" charset="0"/>
              <a:buChar char="•"/>
            </a:pPr>
            <a:endParaRPr lang="en-US" dirty="0"/>
          </a:p>
        </p:txBody>
      </p:sp>
      <p:grpSp>
        <p:nvGrpSpPr>
          <p:cNvPr id="6" name="Group 5">
            <a:extLst>
              <a:ext uri="{FF2B5EF4-FFF2-40B4-BE49-F238E27FC236}">
                <a16:creationId xmlns:a16="http://schemas.microsoft.com/office/drawing/2014/main" id="{7F6F6A50-AE56-418B-9EAC-400E1E1BB96F}"/>
              </a:ext>
            </a:extLst>
          </p:cNvPr>
          <p:cNvGrpSpPr/>
          <p:nvPr/>
        </p:nvGrpSpPr>
        <p:grpSpPr>
          <a:xfrm>
            <a:off x="1111044" y="2867831"/>
            <a:ext cx="11166481" cy="3883992"/>
            <a:chOff x="501444" y="1809627"/>
            <a:chExt cx="11166481" cy="3883992"/>
          </a:xfrm>
        </p:grpSpPr>
        <p:sp>
          <p:nvSpPr>
            <p:cNvPr id="7" name="TextBox 6">
              <a:extLst>
                <a:ext uri="{FF2B5EF4-FFF2-40B4-BE49-F238E27FC236}">
                  <a16:creationId xmlns:a16="http://schemas.microsoft.com/office/drawing/2014/main" id="{2BDB59CB-4F4A-4185-A504-2CF5D15E2120}"/>
                </a:ext>
              </a:extLst>
            </p:cNvPr>
            <p:cNvSpPr txBox="1"/>
            <p:nvPr/>
          </p:nvSpPr>
          <p:spPr>
            <a:xfrm>
              <a:off x="8384983" y="3262478"/>
              <a:ext cx="1231928" cy="430887"/>
            </a:xfrm>
            <a:prstGeom prst="rect">
              <a:avLst/>
            </a:prstGeom>
            <a:noFill/>
          </p:spPr>
          <p:txBody>
            <a:bodyPr wrap="square" lIns="0" tIns="0" rIns="0" bIns="0" rtlCol="0">
              <a:spAutoFit/>
            </a:bodyPr>
            <a:lstStyle/>
            <a:p>
              <a:pPr algn="ct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Customer gateway</a:t>
              </a:r>
            </a:p>
          </p:txBody>
        </p:sp>
        <p:sp>
          <p:nvSpPr>
            <p:cNvPr id="8" name="TextBox 7">
              <a:extLst>
                <a:ext uri="{FF2B5EF4-FFF2-40B4-BE49-F238E27FC236}">
                  <a16:creationId xmlns:a16="http://schemas.microsoft.com/office/drawing/2014/main" id="{72F52938-60D4-4F17-B504-7EB2F51F9E2C}"/>
                </a:ext>
              </a:extLst>
            </p:cNvPr>
            <p:cNvSpPr txBox="1"/>
            <p:nvPr/>
          </p:nvSpPr>
          <p:spPr>
            <a:xfrm>
              <a:off x="4901427" y="2772816"/>
              <a:ext cx="1456109" cy="215444"/>
            </a:xfrm>
            <a:prstGeom prst="rect">
              <a:avLst/>
            </a:prstGeom>
            <a:noFill/>
          </p:spPr>
          <p:txBody>
            <a:bodyPr wrap="square" lIns="0" tIns="0" rIns="0" bIns="0" rtlCol="0">
              <a:spAutoFit/>
            </a:bodyPr>
            <a:lstStyle/>
            <a:p>
              <a:pPr algn="ctr"/>
              <a:r>
                <a:rPr lang="en-US" sz="1400" dirty="0">
                  <a:solidFill>
                    <a:srgbClr val="FF5050"/>
                  </a:solidFill>
                  <a:latin typeface="Amazon Ember Medium" panose="020B0603020204030204" pitchFamily="34" charset="0"/>
                  <a:ea typeface="Amazon Ember Medium" panose="020B0603020204030204" pitchFamily="34" charset="0"/>
                  <a:cs typeface="Amazon Ember Medium" panose="020B0603020204030204" pitchFamily="34" charset="0"/>
                </a:rPr>
                <a:t>Two endpoints</a:t>
              </a:r>
            </a:p>
          </p:txBody>
        </p:sp>
        <p:cxnSp>
          <p:nvCxnSpPr>
            <p:cNvPr id="9" name="Straight Arrow Connector 8">
              <a:extLst>
                <a:ext uri="{FF2B5EF4-FFF2-40B4-BE49-F238E27FC236}">
                  <a16:creationId xmlns:a16="http://schemas.microsoft.com/office/drawing/2014/main" id="{09DFED66-04BC-4763-8C1B-E914F5CBB9CF}"/>
                </a:ext>
              </a:extLst>
            </p:cNvPr>
            <p:cNvCxnSpPr>
              <a:stCxn id="8" idx="2"/>
            </p:cNvCxnSpPr>
            <p:nvPr/>
          </p:nvCxnSpPr>
          <p:spPr>
            <a:xfrm flipH="1">
              <a:off x="5104598" y="2988260"/>
              <a:ext cx="524884" cy="736078"/>
            </a:xfrm>
            <a:prstGeom prst="straightConnector1">
              <a:avLst/>
            </a:prstGeom>
            <a:ln w="28575">
              <a:solidFill>
                <a:srgbClr val="4AC1FF"/>
              </a:solidFill>
              <a:tailEnd type="triangle"/>
            </a:ln>
          </p:spPr>
          <p:style>
            <a:lnRef idx="2">
              <a:schemeClr val="accent2"/>
            </a:lnRef>
            <a:fillRef idx="0">
              <a:schemeClr val="accent2"/>
            </a:fillRef>
            <a:effectRef idx="1">
              <a:schemeClr val="accent2"/>
            </a:effectRef>
            <a:fontRef idx="minor">
              <a:schemeClr val="tx1"/>
            </a:fontRef>
          </p:style>
        </p:cxnSp>
        <p:pic>
          <p:nvPicPr>
            <p:cNvPr id="10" name="Picture 9" descr="Internet.png">
              <a:extLst>
                <a:ext uri="{FF2B5EF4-FFF2-40B4-BE49-F238E27FC236}">
                  <a16:creationId xmlns:a16="http://schemas.microsoft.com/office/drawing/2014/main" id="{AF9DBEC1-D2A7-49B6-BA79-8D1F0D91288F}"/>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607668" y="2380339"/>
              <a:ext cx="3220549" cy="3313280"/>
            </a:xfrm>
            <a:prstGeom prst="rect">
              <a:avLst/>
            </a:prstGeom>
            <a:effectLst>
              <a:glow rad="114300">
                <a:srgbClr val="00B0F0">
                  <a:alpha val="26000"/>
                </a:srgbClr>
              </a:glow>
            </a:effectLst>
          </p:spPr>
        </p:pic>
        <p:cxnSp>
          <p:nvCxnSpPr>
            <p:cNvPr id="11" name="Straight Connector 10">
              <a:extLst>
                <a:ext uri="{FF2B5EF4-FFF2-40B4-BE49-F238E27FC236}">
                  <a16:creationId xmlns:a16="http://schemas.microsoft.com/office/drawing/2014/main" id="{D19A746B-EBA9-432B-9FC4-6FF72EFA8653}"/>
                </a:ext>
              </a:extLst>
            </p:cNvPr>
            <p:cNvCxnSpPr>
              <a:cxnSpLocks/>
            </p:cNvCxnSpPr>
            <p:nvPr/>
          </p:nvCxnSpPr>
          <p:spPr>
            <a:xfrm flipV="1">
              <a:off x="5174001" y="4036979"/>
              <a:ext cx="3967444" cy="1"/>
            </a:xfrm>
            <a:prstGeom prst="line">
              <a:avLst/>
            </a:prstGeom>
            <a:ln w="28575">
              <a:solidFill>
                <a:srgbClr val="009DD6"/>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C56B128-AEB9-44FE-BF0A-D0143AAB2B24}"/>
                </a:ext>
              </a:extLst>
            </p:cNvPr>
            <p:cNvSpPr txBox="1"/>
            <p:nvPr/>
          </p:nvSpPr>
          <p:spPr>
            <a:xfrm>
              <a:off x="6474385" y="4385845"/>
              <a:ext cx="1173163" cy="430887"/>
            </a:xfrm>
            <a:prstGeom prst="rect">
              <a:avLst/>
            </a:prstGeom>
            <a:noFill/>
          </p:spPr>
          <p:txBody>
            <a:bodyPr wrap="square" lIns="0" tIns="0" rIns="0" bIns="0" rtlCol="0">
              <a:spAutoFit/>
            </a:bodyPr>
            <a:lstStyle/>
            <a:p>
              <a:pPr algn="ct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VPN connection</a:t>
              </a:r>
            </a:p>
          </p:txBody>
        </p:sp>
        <p:pic>
          <p:nvPicPr>
            <p:cNvPr id="13" name="Graphic 48">
              <a:extLst>
                <a:ext uri="{FF2B5EF4-FFF2-40B4-BE49-F238E27FC236}">
                  <a16:creationId xmlns:a16="http://schemas.microsoft.com/office/drawing/2014/main" id="{BC83E9A9-A875-4650-9342-C128356A01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4240" y="3732713"/>
              <a:ext cx="608533" cy="608533"/>
            </a:xfrm>
            <a:prstGeom prst="rect">
              <a:avLst/>
            </a:prstGeom>
            <a:solidFill>
              <a:schemeClr val="bg1"/>
            </a:solidFill>
          </p:spPr>
        </p:pic>
        <p:grpSp>
          <p:nvGrpSpPr>
            <p:cNvPr id="36" name="Group 35">
              <a:extLst>
                <a:ext uri="{FF2B5EF4-FFF2-40B4-BE49-F238E27FC236}">
                  <a16:creationId xmlns:a16="http://schemas.microsoft.com/office/drawing/2014/main" id="{559B1CA3-AC9E-4F6F-B0BB-EB2B85780CA1}"/>
                </a:ext>
              </a:extLst>
            </p:cNvPr>
            <p:cNvGrpSpPr/>
            <p:nvPr/>
          </p:nvGrpSpPr>
          <p:grpSpPr>
            <a:xfrm>
              <a:off x="9616912" y="3189000"/>
              <a:ext cx="2051013" cy="1695959"/>
              <a:chOff x="9914007" y="2980146"/>
              <a:chExt cx="2051013" cy="1695959"/>
            </a:xfrm>
          </p:grpSpPr>
          <p:sp>
            <p:nvSpPr>
              <p:cNvPr id="37" name="Rectangle 36">
                <a:extLst>
                  <a:ext uri="{FF2B5EF4-FFF2-40B4-BE49-F238E27FC236}">
                    <a16:creationId xmlns:a16="http://schemas.microsoft.com/office/drawing/2014/main" id="{D0735EE5-50A8-4C5F-A66F-DBD19DE11EA6}"/>
                  </a:ext>
                </a:extLst>
              </p:cNvPr>
              <p:cNvSpPr/>
              <p:nvPr/>
            </p:nvSpPr>
            <p:spPr>
              <a:xfrm>
                <a:off x="9914007" y="2980146"/>
                <a:ext cx="2051013" cy="1695959"/>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rgbClr val="5A6B86"/>
                    </a:solidFill>
                    <a:latin typeface="Arial" panose="020B0604020202020204" pitchFamily="34" charset="0"/>
                    <a:cs typeface="Arial" panose="020B0604020202020204" pitchFamily="34" charset="0"/>
                  </a:rPr>
                  <a:t>Corporate data center</a:t>
                </a:r>
              </a:p>
            </p:txBody>
          </p:sp>
          <p:pic>
            <p:nvPicPr>
              <p:cNvPr id="38" name="Graphic 19">
                <a:extLst>
                  <a:ext uri="{FF2B5EF4-FFF2-40B4-BE49-F238E27FC236}">
                    <a16:creationId xmlns:a16="http://schemas.microsoft.com/office/drawing/2014/main" id="{A399309C-30EF-44DA-9DD1-5A0E2369A48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14008" y="2980147"/>
                <a:ext cx="330200" cy="330200"/>
              </a:xfrm>
              <a:prstGeom prst="rect">
                <a:avLst/>
              </a:prstGeom>
            </p:spPr>
          </p:pic>
        </p:grpSp>
        <p:grpSp>
          <p:nvGrpSpPr>
            <p:cNvPr id="15" name="Group 14">
              <a:extLst>
                <a:ext uri="{FF2B5EF4-FFF2-40B4-BE49-F238E27FC236}">
                  <a16:creationId xmlns:a16="http://schemas.microsoft.com/office/drawing/2014/main" id="{9EBF2E50-59C8-4DF1-992E-0711931774DB}"/>
                </a:ext>
              </a:extLst>
            </p:cNvPr>
            <p:cNvGrpSpPr/>
            <p:nvPr/>
          </p:nvGrpSpPr>
          <p:grpSpPr>
            <a:xfrm>
              <a:off x="501444" y="2633031"/>
              <a:ext cx="4125336" cy="2807896"/>
              <a:chOff x="233422" y="2428273"/>
              <a:chExt cx="4125336" cy="2807896"/>
            </a:xfrm>
          </p:grpSpPr>
          <p:grpSp>
            <p:nvGrpSpPr>
              <p:cNvPr id="22" name="Group 21">
                <a:extLst>
                  <a:ext uri="{FF2B5EF4-FFF2-40B4-BE49-F238E27FC236}">
                    <a16:creationId xmlns:a16="http://schemas.microsoft.com/office/drawing/2014/main" id="{CA9727EA-2D8B-4DF4-97B0-F8D0EA7B3BFC}"/>
                  </a:ext>
                </a:extLst>
              </p:cNvPr>
              <p:cNvGrpSpPr/>
              <p:nvPr/>
            </p:nvGrpSpPr>
            <p:grpSpPr>
              <a:xfrm>
                <a:off x="233422" y="2428273"/>
                <a:ext cx="4125336" cy="2807896"/>
                <a:chOff x="7081783" y="1645419"/>
                <a:chExt cx="4125336" cy="2807896"/>
              </a:xfrm>
            </p:grpSpPr>
            <p:sp>
              <p:nvSpPr>
                <p:cNvPr id="25" name="Rectangle 24">
                  <a:extLst>
                    <a:ext uri="{FF2B5EF4-FFF2-40B4-BE49-F238E27FC236}">
                      <a16:creationId xmlns:a16="http://schemas.microsoft.com/office/drawing/2014/main" id="{76D82D32-3580-4D3C-911F-FBAC08A5D868}"/>
                    </a:ext>
                  </a:extLst>
                </p:cNvPr>
                <p:cNvSpPr/>
                <p:nvPr/>
              </p:nvSpPr>
              <p:spPr>
                <a:xfrm>
                  <a:off x="7082654" y="1645419"/>
                  <a:ext cx="4124465" cy="2807896"/>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i="0" u="none" strike="noStrike" kern="0" cap="none" spc="0" normalizeH="0" baseline="0" noProof="0" dirty="0">
                      <a:ln w="0"/>
                      <a:solidFill>
                        <a:srgbClr val="1D8900"/>
                      </a:solidFill>
                      <a:effectLst/>
                      <a:uLnTx/>
                      <a:uFillTx/>
                      <a:latin typeface="Arial" panose="020B0604020202020204"/>
                      <a:ea typeface="+mn-ea"/>
                      <a:cs typeface="+mn-cs"/>
                    </a:rPr>
                    <a:t>VPC</a:t>
                  </a:r>
                  <a:r>
                    <a:rPr kumimoji="0" lang="en-US" sz="1200" i="0" u="none" strike="noStrike" kern="0" cap="none" spc="0" normalizeH="0" noProof="0" dirty="0">
                      <a:ln w="0"/>
                      <a:solidFill>
                        <a:srgbClr val="1D8900"/>
                      </a:solidFill>
                      <a:effectLst/>
                      <a:uLnTx/>
                      <a:uFillTx/>
                      <a:latin typeface="Arial" panose="020B0604020202020204"/>
                      <a:ea typeface="+mn-ea"/>
                      <a:cs typeface="+mn-cs"/>
                    </a:rPr>
                    <a:t> </a:t>
                  </a:r>
                  <a:endParaRPr kumimoji="0" lang="en-US" sz="1200" i="0" u="none" strike="noStrike" kern="0" cap="none" spc="0" normalizeH="0" baseline="0" noProof="0" dirty="0">
                    <a:ln w="0"/>
                    <a:solidFill>
                      <a:srgbClr val="FF7D74"/>
                    </a:solidFill>
                    <a:effectLst/>
                    <a:uLnTx/>
                    <a:uFillTx/>
                    <a:latin typeface="Arial" panose="020B0604020202020204"/>
                    <a:ea typeface="+mn-ea"/>
                    <a:cs typeface="+mn-cs"/>
                  </a:endParaRPr>
                </a:p>
              </p:txBody>
            </p:sp>
            <p:pic>
              <p:nvPicPr>
                <p:cNvPr id="26" name="Graphic 12">
                  <a:extLst>
                    <a:ext uri="{FF2B5EF4-FFF2-40B4-BE49-F238E27FC236}">
                      <a16:creationId xmlns:a16="http://schemas.microsoft.com/office/drawing/2014/main" id="{306C5007-3AF2-4F47-A160-5780DCFD32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81783" y="1645419"/>
                  <a:ext cx="277535" cy="277535"/>
                </a:xfrm>
                <a:prstGeom prst="rect">
                  <a:avLst/>
                </a:prstGeom>
              </p:spPr>
            </p:pic>
            <p:grpSp>
              <p:nvGrpSpPr>
                <p:cNvPr id="27" name="Group 26">
                  <a:extLst>
                    <a:ext uri="{FF2B5EF4-FFF2-40B4-BE49-F238E27FC236}">
                      <a16:creationId xmlns:a16="http://schemas.microsoft.com/office/drawing/2014/main" id="{1E06A84C-BF3D-41F9-BE21-F4CE079BE472}"/>
                    </a:ext>
                  </a:extLst>
                </p:cNvPr>
                <p:cNvGrpSpPr/>
                <p:nvPr/>
              </p:nvGrpSpPr>
              <p:grpSpPr>
                <a:xfrm>
                  <a:off x="7280017" y="2089127"/>
                  <a:ext cx="1760872" cy="2074191"/>
                  <a:chOff x="7904160" y="2089127"/>
                  <a:chExt cx="1760872" cy="2074191"/>
                </a:xfrm>
              </p:grpSpPr>
              <p:sp>
                <p:nvSpPr>
                  <p:cNvPr id="32" name="Rectangle 31">
                    <a:extLst>
                      <a:ext uri="{FF2B5EF4-FFF2-40B4-BE49-F238E27FC236}">
                        <a16:creationId xmlns:a16="http://schemas.microsoft.com/office/drawing/2014/main" id="{8DC753BF-A754-487B-9453-FD64F2785B34}"/>
                      </a:ext>
                    </a:extLst>
                  </p:cNvPr>
                  <p:cNvSpPr/>
                  <p:nvPr/>
                </p:nvSpPr>
                <p:spPr>
                  <a:xfrm>
                    <a:off x="8035250" y="2477135"/>
                    <a:ext cx="1498693" cy="1412055"/>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defTabSz="914400">
                      <a:defRPr/>
                    </a:pPr>
                    <a:r>
                      <a:rPr kumimoji="0" lang="en-US" sz="1200" i="0" u="none" strike="noStrike" kern="0" cap="none" spc="0" normalizeH="0" baseline="0" noProof="0" dirty="0">
                        <a:ln>
                          <a:noFill/>
                        </a:ln>
                        <a:solidFill>
                          <a:srgbClr val="007CBC"/>
                        </a:solidFill>
                        <a:effectLst/>
                        <a:uLnTx/>
                        <a:uFillTx/>
                        <a:latin typeface="Arial" panose="020B0604020202020204"/>
                      </a:rPr>
                      <a:t>Public subnet </a:t>
                    </a:r>
                  </a:p>
                </p:txBody>
              </p:sp>
              <p:pic>
                <p:nvPicPr>
                  <p:cNvPr id="33" name="Graphic 10">
                    <a:extLst>
                      <a:ext uri="{FF2B5EF4-FFF2-40B4-BE49-F238E27FC236}">
                        <a16:creationId xmlns:a16="http://schemas.microsoft.com/office/drawing/2014/main" id="{9027563F-3D51-4792-8DA4-A6538EFFCC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43210" y="2477135"/>
                    <a:ext cx="274320" cy="274320"/>
                  </a:xfrm>
                  <a:prstGeom prst="rect">
                    <a:avLst/>
                  </a:prstGeom>
                </p:spPr>
              </p:pic>
              <p:sp>
                <p:nvSpPr>
                  <p:cNvPr id="34" name="Rectangle 33">
                    <a:extLst>
                      <a:ext uri="{FF2B5EF4-FFF2-40B4-BE49-F238E27FC236}">
                        <a16:creationId xmlns:a16="http://schemas.microsoft.com/office/drawing/2014/main" id="{103380C1-09D1-494E-8373-64DC86BDA6EF}"/>
                      </a:ext>
                    </a:extLst>
                  </p:cNvPr>
                  <p:cNvSpPr/>
                  <p:nvPr/>
                </p:nvSpPr>
                <p:spPr>
                  <a:xfrm>
                    <a:off x="7904160" y="2089127"/>
                    <a:ext cx="1760872" cy="2074191"/>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7CBC"/>
                        </a:solidFill>
                        <a:effectLst/>
                        <a:uLnTx/>
                        <a:uFillTx/>
                        <a:latin typeface="Arial" panose="020B0604020202020204"/>
                        <a:ea typeface="+mn-ea"/>
                        <a:cs typeface="+mn-cs"/>
                      </a:rPr>
                      <a:t>Availability Zone A</a:t>
                    </a:r>
                  </a:p>
                </p:txBody>
              </p:sp>
            </p:grpSp>
            <p:grpSp>
              <p:nvGrpSpPr>
                <p:cNvPr id="28" name="Group 27">
                  <a:extLst>
                    <a:ext uri="{FF2B5EF4-FFF2-40B4-BE49-F238E27FC236}">
                      <a16:creationId xmlns:a16="http://schemas.microsoft.com/office/drawing/2014/main" id="{23BC0DBC-82E2-43B0-ACA3-2CD94F4C4351}"/>
                    </a:ext>
                  </a:extLst>
                </p:cNvPr>
                <p:cNvGrpSpPr/>
                <p:nvPr/>
              </p:nvGrpSpPr>
              <p:grpSpPr>
                <a:xfrm>
                  <a:off x="9238252" y="2093189"/>
                  <a:ext cx="1760872" cy="2074191"/>
                  <a:chOff x="9752522" y="2093189"/>
                  <a:chExt cx="1760872" cy="2074191"/>
                </a:xfrm>
              </p:grpSpPr>
              <p:sp>
                <p:nvSpPr>
                  <p:cNvPr id="29" name="Rectangle 28">
                    <a:extLst>
                      <a:ext uri="{FF2B5EF4-FFF2-40B4-BE49-F238E27FC236}">
                        <a16:creationId xmlns:a16="http://schemas.microsoft.com/office/drawing/2014/main" id="{06D3D15E-26D3-474C-BADA-31008B2A3992}"/>
                      </a:ext>
                    </a:extLst>
                  </p:cNvPr>
                  <p:cNvSpPr/>
                  <p:nvPr/>
                </p:nvSpPr>
                <p:spPr>
                  <a:xfrm>
                    <a:off x="9883612" y="2481197"/>
                    <a:ext cx="1498693" cy="1412055"/>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defTabSz="914400">
                      <a:defRPr/>
                    </a:pPr>
                    <a:r>
                      <a:rPr kumimoji="0" lang="en-US" sz="1200" i="0" u="none" strike="noStrike" kern="0" cap="none" spc="0" normalizeH="0" baseline="0" noProof="0" dirty="0">
                        <a:ln>
                          <a:noFill/>
                        </a:ln>
                        <a:solidFill>
                          <a:srgbClr val="007CBC"/>
                        </a:solidFill>
                        <a:effectLst/>
                        <a:uLnTx/>
                        <a:uFillTx/>
                        <a:latin typeface="Arial" panose="020B0604020202020204"/>
                      </a:rPr>
                      <a:t>Public subnet </a:t>
                    </a:r>
                  </a:p>
                </p:txBody>
              </p:sp>
              <p:pic>
                <p:nvPicPr>
                  <p:cNvPr id="30" name="Graphic 10">
                    <a:extLst>
                      <a:ext uri="{FF2B5EF4-FFF2-40B4-BE49-F238E27FC236}">
                        <a16:creationId xmlns:a16="http://schemas.microsoft.com/office/drawing/2014/main" id="{409DB2A2-B458-422D-89CB-0FFB494FA2F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91572" y="2481197"/>
                    <a:ext cx="274320" cy="274320"/>
                  </a:xfrm>
                  <a:prstGeom prst="rect">
                    <a:avLst/>
                  </a:prstGeom>
                </p:spPr>
              </p:pic>
              <p:sp>
                <p:nvSpPr>
                  <p:cNvPr id="31" name="Rectangle 30">
                    <a:extLst>
                      <a:ext uri="{FF2B5EF4-FFF2-40B4-BE49-F238E27FC236}">
                        <a16:creationId xmlns:a16="http://schemas.microsoft.com/office/drawing/2014/main" id="{9D9455F6-A974-4FBC-A8DF-6213BCAB4574}"/>
                      </a:ext>
                    </a:extLst>
                  </p:cNvPr>
                  <p:cNvSpPr/>
                  <p:nvPr/>
                </p:nvSpPr>
                <p:spPr>
                  <a:xfrm>
                    <a:off x="9752522" y="2093189"/>
                    <a:ext cx="1760872" cy="2074191"/>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7CBC"/>
                        </a:solidFill>
                        <a:effectLst/>
                        <a:uLnTx/>
                        <a:uFillTx/>
                        <a:latin typeface="Arial" panose="020B0604020202020204"/>
                        <a:ea typeface="+mn-ea"/>
                        <a:cs typeface="+mn-cs"/>
                      </a:rPr>
                      <a:t>Availability Zone B</a:t>
                    </a:r>
                  </a:p>
                </p:txBody>
              </p:sp>
            </p:grpSp>
          </p:grpSp>
          <p:pic>
            <p:nvPicPr>
              <p:cNvPr id="23" name="Graphic 20">
                <a:extLst>
                  <a:ext uri="{FF2B5EF4-FFF2-40B4-BE49-F238E27FC236}">
                    <a16:creationId xmlns:a16="http://schemas.microsoft.com/office/drawing/2014/main" id="{6F44B8CA-A410-4C62-8077-AADCB6DFFC6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9987" y="3709107"/>
                <a:ext cx="684211" cy="684211"/>
              </a:xfrm>
              <a:prstGeom prst="rect">
                <a:avLst/>
              </a:prstGeom>
            </p:spPr>
          </p:pic>
          <p:pic>
            <p:nvPicPr>
              <p:cNvPr id="24" name="Graphic 20">
                <a:extLst>
                  <a:ext uri="{FF2B5EF4-FFF2-40B4-BE49-F238E27FC236}">
                    <a16:creationId xmlns:a16="http://schemas.microsoft.com/office/drawing/2014/main" id="{DECE3091-D3D2-4F08-B0FE-DB1CC075569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922853" y="3713613"/>
                <a:ext cx="684211" cy="684211"/>
              </a:xfrm>
              <a:prstGeom prst="rect">
                <a:avLst/>
              </a:prstGeom>
            </p:spPr>
          </p:pic>
        </p:grpSp>
        <p:grpSp>
          <p:nvGrpSpPr>
            <p:cNvPr id="16" name="Group 15">
              <a:extLst>
                <a:ext uri="{FF2B5EF4-FFF2-40B4-BE49-F238E27FC236}">
                  <a16:creationId xmlns:a16="http://schemas.microsoft.com/office/drawing/2014/main" id="{96036A65-CF01-483F-B8B1-7B2F8367C3D6}"/>
                </a:ext>
              </a:extLst>
            </p:cNvPr>
            <p:cNvGrpSpPr/>
            <p:nvPr/>
          </p:nvGrpSpPr>
          <p:grpSpPr>
            <a:xfrm>
              <a:off x="4440461" y="3694436"/>
              <a:ext cx="760392" cy="1015838"/>
              <a:chOff x="4172439" y="3534309"/>
              <a:chExt cx="760392" cy="1015838"/>
            </a:xfrm>
          </p:grpSpPr>
          <p:sp>
            <p:nvSpPr>
              <p:cNvPr id="20" name="TextBox 19">
                <a:extLst>
                  <a:ext uri="{FF2B5EF4-FFF2-40B4-BE49-F238E27FC236}">
                    <a16:creationId xmlns:a16="http://schemas.microsoft.com/office/drawing/2014/main" id="{80A86D5E-6127-44AA-A795-06260DF602A0}"/>
                  </a:ext>
                </a:extLst>
              </p:cNvPr>
              <p:cNvSpPr txBox="1"/>
              <p:nvPr/>
            </p:nvSpPr>
            <p:spPr>
              <a:xfrm>
                <a:off x="4172439" y="4232047"/>
                <a:ext cx="760392" cy="318100"/>
              </a:xfrm>
              <a:prstGeom prst="rect">
                <a:avLst/>
              </a:prstGeom>
              <a:solidFill>
                <a:schemeClr val="bg1"/>
              </a:solidFill>
            </p:spPr>
            <p:txBody>
              <a:bodyPr wrap="square" rtlCol="0">
                <a:spAutoFit/>
              </a:bodyPr>
              <a:lstStyle/>
              <a:p>
                <a:pPr algn="ct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VGW</a:t>
                </a:r>
              </a:p>
            </p:txBody>
          </p:sp>
          <p:pic>
            <p:nvPicPr>
              <p:cNvPr id="21" name="Graphic 50">
                <a:extLst>
                  <a:ext uri="{FF2B5EF4-FFF2-40B4-BE49-F238E27FC236}">
                    <a16:creationId xmlns:a16="http://schemas.microsoft.com/office/drawing/2014/main" id="{B6189297-FF5F-40DD-8C8A-76FFE8EC4D6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215107" y="3534309"/>
                <a:ext cx="690872" cy="690872"/>
              </a:xfrm>
              <a:prstGeom prst="rect">
                <a:avLst/>
              </a:prstGeom>
              <a:solidFill>
                <a:schemeClr val="bg1"/>
              </a:solidFill>
            </p:spPr>
          </p:pic>
        </p:grpSp>
        <p:pic>
          <p:nvPicPr>
            <p:cNvPr id="17" name="Graphic 46">
              <a:extLst>
                <a:ext uri="{FF2B5EF4-FFF2-40B4-BE49-F238E27FC236}">
                  <a16:creationId xmlns:a16="http://schemas.microsoft.com/office/drawing/2014/main" id="{43F0AD31-017F-48BF-9948-B378840C4F4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180210" y="3738759"/>
              <a:ext cx="586136" cy="586136"/>
            </a:xfrm>
            <a:prstGeom prst="rect">
              <a:avLst/>
            </a:prstGeom>
            <a:solidFill>
              <a:schemeClr val="bg1"/>
            </a:solidFill>
          </p:spPr>
        </p:pic>
        <p:sp>
          <p:nvSpPr>
            <p:cNvPr id="18" name="Rectangle 17">
              <a:extLst>
                <a:ext uri="{FF2B5EF4-FFF2-40B4-BE49-F238E27FC236}">
                  <a16:creationId xmlns:a16="http://schemas.microsoft.com/office/drawing/2014/main" id="{572EAA9B-C9CE-46AC-8941-1D60E5E275F4}"/>
                </a:ext>
              </a:extLst>
            </p:cNvPr>
            <p:cNvSpPr/>
            <p:nvPr/>
          </p:nvSpPr>
          <p:spPr>
            <a:xfrm>
              <a:off x="6384627" y="1809627"/>
              <a:ext cx="1407758" cy="307777"/>
            </a:xfrm>
            <a:prstGeom prst="rect">
              <a:avLst/>
            </a:prstGeom>
          </p:spPr>
          <p:txBody>
            <a:bodyPr wrap="none">
              <a:spAutoFit/>
            </a:bodyPr>
            <a:lstStyle/>
            <a:p>
              <a:pPr algn="ctr"/>
              <a:r>
                <a:rPr lang="en-US" sz="1400" dirty="0">
                  <a:solidFill>
                    <a:schemeClr val="tx1">
                      <a:lumMod val="85000"/>
                      <a:lumOff val="15000"/>
                    </a:schemeClr>
                  </a:solidFill>
                  <a:latin typeface="Amazon Ember Medium" panose="020B0603020204030204" pitchFamily="34" charset="0"/>
                  <a:ea typeface="Amazon Ember Medium" panose="020B0603020204030204" pitchFamily="34" charset="0"/>
                  <a:cs typeface="Amazon Ember Medium" panose="020B0603020204030204" pitchFamily="34" charset="0"/>
                </a:rPr>
                <a:t>Public internet</a:t>
              </a:r>
            </a:p>
          </p:txBody>
        </p:sp>
        <p:cxnSp>
          <p:nvCxnSpPr>
            <p:cNvPr id="19" name="Straight Arrow Connector 18">
              <a:extLst>
                <a:ext uri="{FF2B5EF4-FFF2-40B4-BE49-F238E27FC236}">
                  <a16:creationId xmlns:a16="http://schemas.microsoft.com/office/drawing/2014/main" id="{ECE4B93C-C805-4E5A-B3EB-7ADE2DAA759D}"/>
                </a:ext>
              </a:extLst>
            </p:cNvPr>
            <p:cNvCxnSpPr>
              <a:stCxn id="18" idx="2"/>
            </p:cNvCxnSpPr>
            <p:nvPr/>
          </p:nvCxnSpPr>
          <p:spPr>
            <a:xfrm>
              <a:off x="7088506" y="2117404"/>
              <a:ext cx="0" cy="763134"/>
            </a:xfrm>
            <a:prstGeom prst="straightConnector1">
              <a:avLst/>
            </a:prstGeom>
            <a:ln w="28575">
              <a:solidFill>
                <a:srgbClr val="4AC1FF"/>
              </a:solidFill>
              <a:tailEnd type="triangle"/>
            </a:ln>
          </p:spPr>
          <p:style>
            <a:lnRef idx="2">
              <a:schemeClr val="accent2"/>
            </a:lnRef>
            <a:fillRef idx="0">
              <a:schemeClr val="accent2"/>
            </a:fillRef>
            <a:effectRef idx="1">
              <a:schemeClr val="accent2"/>
            </a:effectRef>
            <a:fontRef idx="minor">
              <a:schemeClr val="tx1"/>
            </a:fontRef>
          </p:style>
        </p:cxnSp>
      </p:grpSp>
      <p:pic>
        <p:nvPicPr>
          <p:cNvPr id="3074" name="Picture 2" descr="Enterprise Storage-as-a-Service Solutions | Zadara">
            <a:extLst>
              <a:ext uri="{FF2B5EF4-FFF2-40B4-BE49-F238E27FC236}">
                <a16:creationId xmlns:a16="http://schemas.microsoft.com/office/drawing/2014/main" id="{25DD0D77-D0E0-44A9-A7CF-DE5E6AA722B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500562" y="4477522"/>
            <a:ext cx="1502911" cy="1502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800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025799"/>
          </a:xfrm>
          <a:prstGeom prst="rect">
            <a:avLst/>
          </a:prstGeom>
        </p:spPr>
        <p:txBody>
          <a:bodyPr wrap="square">
            <a:spAutoFit/>
          </a:bodyPr>
          <a:lstStyle/>
          <a:p>
            <a:pPr>
              <a:lnSpc>
                <a:spcPct val="150000"/>
              </a:lnSpc>
            </a:pPr>
            <a:r>
              <a:rPr lang="en-US" dirty="0">
                <a:solidFill>
                  <a:srgbClr val="18537D"/>
                </a:solidFill>
              </a:rPr>
              <a:t>A Development team are developing a micro-services application that will use </a:t>
            </a:r>
            <a:r>
              <a:rPr lang="en-US" b="1" dirty="0">
                <a:solidFill>
                  <a:srgbClr val="18537D"/>
                </a:solidFill>
              </a:rPr>
              <a:t>Docker containers </a:t>
            </a:r>
            <a:r>
              <a:rPr lang="en-US" dirty="0">
                <a:solidFill>
                  <a:srgbClr val="18537D"/>
                </a:solidFill>
              </a:rPr>
              <a:t>on Amazon</a:t>
            </a:r>
          </a:p>
          <a:p>
            <a:pPr>
              <a:lnSpc>
                <a:spcPct val="150000"/>
              </a:lnSpc>
            </a:pPr>
            <a:r>
              <a:rPr lang="en-US" b="1" dirty="0">
                <a:solidFill>
                  <a:srgbClr val="18537D"/>
                </a:solidFill>
              </a:rPr>
              <a:t>ECS</a:t>
            </a:r>
            <a:r>
              <a:rPr lang="en-US" dirty="0">
                <a:solidFill>
                  <a:srgbClr val="18537D"/>
                </a:solidFill>
              </a:rPr>
              <a:t>. There will be </a:t>
            </a:r>
            <a:r>
              <a:rPr lang="en-US" b="1" dirty="0">
                <a:solidFill>
                  <a:srgbClr val="18537D"/>
                </a:solidFill>
              </a:rPr>
              <a:t>6 distinct services included in the architecture</a:t>
            </a:r>
            <a:r>
              <a:rPr lang="en-US" dirty="0">
                <a:solidFill>
                  <a:srgbClr val="18537D"/>
                </a:solidFill>
              </a:rPr>
              <a:t>. Each service requires specific permissions</a:t>
            </a:r>
          </a:p>
          <a:p>
            <a:pPr>
              <a:lnSpc>
                <a:spcPct val="150000"/>
              </a:lnSpc>
            </a:pPr>
            <a:r>
              <a:rPr lang="en-US" dirty="0">
                <a:solidFill>
                  <a:srgbClr val="18537D"/>
                </a:solidFill>
              </a:rPr>
              <a:t>to various AWS services. What is the </a:t>
            </a:r>
            <a:r>
              <a:rPr lang="en-US" b="1" dirty="0">
                <a:solidFill>
                  <a:srgbClr val="18537D"/>
                </a:solidFill>
              </a:rPr>
              <a:t>MOST secure way to grant the services </a:t>
            </a:r>
            <a:r>
              <a:rPr lang="en-US" dirty="0">
                <a:solidFill>
                  <a:srgbClr val="18537D"/>
                </a:solidFill>
              </a:rPr>
              <a:t>the necessary permissions?</a:t>
            </a:r>
          </a:p>
          <a:p>
            <a:pPr>
              <a:lnSpc>
                <a:spcPct val="150000"/>
              </a:lnSpc>
            </a:pPr>
            <a:endParaRPr lang="en-US" dirty="0">
              <a:solidFill>
                <a:srgbClr val="18537D"/>
              </a:solidFill>
            </a:endParaRPr>
          </a:p>
          <a:p>
            <a:pPr>
              <a:lnSpc>
                <a:spcPct val="150000"/>
              </a:lnSpc>
            </a:pPr>
            <a:r>
              <a:rPr lang="en-US" dirty="0">
                <a:solidFill>
                  <a:srgbClr val="18537D"/>
                </a:solidFill>
              </a:rPr>
              <a:t>1: Create a new Identity and Access Management (IAM) instance profile containing the required permissions</a:t>
            </a:r>
          </a:p>
          <a:p>
            <a:pPr>
              <a:lnSpc>
                <a:spcPct val="150000"/>
              </a:lnSpc>
            </a:pPr>
            <a:r>
              <a:rPr lang="en-US" dirty="0">
                <a:solidFill>
                  <a:srgbClr val="18537D"/>
                </a:solidFill>
              </a:rPr>
              <a:t>for the various ECS services, then associate that instance role with the underlying EC2 instances</a:t>
            </a:r>
          </a:p>
          <a:p>
            <a:pPr>
              <a:lnSpc>
                <a:spcPct val="150000"/>
              </a:lnSpc>
            </a:pPr>
            <a:r>
              <a:rPr lang="en-US" dirty="0">
                <a:solidFill>
                  <a:srgbClr val="18537D"/>
                </a:solidFill>
              </a:rPr>
              <a:t>2: Create six separate IAM roles, each containing the required permissions for the associated ECS service, then</a:t>
            </a:r>
          </a:p>
          <a:p>
            <a:pPr>
              <a:lnSpc>
                <a:spcPct val="150000"/>
              </a:lnSpc>
            </a:pPr>
            <a:r>
              <a:rPr lang="en-US" dirty="0">
                <a:solidFill>
                  <a:srgbClr val="18537D"/>
                </a:solidFill>
              </a:rPr>
              <a:t>configure each ECS task definition to reference the associated IAM role</a:t>
            </a:r>
          </a:p>
          <a:p>
            <a:pPr>
              <a:lnSpc>
                <a:spcPct val="150000"/>
              </a:lnSpc>
            </a:pPr>
            <a:r>
              <a:rPr lang="en-US" dirty="0">
                <a:solidFill>
                  <a:srgbClr val="18537D"/>
                </a:solidFill>
              </a:rPr>
              <a:t>3: Create six separate IAM roles, each containing the required permissions for the associated ECS service, then</a:t>
            </a:r>
          </a:p>
          <a:p>
            <a:pPr>
              <a:lnSpc>
                <a:spcPct val="150000"/>
              </a:lnSpc>
            </a:pPr>
            <a:r>
              <a:rPr lang="en-US" dirty="0">
                <a:solidFill>
                  <a:srgbClr val="18537D"/>
                </a:solidFill>
              </a:rPr>
              <a:t>create an IAM group and configure the ECS cluster to reference that group</a:t>
            </a:r>
          </a:p>
          <a:p>
            <a:pPr>
              <a:lnSpc>
                <a:spcPct val="150000"/>
              </a:lnSpc>
            </a:pPr>
            <a:r>
              <a:rPr lang="en-US" dirty="0">
                <a:solidFill>
                  <a:srgbClr val="18537D"/>
                </a:solidFill>
              </a:rPr>
              <a:t>4: Create a single IAM policy and use principal statements referencing the ECS tasks and assigning the required</a:t>
            </a:r>
          </a:p>
          <a:p>
            <a:pPr>
              <a:lnSpc>
                <a:spcPct val="150000"/>
              </a:lnSpc>
            </a:pPr>
            <a:r>
              <a:rPr lang="en-US" dirty="0">
                <a:solidFill>
                  <a:srgbClr val="18537D"/>
                </a:solidFill>
              </a:rPr>
              <a:t>permissions, then apply the policy to the ECS service</a:t>
            </a:r>
          </a:p>
        </p:txBody>
      </p:sp>
    </p:spTree>
    <p:extLst>
      <p:ext uri="{BB962C8B-B14F-4D97-AF65-F5344CB8AC3E}">
        <p14:creationId xmlns:p14="http://schemas.microsoft.com/office/powerpoint/2010/main" val="2091909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5025799"/>
          </a:xfrm>
          <a:prstGeom prst="rect">
            <a:avLst/>
          </a:prstGeom>
        </p:spPr>
        <p:txBody>
          <a:bodyPr wrap="square">
            <a:spAutoFit/>
          </a:bodyPr>
          <a:lstStyle/>
          <a:p>
            <a:pPr>
              <a:lnSpc>
                <a:spcPct val="150000"/>
              </a:lnSpc>
            </a:pPr>
            <a:r>
              <a:rPr lang="en-US" dirty="0">
                <a:solidFill>
                  <a:srgbClr val="18537D"/>
                </a:solidFill>
              </a:rPr>
              <a:t>A Development team are developing a micro-services application that will use </a:t>
            </a:r>
            <a:r>
              <a:rPr lang="en-US" b="1" dirty="0">
                <a:solidFill>
                  <a:srgbClr val="18537D"/>
                </a:solidFill>
              </a:rPr>
              <a:t>Docker containers </a:t>
            </a:r>
            <a:r>
              <a:rPr lang="en-US" dirty="0">
                <a:solidFill>
                  <a:srgbClr val="18537D"/>
                </a:solidFill>
              </a:rPr>
              <a:t>on Amazon</a:t>
            </a:r>
          </a:p>
          <a:p>
            <a:pPr>
              <a:lnSpc>
                <a:spcPct val="150000"/>
              </a:lnSpc>
            </a:pPr>
            <a:r>
              <a:rPr lang="en-US" b="1" dirty="0">
                <a:solidFill>
                  <a:srgbClr val="18537D"/>
                </a:solidFill>
              </a:rPr>
              <a:t>ECS</a:t>
            </a:r>
            <a:r>
              <a:rPr lang="en-US" dirty="0">
                <a:solidFill>
                  <a:srgbClr val="18537D"/>
                </a:solidFill>
              </a:rPr>
              <a:t>. There will be </a:t>
            </a:r>
            <a:r>
              <a:rPr lang="en-US" b="1" dirty="0">
                <a:solidFill>
                  <a:srgbClr val="18537D"/>
                </a:solidFill>
              </a:rPr>
              <a:t>6 distinct services included in the architecture</a:t>
            </a:r>
            <a:r>
              <a:rPr lang="en-US" dirty="0">
                <a:solidFill>
                  <a:srgbClr val="18537D"/>
                </a:solidFill>
              </a:rPr>
              <a:t>. Each service requires specific permissions</a:t>
            </a:r>
          </a:p>
          <a:p>
            <a:pPr>
              <a:lnSpc>
                <a:spcPct val="150000"/>
              </a:lnSpc>
            </a:pPr>
            <a:r>
              <a:rPr lang="en-US" dirty="0">
                <a:solidFill>
                  <a:srgbClr val="18537D"/>
                </a:solidFill>
              </a:rPr>
              <a:t>to various AWS services. What is the </a:t>
            </a:r>
            <a:r>
              <a:rPr lang="en-US" b="1" dirty="0">
                <a:solidFill>
                  <a:srgbClr val="18537D"/>
                </a:solidFill>
              </a:rPr>
              <a:t>MOST secure way to grant the services </a:t>
            </a:r>
            <a:r>
              <a:rPr lang="en-US" dirty="0">
                <a:solidFill>
                  <a:srgbClr val="18537D"/>
                </a:solidFill>
              </a:rPr>
              <a:t>the necessary permissions?</a:t>
            </a:r>
          </a:p>
          <a:p>
            <a:pPr>
              <a:lnSpc>
                <a:spcPct val="150000"/>
              </a:lnSpc>
            </a:pPr>
            <a:endParaRPr lang="en-US" dirty="0">
              <a:solidFill>
                <a:srgbClr val="18537D"/>
              </a:solidFill>
            </a:endParaRPr>
          </a:p>
          <a:p>
            <a:pPr>
              <a:lnSpc>
                <a:spcPct val="150000"/>
              </a:lnSpc>
            </a:pPr>
            <a:r>
              <a:rPr lang="en-US" dirty="0">
                <a:solidFill>
                  <a:srgbClr val="18537D"/>
                </a:solidFill>
              </a:rPr>
              <a:t>1: Create a new Identity and Access Management (IAM) instance profile containing the required permissions</a:t>
            </a:r>
          </a:p>
          <a:p>
            <a:pPr>
              <a:lnSpc>
                <a:spcPct val="150000"/>
              </a:lnSpc>
            </a:pPr>
            <a:r>
              <a:rPr lang="en-US" dirty="0">
                <a:solidFill>
                  <a:srgbClr val="18537D"/>
                </a:solidFill>
              </a:rPr>
              <a:t>for the various ECS services, then associate that instance role with the underlying EC2 instances</a:t>
            </a:r>
          </a:p>
          <a:p>
            <a:pPr>
              <a:lnSpc>
                <a:spcPct val="150000"/>
              </a:lnSpc>
            </a:pPr>
            <a:r>
              <a:rPr lang="en-US" b="1" dirty="0">
                <a:solidFill>
                  <a:srgbClr val="18537D"/>
                </a:solidFill>
              </a:rPr>
              <a:t>2: Create six separate IAM roles, each containing the required permissions for the associated ECS service, then configure each ECS task definition to reference the associated IAM role</a:t>
            </a:r>
          </a:p>
          <a:p>
            <a:pPr>
              <a:lnSpc>
                <a:spcPct val="150000"/>
              </a:lnSpc>
            </a:pPr>
            <a:r>
              <a:rPr lang="en-US" dirty="0">
                <a:solidFill>
                  <a:srgbClr val="18537D"/>
                </a:solidFill>
              </a:rPr>
              <a:t>3: Create six separate IAM roles, each containing the required permissions for the associated ECS service, then</a:t>
            </a:r>
          </a:p>
          <a:p>
            <a:pPr>
              <a:lnSpc>
                <a:spcPct val="150000"/>
              </a:lnSpc>
            </a:pPr>
            <a:r>
              <a:rPr lang="en-US" dirty="0">
                <a:solidFill>
                  <a:srgbClr val="18537D"/>
                </a:solidFill>
              </a:rPr>
              <a:t>create an IAM group and configure the ECS cluster to reference that group</a:t>
            </a:r>
          </a:p>
          <a:p>
            <a:pPr>
              <a:lnSpc>
                <a:spcPct val="150000"/>
              </a:lnSpc>
            </a:pPr>
            <a:r>
              <a:rPr lang="en-US" dirty="0">
                <a:solidFill>
                  <a:srgbClr val="18537D"/>
                </a:solidFill>
              </a:rPr>
              <a:t>4: Create a single IAM policy and use principal statements referencing the ECS tasks and assigning the required</a:t>
            </a:r>
          </a:p>
          <a:p>
            <a:pPr>
              <a:lnSpc>
                <a:spcPct val="150000"/>
              </a:lnSpc>
            </a:pPr>
            <a:r>
              <a:rPr lang="en-US" dirty="0">
                <a:solidFill>
                  <a:srgbClr val="18537D"/>
                </a:solidFill>
              </a:rPr>
              <a:t>permissions, then apply the policy to the ECS service</a:t>
            </a:r>
          </a:p>
        </p:txBody>
      </p:sp>
    </p:spTree>
    <p:extLst>
      <p:ext uri="{BB962C8B-B14F-4D97-AF65-F5344CB8AC3E}">
        <p14:creationId xmlns:p14="http://schemas.microsoft.com/office/powerpoint/2010/main" val="1106932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company is reviewing their security practices. According to AWS best practice, how should </a:t>
            </a:r>
            <a:r>
              <a:rPr lang="en-US" b="1" dirty="0">
                <a:solidFill>
                  <a:srgbClr val="18537D"/>
                </a:solidFill>
              </a:rPr>
              <a:t>access keys be</a:t>
            </a:r>
          </a:p>
          <a:p>
            <a:pPr>
              <a:lnSpc>
                <a:spcPct val="150000"/>
              </a:lnSpc>
            </a:pPr>
            <a:r>
              <a:rPr lang="en-US" b="1" dirty="0">
                <a:solidFill>
                  <a:srgbClr val="18537D"/>
                </a:solidFill>
              </a:rPr>
              <a:t>managed to improve security</a:t>
            </a:r>
            <a:r>
              <a:rPr lang="en-US" dirty="0">
                <a:solidFill>
                  <a:srgbClr val="18537D"/>
                </a:solidFill>
              </a:rPr>
              <a:t>? (Select TWO)</a:t>
            </a:r>
          </a:p>
          <a:p>
            <a:pPr>
              <a:lnSpc>
                <a:spcPct val="150000"/>
              </a:lnSpc>
            </a:pPr>
            <a:endParaRPr lang="en-US" dirty="0">
              <a:solidFill>
                <a:srgbClr val="18537D"/>
              </a:solidFill>
            </a:endParaRPr>
          </a:p>
          <a:p>
            <a:pPr>
              <a:lnSpc>
                <a:spcPct val="150000"/>
              </a:lnSpc>
            </a:pPr>
            <a:r>
              <a:rPr lang="en-US" dirty="0">
                <a:solidFill>
                  <a:srgbClr val="18537D"/>
                </a:solidFill>
              </a:rPr>
              <a:t>1: Delete all access keys for the root account IAM user</a:t>
            </a:r>
          </a:p>
          <a:p>
            <a:pPr>
              <a:lnSpc>
                <a:spcPct val="150000"/>
              </a:lnSpc>
            </a:pPr>
            <a:r>
              <a:rPr lang="en-US" dirty="0">
                <a:solidFill>
                  <a:srgbClr val="18537D"/>
                </a:solidFill>
              </a:rPr>
              <a:t>2: Embed access keys directly into code</a:t>
            </a:r>
          </a:p>
          <a:p>
            <a:pPr>
              <a:lnSpc>
                <a:spcPct val="150000"/>
              </a:lnSpc>
            </a:pPr>
            <a:r>
              <a:rPr lang="en-US" dirty="0">
                <a:solidFill>
                  <a:srgbClr val="18537D"/>
                </a:solidFill>
              </a:rPr>
              <a:t>3: Rotate access keys daily</a:t>
            </a:r>
          </a:p>
          <a:p>
            <a:pPr>
              <a:lnSpc>
                <a:spcPct val="150000"/>
              </a:lnSpc>
            </a:pPr>
            <a:r>
              <a:rPr lang="en-US" dirty="0">
                <a:solidFill>
                  <a:srgbClr val="18537D"/>
                </a:solidFill>
              </a:rPr>
              <a:t>4: Use different access keys for different applications</a:t>
            </a:r>
          </a:p>
          <a:p>
            <a:pPr>
              <a:lnSpc>
                <a:spcPct val="150000"/>
              </a:lnSpc>
            </a:pPr>
            <a:r>
              <a:rPr lang="en-US" dirty="0">
                <a:solidFill>
                  <a:srgbClr val="18537D"/>
                </a:solidFill>
              </a:rPr>
              <a:t>5: Use the same access key in all applications for consistency</a:t>
            </a:r>
          </a:p>
        </p:txBody>
      </p:sp>
    </p:spTree>
    <p:extLst>
      <p:ext uri="{BB962C8B-B14F-4D97-AF65-F5344CB8AC3E}">
        <p14:creationId xmlns:p14="http://schemas.microsoft.com/office/powerpoint/2010/main" val="1277463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company is reviewing their security practices. According to AWS best practice, how should </a:t>
            </a:r>
            <a:r>
              <a:rPr lang="en-US" b="1" dirty="0">
                <a:solidFill>
                  <a:srgbClr val="18537D"/>
                </a:solidFill>
              </a:rPr>
              <a:t>access keys be</a:t>
            </a:r>
          </a:p>
          <a:p>
            <a:pPr>
              <a:lnSpc>
                <a:spcPct val="150000"/>
              </a:lnSpc>
            </a:pPr>
            <a:r>
              <a:rPr lang="en-US" b="1" dirty="0">
                <a:solidFill>
                  <a:srgbClr val="18537D"/>
                </a:solidFill>
              </a:rPr>
              <a:t>managed to improve security</a:t>
            </a:r>
            <a:r>
              <a:rPr lang="en-US" dirty="0">
                <a:solidFill>
                  <a:srgbClr val="18537D"/>
                </a:solidFill>
              </a:rPr>
              <a:t>? (Select TWO)</a:t>
            </a:r>
          </a:p>
          <a:p>
            <a:pPr>
              <a:lnSpc>
                <a:spcPct val="150000"/>
              </a:lnSpc>
            </a:pPr>
            <a:endParaRPr lang="en-US" dirty="0">
              <a:solidFill>
                <a:srgbClr val="18537D"/>
              </a:solidFill>
            </a:endParaRPr>
          </a:p>
          <a:p>
            <a:pPr>
              <a:lnSpc>
                <a:spcPct val="150000"/>
              </a:lnSpc>
            </a:pPr>
            <a:r>
              <a:rPr lang="en-US" dirty="0">
                <a:solidFill>
                  <a:srgbClr val="18537D"/>
                </a:solidFill>
              </a:rPr>
              <a:t>1: </a:t>
            </a:r>
            <a:r>
              <a:rPr lang="en-US" b="1" dirty="0">
                <a:solidFill>
                  <a:srgbClr val="18537D"/>
                </a:solidFill>
              </a:rPr>
              <a:t>Delete all access keys for the root account IAM user</a:t>
            </a:r>
          </a:p>
          <a:p>
            <a:pPr>
              <a:lnSpc>
                <a:spcPct val="150000"/>
              </a:lnSpc>
            </a:pPr>
            <a:r>
              <a:rPr lang="en-US" dirty="0">
                <a:solidFill>
                  <a:srgbClr val="18537D"/>
                </a:solidFill>
              </a:rPr>
              <a:t>2: Embed access keys directly into code</a:t>
            </a:r>
          </a:p>
          <a:p>
            <a:pPr>
              <a:lnSpc>
                <a:spcPct val="150000"/>
              </a:lnSpc>
            </a:pPr>
            <a:r>
              <a:rPr lang="en-US" dirty="0">
                <a:solidFill>
                  <a:srgbClr val="18537D"/>
                </a:solidFill>
              </a:rPr>
              <a:t>3: Rotate access keys daily</a:t>
            </a:r>
          </a:p>
          <a:p>
            <a:pPr>
              <a:lnSpc>
                <a:spcPct val="150000"/>
              </a:lnSpc>
            </a:pPr>
            <a:r>
              <a:rPr lang="en-US" dirty="0">
                <a:solidFill>
                  <a:srgbClr val="18537D"/>
                </a:solidFill>
              </a:rPr>
              <a:t>4: </a:t>
            </a:r>
            <a:r>
              <a:rPr lang="en-US" b="1" dirty="0">
                <a:solidFill>
                  <a:srgbClr val="18537D"/>
                </a:solidFill>
              </a:rPr>
              <a:t>Use different access keys for different applications</a:t>
            </a:r>
          </a:p>
          <a:p>
            <a:pPr>
              <a:lnSpc>
                <a:spcPct val="150000"/>
              </a:lnSpc>
            </a:pPr>
            <a:r>
              <a:rPr lang="en-US" dirty="0">
                <a:solidFill>
                  <a:srgbClr val="18537D"/>
                </a:solidFill>
              </a:rPr>
              <a:t>5: Use the same access key in all applications for consistency</a:t>
            </a:r>
          </a:p>
        </p:txBody>
      </p:sp>
    </p:spTree>
    <p:extLst>
      <p:ext uri="{BB962C8B-B14F-4D97-AF65-F5344CB8AC3E}">
        <p14:creationId xmlns:p14="http://schemas.microsoft.com/office/powerpoint/2010/main" val="2587516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194803"/>
          </a:xfrm>
          <a:prstGeom prst="rect">
            <a:avLst/>
          </a:prstGeom>
        </p:spPr>
        <p:txBody>
          <a:bodyPr wrap="square">
            <a:spAutoFit/>
          </a:bodyPr>
          <a:lstStyle/>
          <a:p>
            <a:pPr>
              <a:lnSpc>
                <a:spcPct val="150000"/>
              </a:lnSpc>
            </a:pPr>
            <a:r>
              <a:rPr lang="en-US" dirty="0">
                <a:solidFill>
                  <a:srgbClr val="18537D"/>
                </a:solidFill>
              </a:rPr>
              <a:t>A mobile application has thousands of users. Each user may </a:t>
            </a:r>
            <a:r>
              <a:rPr lang="en-US" b="1" dirty="0">
                <a:solidFill>
                  <a:srgbClr val="18537D"/>
                </a:solidFill>
              </a:rPr>
              <a:t>use multiple devices to access the application</a:t>
            </a:r>
            <a:r>
              <a:rPr lang="en-US" dirty="0">
                <a:solidFill>
                  <a:srgbClr val="18537D"/>
                </a:solidFill>
              </a:rPr>
              <a:t>.</a:t>
            </a:r>
          </a:p>
          <a:p>
            <a:pPr>
              <a:lnSpc>
                <a:spcPct val="150000"/>
              </a:lnSpc>
            </a:pPr>
            <a:r>
              <a:rPr lang="en-US" dirty="0">
                <a:solidFill>
                  <a:srgbClr val="18537D"/>
                </a:solidFill>
              </a:rPr>
              <a:t>The Developer wants to </a:t>
            </a:r>
            <a:r>
              <a:rPr lang="en-US" b="1" dirty="0">
                <a:solidFill>
                  <a:srgbClr val="18537D"/>
                </a:solidFill>
              </a:rPr>
              <a:t>assign unique identifiers to these users regardless of the device</a:t>
            </a:r>
            <a:r>
              <a:rPr lang="en-US" dirty="0">
                <a:solidFill>
                  <a:srgbClr val="18537D"/>
                </a:solidFill>
              </a:rPr>
              <a:t> they use. Which of</a:t>
            </a:r>
          </a:p>
          <a:p>
            <a:pPr>
              <a:lnSpc>
                <a:spcPct val="150000"/>
              </a:lnSpc>
            </a:pPr>
            <a:r>
              <a:rPr lang="en-US" dirty="0">
                <a:solidFill>
                  <a:srgbClr val="18537D"/>
                </a:solidFill>
              </a:rPr>
              <a:t>the below is the BEST method to obtain unique identifiers?</a:t>
            </a:r>
          </a:p>
          <a:p>
            <a:pPr>
              <a:lnSpc>
                <a:spcPct val="150000"/>
              </a:lnSpc>
            </a:pPr>
            <a:endParaRPr lang="en-US" dirty="0">
              <a:solidFill>
                <a:srgbClr val="18537D"/>
              </a:solidFill>
            </a:endParaRPr>
          </a:p>
          <a:p>
            <a:pPr>
              <a:lnSpc>
                <a:spcPct val="150000"/>
              </a:lnSpc>
            </a:pPr>
            <a:r>
              <a:rPr lang="en-US" dirty="0">
                <a:solidFill>
                  <a:srgbClr val="18537D"/>
                </a:solidFill>
              </a:rPr>
              <a:t>1: Create a user table in Amazon DynamoDB with key-value pairs of users and their devices. Use these keys as</a:t>
            </a:r>
          </a:p>
          <a:p>
            <a:pPr>
              <a:lnSpc>
                <a:spcPct val="150000"/>
              </a:lnSpc>
            </a:pPr>
            <a:r>
              <a:rPr lang="en-US" dirty="0">
                <a:solidFill>
                  <a:srgbClr val="18537D"/>
                </a:solidFill>
              </a:rPr>
              <a:t>unique identifiers</a:t>
            </a:r>
          </a:p>
          <a:p>
            <a:pPr>
              <a:lnSpc>
                <a:spcPct val="150000"/>
              </a:lnSpc>
            </a:pPr>
            <a:r>
              <a:rPr lang="en-US" dirty="0">
                <a:solidFill>
                  <a:srgbClr val="18537D"/>
                </a:solidFill>
              </a:rPr>
              <a:t>2: Use IAM-generated access key IDs for the users as the unique identifier, but do not store secret keys</a:t>
            </a:r>
          </a:p>
          <a:p>
            <a:pPr>
              <a:lnSpc>
                <a:spcPct val="150000"/>
              </a:lnSpc>
            </a:pPr>
            <a:r>
              <a:rPr lang="en-US" dirty="0">
                <a:solidFill>
                  <a:srgbClr val="18537D"/>
                </a:solidFill>
              </a:rPr>
              <a:t>3: Implement developer-authenticated identities by using Amazon Cognito and get credentials for these</a:t>
            </a:r>
          </a:p>
          <a:p>
            <a:pPr>
              <a:lnSpc>
                <a:spcPct val="150000"/>
              </a:lnSpc>
            </a:pPr>
            <a:r>
              <a:rPr lang="en-US" dirty="0">
                <a:solidFill>
                  <a:srgbClr val="18537D"/>
                </a:solidFill>
              </a:rPr>
              <a:t>identities</a:t>
            </a:r>
          </a:p>
          <a:p>
            <a:pPr>
              <a:lnSpc>
                <a:spcPct val="150000"/>
              </a:lnSpc>
            </a:pPr>
            <a:r>
              <a:rPr lang="en-US" dirty="0">
                <a:solidFill>
                  <a:srgbClr val="18537D"/>
                </a:solidFill>
              </a:rPr>
              <a:t>4: Assign IAM users and roles to the users. Use the unique IAM resource ID as the unique identifier</a:t>
            </a:r>
          </a:p>
        </p:txBody>
      </p:sp>
    </p:spTree>
    <p:extLst>
      <p:ext uri="{BB962C8B-B14F-4D97-AF65-F5344CB8AC3E}">
        <p14:creationId xmlns:p14="http://schemas.microsoft.com/office/powerpoint/2010/main" val="1185873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29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4194803"/>
          </a:xfrm>
          <a:prstGeom prst="rect">
            <a:avLst/>
          </a:prstGeom>
        </p:spPr>
        <p:txBody>
          <a:bodyPr wrap="square">
            <a:spAutoFit/>
          </a:bodyPr>
          <a:lstStyle/>
          <a:p>
            <a:pPr>
              <a:lnSpc>
                <a:spcPct val="150000"/>
              </a:lnSpc>
            </a:pPr>
            <a:r>
              <a:rPr lang="en-US" dirty="0">
                <a:solidFill>
                  <a:srgbClr val="18537D"/>
                </a:solidFill>
              </a:rPr>
              <a:t>A mobile application has thousands of users. Each user may </a:t>
            </a:r>
            <a:r>
              <a:rPr lang="en-US" b="1" dirty="0">
                <a:solidFill>
                  <a:srgbClr val="18537D"/>
                </a:solidFill>
              </a:rPr>
              <a:t>use multiple devices to access the application</a:t>
            </a:r>
            <a:r>
              <a:rPr lang="en-US" dirty="0">
                <a:solidFill>
                  <a:srgbClr val="18537D"/>
                </a:solidFill>
              </a:rPr>
              <a:t>.</a:t>
            </a:r>
          </a:p>
          <a:p>
            <a:pPr>
              <a:lnSpc>
                <a:spcPct val="150000"/>
              </a:lnSpc>
            </a:pPr>
            <a:r>
              <a:rPr lang="en-US" dirty="0">
                <a:solidFill>
                  <a:srgbClr val="18537D"/>
                </a:solidFill>
              </a:rPr>
              <a:t>The Developer wants to </a:t>
            </a:r>
            <a:r>
              <a:rPr lang="en-US" b="1" dirty="0">
                <a:solidFill>
                  <a:srgbClr val="18537D"/>
                </a:solidFill>
              </a:rPr>
              <a:t>assign unique identifiers to these users regardless of the device</a:t>
            </a:r>
            <a:r>
              <a:rPr lang="en-US" dirty="0">
                <a:solidFill>
                  <a:srgbClr val="18537D"/>
                </a:solidFill>
              </a:rPr>
              <a:t> they use. Which of</a:t>
            </a:r>
          </a:p>
          <a:p>
            <a:pPr>
              <a:lnSpc>
                <a:spcPct val="150000"/>
              </a:lnSpc>
            </a:pPr>
            <a:r>
              <a:rPr lang="en-US" dirty="0">
                <a:solidFill>
                  <a:srgbClr val="18537D"/>
                </a:solidFill>
              </a:rPr>
              <a:t>the below is the BEST method to obtain unique identifiers?</a:t>
            </a:r>
          </a:p>
          <a:p>
            <a:pPr>
              <a:lnSpc>
                <a:spcPct val="150000"/>
              </a:lnSpc>
            </a:pPr>
            <a:endParaRPr lang="en-US" dirty="0">
              <a:solidFill>
                <a:srgbClr val="18537D"/>
              </a:solidFill>
            </a:endParaRPr>
          </a:p>
          <a:p>
            <a:pPr>
              <a:lnSpc>
                <a:spcPct val="150000"/>
              </a:lnSpc>
            </a:pPr>
            <a:r>
              <a:rPr lang="en-US" dirty="0">
                <a:solidFill>
                  <a:srgbClr val="18537D"/>
                </a:solidFill>
              </a:rPr>
              <a:t>1: Create a user table in Amazon DynamoDB with key-value pairs of users and their devices. Use these keys as</a:t>
            </a:r>
          </a:p>
          <a:p>
            <a:pPr>
              <a:lnSpc>
                <a:spcPct val="150000"/>
              </a:lnSpc>
            </a:pPr>
            <a:r>
              <a:rPr lang="en-US" dirty="0">
                <a:solidFill>
                  <a:srgbClr val="18537D"/>
                </a:solidFill>
              </a:rPr>
              <a:t>unique identifiers</a:t>
            </a:r>
          </a:p>
          <a:p>
            <a:pPr>
              <a:lnSpc>
                <a:spcPct val="150000"/>
              </a:lnSpc>
            </a:pPr>
            <a:r>
              <a:rPr lang="en-US" dirty="0">
                <a:solidFill>
                  <a:srgbClr val="18537D"/>
                </a:solidFill>
              </a:rPr>
              <a:t>2: Use IAM-generated access key IDs for the users as the unique identifier, but do not store secret keys</a:t>
            </a:r>
          </a:p>
          <a:p>
            <a:pPr>
              <a:lnSpc>
                <a:spcPct val="150000"/>
              </a:lnSpc>
            </a:pPr>
            <a:r>
              <a:rPr lang="en-US" b="1" dirty="0">
                <a:solidFill>
                  <a:srgbClr val="18537D"/>
                </a:solidFill>
              </a:rPr>
              <a:t>3: Implement developer-authenticated identities by using Amazon Cognito and get credentials for these</a:t>
            </a:r>
          </a:p>
          <a:p>
            <a:pPr>
              <a:lnSpc>
                <a:spcPct val="150000"/>
              </a:lnSpc>
            </a:pPr>
            <a:r>
              <a:rPr lang="en-US" b="1" dirty="0">
                <a:solidFill>
                  <a:srgbClr val="18537D"/>
                </a:solidFill>
              </a:rPr>
              <a:t>identities</a:t>
            </a:r>
          </a:p>
          <a:p>
            <a:pPr>
              <a:lnSpc>
                <a:spcPct val="150000"/>
              </a:lnSpc>
            </a:pPr>
            <a:r>
              <a:rPr lang="en-US" dirty="0">
                <a:solidFill>
                  <a:srgbClr val="18537D"/>
                </a:solidFill>
              </a:rPr>
              <a:t>4: Assign IAM users and roles to the users. Use the unique IAM resource ID as the unique identifier</a:t>
            </a:r>
          </a:p>
        </p:txBody>
      </p:sp>
    </p:spTree>
    <p:extLst>
      <p:ext uri="{BB962C8B-B14F-4D97-AF65-F5344CB8AC3E}">
        <p14:creationId xmlns:p14="http://schemas.microsoft.com/office/powerpoint/2010/main" val="2087347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Developer has code running on </a:t>
            </a:r>
            <a:r>
              <a:rPr lang="en-US" b="1" dirty="0">
                <a:solidFill>
                  <a:srgbClr val="18537D"/>
                </a:solidFill>
              </a:rPr>
              <a:t>Amazon EC2 instances that needs read-only access to an Amazon</a:t>
            </a:r>
          </a:p>
          <a:p>
            <a:pPr>
              <a:lnSpc>
                <a:spcPct val="150000"/>
              </a:lnSpc>
            </a:pPr>
            <a:r>
              <a:rPr lang="en-US" b="1" dirty="0">
                <a:solidFill>
                  <a:srgbClr val="18537D"/>
                </a:solidFill>
              </a:rPr>
              <a:t>DynamoDB table</a:t>
            </a:r>
            <a:r>
              <a:rPr lang="en-US" dirty="0">
                <a:solidFill>
                  <a:srgbClr val="18537D"/>
                </a:solidFill>
              </a:rPr>
              <a:t>. What is the MOST secure approach the Developer should take to accomplish this task?</a:t>
            </a:r>
          </a:p>
          <a:p>
            <a:pPr>
              <a:lnSpc>
                <a:spcPct val="150000"/>
              </a:lnSpc>
            </a:pPr>
            <a:endParaRPr lang="en-US" dirty="0">
              <a:solidFill>
                <a:srgbClr val="18537D"/>
              </a:solidFill>
            </a:endParaRPr>
          </a:p>
          <a:p>
            <a:pPr>
              <a:lnSpc>
                <a:spcPct val="150000"/>
              </a:lnSpc>
            </a:pPr>
            <a:r>
              <a:rPr lang="en-US" dirty="0">
                <a:solidFill>
                  <a:srgbClr val="18537D"/>
                </a:solidFill>
              </a:rPr>
              <a:t>1: Create a user access key for each EC2 instance with read-only access to DynamoDB. Place the keys in the</a:t>
            </a:r>
          </a:p>
          <a:p>
            <a:pPr>
              <a:lnSpc>
                <a:spcPct val="150000"/>
              </a:lnSpc>
            </a:pPr>
            <a:r>
              <a:rPr lang="en-US" dirty="0">
                <a:solidFill>
                  <a:srgbClr val="18537D"/>
                </a:solidFill>
              </a:rPr>
              <a:t>code. Redeploy the code as keys rotate</a:t>
            </a:r>
          </a:p>
          <a:p>
            <a:pPr>
              <a:lnSpc>
                <a:spcPct val="150000"/>
              </a:lnSpc>
            </a:pPr>
            <a:r>
              <a:rPr lang="en-US" dirty="0">
                <a:solidFill>
                  <a:srgbClr val="18537D"/>
                </a:solidFill>
              </a:rPr>
              <a:t>2: Use an IAM role with an </a:t>
            </a:r>
            <a:r>
              <a:rPr lang="en-US" dirty="0" err="1">
                <a:solidFill>
                  <a:srgbClr val="18537D"/>
                </a:solidFill>
              </a:rPr>
              <a:t>AmazonDynamoDBReadOnlyAccess</a:t>
            </a:r>
            <a:r>
              <a:rPr lang="en-US" dirty="0">
                <a:solidFill>
                  <a:srgbClr val="18537D"/>
                </a:solidFill>
              </a:rPr>
              <a:t> policy applied to the EC2 instances</a:t>
            </a:r>
          </a:p>
          <a:p>
            <a:pPr>
              <a:lnSpc>
                <a:spcPct val="150000"/>
              </a:lnSpc>
            </a:pPr>
            <a:r>
              <a:rPr lang="en-US" dirty="0">
                <a:solidFill>
                  <a:srgbClr val="18537D"/>
                </a:solidFill>
              </a:rPr>
              <a:t>3: Run all code with only AWS account root user access keys to ensure maximum access to services</a:t>
            </a:r>
          </a:p>
          <a:p>
            <a:pPr>
              <a:lnSpc>
                <a:spcPct val="150000"/>
              </a:lnSpc>
            </a:pPr>
            <a:r>
              <a:rPr lang="en-US" dirty="0">
                <a:solidFill>
                  <a:srgbClr val="18537D"/>
                </a:solidFill>
              </a:rPr>
              <a:t>4: Use an IAM role with Administrator access applied to the EC2 instance</a:t>
            </a:r>
          </a:p>
        </p:txBody>
      </p:sp>
    </p:spTree>
    <p:extLst>
      <p:ext uri="{BB962C8B-B14F-4D97-AF65-F5344CB8AC3E}">
        <p14:creationId xmlns:p14="http://schemas.microsoft.com/office/powerpoint/2010/main" val="2814240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Developer has code running on </a:t>
            </a:r>
            <a:r>
              <a:rPr lang="en-US" b="1" dirty="0">
                <a:solidFill>
                  <a:srgbClr val="18537D"/>
                </a:solidFill>
              </a:rPr>
              <a:t>Amazon EC2 instances that needs read-only access to an Amazon</a:t>
            </a:r>
          </a:p>
          <a:p>
            <a:pPr>
              <a:lnSpc>
                <a:spcPct val="150000"/>
              </a:lnSpc>
            </a:pPr>
            <a:r>
              <a:rPr lang="en-US" b="1" dirty="0">
                <a:solidFill>
                  <a:srgbClr val="18537D"/>
                </a:solidFill>
              </a:rPr>
              <a:t>DynamoDB table</a:t>
            </a:r>
            <a:r>
              <a:rPr lang="en-US" dirty="0">
                <a:solidFill>
                  <a:srgbClr val="18537D"/>
                </a:solidFill>
              </a:rPr>
              <a:t>. What is the MOST secure approach the Developer should take to accomplish this task?</a:t>
            </a:r>
          </a:p>
          <a:p>
            <a:pPr>
              <a:lnSpc>
                <a:spcPct val="150000"/>
              </a:lnSpc>
            </a:pPr>
            <a:endParaRPr lang="en-US" dirty="0">
              <a:solidFill>
                <a:srgbClr val="18537D"/>
              </a:solidFill>
            </a:endParaRPr>
          </a:p>
          <a:p>
            <a:pPr>
              <a:lnSpc>
                <a:spcPct val="150000"/>
              </a:lnSpc>
            </a:pPr>
            <a:r>
              <a:rPr lang="en-US" dirty="0">
                <a:solidFill>
                  <a:srgbClr val="18537D"/>
                </a:solidFill>
              </a:rPr>
              <a:t>1: Create a user access key for each EC2 instance with read-only access to DynamoDB. Place the keys in the</a:t>
            </a:r>
          </a:p>
          <a:p>
            <a:pPr>
              <a:lnSpc>
                <a:spcPct val="150000"/>
              </a:lnSpc>
            </a:pPr>
            <a:r>
              <a:rPr lang="en-US" dirty="0">
                <a:solidFill>
                  <a:srgbClr val="18537D"/>
                </a:solidFill>
              </a:rPr>
              <a:t>code. Redeploy the code as keys rotate</a:t>
            </a:r>
          </a:p>
          <a:p>
            <a:pPr>
              <a:lnSpc>
                <a:spcPct val="150000"/>
              </a:lnSpc>
            </a:pPr>
            <a:r>
              <a:rPr lang="en-US" b="1" dirty="0">
                <a:solidFill>
                  <a:srgbClr val="18537D"/>
                </a:solidFill>
              </a:rPr>
              <a:t>2: Use an IAM role with an </a:t>
            </a:r>
            <a:r>
              <a:rPr lang="en-US" b="1" dirty="0" err="1">
                <a:solidFill>
                  <a:srgbClr val="18537D"/>
                </a:solidFill>
              </a:rPr>
              <a:t>AmazonDynamoDBReadOnlyAccess</a:t>
            </a:r>
            <a:r>
              <a:rPr lang="en-US" b="1" dirty="0">
                <a:solidFill>
                  <a:srgbClr val="18537D"/>
                </a:solidFill>
              </a:rPr>
              <a:t> policy applied to the EC2 instances</a:t>
            </a:r>
          </a:p>
          <a:p>
            <a:pPr>
              <a:lnSpc>
                <a:spcPct val="150000"/>
              </a:lnSpc>
            </a:pPr>
            <a:r>
              <a:rPr lang="en-US" dirty="0">
                <a:solidFill>
                  <a:srgbClr val="18537D"/>
                </a:solidFill>
              </a:rPr>
              <a:t>3: Run all code with only AWS account root user access keys to ensure maximum access to services</a:t>
            </a:r>
          </a:p>
          <a:p>
            <a:pPr>
              <a:lnSpc>
                <a:spcPct val="150000"/>
              </a:lnSpc>
            </a:pPr>
            <a:r>
              <a:rPr lang="en-US" dirty="0">
                <a:solidFill>
                  <a:srgbClr val="18537D"/>
                </a:solidFill>
              </a:rPr>
              <a:t>4: Use an IAM role with Administrator access applied to the EC2 instance</a:t>
            </a:r>
          </a:p>
        </p:txBody>
      </p:sp>
    </p:spTree>
    <p:extLst>
      <p:ext uri="{BB962C8B-B14F-4D97-AF65-F5344CB8AC3E}">
        <p14:creationId xmlns:p14="http://schemas.microsoft.com/office/powerpoint/2010/main" val="1528797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customer-facing web application runs on Amazon EC2 with an Application Load Balancer and an Amazon</a:t>
            </a:r>
          </a:p>
          <a:p>
            <a:pPr>
              <a:lnSpc>
                <a:spcPct val="150000"/>
              </a:lnSpc>
            </a:pPr>
            <a:r>
              <a:rPr lang="en-US" dirty="0">
                <a:solidFill>
                  <a:srgbClr val="18537D"/>
                </a:solidFill>
              </a:rPr>
              <a:t>RDS database back end. Recently, the security team noticed some </a:t>
            </a:r>
            <a:r>
              <a:rPr lang="en-US" b="1" dirty="0">
                <a:solidFill>
                  <a:srgbClr val="18537D"/>
                </a:solidFill>
              </a:rPr>
              <a:t>SQL injection attacks and cross-site scripting attacks targeting the web application</a:t>
            </a:r>
            <a:r>
              <a:rPr lang="en-US" dirty="0">
                <a:solidFill>
                  <a:srgbClr val="18537D"/>
                </a:solidFill>
              </a:rPr>
              <a:t>. Which service can a Developer use to protect against future</a:t>
            </a:r>
          </a:p>
          <a:p>
            <a:pPr>
              <a:lnSpc>
                <a:spcPct val="150000"/>
              </a:lnSpc>
            </a:pPr>
            <a:r>
              <a:rPr lang="en-US" dirty="0">
                <a:solidFill>
                  <a:srgbClr val="18537D"/>
                </a:solidFill>
              </a:rPr>
              <a:t>attacks?</a:t>
            </a:r>
          </a:p>
          <a:p>
            <a:pPr>
              <a:lnSpc>
                <a:spcPct val="150000"/>
              </a:lnSpc>
            </a:pPr>
            <a:endParaRPr lang="en-US" dirty="0">
              <a:solidFill>
                <a:srgbClr val="18537D"/>
              </a:solidFill>
            </a:endParaRPr>
          </a:p>
          <a:p>
            <a:pPr>
              <a:lnSpc>
                <a:spcPct val="150000"/>
              </a:lnSpc>
            </a:pPr>
            <a:r>
              <a:rPr lang="en-US" dirty="0">
                <a:solidFill>
                  <a:srgbClr val="18537D"/>
                </a:solidFill>
              </a:rPr>
              <a:t>1: Security Groups</a:t>
            </a:r>
          </a:p>
          <a:p>
            <a:pPr>
              <a:lnSpc>
                <a:spcPct val="150000"/>
              </a:lnSpc>
            </a:pPr>
            <a:r>
              <a:rPr lang="en-US" dirty="0">
                <a:solidFill>
                  <a:srgbClr val="18537D"/>
                </a:solidFill>
              </a:rPr>
              <a:t>2: Network ACLs</a:t>
            </a:r>
          </a:p>
          <a:p>
            <a:pPr>
              <a:lnSpc>
                <a:spcPct val="150000"/>
              </a:lnSpc>
            </a:pPr>
            <a:r>
              <a:rPr lang="en-US" dirty="0">
                <a:solidFill>
                  <a:srgbClr val="18537D"/>
                </a:solidFill>
              </a:rPr>
              <a:t>3: AWS WAF</a:t>
            </a:r>
          </a:p>
          <a:p>
            <a:pPr>
              <a:lnSpc>
                <a:spcPct val="150000"/>
              </a:lnSpc>
            </a:pPr>
            <a:r>
              <a:rPr lang="en-US" dirty="0">
                <a:solidFill>
                  <a:srgbClr val="18537D"/>
                </a:solidFill>
              </a:rPr>
              <a:t>4: AWS KMS</a:t>
            </a:r>
          </a:p>
        </p:txBody>
      </p:sp>
    </p:spTree>
    <p:extLst>
      <p:ext uri="{BB962C8B-B14F-4D97-AF65-F5344CB8AC3E}">
        <p14:creationId xmlns:p14="http://schemas.microsoft.com/office/powerpoint/2010/main" val="33932058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779304"/>
          </a:xfrm>
          <a:prstGeom prst="rect">
            <a:avLst/>
          </a:prstGeom>
        </p:spPr>
        <p:txBody>
          <a:bodyPr wrap="square">
            <a:spAutoFit/>
          </a:bodyPr>
          <a:lstStyle/>
          <a:p>
            <a:pPr>
              <a:lnSpc>
                <a:spcPct val="150000"/>
              </a:lnSpc>
            </a:pPr>
            <a:r>
              <a:rPr lang="en-US" dirty="0">
                <a:solidFill>
                  <a:srgbClr val="18537D"/>
                </a:solidFill>
              </a:rPr>
              <a:t>A customer-facing web application runs on Amazon EC2 with an Application Load Balancer and an Amazon</a:t>
            </a:r>
          </a:p>
          <a:p>
            <a:pPr>
              <a:lnSpc>
                <a:spcPct val="150000"/>
              </a:lnSpc>
            </a:pPr>
            <a:r>
              <a:rPr lang="en-US" dirty="0">
                <a:solidFill>
                  <a:srgbClr val="18537D"/>
                </a:solidFill>
              </a:rPr>
              <a:t>RDS database back end. Recently, the security team noticed some </a:t>
            </a:r>
            <a:r>
              <a:rPr lang="en-US" b="1" dirty="0">
                <a:solidFill>
                  <a:srgbClr val="18537D"/>
                </a:solidFill>
              </a:rPr>
              <a:t>SQL injection attacks and cross-site scripting attacks targeting the web application</a:t>
            </a:r>
            <a:r>
              <a:rPr lang="en-US" dirty="0">
                <a:solidFill>
                  <a:srgbClr val="18537D"/>
                </a:solidFill>
              </a:rPr>
              <a:t>. Which service can a Developer use to protect against future</a:t>
            </a:r>
          </a:p>
          <a:p>
            <a:pPr>
              <a:lnSpc>
                <a:spcPct val="150000"/>
              </a:lnSpc>
            </a:pPr>
            <a:r>
              <a:rPr lang="en-US" dirty="0">
                <a:solidFill>
                  <a:srgbClr val="18537D"/>
                </a:solidFill>
              </a:rPr>
              <a:t>attacks?</a:t>
            </a:r>
          </a:p>
          <a:p>
            <a:pPr>
              <a:lnSpc>
                <a:spcPct val="150000"/>
              </a:lnSpc>
            </a:pPr>
            <a:endParaRPr lang="en-US" dirty="0">
              <a:solidFill>
                <a:srgbClr val="18537D"/>
              </a:solidFill>
            </a:endParaRPr>
          </a:p>
          <a:p>
            <a:pPr>
              <a:lnSpc>
                <a:spcPct val="150000"/>
              </a:lnSpc>
            </a:pPr>
            <a:r>
              <a:rPr lang="en-US" dirty="0">
                <a:solidFill>
                  <a:srgbClr val="18537D"/>
                </a:solidFill>
              </a:rPr>
              <a:t>1: Security Groups</a:t>
            </a:r>
          </a:p>
          <a:p>
            <a:pPr>
              <a:lnSpc>
                <a:spcPct val="150000"/>
              </a:lnSpc>
            </a:pPr>
            <a:r>
              <a:rPr lang="en-US" dirty="0">
                <a:solidFill>
                  <a:srgbClr val="18537D"/>
                </a:solidFill>
              </a:rPr>
              <a:t>2: Network ACLs</a:t>
            </a:r>
          </a:p>
          <a:p>
            <a:pPr>
              <a:lnSpc>
                <a:spcPct val="150000"/>
              </a:lnSpc>
            </a:pPr>
            <a:r>
              <a:rPr lang="en-US" dirty="0">
                <a:solidFill>
                  <a:srgbClr val="18537D"/>
                </a:solidFill>
              </a:rPr>
              <a:t>3: </a:t>
            </a:r>
            <a:r>
              <a:rPr lang="en-US" b="1" dirty="0">
                <a:solidFill>
                  <a:srgbClr val="18537D"/>
                </a:solidFill>
              </a:rPr>
              <a:t>AWS WAF</a:t>
            </a:r>
          </a:p>
          <a:p>
            <a:pPr>
              <a:lnSpc>
                <a:spcPct val="150000"/>
              </a:lnSpc>
            </a:pPr>
            <a:r>
              <a:rPr lang="en-US" dirty="0">
                <a:solidFill>
                  <a:srgbClr val="18537D"/>
                </a:solidFill>
              </a:rPr>
              <a:t>4: AWS KMS</a:t>
            </a:r>
          </a:p>
        </p:txBody>
      </p:sp>
    </p:spTree>
    <p:extLst>
      <p:ext uri="{BB962C8B-B14F-4D97-AF65-F5344CB8AC3E}">
        <p14:creationId xmlns:p14="http://schemas.microsoft.com/office/powerpoint/2010/main" val="2403102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An application uses Amazon EC2, and Application Load Balancer and Amazon CloudFront to serve content.</a:t>
            </a:r>
          </a:p>
          <a:p>
            <a:pPr>
              <a:lnSpc>
                <a:spcPct val="150000"/>
              </a:lnSpc>
            </a:pPr>
            <a:r>
              <a:rPr lang="en-US" dirty="0">
                <a:solidFill>
                  <a:srgbClr val="18537D"/>
                </a:solidFill>
              </a:rPr>
              <a:t>The security team have reported </a:t>
            </a:r>
            <a:r>
              <a:rPr lang="en-US" b="1" dirty="0">
                <a:solidFill>
                  <a:srgbClr val="18537D"/>
                </a:solidFill>
              </a:rPr>
              <a:t>malicious activity from a specific range of IP addresses</a:t>
            </a:r>
            <a:r>
              <a:rPr lang="en-US" dirty="0">
                <a:solidFill>
                  <a:srgbClr val="18537D"/>
                </a:solidFill>
              </a:rPr>
              <a:t>. How can a</a:t>
            </a:r>
          </a:p>
          <a:p>
            <a:pPr>
              <a:lnSpc>
                <a:spcPct val="150000"/>
              </a:lnSpc>
            </a:pPr>
            <a:r>
              <a:rPr lang="en-US" dirty="0">
                <a:solidFill>
                  <a:srgbClr val="18537D"/>
                </a:solidFill>
              </a:rPr>
              <a:t>Developer prevent the application from being targeted by these addresses again?</a:t>
            </a:r>
          </a:p>
          <a:p>
            <a:pPr>
              <a:lnSpc>
                <a:spcPct val="150000"/>
              </a:lnSpc>
            </a:pPr>
            <a:endParaRPr lang="en-US" dirty="0">
              <a:solidFill>
                <a:srgbClr val="18537D"/>
              </a:solidFill>
            </a:endParaRPr>
          </a:p>
          <a:p>
            <a:pPr>
              <a:lnSpc>
                <a:spcPct val="150000"/>
              </a:lnSpc>
            </a:pPr>
            <a:r>
              <a:rPr lang="en-US" dirty="0">
                <a:solidFill>
                  <a:srgbClr val="18537D"/>
                </a:solidFill>
              </a:rPr>
              <a:t>1: Create a security group rule denying the address range and apply it to the EC2 instances</a:t>
            </a:r>
          </a:p>
          <a:p>
            <a:pPr>
              <a:lnSpc>
                <a:spcPct val="150000"/>
              </a:lnSpc>
            </a:pPr>
            <a:r>
              <a:rPr lang="en-US" dirty="0">
                <a:solidFill>
                  <a:srgbClr val="18537D"/>
                </a:solidFill>
              </a:rPr>
              <a:t>2: Add a certificate using AWS Certificate Manager (ACM) and encrypt all communications</a:t>
            </a:r>
          </a:p>
          <a:p>
            <a:pPr>
              <a:lnSpc>
                <a:spcPct val="150000"/>
              </a:lnSpc>
            </a:pPr>
            <a:r>
              <a:rPr lang="en-US" dirty="0">
                <a:solidFill>
                  <a:srgbClr val="18537D"/>
                </a:solidFill>
              </a:rPr>
              <a:t>3: Add a rule to a Web ACL using AWS WAF that denies the IP address ranges</a:t>
            </a:r>
          </a:p>
          <a:p>
            <a:pPr>
              <a:lnSpc>
                <a:spcPct val="150000"/>
              </a:lnSpc>
            </a:pPr>
            <a:r>
              <a:rPr lang="en-US" dirty="0">
                <a:solidFill>
                  <a:srgbClr val="18537D"/>
                </a:solidFill>
              </a:rPr>
              <a:t>4: Disable the Amazon CloudFront distribution and then reenable it</a:t>
            </a:r>
          </a:p>
        </p:txBody>
      </p:sp>
    </p:spTree>
    <p:extLst>
      <p:ext uri="{BB962C8B-B14F-4D97-AF65-F5344CB8AC3E}">
        <p14:creationId xmlns:p14="http://schemas.microsoft.com/office/powerpoint/2010/main" val="158791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An application uses Amazon EC2, and Application Load Balancer and Amazon CloudFront to serve content.</a:t>
            </a:r>
          </a:p>
          <a:p>
            <a:pPr>
              <a:lnSpc>
                <a:spcPct val="150000"/>
              </a:lnSpc>
            </a:pPr>
            <a:r>
              <a:rPr lang="en-US" dirty="0">
                <a:solidFill>
                  <a:srgbClr val="18537D"/>
                </a:solidFill>
              </a:rPr>
              <a:t>The security team have reported </a:t>
            </a:r>
            <a:r>
              <a:rPr lang="en-US" b="1" dirty="0">
                <a:solidFill>
                  <a:srgbClr val="18537D"/>
                </a:solidFill>
              </a:rPr>
              <a:t>malicious activity from a specific range of IP addresses</a:t>
            </a:r>
            <a:r>
              <a:rPr lang="en-US" dirty="0">
                <a:solidFill>
                  <a:srgbClr val="18537D"/>
                </a:solidFill>
              </a:rPr>
              <a:t>. How can a</a:t>
            </a:r>
          </a:p>
          <a:p>
            <a:pPr>
              <a:lnSpc>
                <a:spcPct val="150000"/>
              </a:lnSpc>
            </a:pPr>
            <a:r>
              <a:rPr lang="en-US" dirty="0">
                <a:solidFill>
                  <a:srgbClr val="18537D"/>
                </a:solidFill>
              </a:rPr>
              <a:t>Developer prevent the application from being targeted by these addresses again?</a:t>
            </a:r>
          </a:p>
          <a:p>
            <a:pPr>
              <a:lnSpc>
                <a:spcPct val="150000"/>
              </a:lnSpc>
            </a:pPr>
            <a:endParaRPr lang="en-US" dirty="0">
              <a:solidFill>
                <a:srgbClr val="18537D"/>
              </a:solidFill>
            </a:endParaRPr>
          </a:p>
          <a:p>
            <a:pPr>
              <a:lnSpc>
                <a:spcPct val="150000"/>
              </a:lnSpc>
            </a:pPr>
            <a:r>
              <a:rPr lang="en-US" dirty="0">
                <a:solidFill>
                  <a:srgbClr val="18537D"/>
                </a:solidFill>
              </a:rPr>
              <a:t>1: Create a security group rule denying the address range and apply it to the EC2 instances</a:t>
            </a:r>
          </a:p>
          <a:p>
            <a:pPr>
              <a:lnSpc>
                <a:spcPct val="150000"/>
              </a:lnSpc>
            </a:pPr>
            <a:r>
              <a:rPr lang="en-US" dirty="0">
                <a:solidFill>
                  <a:srgbClr val="18537D"/>
                </a:solidFill>
              </a:rPr>
              <a:t>2: Add a certificate using AWS Certificate Manager (ACM) and encrypt all communications</a:t>
            </a:r>
          </a:p>
          <a:p>
            <a:pPr>
              <a:lnSpc>
                <a:spcPct val="150000"/>
              </a:lnSpc>
            </a:pPr>
            <a:r>
              <a:rPr lang="en-US" dirty="0">
                <a:solidFill>
                  <a:srgbClr val="18537D"/>
                </a:solidFill>
              </a:rPr>
              <a:t>3</a:t>
            </a:r>
            <a:r>
              <a:rPr lang="en-US" b="1" dirty="0">
                <a:solidFill>
                  <a:srgbClr val="18537D"/>
                </a:solidFill>
              </a:rPr>
              <a:t>: Add a rule to a Web ACL using AWS WAF that denies the IP address ranges</a:t>
            </a:r>
          </a:p>
          <a:p>
            <a:pPr>
              <a:lnSpc>
                <a:spcPct val="150000"/>
              </a:lnSpc>
            </a:pPr>
            <a:r>
              <a:rPr lang="en-US" dirty="0">
                <a:solidFill>
                  <a:srgbClr val="18537D"/>
                </a:solidFill>
              </a:rPr>
              <a:t>4: Disable the Amazon CloudFront distribution and then reenable it</a:t>
            </a:r>
          </a:p>
        </p:txBody>
      </p:sp>
    </p:spTree>
    <p:extLst>
      <p:ext uri="{BB962C8B-B14F-4D97-AF65-F5344CB8AC3E}">
        <p14:creationId xmlns:p14="http://schemas.microsoft.com/office/powerpoint/2010/main" val="27940260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In reference to AWS IAM Decision Logic, what is the first step when determining access permissions for any resource in AWS?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An explicit "deny"</a:t>
            </a:r>
          </a:p>
          <a:p>
            <a:pPr>
              <a:lnSpc>
                <a:spcPct val="150000"/>
              </a:lnSpc>
            </a:pPr>
            <a:r>
              <a:rPr lang="en-US" dirty="0">
                <a:solidFill>
                  <a:srgbClr val="18537D"/>
                </a:solidFill>
              </a:rPr>
              <a:t>b. A default "allow"</a:t>
            </a:r>
          </a:p>
          <a:p>
            <a:pPr>
              <a:lnSpc>
                <a:spcPct val="150000"/>
              </a:lnSpc>
            </a:pPr>
            <a:r>
              <a:rPr lang="en-US" dirty="0">
                <a:solidFill>
                  <a:srgbClr val="18537D"/>
                </a:solidFill>
              </a:rPr>
              <a:t>c. An explicit "allow"</a:t>
            </a:r>
          </a:p>
          <a:p>
            <a:pPr>
              <a:lnSpc>
                <a:spcPct val="150000"/>
              </a:lnSpc>
            </a:pPr>
            <a:r>
              <a:rPr lang="en-US" dirty="0">
                <a:solidFill>
                  <a:srgbClr val="18537D"/>
                </a:solidFill>
              </a:rPr>
              <a:t>d. A default "deny"</a:t>
            </a:r>
          </a:p>
        </p:txBody>
      </p:sp>
    </p:spTree>
    <p:extLst>
      <p:ext uri="{BB962C8B-B14F-4D97-AF65-F5344CB8AC3E}">
        <p14:creationId xmlns:p14="http://schemas.microsoft.com/office/powerpoint/2010/main" val="2936340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In reference to </a:t>
            </a:r>
            <a:r>
              <a:rPr lang="en-US" b="1" dirty="0">
                <a:solidFill>
                  <a:srgbClr val="18537D"/>
                </a:solidFill>
              </a:rPr>
              <a:t>AWS IAM Decision Logic, </a:t>
            </a:r>
            <a:r>
              <a:rPr lang="en-US" dirty="0">
                <a:solidFill>
                  <a:srgbClr val="18537D"/>
                </a:solidFill>
              </a:rPr>
              <a:t>what is the first step when determining access permissions for any resource in AWS?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An explicit "deny"</a:t>
            </a:r>
          </a:p>
          <a:p>
            <a:pPr>
              <a:lnSpc>
                <a:spcPct val="150000"/>
              </a:lnSpc>
            </a:pPr>
            <a:r>
              <a:rPr lang="en-US" dirty="0">
                <a:solidFill>
                  <a:srgbClr val="18537D"/>
                </a:solidFill>
              </a:rPr>
              <a:t>b. A default "allow"</a:t>
            </a:r>
          </a:p>
          <a:p>
            <a:pPr>
              <a:lnSpc>
                <a:spcPct val="150000"/>
              </a:lnSpc>
            </a:pPr>
            <a:r>
              <a:rPr lang="en-US" dirty="0">
                <a:solidFill>
                  <a:srgbClr val="18537D"/>
                </a:solidFill>
              </a:rPr>
              <a:t>c. An explicit "allow"</a:t>
            </a:r>
          </a:p>
          <a:p>
            <a:pPr>
              <a:lnSpc>
                <a:spcPct val="150000"/>
              </a:lnSpc>
            </a:pPr>
            <a:r>
              <a:rPr lang="en-US" dirty="0">
                <a:solidFill>
                  <a:srgbClr val="18537D"/>
                </a:solidFill>
              </a:rPr>
              <a:t>d. A default "deny"</a:t>
            </a:r>
          </a:p>
        </p:txBody>
      </p:sp>
    </p:spTree>
    <p:extLst>
      <p:ext uri="{BB962C8B-B14F-4D97-AF65-F5344CB8AC3E}">
        <p14:creationId xmlns:p14="http://schemas.microsoft.com/office/powerpoint/2010/main" val="3910916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2948308"/>
          </a:xfrm>
          <a:prstGeom prst="rect">
            <a:avLst/>
          </a:prstGeom>
        </p:spPr>
        <p:txBody>
          <a:bodyPr wrap="square">
            <a:spAutoFit/>
          </a:bodyPr>
          <a:lstStyle/>
          <a:p>
            <a:pPr>
              <a:lnSpc>
                <a:spcPct val="150000"/>
              </a:lnSpc>
            </a:pPr>
            <a:r>
              <a:rPr lang="en-US" dirty="0">
                <a:solidFill>
                  <a:srgbClr val="18537D"/>
                </a:solidFill>
              </a:rPr>
              <a:t>In reference to </a:t>
            </a:r>
            <a:r>
              <a:rPr lang="en-US" b="1" dirty="0">
                <a:solidFill>
                  <a:srgbClr val="18537D"/>
                </a:solidFill>
              </a:rPr>
              <a:t>AWS IAM Decision Logic, </a:t>
            </a:r>
            <a:r>
              <a:rPr lang="en-US" dirty="0">
                <a:solidFill>
                  <a:srgbClr val="18537D"/>
                </a:solidFill>
              </a:rPr>
              <a:t>what is the first step when determining access permissions for any resource in AWS?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An explicit "deny"</a:t>
            </a:r>
          </a:p>
          <a:p>
            <a:pPr>
              <a:lnSpc>
                <a:spcPct val="150000"/>
              </a:lnSpc>
            </a:pPr>
            <a:r>
              <a:rPr lang="en-US" dirty="0">
                <a:solidFill>
                  <a:srgbClr val="18537D"/>
                </a:solidFill>
              </a:rPr>
              <a:t>b. A default "allow"</a:t>
            </a:r>
          </a:p>
          <a:p>
            <a:pPr>
              <a:lnSpc>
                <a:spcPct val="150000"/>
              </a:lnSpc>
            </a:pPr>
            <a:r>
              <a:rPr lang="en-US" dirty="0">
                <a:solidFill>
                  <a:srgbClr val="18537D"/>
                </a:solidFill>
              </a:rPr>
              <a:t>c. An explicit "allow"</a:t>
            </a:r>
          </a:p>
          <a:p>
            <a:pPr>
              <a:lnSpc>
                <a:spcPct val="150000"/>
              </a:lnSpc>
            </a:pPr>
            <a:r>
              <a:rPr lang="en-US" b="1" dirty="0">
                <a:solidFill>
                  <a:srgbClr val="18537D"/>
                </a:solidFill>
              </a:rPr>
              <a:t>d. A default "deny"</a:t>
            </a:r>
          </a:p>
        </p:txBody>
      </p:sp>
    </p:spTree>
    <p:extLst>
      <p:ext uri="{BB962C8B-B14F-4D97-AF65-F5344CB8AC3E}">
        <p14:creationId xmlns:p14="http://schemas.microsoft.com/office/powerpoint/2010/main" val="21848519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39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company has released a new application on AWS. The company are concerned about security and require</a:t>
            </a:r>
          </a:p>
          <a:p>
            <a:pPr>
              <a:lnSpc>
                <a:spcPct val="150000"/>
              </a:lnSpc>
            </a:pPr>
            <a:r>
              <a:rPr lang="en-US" dirty="0">
                <a:solidFill>
                  <a:srgbClr val="18537D"/>
                </a:solidFill>
              </a:rPr>
              <a:t>a tool that can </a:t>
            </a:r>
            <a:r>
              <a:rPr lang="en-US" b="1" dirty="0">
                <a:solidFill>
                  <a:srgbClr val="18537D"/>
                </a:solidFill>
              </a:rPr>
              <a:t>automatically assess applications for exposure, vulnerabilities, and deviations </a:t>
            </a:r>
            <a:r>
              <a:rPr lang="en-US" dirty="0">
                <a:solidFill>
                  <a:srgbClr val="18537D"/>
                </a:solidFill>
              </a:rPr>
              <a:t>from best</a:t>
            </a:r>
          </a:p>
          <a:p>
            <a:pPr>
              <a:lnSpc>
                <a:spcPct val="150000"/>
              </a:lnSpc>
            </a:pPr>
            <a:r>
              <a:rPr lang="en-US" dirty="0">
                <a:solidFill>
                  <a:srgbClr val="18537D"/>
                </a:solidFill>
              </a:rPr>
              <a:t>practices. Which AWS service should they use?</a:t>
            </a:r>
          </a:p>
          <a:p>
            <a:pPr>
              <a:lnSpc>
                <a:spcPct val="150000"/>
              </a:lnSpc>
            </a:pPr>
            <a:endParaRPr lang="en-US" dirty="0">
              <a:solidFill>
                <a:srgbClr val="18537D"/>
              </a:solidFill>
            </a:endParaRPr>
          </a:p>
          <a:p>
            <a:pPr>
              <a:lnSpc>
                <a:spcPct val="150000"/>
              </a:lnSpc>
            </a:pPr>
            <a:r>
              <a:rPr lang="en-US" dirty="0">
                <a:solidFill>
                  <a:srgbClr val="18537D"/>
                </a:solidFill>
              </a:rPr>
              <a:t>1: Amazon Inspector</a:t>
            </a:r>
          </a:p>
          <a:p>
            <a:pPr>
              <a:lnSpc>
                <a:spcPct val="150000"/>
              </a:lnSpc>
            </a:pPr>
            <a:r>
              <a:rPr lang="en-US" dirty="0">
                <a:solidFill>
                  <a:srgbClr val="18537D"/>
                </a:solidFill>
              </a:rPr>
              <a:t>2: AWS Shield</a:t>
            </a:r>
          </a:p>
          <a:p>
            <a:pPr>
              <a:lnSpc>
                <a:spcPct val="150000"/>
              </a:lnSpc>
            </a:pPr>
            <a:r>
              <a:rPr lang="en-US" dirty="0">
                <a:solidFill>
                  <a:srgbClr val="18537D"/>
                </a:solidFill>
              </a:rPr>
              <a:t>3: AWS WAF</a:t>
            </a:r>
          </a:p>
          <a:p>
            <a:pPr>
              <a:lnSpc>
                <a:spcPct val="150000"/>
              </a:lnSpc>
            </a:pPr>
            <a:r>
              <a:rPr lang="en-US" dirty="0">
                <a:solidFill>
                  <a:srgbClr val="18537D"/>
                </a:solidFill>
              </a:rPr>
              <a:t>4: AWS Secrets Manager</a:t>
            </a:r>
          </a:p>
        </p:txBody>
      </p:sp>
    </p:spTree>
    <p:extLst>
      <p:ext uri="{BB962C8B-B14F-4D97-AF65-F5344CB8AC3E}">
        <p14:creationId xmlns:p14="http://schemas.microsoft.com/office/powerpoint/2010/main" val="2421049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91779" y="1014333"/>
            <a:ext cx="12494956" cy="3363806"/>
          </a:xfrm>
          <a:prstGeom prst="rect">
            <a:avLst/>
          </a:prstGeom>
        </p:spPr>
        <p:txBody>
          <a:bodyPr wrap="square">
            <a:spAutoFit/>
          </a:bodyPr>
          <a:lstStyle/>
          <a:p>
            <a:pPr>
              <a:lnSpc>
                <a:spcPct val="150000"/>
              </a:lnSpc>
            </a:pPr>
            <a:r>
              <a:rPr lang="en-US" dirty="0">
                <a:solidFill>
                  <a:srgbClr val="18537D"/>
                </a:solidFill>
              </a:rPr>
              <a:t>A company has released a new application on AWS. The company are concerned about security and require</a:t>
            </a:r>
          </a:p>
          <a:p>
            <a:pPr>
              <a:lnSpc>
                <a:spcPct val="150000"/>
              </a:lnSpc>
            </a:pPr>
            <a:r>
              <a:rPr lang="en-US" dirty="0">
                <a:solidFill>
                  <a:srgbClr val="18537D"/>
                </a:solidFill>
              </a:rPr>
              <a:t>a tool that can </a:t>
            </a:r>
            <a:r>
              <a:rPr lang="en-US" b="1" dirty="0">
                <a:solidFill>
                  <a:srgbClr val="18537D"/>
                </a:solidFill>
              </a:rPr>
              <a:t>automatically assess applications for exposure, vulnerabilities, and deviations </a:t>
            </a:r>
            <a:r>
              <a:rPr lang="en-US" dirty="0">
                <a:solidFill>
                  <a:srgbClr val="18537D"/>
                </a:solidFill>
              </a:rPr>
              <a:t>from best</a:t>
            </a:r>
          </a:p>
          <a:p>
            <a:pPr>
              <a:lnSpc>
                <a:spcPct val="150000"/>
              </a:lnSpc>
            </a:pPr>
            <a:r>
              <a:rPr lang="en-US" dirty="0">
                <a:solidFill>
                  <a:srgbClr val="18537D"/>
                </a:solidFill>
              </a:rPr>
              <a:t>practices. Which AWS service should they use?</a:t>
            </a:r>
          </a:p>
          <a:p>
            <a:pPr>
              <a:lnSpc>
                <a:spcPct val="150000"/>
              </a:lnSpc>
            </a:pPr>
            <a:endParaRPr lang="en-US" dirty="0">
              <a:solidFill>
                <a:srgbClr val="18537D"/>
              </a:solidFill>
            </a:endParaRPr>
          </a:p>
          <a:p>
            <a:pPr>
              <a:lnSpc>
                <a:spcPct val="150000"/>
              </a:lnSpc>
            </a:pPr>
            <a:r>
              <a:rPr lang="en-US" dirty="0">
                <a:solidFill>
                  <a:srgbClr val="18537D"/>
                </a:solidFill>
              </a:rPr>
              <a:t>1: </a:t>
            </a:r>
            <a:r>
              <a:rPr lang="en-US" b="1" dirty="0">
                <a:solidFill>
                  <a:srgbClr val="18537D"/>
                </a:solidFill>
              </a:rPr>
              <a:t>Amazon Inspector</a:t>
            </a:r>
          </a:p>
          <a:p>
            <a:pPr>
              <a:lnSpc>
                <a:spcPct val="150000"/>
              </a:lnSpc>
            </a:pPr>
            <a:r>
              <a:rPr lang="en-US" dirty="0">
                <a:solidFill>
                  <a:srgbClr val="18537D"/>
                </a:solidFill>
              </a:rPr>
              <a:t>2: AWS Shield</a:t>
            </a:r>
          </a:p>
          <a:p>
            <a:pPr>
              <a:lnSpc>
                <a:spcPct val="150000"/>
              </a:lnSpc>
            </a:pPr>
            <a:r>
              <a:rPr lang="en-US" dirty="0">
                <a:solidFill>
                  <a:srgbClr val="18537D"/>
                </a:solidFill>
              </a:rPr>
              <a:t>3: AWS WAF</a:t>
            </a:r>
          </a:p>
          <a:p>
            <a:pPr>
              <a:lnSpc>
                <a:spcPct val="150000"/>
              </a:lnSpc>
            </a:pPr>
            <a:r>
              <a:rPr lang="en-US" dirty="0">
                <a:solidFill>
                  <a:srgbClr val="18537D"/>
                </a:solidFill>
              </a:rPr>
              <a:t>4: AWS Secrets Manager</a:t>
            </a:r>
          </a:p>
        </p:txBody>
      </p:sp>
    </p:spTree>
    <p:extLst>
      <p:ext uri="{BB962C8B-B14F-4D97-AF65-F5344CB8AC3E}">
        <p14:creationId xmlns:p14="http://schemas.microsoft.com/office/powerpoint/2010/main" val="26107377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42617" y="748862"/>
            <a:ext cx="12494956" cy="5441298"/>
          </a:xfrm>
          <a:prstGeom prst="rect">
            <a:avLst/>
          </a:prstGeom>
        </p:spPr>
        <p:txBody>
          <a:bodyPr wrap="square">
            <a:spAutoFit/>
          </a:bodyPr>
          <a:lstStyle/>
          <a:p>
            <a:pPr>
              <a:lnSpc>
                <a:spcPct val="150000"/>
              </a:lnSpc>
            </a:pPr>
            <a:r>
              <a:rPr lang="en-US" dirty="0">
                <a:solidFill>
                  <a:srgbClr val="18537D"/>
                </a:solidFill>
              </a:rPr>
              <a:t>Your mobile application includes a photo-sharing service that is expecting tens of thousands of users at launch. You will leverage Amazon Simple Storage Service (S3) for storage of the user Images, and you must decide how to authenticate and authorize your users for access to these images. You also need to manage the storage of these images. Which two of the following approaches should you use? </a:t>
            </a:r>
          </a:p>
          <a:p>
            <a:pPr>
              <a:lnSpc>
                <a:spcPct val="150000"/>
              </a:lnSpc>
            </a:pPr>
            <a:endParaRPr lang="en-US" dirty="0">
              <a:solidFill>
                <a:srgbClr val="18537D"/>
              </a:solidFill>
            </a:endParaRPr>
          </a:p>
          <a:p>
            <a:pPr>
              <a:lnSpc>
                <a:spcPct val="150000"/>
              </a:lnSpc>
            </a:pPr>
            <a:r>
              <a:rPr lang="en-US" dirty="0">
                <a:solidFill>
                  <a:srgbClr val="18537D"/>
                </a:solidFill>
              </a:rPr>
              <a:t>a. Create an Amazon S3 bucket per user, and use your application to generate the S3 URL for the appropriate content.</a:t>
            </a:r>
          </a:p>
          <a:p>
            <a:pPr>
              <a:lnSpc>
                <a:spcPct val="150000"/>
              </a:lnSpc>
            </a:pPr>
            <a:r>
              <a:rPr lang="en-US" dirty="0">
                <a:solidFill>
                  <a:srgbClr val="18537D"/>
                </a:solidFill>
              </a:rPr>
              <a:t>b. Use AWS Identity and Access Management (IAM) user accounts as your application-level user database, and offload the burden of authentication from your application code.</a:t>
            </a:r>
          </a:p>
          <a:p>
            <a:pPr>
              <a:lnSpc>
                <a:spcPct val="150000"/>
              </a:lnSpc>
            </a:pPr>
            <a:r>
              <a:rPr lang="en-US" dirty="0">
                <a:solidFill>
                  <a:srgbClr val="18537D"/>
                </a:solidFill>
              </a:rPr>
              <a:t>c. Authenticate your users at the application level, and use AWS Security Token Service (STS)to grant token-based authorization to S3 objects.</a:t>
            </a:r>
          </a:p>
          <a:p>
            <a:pPr>
              <a:lnSpc>
                <a:spcPct val="150000"/>
              </a:lnSpc>
            </a:pPr>
            <a:r>
              <a:rPr lang="en-US" dirty="0">
                <a:solidFill>
                  <a:srgbClr val="18537D"/>
                </a:solidFill>
              </a:rPr>
              <a:t>d. Authenticate your users at the application level, and send an SMS token message to the user. Create an Amazon S3 bucket with the same name as the SMS message token, and move the user’s objects to that bucket.</a:t>
            </a:r>
          </a:p>
        </p:txBody>
      </p:sp>
    </p:spTree>
    <p:extLst>
      <p:ext uri="{BB962C8B-B14F-4D97-AF65-F5344CB8AC3E}">
        <p14:creationId xmlns:p14="http://schemas.microsoft.com/office/powerpoint/2010/main" val="605565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42617" y="748862"/>
            <a:ext cx="12494956" cy="5441298"/>
          </a:xfrm>
          <a:prstGeom prst="rect">
            <a:avLst/>
          </a:prstGeom>
        </p:spPr>
        <p:txBody>
          <a:bodyPr wrap="square">
            <a:spAutoFit/>
          </a:bodyPr>
          <a:lstStyle/>
          <a:p>
            <a:pPr>
              <a:lnSpc>
                <a:spcPct val="150000"/>
              </a:lnSpc>
            </a:pPr>
            <a:r>
              <a:rPr lang="en-US" dirty="0">
                <a:solidFill>
                  <a:srgbClr val="18537D"/>
                </a:solidFill>
              </a:rPr>
              <a:t>Your mobile application includes a photo-sharing service that is expecting tens of thousands of users at launch. You will leverage </a:t>
            </a:r>
            <a:r>
              <a:rPr lang="en-US" b="1" dirty="0">
                <a:solidFill>
                  <a:srgbClr val="18537D"/>
                </a:solidFill>
              </a:rPr>
              <a:t>Amazon Simple Storage Service (S3) for storage of the user Images, and you must decide how to authenticate and authorize your users for access to these images.</a:t>
            </a:r>
            <a:r>
              <a:rPr lang="en-US" dirty="0">
                <a:solidFill>
                  <a:srgbClr val="18537D"/>
                </a:solidFill>
              </a:rPr>
              <a:t> You also need to manage the storage of these images. Which two of the following approaches should you use? </a:t>
            </a:r>
          </a:p>
          <a:p>
            <a:pPr>
              <a:lnSpc>
                <a:spcPct val="150000"/>
              </a:lnSpc>
            </a:pPr>
            <a:endParaRPr lang="en-US" dirty="0">
              <a:solidFill>
                <a:srgbClr val="18537D"/>
              </a:solidFill>
            </a:endParaRPr>
          </a:p>
          <a:p>
            <a:pPr>
              <a:lnSpc>
                <a:spcPct val="150000"/>
              </a:lnSpc>
            </a:pPr>
            <a:r>
              <a:rPr lang="en-US" dirty="0">
                <a:solidFill>
                  <a:srgbClr val="18537D"/>
                </a:solidFill>
              </a:rPr>
              <a:t>a. Create an Amazon S3 bucket per user, and use your application to generate the S3 URL for the appropriate content.</a:t>
            </a:r>
          </a:p>
          <a:p>
            <a:pPr>
              <a:lnSpc>
                <a:spcPct val="150000"/>
              </a:lnSpc>
            </a:pPr>
            <a:r>
              <a:rPr lang="en-US" dirty="0">
                <a:solidFill>
                  <a:srgbClr val="18537D"/>
                </a:solidFill>
              </a:rPr>
              <a:t>b. Use AWS Identity and Access Management (IAM) user accounts as your application-level user database, and offload the burden of authentication from your application code.</a:t>
            </a:r>
          </a:p>
          <a:p>
            <a:pPr>
              <a:lnSpc>
                <a:spcPct val="150000"/>
              </a:lnSpc>
            </a:pPr>
            <a:r>
              <a:rPr lang="en-US" dirty="0">
                <a:solidFill>
                  <a:srgbClr val="18537D"/>
                </a:solidFill>
              </a:rPr>
              <a:t>c. Authenticate your users at the application level, and use AWS Security Token Service (STS)to grant token-based authorization to S3 objects.</a:t>
            </a:r>
          </a:p>
          <a:p>
            <a:pPr>
              <a:lnSpc>
                <a:spcPct val="150000"/>
              </a:lnSpc>
            </a:pPr>
            <a:r>
              <a:rPr lang="en-US" dirty="0">
                <a:solidFill>
                  <a:srgbClr val="18537D"/>
                </a:solidFill>
              </a:rPr>
              <a:t>d. Authenticate your users at the application level, and send an SMS token message to the user. Create an Amazon S3 bucket with the same name as the SMS message token, and move the user’s objects to that bucket.</a:t>
            </a:r>
          </a:p>
        </p:txBody>
      </p:sp>
    </p:spTree>
    <p:extLst>
      <p:ext uri="{BB962C8B-B14F-4D97-AF65-F5344CB8AC3E}">
        <p14:creationId xmlns:p14="http://schemas.microsoft.com/office/powerpoint/2010/main" val="3250254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42617" y="748862"/>
            <a:ext cx="12494956" cy="5441298"/>
          </a:xfrm>
          <a:prstGeom prst="rect">
            <a:avLst/>
          </a:prstGeom>
        </p:spPr>
        <p:txBody>
          <a:bodyPr wrap="square">
            <a:spAutoFit/>
          </a:bodyPr>
          <a:lstStyle/>
          <a:p>
            <a:pPr>
              <a:lnSpc>
                <a:spcPct val="150000"/>
              </a:lnSpc>
            </a:pPr>
            <a:r>
              <a:rPr lang="en-US" dirty="0">
                <a:solidFill>
                  <a:srgbClr val="18537D"/>
                </a:solidFill>
              </a:rPr>
              <a:t>Your mobile application includes a photo-sharing service that is expecting tens of thousands of users at launch. You will leverage </a:t>
            </a:r>
            <a:r>
              <a:rPr lang="en-US" b="1" dirty="0">
                <a:solidFill>
                  <a:srgbClr val="18537D"/>
                </a:solidFill>
              </a:rPr>
              <a:t>Amazon Simple Storage Service (S3) for storage of the user Images, and you must decide how to authenticate and authorize your users for access to these images.</a:t>
            </a:r>
            <a:r>
              <a:rPr lang="en-US" dirty="0">
                <a:solidFill>
                  <a:srgbClr val="18537D"/>
                </a:solidFill>
              </a:rPr>
              <a:t> You also need to manage the storage of these images. Which two of the following approaches should you use? </a:t>
            </a:r>
          </a:p>
          <a:p>
            <a:pPr>
              <a:lnSpc>
                <a:spcPct val="150000"/>
              </a:lnSpc>
            </a:pPr>
            <a:endParaRPr lang="en-US" dirty="0">
              <a:solidFill>
                <a:srgbClr val="18537D"/>
              </a:solidFill>
            </a:endParaRPr>
          </a:p>
          <a:p>
            <a:pPr>
              <a:lnSpc>
                <a:spcPct val="150000"/>
              </a:lnSpc>
            </a:pPr>
            <a:r>
              <a:rPr lang="en-US" dirty="0">
                <a:solidFill>
                  <a:srgbClr val="18537D"/>
                </a:solidFill>
              </a:rPr>
              <a:t>a. Create an Amazon S3 bucket per user, and use your application to generate the S3 URL for the appropriate content.</a:t>
            </a:r>
          </a:p>
          <a:p>
            <a:pPr>
              <a:lnSpc>
                <a:spcPct val="150000"/>
              </a:lnSpc>
            </a:pPr>
            <a:r>
              <a:rPr lang="en-US" dirty="0">
                <a:solidFill>
                  <a:srgbClr val="18537D"/>
                </a:solidFill>
              </a:rPr>
              <a:t>b. Use AWS Identity and Access Management (IAM) user accounts as your application-level user database, and offload the burden of authentication from your application code.</a:t>
            </a:r>
          </a:p>
          <a:p>
            <a:pPr>
              <a:lnSpc>
                <a:spcPct val="150000"/>
              </a:lnSpc>
            </a:pPr>
            <a:r>
              <a:rPr lang="en-US" dirty="0">
                <a:solidFill>
                  <a:srgbClr val="18537D"/>
                </a:solidFill>
              </a:rPr>
              <a:t>c. </a:t>
            </a:r>
            <a:r>
              <a:rPr lang="en-US" b="1" dirty="0">
                <a:solidFill>
                  <a:srgbClr val="18537D"/>
                </a:solidFill>
              </a:rPr>
              <a:t>Authenticate your users at the application level, and use AWS Security Token Service (STS)to grant token-based authorization to S3 objects.</a:t>
            </a:r>
          </a:p>
          <a:p>
            <a:pPr>
              <a:lnSpc>
                <a:spcPct val="150000"/>
              </a:lnSpc>
            </a:pPr>
            <a:r>
              <a:rPr lang="en-US" dirty="0">
                <a:solidFill>
                  <a:srgbClr val="18537D"/>
                </a:solidFill>
              </a:rPr>
              <a:t>d. Authenticate your users at the application level, and send an SMS token message to the user. Create an Amazon S3 bucket with the same name as the SMS message token, and move the user’s objects to that bucket.</a:t>
            </a:r>
          </a:p>
        </p:txBody>
      </p:sp>
    </p:spTree>
    <p:extLst>
      <p:ext uri="{BB962C8B-B14F-4D97-AF65-F5344CB8AC3E}">
        <p14:creationId xmlns:p14="http://schemas.microsoft.com/office/powerpoint/2010/main" val="4064272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5441298"/>
          </a:xfrm>
          <a:prstGeom prst="rect">
            <a:avLst/>
          </a:prstGeom>
        </p:spPr>
        <p:txBody>
          <a:bodyPr wrap="square">
            <a:spAutoFit/>
          </a:bodyPr>
          <a:lstStyle/>
          <a:p>
            <a:pPr>
              <a:lnSpc>
                <a:spcPct val="150000"/>
              </a:lnSpc>
            </a:pPr>
            <a:r>
              <a:rPr lang="en-US" dirty="0">
                <a:solidFill>
                  <a:srgbClr val="18537D"/>
                </a:solidFill>
              </a:rPr>
              <a:t>Your company has developed a web application and is hosting it in an Amazon S3 bucket configured for static website hosting. The users can log in to this app using their Google/Facebook login accounts. The application is using the AWS SDK for JavaScript in the browser to access data stored in an Amazon DynamoDB table. How can you ensure that API keys for access to your data in DynamoDB are kept secure?</a:t>
            </a:r>
          </a:p>
          <a:p>
            <a:pPr>
              <a:lnSpc>
                <a:spcPct val="150000"/>
              </a:lnSpc>
            </a:pPr>
            <a:endParaRPr lang="en-US" dirty="0">
              <a:solidFill>
                <a:srgbClr val="18537D"/>
              </a:solidFill>
            </a:endParaRPr>
          </a:p>
          <a:p>
            <a:pPr>
              <a:lnSpc>
                <a:spcPct val="150000"/>
              </a:lnSpc>
            </a:pPr>
            <a:r>
              <a:rPr lang="en-US" dirty="0">
                <a:solidFill>
                  <a:srgbClr val="18537D"/>
                </a:solidFill>
              </a:rPr>
              <a:t>a. Create an Amazon S3 role in IAM with access to the specific DynamoDB tables, and assign it to the bucket hosting your website.</a:t>
            </a:r>
          </a:p>
          <a:p>
            <a:pPr>
              <a:lnSpc>
                <a:spcPct val="150000"/>
              </a:lnSpc>
            </a:pPr>
            <a:r>
              <a:rPr lang="en-US" dirty="0">
                <a:solidFill>
                  <a:srgbClr val="18537D"/>
                </a:solidFill>
              </a:rPr>
              <a:t>b. Configure S3 bucket tags with your AWS access keys for your bucket hosing your website so that the application can query them for access.</a:t>
            </a:r>
          </a:p>
          <a:p>
            <a:pPr>
              <a:lnSpc>
                <a:spcPct val="150000"/>
              </a:lnSpc>
            </a:pPr>
            <a:r>
              <a:rPr lang="en-US" dirty="0">
                <a:solidFill>
                  <a:srgbClr val="18537D"/>
                </a:solidFill>
              </a:rPr>
              <a:t>c. Configure a web identity federation role within IAM to enable access to the correct DynamoDB resources and retrieve temporary credentials.</a:t>
            </a:r>
          </a:p>
          <a:p>
            <a:pPr>
              <a:lnSpc>
                <a:spcPct val="150000"/>
              </a:lnSpc>
            </a:pPr>
            <a:r>
              <a:rPr lang="en-US" dirty="0">
                <a:solidFill>
                  <a:srgbClr val="18537D"/>
                </a:solidFill>
              </a:rPr>
              <a:t>d. Store AWS keys in global variables within your application and configure the application to use these credentials when making requests.</a:t>
            </a:r>
          </a:p>
        </p:txBody>
      </p:sp>
    </p:spTree>
    <p:extLst>
      <p:ext uri="{BB962C8B-B14F-4D97-AF65-F5344CB8AC3E}">
        <p14:creationId xmlns:p14="http://schemas.microsoft.com/office/powerpoint/2010/main" val="30978076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5441298"/>
          </a:xfrm>
          <a:prstGeom prst="rect">
            <a:avLst/>
          </a:prstGeom>
        </p:spPr>
        <p:txBody>
          <a:bodyPr wrap="square">
            <a:spAutoFit/>
          </a:bodyPr>
          <a:lstStyle/>
          <a:p>
            <a:pPr>
              <a:lnSpc>
                <a:spcPct val="150000"/>
              </a:lnSpc>
            </a:pPr>
            <a:r>
              <a:rPr lang="en-US" dirty="0">
                <a:solidFill>
                  <a:srgbClr val="18537D"/>
                </a:solidFill>
              </a:rPr>
              <a:t>Your company has developed a web application and is hosting it in an Amazon S3 bucket configured for static website hosting. The users can </a:t>
            </a:r>
            <a:r>
              <a:rPr lang="en-US" b="1" dirty="0">
                <a:solidFill>
                  <a:srgbClr val="18537D"/>
                </a:solidFill>
              </a:rPr>
              <a:t>log in to this app using their Google/Facebook login accounts</a:t>
            </a:r>
            <a:r>
              <a:rPr lang="en-US" dirty="0">
                <a:solidFill>
                  <a:srgbClr val="18537D"/>
                </a:solidFill>
              </a:rPr>
              <a:t>. The application is using the </a:t>
            </a:r>
            <a:r>
              <a:rPr lang="en-US" b="1" dirty="0">
                <a:solidFill>
                  <a:srgbClr val="18537D"/>
                </a:solidFill>
              </a:rPr>
              <a:t>AWS SDK for JavaScript in the browser to access data stored in an Amazon DynamoDB table</a:t>
            </a:r>
            <a:r>
              <a:rPr lang="en-US" dirty="0">
                <a:solidFill>
                  <a:srgbClr val="18537D"/>
                </a:solidFill>
              </a:rPr>
              <a:t>. How can you ensure </a:t>
            </a:r>
            <a:r>
              <a:rPr lang="en-US" b="1" dirty="0">
                <a:solidFill>
                  <a:srgbClr val="18537D"/>
                </a:solidFill>
              </a:rPr>
              <a:t>that API keys for access to your data in DynamoDB are kept secure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Create an Amazon S3 role in IAM with access to the specific DynamoDB tables, and assign it to the bucket hosting your website.</a:t>
            </a:r>
          </a:p>
          <a:p>
            <a:pPr>
              <a:lnSpc>
                <a:spcPct val="150000"/>
              </a:lnSpc>
            </a:pPr>
            <a:r>
              <a:rPr lang="en-US" dirty="0">
                <a:solidFill>
                  <a:srgbClr val="18537D"/>
                </a:solidFill>
              </a:rPr>
              <a:t>b. Configure S3 bucket tags with your AWS access keys for your bucket hosing your website so that the application can query them for access.</a:t>
            </a:r>
          </a:p>
          <a:p>
            <a:pPr>
              <a:lnSpc>
                <a:spcPct val="150000"/>
              </a:lnSpc>
            </a:pPr>
            <a:r>
              <a:rPr lang="en-US" dirty="0">
                <a:solidFill>
                  <a:srgbClr val="18537D"/>
                </a:solidFill>
              </a:rPr>
              <a:t>c. Configure a web identity federation role within IAM to enable access to the correct DynamoDB resources and retrieve temporary credentials.</a:t>
            </a:r>
          </a:p>
          <a:p>
            <a:pPr>
              <a:lnSpc>
                <a:spcPct val="150000"/>
              </a:lnSpc>
            </a:pPr>
            <a:r>
              <a:rPr lang="en-US" dirty="0">
                <a:solidFill>
                  <a:srgbClr val="18537D"/>
                </a:solidFill>
              </a:rPr>
              <a:t>d. Store AWS keys in global variables within your application and configure the application to use these credentials when making requests.</a:t>
            </a:r>
          </a:p>
        </p:txBody>
      </p:sp>
    </p:spTree>
    <p:extLst>
      <p:ext uri="{BB962C8B-B14F-4D97-AF65-F5344CB8AC3E}">
        <p14:creationId xmlns:p14="http://schemas.microsoft.com/office/powerpoint/2010/main" val="20160964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5441298"/>
          </a:xfrm>
          <a:prstGeom prst="rect">
            <a:avLst/>
          </a:prstGeom>
        </p:spPr>
        <p:txBody>
          <a:bodyPr wrap="square">
            <a:spAutoFit/>
          </a:bodyPr>
          <a:lstStyle/>
          <a:p>
            <a:pPr>
              <a:lnSpc>
                <a:spcPct val="150000"/>
              </a:lnSpc>
            </a:pPr>
            <a:r>
              <a:rPr lang="en-US" dirty="0">
                <a:solidFill>
                  <a:srgbClr val="18537D"/>
                </a:solidFill>
              </a:rPr>
              <a:t>Your company has developed a web application and is hosting it in an Amazon S3 bucket configured for static website hosting. The users can </a:t>
            </a:r>
            <a:r>
              <a:rPr lang="en-US" b="1" dirty="0">
                <a:solidFill>
                  <a:srgbClr val="18537D"/>
                </a:solidFill>
              </a:rPr>
              <a:t>log in to this app using their Google/Facebook login accounts</a:t>
            </a:r>
            <a:r>
              <a:rPr lang="en-US" dirty="0">
                <a:solidFill>
                  <a:srgbClr val="18537D"/>
                </a:solidFill>
              </a:rPr>
              <a:t>. The application is using the </a:t>
            </a:r>
            <a:r>
              <a:rPr lang="en-US" b="1" dirty="0">
                <a:solidFill>
                  <a:srgbClr val="18537D"/>
                </a:solidFill>
              </a:rPr>
              <a:t>AWS SDK for JavaScript in the browser to access data stored in an Amazon DynamoDB table</a:t>
            </a:r>
            <a:r>
              <a:rPr lang="en-US" dirty="0">
                <a:solidFill>
                  <a:srgbClr val="18537D"/>
                </a:solidFill>
              </a:rPr>
              <a:t>. How can you ensure </a:t>
            </a:r>
            <a:r>
              <a:rPr lang="en-US" b="1" dirty="0">
                <a:solidFill>
                  <a:srgbClr val="18537D"/>
                </a:solidFill>
              </a:rPr>
              <a:t>that API keys for access to your data in DynamoDB are kept secure</a:t>
            </a:r>
            <a:r>
              <a:rPr lang="en-US" dirty="0">
                <a:solidFill>
                  <a:srgbClr val="18537D"/>
                </a:solidFill>
              </a:rPr>
              <a:t>?</a:t>
            </a:r>
          </a:p>
          <a:p>
            <a:pPr>
              <a:lnSpc>
                <a:spcPct val="150000"/>
              </a:lnSpc>
            </a:pPr>
            <a:endParaRPr lang="en-US" dirty="0">
              <a:solidFill>
                <a:srgbClr val="18537D"/>
              </a:solidFill>
            </a:endParaRPr>
          </a:p>
          <a:p>
            <a:pPr>
              <a:lnSpc>
                <a:spcPct val="150000"/>
              </a:lnSpc>
            </a:pPr>
            <a:r>
              <a:rPr lang="en-US" dirty="0">
                <a:solidFill>
                  <a:srgbClr val="18537D"/>
                </a:solidFill>
              </a:rPr>
              <a:t>a. Create an Amazon S3 role in IAM with access to the specific DynamoDB tables, and assign it to the bucket hosting your website.</a:t>
            </a:r>
          </a:p>
          <a:p>
            <a:pPr>
              <a:lnSpc>
                <a:spcPct val="150000"/>
              </a:lnSpc>
            </a:pPr>
            <a:r>
              <a:rPr lang="en-US" dirty="0">
                <a:solidFill>
                  <a:srgbClr val="18537D"/>
                </a:solidFill>
              </a:rPr>
              <a:t>b. Configure S3 bucket tags with your AWS access keys for your bucket hosing your website so that the application can query them for access.</a:t>
            </a:r>
          </a:p>
          <a:p>
            <a:pPr>
              <a:lnSpc>
                <a:spcPct val="150000"/>
              </a:lnSpc>
            </a:pPr>
            <a:r>
              <a:rPr lang="en-US" b="1" dirty="0">
                <a:solidFill>
                  <a:srgbClr val="18537D"/>
                </a:solidFill>
              </a:rPr>
              <a:t>c. Configure a web identity federation role within IAM to enable access to the correct DynamoDB resources and retrieve temporary credentials.</a:t>
            </a:r>
          </a:p>
          <a:p>
            <a:pPr>
              <a:lnSpc>
                <a:spcPct val="150000"/>
              </a:lnSpc>
            </a:pPr>
            <a:r>
              <a:rPr lang="en-US" dirty="0">
                <a:solidFill>
                  <a:srgbClr val="18537D"/>
                </a:solidFill>
              </a:rPr>
              <a:t>d. Store AWS keys in global variables within your application and configure the application to use these credentials when making requests.</a:t>
            </a:r>
          </a:p>
        </p:txBody>
      </p:sp>
    </p:spTree>
    <p:extLst>
      <p:ext uri="{BB962C8B-B14F-4D97-AF65-F5344CB8AC3E}">
        <p14:creationId xmlns:p14="http://schemas.microsoft.com/office/powerpoint/2010/main" val="21488876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3779304"/>
          </a:xfrm>
          <a:prstGeom prst="rect">
            <a:avLst/>
          </a:prstGeom>
        </p:spPr>
        <p:txBody>
          <a:bodyPr wrap="square">
            <a:spAutoFit/>
          </a:bodyPr>
          <a:lstStyle/>
          <a:p>
            <a:pPr>
              <a:lnSpc>
                <a:spcPct val="150000"/>
              </a:lnSpc>
            </a:pPr>
            <a:r>
              <a:rPr lang="en-US" dirty="0">
                <a:solidFill>
                  <a:srgbClr val="18537D"/>
                </a:solidFill>
              </a:rPr>
              <a:t>You are using AWS DynamoDB as  a database to save sales data for a global appliance company. All data at rest is encrypted using AWS KMS. Which of the following can be used for encryption of global secondary indexes with minimum cost ?</a:t>
            </a:r>
          </a:p>
          <a:p>
            <a:pPr>
              <a:lnSpc>
                <a:spcPct val="150000"/>
              </a:lnSpc>
            </a:pPr>
            <a:endParaRPr lang="en-US" dirty="0">
              <a:solidFill>
                <a:srgbClr val="18537D"/>
              </a:solidFill>
            </a:endParaRPr>
          </a:p>
          <a:p>
            <a:pPr>
              <a:lnSpc>
                <a:spcPct val="150000"/>
              </a:lnSpc>
            </a:pPr>
            <a:r>
              <a:rPr lang="en-US" dirty="0">
                <a:solidFill>
                  <a:srgbClr val="18537D"/>
                </a:solidFill>
              </a:rPr>
              <a:t>a. Data Keys with AWS Managed CMK.</a:t>
            </a:r>
          </a:p>
          <a:p>
            <a:pPr>
              <a:lnSpc>
                <a:spcPct val="150000"/>
              </a:lnSpc>
            </a:pPr>
            <a:r>
              <a:rPr lang="en-US" dirty="0">
                <a:solidFill>
                  <a:srgbClr val="18537D"/>
                </a:solidFill>
              </a:rPr>
              <a:t>b. Table Keys with AWS Managed CMK.</a:t>
            </a:r>
          </a:p>
          <a:p>
            <a:pPr>
              <a:lnSpc>
                <a:spcPct val="150000"/>
              </a:lnSpc>
            </a:pPr>
            <a:r>
              <a:rPr lang="en-US" dirty="0">
                <a:solidFill>
                  <a:srgbClr val="18537D"/>
                </a:solidFill>
              </a:rPr>
              <a:t>c. Table Keys with AWS owned CMK.</a:t>
            </a:r>
          </a:p>
          <a:p>
            <a:pPr>
              <a:lnSpc>
                <a:spcPct val="150000"/>
              </a:lnSpc>
            </a:pPr>
            <a:r>
              <a:rPr lang="en-US" dirty="0">
                <a:solidFill>
                  <a:srgbClr val="18537D"/>
                </a:solidFill>
              </a:rPr>
              <a:t>d. Data Keys with AWS owned CMK</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12473599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3779304"/>
          </a:xfrm>
          <a:prstGeom prst="rect">
            <a:avLst/>
          </a:prstGeom>
        </p:spPr>
        <p:txBody>
          <a:bodyPr wrap="square">
            <a:spAutoFit/>
          </a:bodyPr>
          <a:lstStyle/>
          <a:p>
            <a:pPr>
              <a:lnSpc>
                <a:spcPct val="150000"/>
              </a:lnSpc>
            </a:pPr>
            <a:r>
              <a:rPr lang="en-US" dirty="0">
                <a:solidFill>
                  <a:srgbClr val="18537D"/>
                </a:solidFill>
              </a:rPr>
              <a:t>You are using AWS DynamoDB as  a database to save sales data for a global appliance company. All data at rest is </a:t>
            </a:r>
            <a:r>
              <a:rPr lang="en-US" b="1" dirty="0">
                <a:solidFill>
                  <a:srgbClr val="18537D"/>
                </a:solidFill>
              </a:rPr>
              <a:t>encrypted using AWS KMS</a:t>
            </a:r>
            <a:r>
              <a:rPr lang="en-US" dirty="0">
                <a:solidFill>
                  <a:srgbClr val="18537D"/>
                </a:solidFill>
              </a:rPr>
              <a:t>. Which of the following can be used for </a:t>
            </a:r>
            <a:r>
              <a:rPr lang="en-US" b="1" dirty="0">
                <a:solidFill>
                  <a:srgbClr val="18537D"/>
                </a:solidFill>
              </a:rPr>
              <a:t>encryption of global secondary indexes </a:t>
            </a:r>
            <a:r>
              <a:rPr lang="en-US" dirty="0">
                <a:solidFill>
                  <a:srgbClr val="18537D"/>
                </a:solidFill>
              </a:rPr>
              <a:t>with minimum cost ?</a:t>
            </a:r>
          </a:p>
          <a:p>
            <a:pPr>
              <a:lnSpc>
                <a:spcPct val="150000"/>
              </a:lnSpc>
            </a:pPr>
            <a:endParaRPr lang="en-US" dirty="0">
              <a:solidFill>
                <a:srgbClr val="18537D"/>
              </a:solidFill>
            </a:endParaRPr>
          </a:p>
          <a:p>
            <a:pPr>
              <a:lnSpc>
                <a:spcPct val="150000"/>
              </a:lnSpc>
            </a:pPr>
            <a:r>
              <a:rPr lang="en-US" dirty="0">
                <a:solidFill>
                  <a:srgbClr val="18537D"/>
                </a:solidFill>
              </a:rPr>
              <a:t>a. Data Keys with AWS Managed CMK.</a:t>
            </a:r>
          </a:p>
          <a:p>
            <a:pPr>
              <a:lnSpc>
                <a:spcPct val="150000"/>
              </a:lnSpc>
            </a:pPr>
            <a:r>
              <a:rPr lang="en-US" dirty="0">
                <a:solidFill>
                  <a:srgbClr val="18537D"/>
                </a:solidFill>
              </a:rPr>
              <a:t>b. Table Keys with AWS Managed CMK.</a:t>
            </a:r>
          </a:p>
          <a:p>
            <a:pPr>
              <a:lnSpc>
                <a:spcPct val="150000"/>
              </a:lnSpc>
            </a:pPr>
            <a:r>
              <a:rPr lang="en-US" dirty="0">
                <a:solidFill>
                  <a:srgbClr val="18537D"/>
                </a:solidFill>
              </a:rPr>
              <a:t>c. Table Keys with AWS owned CMK.</a:t>
            </a:r>
          </a:p>
          <a:p>
            <a:pPr>
              <a:lnSpc>
                <a:spcPct val="150000"/>
              </a:lnSpc>
            </a:pPr>
            <a:r>
              <a:rPr lang="en-US" dirty="0">
                <a:solidFill>
                  <a:srgbClr val="18537D"/>
                </a:solidFill>
              </a:rPr>
              <a:t>d. Data Keys with AWS owned CMK</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37234243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49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3779304"/>
          </a:xfrm>
          <a:prstGeom prst="rect">
            <a:avLst/>
          </a:prstGeom>
        </p:spPr>
        <p:txBody>
          <a:bodyPr wrap="square">
            <a:spAutoFit/>
          </a:bodyPr>
          <a:lstStyle/>
          <a:p>
            <a:pPr>
              <a:lnSpc>
                <a:spcPct val="150000"/>
              </a:lnSpc>
            </a:pPr>
            <a:r>
              <a:rPr lang="en-US" dirty="0">
                <a:solidFill>
                  <a:srgbClr val="18537D"/>
                </a:solidFill>
              </a:rPr>
              <a:t>You are using AWS DynamoDB as  a database to save sales data for a global appliance company. All data at rest is encrypted using AWS KMS. Which of the following can be used for encryption of global secondary indexes with minimum cost ?</a:t>
            </a:r>
          </a:p>
          <a:p>
            <a:pPr>
              <a:lnSpc>
                <a:spcPct val="150000"/>
              </a:lnSpc>
            </a:pPr>
            <a:endParaRPr lang="en-US" dirty="0">
              <a:solidFill>
                <a:srgbClr val="18537D"/>
              </a:solidFill>
            </a:endParaRPr>
          </a:p>
          <a:p>
            <a:pPr>
              <a:lnSpc>
                <a:spcPct val="150000"/>
              </a:lnSpc>
            </a:pPr>
            <a:r>
              <a:rPr lang="en-US" dirty="0">
                <a:solidFill>
                  <a:srgbClr val="18537D"/>
                </a:solidFill>
              </a:rPr>
              <a:t>a. Data Keys with AWS Managed CMK.</a:t>
            </a:r>
          </a:p>
          <a:p>
            <a:pPr>
              <a:lnSpc>
                <a:spcPct val="150000"/>
              </a:lnSpc>
            </a:pPr>
            <a:r>
              <a:rPr lang="en-US" dirty="0">
                <a:solidFill>
                  <a:srgbClr val="18537D"/>
                </a:solidFill>
              </a:rPr>
              <a:t>b. Table Keys with AWS Managed CMK.</a:t>
            </a:r>
          </a:p>
          <a:p>
            <a:pPr>
              <a:lnSpc>
                <a:spcPct val="150000"/>
              </a:lnSpc>
            </a:pPr>
            <a:r>
              <a:rPr lang="en-US" b="1" dirty="0">
                <a:solidFill>
                  <a:srgbClr val="18537D"/>
                </a:solidFill>
              </a:rPr>
              <a:t>c. Table Keys with AWS owned CMK.</a:t>
            </a:r>
          </a:p>
          <a:p>
            <a:pPr>
              <a:lnSpc>
                <a:spcPct val="150000"/>
              </a:lnSpc>
            </a:pPr>
            <a:r>
              <a:rPr lang="en-US" dirty="0">
                <a:solidFill>
                  <a:srgbClr val="18537D"/>
                </a:solidFill>
              </a:rPr>
              <a:t>d. Data Keys with AWS owned CMK</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41765124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3363806"/>
          </a:xfrm>
          <a:prstGeom prst="rect">
            <a:avLst/>
          </a:prstGeom>
        </p:spPr>
        <p:txBody>
          <a:bodyPr wrap="square">
            <a:spAutoFit/>
          </a:bodyPr>
          <a:lstStyle/>
          <a:p>
            <a:pPr>
              <a:lnSpc>
                <a:spcPct val="150000"/>
              </a:lnSpc>
            </a:pPr>
            <a:r>
              <a:rPr lang="en-US" dirty="0">
                <a:solidFill>
                  <a:srgbClr val="18537D"/>
                </a:solidFill>
              </a:rPr>
              <a:t>Your team has completed the development of an application and now this needs to be deployed to an application on an EC2 Instance. The Application data will be stored on a separate volume which needs to be encrypted at rest. How can you ensure this requirement is met? </a:t>
            </a:r>
          </a:p>
          <a:p>
            <a:pPr>
              <a:lnSpc>
                <a:spcPct val="150000"/>
              </a:lnSpc>
            </a:pPr>
            <a:endParaRPr lang="en-US" dirty="0">
              <a:solidFill>
                <a:srgbClr val="18537D"/>
              </a:solidFill>
            </a:endParaRPr>
          </a:p>
          <a:p>
            <a:pPr>
              <a:lnSpc>
                <a:spcPct val="150000"/>
              </a:lnSpc>
            </a:pPr>
            <a:r>
              <a:rPr lang="en-US" dirty="0">
                <a:solidFill>
                  <a:srgbClr val="18537D"/>
                </a:solidFill>
              </a:rPr>
              <a:t>a. Ensure that Encryption is enabled during volume creation time.</a:t>
            </a:r>
          </a:p>
          <a:p>
            <a:pPr>
              <a:lnSpc>
                <a:spcPct val="150000"/>
              </a:lnSpc>
            </a:pPr>
            <a:r>
              <a:rPr lang="en-US" dirty="0">
                <a:solidFill>
                  <a:srgbClr val="18537D"/>
                </a:solidFill>
              </a:rPr>
              <a:t>b. Ensure to use Throughput Optimized HDD to allow for Encryption</a:t>
            </a:r>
          </a:p>
          <a:p>
            <a:pPr>
              <a:lnSpc>
                <a:spcPct val="150000"/>
              </a:lnSpc>
            </a:pPr>
            <a:r>
              <a:rPr lang="en-US" dirty="0">
                <a:solidFill>
                  <a:srgbClr val="18537D"/>
                </a:solidFill>
              </a:rPr>
              <a:t>c. Create a Customer master key in the KMS service</a:t>
            </a:r>
          </a:p>
          <a:p>
            <a:pPr>
              <a:lnSpc>
                <a:spcPct val="150000"/>
              </a:lnSpc>
            </a:pPr>
            <a:r>
              <a:rPr lang="en-US" dirty="0">
                <a:solidFill>
                  <a:srgbClr val="18537D"/>
                </a:solidFill>
              </a:rPr>
              <a:t>d. Create an EBS Encryption Key</a:t>
            </a:r>
          </a:p>
        </p:txBody>
      </p:sp>
    </p:spTree>
    <p:extLst>
      <p:ext uri="{BB962C8B-B14F-4D97-AF65-F5344CB8AC3E}">
        <p14:creationId xmlns:p14="http://schemas.microsoft.com/office/powerpoint/2010/main" val="10361934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3363806"/>
          </a:xfrm>
          <a:prstGeom prst="rect">
            <a:avLst/>
          </a:prstGeom>
        </p:spPr>
        <p:txBody>
          <a:bodyPr wrap="square">
            <a:spAutoFit/>
          </a:bodyPr>
          <a:lstStyle/>
          <a:p>
            <a:pPr>
              <a:lnSpc>
                <a:spcPct val="150000"/>
              </a:lnSpc>
            </a:pPr>
            <a:r>
              <a:rPr lang="en-US" dirty="0">
                <a:solidFill>
                  <a:srgbClr val="18537D"/>
                </a:solidFill>
              </a:rPr>
              <a:t>Your team has completed the development of an application and now this needs to be deployed to an </a:t>
            </a:r>
            <a:r>
              <a:rPr lang="en-US" b="1" dirty="0">
                <a:solidFill>
                  <a:srgbClr val="18537D"/>
                </a:solidFill>
              </a:rPr>
              <a:t>application on an EC2 Instance</a:t>
            </a:r>
            <a:r>
              <a:rPr lang="en-US" dirty="0">
                <a:solidFill>
                  <a:srgbClr val="18537D"/>
                </a:solidFill>
              </a:rPr>
              <a:t>. The Application data will be stored on a </a:t>
            </a:r>
            <a:r>
              <a:rPr lang="en-US" b="1" dirty="0">
                <a:solidFill>
                  <a:srgbClr val="18537D"/>
                </a:solidFill>
              </a:rPr>
              <a:t>separate volume which needs to be encrypted at rest</a:t>
            </a:r>
            <a:r>
              <a:rPr lang="en-US" dirty="0">
                <a:solidFill>
                  <a:srgbClr val="18537D"/>
                </a:solidFill>
              </a:rPr>
              <a:t>. How can you ensure this requirement is met? </a:t>
            </a:r>
          </a:p>
          <a:p>
            <a:pPr>
              <a:lnSpc>
                <a:spcPct val="150000"/>
              </a:lnSpc>
            </a:pPr>
            <a:endParaRPr lang="en-US" dirty="0">
              <a:solidFill>
                <a:srgbClr val="18537D"/>
              </a:solidFill>
            </a:endParaRPr>
          </a:p>
          <a:p>
            <a:pPr>
              <a:lnSpc>
                <a:spcPct val="150000"/>
              </a:lnSpc>
            </a:pPr>
            <a:r>
              <a:rPr lang="en-US" dirty="0">
                <a:solidFill>
                  <a:srgbClr val="18537D"/>
                </a:solidFill>
              </a:rPr>
              <a:t>a. Ensure that Encryption is enabled during volume creation time.</a:t>
            </a:r>
          </a:p>
          <a:p>
            <a:pPr>
              <a:lnSpc>
                <a:spcPct val="150000"/>
              </a:lnSpc>
            </a:pPr>
            <a:r>
              <a:rPr lang="en-US" dirty="0">
                <a:solidFill>
                  <a:srgbClr val="18537D"/>
                </a:solidFill>
              </a:rPr>
              <a:t>b. Ensure to use Throughput Optimized HDD to allow for Encryption</a:t>
            </a:r>
          </a:p>
          <a:p>
            <a:pPr>
              <a:lnSpc>
                <a:spcPct val="150000"/>
              </a:lnSpc>
            </a:pPr>
            <a:r>
              <a:rPr lang="en-US" dirty="0">
                <a:solidFill>
                  <a:srgbClr val="18537D"/>
                </a:solidFill>
              </a:rPr>
              <a:t>c. Create a Customer master key in the KMS service</a:t>
            </a:r>
          </a:p>
          <a:p>
            <a:pPr>
              <a:lnSpc>
                <a:spcPct val="150000"/>
              </a:lnSpc>
            </a:pPr>
            <a:r>
              <a:rPr lang="en-US" dirty="0">
                <a:solidFill>
                  <a:srgbClr val="18537D"/>
                </a:solidFill>
              </a:rPr>
              <a:t>d. Create an EBS Encryption Key</a:t>
            </a:r>
          </a:p>
        </p:txBody>
      </p:sp>
    </p:spTree>
    <p:extLst>
      <p:ext uri="{BB962C8B-B14F-4D97-AF65-F5344CB8AC3E}">
        <p14:creationId xmlns:p14="http://schemas.microsoft.com/office/powerpoint/2010/main" val="16150703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3363806"/>
          </a:xfrm>
          <a:prstGeom prst="rect">
            <a:avLst/>
          </a:prstGeom>
        </p:spPr>
        <p:txBody>
          <a:bodyPr wrap="square">
            <a:spAutoFit/>
          </a:bodyPr>
          <a:lstStyle/>
          <a:p>
            <a:pPr>
              <a:lnSpc>
                <a:spcPct val="150000"/>
              </a:lnSpc>
            </a:pPr>
            <a:r>
              <a:rPr lang="en-US" dirty="0">
                <a:solidFill>
                  <a:srgbClr val="18537D"/>
                </a:solidFill>
              </a:rPr>
              <a:t>Your team has completed the development of an application and now this needs to be deployed to an </a:t>
            </a:r>
            <a:r>
              <a:rPr lang="en-US" b="1" dirty="0">
                <a:solidFill>
                  <a:srgbClr val="18537D"/>
                </a:solidFill>
              </a:rPr>
              <a:t>application on an EC2 Instance</a:t>
            </a:r>
            <a:r>
              <a:rPr lang="en-US" dirty="0">
                <a:solidFill>
                  <a:srgbClr val="18537D"/>
                </a:solidFill>
              </a:rPr>
              <a:t>. The Application data will be stored on a </a:t>
            </a:r>
            <a:r>
              <a:rPr lang="en-US" b="1" dirty="0">
                <a:solidFill>
                  <a:srgbClr val="18537D"/>
                </a:solidFill>
              </a:rPr>
              <a:t>separate volume which needs to be encrypted at rest</a:t>
            </a:r>
            <a:r>
              <a:rPr lang="en-US" dirty="0">
                <a:solidFill>
                  <a:srgbClr val="18537D"/>
                </a:solidFill>
              </a:rPr>
              <a:t>. How can you ensure this requirement is met? </a:t>
            </a:r>
          </a:p>
          <a:p>
            <a:pPr>
              <a:lnSpc>
                <a:spcPct val="150000"/>
              </a:lnSpc>
            </a:pPr>
            <a:endParaRPr lang="en-US" dirty="0">
              <a:solidFill>
                <a:srgbClr val="18537D"/>
              </a:solidFill>
            </a:endParaRPr>
          </a:p>
          <a:p>
            <a:pPr>
              <a:lnSpc>
                <a:spcPct val="150000"/>
              </a:lnSpc>
            </a:pPr>
            <a:r>
              <a:rPr lang="en-US" b="1" dirty="0">
                <a:solidFill>
                  <a:srgbClr val="18537D"/>
                </a:solidFill>
              </a:rPr>
              <a:t>a. Ensure that Encryption is enabled during volume creation time.</a:t>
            </a:r>
          </a:p>
          <a:p>
            <a:pPr>
              <a:lnSpc>
                <a:spcPct val="150000"/>
              </a:lnSpc>
            </a:pPr>
            <a:r>
              <a:rPr lang="en-US" dirty="0">
                <a:solidFill>
                  <a:srgbClr val="18537D"/>
                </a:solidFill>
              </a:rPr>
              <a:t>b. Ensure to use Throughput Optimized HDD to allow for Encryption</a:t>
            </a:r>
          </a:p>
          <a:p>
            <a:pPr>
              <a:lnSpc>
                <a:spcPct val="150000"/>
              </a:lnSpc>
            </a:pPr>
            <a:r>
              <a:rPr lang="en-US" dirty="0">
                <a:solidFill>
                  <a:srgbClr val="18537D"/>
                </a:solidFill>
              </a:rPr>
              <a:t>c. Create a Customer master key in the KMS service</a:t>
            </a:r>
          </a:p>
          <a:p>
            <a:pPr>
              <a:lnSpc>
                <a:spcPct val="150000"/>
              </a:lnSpc>
            </a:pPr>
            <a:r>
              <a:rPr lang="en-US" dirty="0">
                <a:solidFill>
                  <a:srgbClr val="18537D"/>
                </a:solidFill>
              </a:rPr>
              <a:t>d. Create an EBS Encryption Key</a:t>
            </a:r>
          </a:p>
        </p:txBody>
      </p:sp>
    </p:spTree>
    <p:extLst>
      <p:ext uri="{BB962C8B-B14F-4D97-AF65-F5344CB8AC3E}">
        <p14:creationId xmlns:p14="http://schemas.microsoft.com/office/powerpoint/2010/main" val="14176054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3363806"/>
          </a:xfrm>
          <a:prstGeom prst="rect">
            <a:avLst/>
          </a:prstGeom>
        </p:spPr>
        <p:txBody>
          <a:bodyPr wrap="square">
            <a:spAutoFit/>
          </a:bodyPr>
          <a:lstStyle/>
          <a:p>
            <a:pPr>
              <a:lnSpc>
                <a:spcPct val="150000"/>
              </a:lnSpc>
            </a:pPr>
            <a:r>
              <a:rPr lang="en-US" dirty="0">
                <a:solidFill>
                  <a:srgbClr val="18537D"/>
                </a:solidFill>
              </a:rPr>
              <a:t>Your company has a development application that needs to interact with an S3 bucket. There is a requirement that all data in the bucket is encrypted at rest. You also need to ensure that the keys are managed by you. Which of the following can you use for this purpose? Choose 3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Server-Side Encryption with AWS Managed Keys</a:t>
            </a:r>
          </a:p>
          <a:p>
            <a:pPr>
              <a:lnSpc>
                <a:spcPct val="150000"/>
              </a:lnSpc>
            </a:pPr>
            <a:r>
              <a:rPr lang="en-US" dirty="0">
                <a:solidFill>
                  <a:srgbClr val="18537D"/>
                </a:solidFill>
              </a:rPr>
              <a:t>b. Server-Side Encryption with AWS KMS Keys</a:t>
            </a:r>
          </a:p>
          <a:p>
            <a:pPr>
              <a:lnSpc>
                <a:spcPct val="150000"/>
              </a:lnSpc>
            </a:pPr>
            <a:r>
              <a:rPr lang="en-US" dirty="0">
                <a:solidFill>
                  <a:srgbClr val="18537D"/>
                </a:solidFill>
              </a:rPr>
              <a:t>c. Server-Side Encryption with Customer-Provided Keys</a:t>
            </a:r>
          </a:p>
          <a:p>
            <a:pPr>
              <a:lnSpc>
                <a:spcPct val="150000"/>
              </a:lnSpc>
            </a:pPr>
            <a:r>
              <a:rPr lang="en-US" dirty="0">
                <a:solidFill>
                  <a:srgbClr val="18537D"/>
                </a:solidFill>
              </a:rPr>
              <a:t>d. Client-Side Encryption</a:t>
            </a:r>
          </a:p>
        </p:txBody>
      </p:sp>
    </p:spTree>
    <p:extLst>
      <p:ext uri="{BB962C8B-B14F-4D97-AF65-F5344CB8AC3E}">
        <p14:creationId xmlns:p14="http://schemas.microsoft.com/office/powerpoint/2010/main" val="41272048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3363806"/>
          </a:xfrm>
          <a:prstGeom prst="rect">
            <a:avLst/>
          </a:prstGeom>
        </p:spPr>
        <p:txBody>
          <a:bodyPr wrap="square">
            <a:spAutoFit/>
          </a:bodyPr>
          <a:lstStyle/>
          <a:p>
            <a:pPr>
              <a:lnSpc>
                <a:spcPct val="150000"/>
              </a:lnSpc>
            </a:pPr>
            <a:r>
              <a:rPr lang="en-US" dirty="0">
                <a:solidFill>
                  <a:srgbClr val="18537D"/>
                </a:solidFill>
              </a:rPr>
              <a:t>Your company has a development application that needs to </a:t>
            </a:r>
            <a:r>
              <a:rPr lang="en-US" b="1" dirty="0">
                <a:solidFill>
                  <a:srgbClr val="18537D"/>
                </a:solidFill>
              </a:rPr>
              <a:t>interact with an S3 bucket</a:t>
            </a:r>
            <a:r>
              <a:rPr lang="en-US" dirty="0">
                <a:solidFill>
                  <a:srgbClr val="18537D"/>
                </a:solidFill>
              </a:rPr>
              <a:t>. There is a requirement that all </a:t>
            </a:r>
            <a:r>
              <a:rPr lang="en-US" b="1" dirty="0">
                <a:solidFill>
                  <a:srgbClr val="18537D"/>
                </a:solidFill>
              </a:rPr>
              <a:t>data in the bucket is encrypted at rest</a:t>
            </a:r>
            <a:r>
              <a:rPr lang="en-US" dirty="0">
                <a:solidFill>
                  <a:srgbClr val="18537D"/>
                </a:solidFill>
              </a:rPr>
              <a:t>. You also need to ensure that the </a:t>
            </a:r>
            <a:r>
              <a:rPr lang="en-US" b="1" dirty="0">
                <a:solidFill>
                  <a:srgbClr val="18537D"/>
                </a:solidFill>
              </a:rPr>
              <a:t>keys are managed by you</a:t>
            </a:r>
            <a:r>
              <a:rPr lang="en-US" dirty="0">
                <a:solidFill>
                  <a:srgbClr val="18537D"/>
                </a:solidFill>
              </a:rPr>
              <a:t>. Which of the following can you use for this purpose? Choose 3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Server-Side Encryption with AWS Managed Keys</a:t>
            </a:r>
          </a:p>
          <a:p>
            <a:pPr>
              <a:lnSpc>
                <a:spcPct val="150000"/>
              </a:lnSpc>
            </a:pPr>
            <a:r>
              <a:rPr lang="en-US" dirty="0">
                <a:solidFill>
                  <a:srgbClr val="18537D"/>
                </a:solidFill>
              </a:rPr>
              <a:t>b. Server-Side Encryption with AWS KMS Keys</a:t>
            </a:r>
          </a:p>
          <a:p>
            <a:pPr>
              <a:lnSpc>
                <a:spcPct val="150000"/>
              </a:lnSpc>
            </a:pPr>
            <a:r>
              <a:rPr lang="en-US" dirty="0">
                <a:solidFill>
                  <a:srgbClr val="18537D"/>
                </a:solidFill>
              </a:rPr>
              <a:t>c. Server-Side Encryption with Customer-Provided Keys</a:t>
            </a:r>
          </a:p>
          <a:p>
            <a:pPr>
              <a:lnSpc>
                <a:spcPct val="150000"/>
              </a:lnSpc>
            </a:pPr>
            <a:r>
              <a:rPr lang="en-US" dirty="0">
                <a:solidFill>
                  <a:srgbClr val="18537D"/>
                </a:solidFill>
              </a:rPr>
              <a:t>d. Client-Side Encryption</a:t>
            </a:r>
          </a:p>
        </p:txBody>
      </p:sp>
    </p:spTree>
    <p:extLst>
      <p:ext uri="{BB962C8B-B14F-4D97-AF65-F5344CB8AC3E}">
        <p14:creationId xmlns:p14="http://schemas.microsoft.com/office/powerpoint/2010/main" val="26107571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562281" y="961912"/>
            <a:ext cx="12494956" cy="3363806"/>
          </a:xfrm>
          <a:prstGeom prst="rect">
            <a:avLst/>
          </a:prstGeom>
        </p:spPr>
        <p:txBody>
          <a:bodyPr wrap="square">
            <a:spAutoFit/>
          </a:bodyPr>
          <a:lstStyle/>
          <a:p>
            <a:pPr>
              <a:lnSpc>
                <a:spcPct val="150000"/>
              </a:lnSpc>
            </a:pPr>
            <a:r>
              <a:rPr lang="en-US" dirty="0">
                <a:solidFill>
                  <a:srgbClr val="18537D"/>
                </a:solidFill>
              </a:rPr>
              <a:t>Your company has a development application that needs to </a:t>
            </a:r>
            <a:r>
              <a:rPr lang="en-US" b="1" dirty="0">
                <a:solidFill>
                  <a:srgbClr val="18537D"/>
                </a:solidFill>
              </a:rPr>
              <a:t>interact with an S3 bucket</a:t>
            </a:r>
            <a:r>
              <a:rPr lang="en-US" dirty="0">
                <a:solidFill>
                  <a:srgbClr val="18537D"/>
                </a:solidFill>
              </a:rPr>
              <a:t>. There is a requirement that all </a:t>
            </a:r>
            <a:r>
              <a:rPr lang="en-US" b="1" dirty="0">
                <a:solidFill>
                  <a:srgbClr val="18537D"/>
                </a:solidFill>
              </a:rPr>
              <a:t>data in the bucket is encrypted at rest</a:t>
            </a:r>
            <a:r>
              <a:rPr lang="en-US" dirty="0">
                <a:solidFill>
                  <a:srgbClr val="18537D"/>
                </a:solidFill>
              </a:rPr>
              <a:t>. You also need to ensure that the </a:t>
            </a:r>
            <a:r>
              <a:rPr lang="en-US" b="1" dirty="0">
                <a:solidFill>
                  <a:srgbClr val="18537D"/>
                </a:solidFill>
              </a:rPr>
              <a:t>keys are managed by you</a:t>
            </a:r>
            <a:r>
              <a:rPr lang="en-US" dirty="0">
                <a:solidFill>
                  <a:srgbClr val="18537D"/>
                </a:solidFill>
              </a:rPr>
              <a:t>. Which of the following can you use for this purpose? Choose 3 answers from the options given below</a:t>
            </a:r>
          </a:p>
          <a:p>
            <a:pPr>
              <a:lnSpc>
                <a:spcPct val="150000"/>
              </a:lnSpc>
            </a:pPr>
            <a:endParaRPr lang="en-US" dirty="0">
              <a:solidFill>
                <a:srgbClr val="18537D"/>
              </a:solidFill>
            </a:endParaRPr>
          </a:p>
          <a:p>
            <a:pPr>
              <a:lnSpc>
                <a:spcPct val="150000"/>
              </a:lnSpc>
            </a:pPr>
            <a:r>
              <a:rPr lang="en-US" dirty="0">
                <a:solidFill>
                  <a:srgbClr val="18537D"/>
                </a:solidFill>
              </a:rPr>
              <a:t>a. Server-Side Encryption with AWS Managed Keys</a:t>
            </a:r>
          </a:p>
          <a:p>
            <a:pPr>
              <a:lnSpc>
                <a:spcPct val="150000"/>
              </a:lnSpc>
            </a:pPr>
            <a:r>
              <a:rPr lang="en-US" b="1" dirty="0">
                <a:solidFill>
                  <a:srgbClr val="18537D"/>
                </a:solidFill>
              </a:rPr>
              <a:t>b. Server-Side Encryption with AWS KMS Keys</a:t>
            </a:r>
          </a:p>
          <a:p>
            <a:pPr>
              <a:lnSpc>
                <a:spcPct val="150000"/>
              </a:lnSpc>
            </a:pPr>
            <a:r>
              <a:rPr lang="en-US" b="1" dirty="0">
                <a:solidFill>
                  <a:srgbClr val="18537D"/>
                </a:solidFill>
              </a:rPr>
              <a:t>c. Server-Side Encryption with Customer-Provided Keys</a:t>
            </a:r>
          </a:p>
          <a:p>
            <a:pPr>
              <a:lnSpc>
                <a:spcPct val="150000"/>
              </a:lnSpc>
            </a:pPr>
            <a:r>
              <a:rPr lang="en-US" b="1" dirty="0">
                <a:solidFill>
                  <a:srgbClr val="18537D"/>
                </a:solidFill>
              </a:rPr>
              <a:t>d. Client-Side Encryption</a:t>
            </a:r>
          </a:p>
        </p:txBody>
      </p:sp>
    </p:spTree>
    <p:extLst>
      <p:ext uri="{BB962C8B-B14F-4D97-AF65-F5344CB8AC3E}">
        <p14:creationId xmlns:p14="http://schemas.microsoft.com/office/powerpoint/2010/main" val="26097385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3363806"/>
          </a:xfrm>
          <a:prstGeom prst="rect">
            <a:avLst/>
          </a:prstGeom>
        </p:spPr>
        <p:txBody>
          <a:bodyPr wrap="square">
            <a:spAutoFit/>
          </a:bodyPr>
          <a:lstStyle/>
          <a:p>
            <a:pPr>
              <a:lnSpc>
                <a:spcPct val="150000"/>
              </a:lnSpc>
            </a:pPr>
            <a:r>
              <a:rPr lang="en-US" dirty="0">
                <a:solidFill>
                  <a:srgbClr val="18537D"/>
                </a:solidFill>
              </a:rPr>
              <a:t>Your team is deploying a set of applications on to AWS. These applications work with multiple databases. You need to ensure that the database passwords are stored securely. Which of the following is the ideal way to store the database passwords?</a:t>
            </a:r>
          </a:p>
          <a:p>
            <a:pPr>
              <a:lnSpc>
                <a:spcPct val="150000"/>
              </a:lnSpc>
            </a:pPr>
            <a:endParaRPr lang="en-US" dirty="0">
              <a:solidFill>
                <a:srgbClr val="18537D"/>
              </a:solidFill>
            </a:endParaRPr>
          </a:p>
          <a:p>
            <a:pPr>
              <a:lnSpc>
                <a:spcPct val="150000"/>
              </a:lnSpc>
            </a:pPr>
            <a:r>
              <a:rPr lang="en-US" dirty="0">
                <a:solidFill>
                  <a:srgbClr val="18537D"/>
                </a:solidFill>
              </a:rPr>
              <a:t>a. Store them in separate Lambda functions which can be invoked via HTTPS</a:t>
            </a:r>
          </a:p>
          <a:p>
            <a:pPr>
              <a:lnSpc>
                <a:spcPct val="150000"/>
              </a:lnSpc>
            </a:pPr>
            <a:r>
              <a:rPr lang="en-US" dirty="0">
                <a:solidFill>
                  <a:srgbClr val="18537D"/>
                </a:solidFill>
              </a:rPr>
              <a:t>b. Store them as secrets in AWS Secrets Manager</a:t>
            </a:r>
          </a:p>
          <a:p>
            <a:pPr>
              <a:lnSpc>
                <a:spcPct val="150000"/>
              </a:lnSpc>
            </a:pPr>
            <a:r>
              <a:rPr lang="en-US" dirty="0">
                <a:solidFill>
                  <a:srgbClr val="18537D"/>
                </a:solidFill>
              </a:rPr>
              <a:t>c. Store them in separate DynamoDB tables</a:t>
            </a:r>
          </a:p>
          <a:p>
            <a:pPr>
              <a:lnSpc>
                <a:spcPct val="150000"/>
              </a:lnSpc>
            </a:pPr>
            <a:r>
              <a:rPr lang="en-US" dirty="0">
                <a:solidFill>
                  <a:srgbClr val="18537D"/>
                </a:solidFill>
              </a:rPr>
              <a:t>d. Store them in separate S3 buckets</a:t>
            </a:r>
          </a:p>
        </p:txBody>
      </p:sp>
    </p:spTree>
    <p:extLst>
      <p:ext uri="{BB962C8B-B14F-4D97-AF65-F5344CB8AC3E}">
        <p14:creationId xmlns:p14="http://schemas.microsoft.com/office/powerpoint/2010/main" val="11809147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3363806"/>
          </a:xfrm>
          <a:prstGeom prst="rect">
            <a:avLst/>
          </a:prstGeom>
        </p:spPr>
        <p:txBody>
          <a:bodyPr wrap="square">
            <a:spAutoFit/>
          </a:bodyPr>
          <a:lstStyle/>
          <a:p>
            <a:pPr>
              <a:lnSpc>
                <a:spcPct val="150000"/>
              </a:lnSpc>
            </a:pPr>
            <a:r>
              <a:rPr lang="en-US" dirty="0">
                <a:solidFill>
                  <a:srgbClr val="18537D"/>
                </a:solidFill>
              </a:rPr>
              <a:t>Your team is deploying a set of applications on to AWS. These applications </a:t>
            </a:r>
            <a:r>
              <a:rPr lang="en-US" b="1" dirty="0">
                <a:solidFill>
                  <a:srgbClr val="18537D"/>
                </a:solidFill>
              </a:rPr>
              <a:t>work with multiple databases</a:t>
            </a:r>
            <a:r>
              <a:rPr lang="en-US" dirty="0">
                <a:solidFill>
                  <a:srgbClr val="18537D"/>
                </a:solidFill>
              </a:rPr>
              <a:t>. You need to ensure that the </a:t>
            </a:r>
            <a:r>
              <a:rPr lang="en-US" b="1" dirty="0">
                <a:solidFill>
                  <a:srgbClr val="18537D"/>
                </a:solidFill>
              </a:rPr>
              <a:t>database passwords are stored securely</a:t>
            </a:r>
            <a:r>
              <a:rPr lang="en-US" dirty="0">
                <a:solidFill>
                  <a:srgbClr val="18537D"/>
                </a:solidFill>
              </a:rPr>
              <a:t>. Which of the following is the ideal way to store the database passwords?</a:t>
            </a:r>
          </a:p>
          <a:p>
            <a:pPr>
              <a:lnSpc>
                <a:spcPct val="150000"/>
              </a:lnSpc>
            </a:pPr>
            <a:endParaRPr lang="en-US" dirty="0">
              <a:solidFill>
                <a:srgbClr val="18537D"/>
              </a:solidFill>
            </a:endParaRPr>
          </a:p>
          <a:p>
            <a:pPr>
              <a:lnSpc>
                <a:spcPct val="150000"/>
              </a:lnSpc>
            </a:pPr>
            <a:r>
              <a:rPr lang="en-US" dirty="0">
                <a:solidFill>
                  <a:srgbClr val="18537D"/>
                </a:solidFill>
              </a:rPr>
              <a:t>a. Store them in separate Lambda functions which can be invoked via HTTPS</a:t>
            </a:r>
          </a:p>
          <a:p>
            <a:pPr>
              <a:lnSpc>
                <a:spcPct val="150000"/>
              </a:lnSpc>
            </a:pPr>
            <a:r>
              <a:rPr lang="en-US" dirty="0">
                <a:solidFill>
                  <a:srgbClr val="18537D"/>
                </a:solidFill>
              </a:rPr>
              <a:t>b. Store them as secrets in AWS Secrets Manager</a:t>
            </a:r>
          </a:p>
          <a:p>
            <a:pPr>
              <a:lnSpc>
                <a:spcPct val="150000"/>
              </a:lnSpc>
            </a:pPr>
            <a:r>
              <a:rPr lang="en-US" dirty="0">
                <a:solidFill>
                  <a:srgbClr val="18537D"/>
                </a:solidFill>
              </a:rPr>
              <a:t>c. Store them in separate DynamoDB tables</a:t>
            </a:r>
          </a:p>
          <a:p>
            <a:pPr>
              <a:lnSpc>
                <a:spcPct val="150000"/>
              </a:lnSpc>
            </a:pPr>
            <a:r>
              <a:rPr lang="en-US" dirty="0">
                <a:solidFill>
                  <a:srgbClr val="18537D"/>
                </a:solidFill>
              </a:rPr>
              <a:t>d. Store them in separate S3 buckets</a:t>
            </a:r>
          </a:p>
        </p:txBody>
      </p:sp>
    </p:spTree>
    <p:extLst>
      <p:ext uri="{BB962C8B-B14F-4D97-AF65-F5344CB8AC3E}">
        <p14:creationId xmlns:p14="http://schemas.microsoft.com/office/powerpoint/2010/main" val="36411729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58</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3363806"/>
          </a:xfrm>
          <a:prstGeom prst="rect">
            <a:avLst/>
          </a:prstGeom>
        </p:spPr>
        <p:txBody>
          <a:bodyPr wrap="square">
            <a:spAutoFit/>
          </a:bodyPr>
          <a:lstStyle/>
          <a:p>
            <a:pPr>
              <a:lnSpc>
                <a:spcPct val="150000"/>
              </a:lnSpc>
            </a:pPr>
            <a:r>
              <a:rPr lang="en-US" dirty="0">
                <a:solidFill>
                  <a:srgbClr val="18537D"/>
                </a:solidFill>
              </a:rPr>
              <a:t>Your team is deploying a set of applications on to AWS. These applications </a:t>
            </a:r>
            <a:r>
              <a:rPr lang="en-US" b="1" dirty="0">
                <a:solidFill>
                  <a:srgbClr val="18537D"/>
                </a:solidFill>
              </a:rPr>
              <a:t>work with multiple databases</a:t>
            </a:r>
            <a:r>
              <a:rPr lang="en-US" dirty="0">
                <a:solidFill>
                  <a:srgbClr val="18537D"/>
                </a:solidFill>
              </a:rPr>
              <a:t>. You need to ensure that the </a:t>
            </a:r>
            <a:r>
              <a:rPr lang="en-US" b="1" dirty="0">
                <a:solidFill>
                  <a:srgbClr val="18537D"/>
                </a:solidFill>
              </a:rPr>
              <a:t>database passwords are stored securely</a:t>
            </a:r>
            <a:r>
              <a:rPr lang="en-US" dirty="0">
                <a:solidFill>
                  <a:srgbClr val="18537D"/>
                </a:solidFill>
              </a:rPr>
              <a:t>. Which of the following is the ideal way to store the database passwords?</a:t>
            </a:r>
          </a:p>
          <a:p>
            <a:pPr>
              <a:lnSpc>
                <a:spcPct val="150000"/>
              </a:lnSpc>
            </a:pPr>
            <a:endParaRPr lang="en-US" dirty="0">
              <a:solidFill>
                <a:srgbClr val="18537D"/>
              </a:solidFill>
            </a:endParaRPr>
          </a:p>
          <a:p>
            <a:pPr>
              <a:lnSpc>
                <a:spcPct val="150000"/>
              </a:lnSpc>
            </a:pPr>
            <a:r>
              <a:rPr lang="en-US" dirty="0">
                <a:solidFill>
                  <a:srgbClr val="18537D"/>
                </a:solidFill>
              </a:rPr>
              <a:t>a. Store them in separate Lambda functions which can be invoked via HTTPS</a:t>
            </a:r>
          </a:p>
          <a:p>
            <a:pPr>
              <a:lnSpc>
                <a:spcPct val="150000"/>
              </a:lnSpc>
            </a:pPr>
            <a:r>
              <a:rPr lang="en-US" b="1" dirty="0">
                <a:solidFill>
                  <a:srgbClr val="18537D"/>
                </a:solidFill>
              </a:rPr>
              <a:t>b. Store them as secrets in AWS Secrets Manager</a:t>
            </a:r>
          </a:p>
          <a:p>
            <a:pPr>
              <a:lnSpc>
                <a:spcPct val="150000"/>
              </a:lnSpc>
            </a:pPr>
            <a:r>
              <a:rPr lang="en-US" dirty="0">
                <a:solidFill>
                  <a:srgbClr val="18537D"/>
                </a:solidFill>
              </a:rPr>
              <a:t>c. Store them in separate DynamoDB tables</a:t>
            </a:r>
          </a:p>
          <a:p>
            <a:pPr>
              <a:lnSpc>
                <a:spcPct val="150000"/>
              </a:lnSpc>
            </a:pPr>
            <a:r>
              <a:rPr lang="en-US" dirty="0">
                <a:solidFill>
                  <a:srgbClr val="18537D"/>
                </a:solidFill>
              </a:rPr>
              <a:t>d. Store them in separate S3 buckets</a:t>
            </a:r>
          </a:p>
        </p:txBody>
      </p:sp>
    </p:spTree>
    <p:extLst>
      <p:ext uri="{BB962C8B-B14F-4D97-AF65-F5344CB8AC3E}">
        <p14:creationId xmlns:p14="http://schemas.microsoft.com/office/powerpoint/2010/main" val="22958584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59</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2948308"/>
          </a:xfrm>
          <a:prstGeom prst="rect">
            <a:avLst/>
          </a:prstGeom>
        </p:spPr>
        <p:txBody>
          <a:bodyPr wrap="square">
            <a:spAutoFit/>
          </a:bodyPr>
          <a:lstStyle/>
          <a:p>
            <a:pPr>
              <a:lnSpc>
                <a:spcPct val="150000"/>
              </a:lnSpc>
            </a:pPr>
            <a:r>
              <a:rPr lang="en-US" dirty="0">
                <a:solidFill>
                  <a:srgbClr val="18537D"/>
                </a:solidFill>
              </a:rPr>
              <a:t>You have created REST API using API Gateway. Which of the following mechanism can be used to deny specific IP Address from accessing API Gateway? </a:t>
            </a:r>
          </a:p>
          <a:p>
            <a:pPr>
              <a:lnSpc>
                <a:spcPct val="150000"/>
              </a:lnSpc>
            </a:pPr>
            <a:endParaRPr lang="en-US" dirty="0">
              <a:solidFill>
                <a:srgbClr val="18537D"/>
              </a:solidFill>
            </a:endParaRPr>
          </a:p>
          <a:p>
            <a:pPr>
              <a:lnSpc>
                <a:spcPct val="150000"/>
              </a:lnSpc>
            </a:pPr>
            <a:r>
              <a:rPr lang="en-US" dirty="0">
                <a:solidFill>
                  <a:srgbClr val="18537D"/>
                </a:solidFill>
              </a:rPr>
              <a:t>a. AWS KMS</a:t>
            </a:r>
          </a:p>
          <a:p>
            <a:pPr>
              <a:lnSpc>
                <a:spcPct val="150000"/>
              </a:lnSpc>
            </a:pPr>
            <a:r>
              <a:rPr lang="en-US" dirty="0">
                <a:solidFill>
                  <a:srgbClr val="18537D"/>
                </a:solidFill>
              </a:rPr>
              <a:t>b. AWS Security Center</a:t>
            </a:r>
          </a:p>
          <a:p>
            <a:pPr>
              <a:lnSpc>
                <a:spcPct val="150000"/>
              </a:lnSpc>
            </a:pPr>
            <a:r>
              <a:rPr lang="en-US" dirty="0">
                <a:solidFill>
                  <a:srgbClr val="18537D"/>
                </a:solidFill>
              </a:rPr>
              <a:t>c. Resource Policies</a:t>
            </a:r>
          </a:p>
          <a:p>
            <a:pPr>
              <a:lnSpc>
                <a:spcPct val="150000"/>
              </a:lnSpc>
            </a:pPr>
            <a:r>
              <a:rPr lang="en-US" dirty="0">
                <a:solidFill>
                  <a:srgbClr val="18537D"/>
                </a:solidFill>
              </a:rPr>
              <a:t>d. AWS WAF</a:t>
            </a:r>
          </a:p>
        </p:txBody>
      </p:sp>
    </p:spTree>
    <p:extLst>
      <p:ext uri="{BB962C8B-B14F-4D97-AF65-F5344CB8AC3E}">
        <p14:creationId xmlns:p14="http://schemas.microsoft.com/office/powerpoint/2010/main" val="32161838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60</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2948308"/>
          </a:xfrm>
          <a:prstGeom prst="rect">
            <a:avLst/>
          </a:prstGeom>
        </p:spPr>
        <p:txBody>
          <a:bodyPr wrap="square">
            <a:spAutoFit/>
          </a:bodyPr>
          <a:lstStyle/>
          <a:p>
            <a:pPr>
              <a:lnSpc>
                <a:spcPct val="150000"/>
              </a:lnSpc>
            </a:pPr>
            <a:r>
              <a:rPr lang="en-US" dirty="0">
                <a:solidFill>
                  <a:srgbClr val="18537D"/>
                </a:solidFill>
              </a:rPr>
              <a:t>You have created REST API using API Gateway. Which of the following mechanism can be used to </a:t>
            </a:r>
            <a:r>
              <a:rPr lang="en-US" b="1" dirty="0">
                <a:solidFill>
                  <a:srgbClr val="18537D"/>
                </a:solidFill>
              </a:rPr>
              <a:t>deny specific IP Address from accessing API Gateway</a:t>
            </a:r>
            <a:r>
              <a:rPr lang="en-US" dirty="0">
                <a:solidFill>
                  <a:srgbClr val="18537D"/>
                </a:solidFill>
              </a:rPr>
              <a:t>? </a:t>
            </a:r>
          </a:p>
          <a:p>
            <a:pPr>
              <a:lnSpc>
                <a:spcPct val="150000"/>
              </a:lnSpc>
            </a:pPr>
            <a:endParaRPr lang="en-US" dirty="0">
              <a:solidFill>
                <a:srgbClr val="18537D"/>
              </a:solidFill>
            </a:endParaRPr>
          </a:p>
          <a:p>
            <a:pPr>
              <a:lnSpc>
                <a:spcPct val="150000"/>
              </a:lnSpc>
            </a:pPr>
            <a:r>
              <a:rPr lang="en-US" dirty="0">
                <a:solidFill>
                  <a:srgbClr val="18537D"/>
                </a:solidFill>
              </a:rPr>
              <a:t>a. AWS KMS</a:t>
            </a:r>
          </a:p>
          <a:p>
            <a:pPr>
              <a:lnSpc>
                <a:spcPct val="150000"/>
              </a:lnSpc>
            </a:pPr>
            <a:r>
              <a:rPr lang="en-US" dirty="0">
                <a:solidFill>
                  <a:srgbClr val="18537D"/>
                </a:solidFill>
              </a:rPr>
              <a:t>b. AWS Security Center</a:t>
            </a:r>
          </a:p>
          <a:p>
            <a:pPr>
              <a:lnSpc>
                <a:spcPct val="150000"/>
              </a:lnSpc>
            </a:pPr>
            <a:r>
              <a:rPr lang="en-US" dirty="0">
                <a:solidFill>
                  <a:srgbClr val="18537D"/>
                </a:solidFill>
              </a:rPr>
              <a:t>c. Resource Policies</a:t>
            </a:r>
          </a:p>
          <a:p>
            <a:pPr>
              <a:lnSpc>
                <a:spcPct val="150000"/>
              </a:lnSpc>
            </a:pPr>
            <a:r>
              <a:rPr lang="en-US" dirty="0">
                <a:solidFill>
                  <a:srgbClr val="18537D"/>
                </a:solidFill>
              </a:rPr>
              <a:t>d. AWS WAF</a:t>
            </a:r>
          </a:p>
        </p:txBody>
      </p:sp>
    </p:spTree>
    <p:extLst>
      <p:ext uri="{BB962C8B-B14F-4D97-AF65-F5344CB8AC3E}">
        <p14:creationId xmlns:p14="http://schemas.microsoft.com/office/powerpoint/2010/main" val="4827040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61</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2948308"/>
          </a:xfrm>
          <a:prstGeom prst="rect">
            <a:avLst/>
          </a:prstGeom>
        </p:spPr>
        <p:txBody>
          <a:bodyPr wrap="square">
            <a:spAutoFit/>
          </a:bodyPr>
          <a:lstStyle/>
          <a:p>
            <a:pPr>
              <a:lnSpc>
                <a:spcPct val="150000"/>
              </a:lnSpc>
            </a:pPr>
            <a:r>
              <a:rPr lang="en-US" dirty="0">
                <a:solidFill>
                  <a:srgbClr val="18537D"/>
                </a:solidFill>
              </a:rPr>
              <a:t>You have created REST API using API Gateway. Which of the following mechanism can be used to </a:t>
            </a:r>
            <a:r>
              <a:rPr lang="en-US" b="1" dirty="0">
                <a:solidFill>
                  <a:srgbClr val="18537D"/>
                </a:solidFill>
              </a:rPr>
              <a:t>deny specific IP Address from accessing API Gateway</a:t>
            </a:r>
            <a:r>
              <a:rPr lang="en-US" dirty="0">
                <a:solidFill>
                  <a:srgbClr val="18537D"/>
                </a:solidFill>
              </a:rPr>
              <a:t>? </a:t>
            </a:r>
          </a:p>
          <a:p>
            <a:pPr>
              <a:lnSpc>
                <a:spcPct val="150000"/>
              </a:lnSpc>
            </a:pPr>
            <a:endParaRPr lang="en-US" dirty="0">
              <a:solidFill>
                <a:srgbClr val="18537D"/>
              </a:solidFill>
            </a:endParaRPr>
          </a:p>
          <a:p>
            <a:pPr>
              <a:lnSpc>
                <a:spcPct val="150000"/>
              </a:lnSpc>
            </a:pPr>
            <a:r>
              <a:rPr lang="en-US" dirty="0">
                <a:solidFill>
                  <a:srgbClr val="18537D"/>
                </a:solidFill>
              </a:rPr>
              <a:t>a. AWS KMS</a:t>
            </a:r>
          </a:p>
          <a:p>
            <a:pPr>
              <a:lnSpc>
                <a:spcPct val="150000"/>
              </a:lnSpc>
            </a:pPr>
            <a:r>
              <a:rPr lang="en-US" dirty="0">
                <a:solidFill>
                  <a:srgbClr val="18537D"/>
                </a:solidFill>
              </a:rPr>
              <a:t>b. AWS Security Center</a:t>
            </a:r>
          </a:p>
          <a:p>
            <a:pPr>
              <a:lnSpc>
                <a:spcPct val="150000"/>
              </a:lnSpc>
            </a:pPr>
            <a:r>
              <a:rPr lang="en-US" dirty="0">
                <a:solidFill>
                  <a:srgbClr val="18537D"/>
                </a:solidFill>
              </a:rPr>
              <a:t>c. Resource Policies</a:t>
            </a:r>
          </a:p>
          <a:p>
            <a:pPr>
              <a:lnSpc>
                <a:spcPct val="150000"/>
              </a:lnSpc>
            </a:pPr>
            <a:r>
              <a:rPr lang="en-US" b="1" dirty="0">
                <a:solidFill>
                  <a:srgbClr val="18537D"/>
                </a:solidFill>
              </a:rPr>
              <a:t>d. AWS WAF</a:t>
            </a:r>
          </a:p>
        </p:txBody>
      </p:sp>
    </p:spTree>
    <p:extLst>
      <p:ext uri="{BB962C8B-B14F-4D97-AF65-F5344CB8AC3E}">
        <p14:creationId xmlns:p14="http://schemas.microsoft.com/office/powerpoint/2010/main" val="25266070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62</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3779304"/>
          </a:xfrm>
          <a:prstGeom prst="rect">
            <a:avLst/>
          </a:prstGeom>
        </p:spPr>
        <p:txBody>
          <a:bodyPr wrap="square">
            <a:spAutoFit/>
          </a:bodyPr>
          <a:lstStyle/>
          <a:p>
            <a:pPr>
              <a:lnSpc>
                <a:spcPct val="150000"/>
              </a:lnSpc>
            </a:pPr>
            <a:r>
              <a:rPr lang="en-US" dirty="0">
                <a:solidFill>
                  <a:srgbClr val="18537D"/>
                </a:solidFill>
              </a:rPr>
              <a:t>You have created a VPC that has the default subnet with an internet gateway attached and required route table entry set. Which of the following is true with regards to the connection of an EC2 instance located in the VPC?</a:t>
            </a:r>
          </a:p>
          <a:p>
            <a:pPr>
              <a:lnSpc>
                <a:spcPct val="150000"/>
              </a:lnSpc>
            </a:pPr>
            <a:r>
              <a:rPr lang="en-US" dirty="0">
                <a:solidFill>
                  <a:srgbClr val="18537D"/>
                </a:solidFill>
              </a:rPr>
              <a:t>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It does not need a NAT instance or an EIP to communicate with the internet.</a:t>
            </a:r>
          </a:p>
          <a:p>
            <a:pPr>
              <a:lnSpc>
                <a:spcPct val="150000"/>
              </a:lnSpc>
            </a:pPr>
            <a:r>
              <a:rPr lang="en-US" dirty="0">
                <a:solidFill>
                  <a:srgbClr val="18537D"/>
                </a:solidFill>
              </a:rPr>
              <a:t>b. The EC2 instance can connect to the internet using the EIP or public IP assigned to it</a:t>
            </a:r>
          </a:p>
          <a:p>
            <a:pPr>
              <a:lnSpc>
                <a:spcPct val="150000"/>
              </a:lnSpc>
            </a:pPr>
            <a:r>
              <a:rPr lang="en-US" dirty="0">
                <a:solidFill>
                  <a:srgbClr val="18537D"/>
                </a:solidFill>
              </a:rPr>
              <a:t>c. None of the above</a:t>
            </a:r>
          </a:p>
          <a:p>
            <a:pPr>
              <a:lnSpc>
                <a:spcPct val="150000"/>
              </a:lnSpc>
            </a:pPr>
            <a:r>
              <a:rPr lang="en-US" dirty="0">
                <a:solidFill>
                  <a:srgbClr val="18537D"/>
                </a:solidFill>
              </a:rPr>
              <a:t>d. It can connect.</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21319546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63</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3779304"/>
          </a:xfrm>
          <a:prstGeom prst="rect">
            <a:avLst/>
          </a:prstGeom>
        </p:spPr>
        <p:txBody>
          <a:bodyPr wrap="square">
            <a:spAutoFit/>
          </a:bodyPr>
          <a:lstStyle/>
          <a:p>
            <a:pPr>
              <a:lnSpc>
                <a:spcPct val="150000"/>
              </a:lnSpc>
            </a:pPr>
            <a:r>
              <a:rPr lang="en-US" dirty="0">
                <a:solidFill>
                  <a:srgbClr val="18537D"/>
                </a:solidFill>
              </a:rPr>
              <a:t>You have created a VPC that has the </a:t>
            </a:r>
            <a:r>
              <a:rPr lang="en-US" b="1" dirty="0">
                <a:solidFill>
                  <a:srgbClr val="18537D"/>
                </a:solidFill>
              </a:rPr>
              <a:t>default subnet with an internet gateway attached </a:t>
            </a:r>
            <a:r>
              <a:rPr lang="en-US" dirty="0">
                <a:solidFill>
                  <a:srgbClr val="18537D"/>
                </a:solidFill>
              </a:rPr>
              <a:t>and required route table entry set. Which of the following is true with regards to the </a:t>
            </a:r>
            <a:r>
              <a:rPr lang="en-US" b="1" dirty="0">
                <a:solidFill>
                  <a:srgbClr val="18537D"/>
                </a:solidFill>
              </a:rPr>
              <a:t>connection of an EC2 instance located in the VPC</a:t>
            </a:r>
            <a:r>
              <a:rPr lang="en-US" dirty="0">
                <a:solidFill>
                  <a:srgbClr val="18537D"/>
                </a:solidFill>
              </a:rPr>
              <a:t>?</a:t>
            </a:r>
          </a:p>
          <a:p>
            <a:pPr>
              <a:lnSpc>
                <a:spcPct val="150000"/>
              </a:lnSpc>
            </a:pPr>
            <a:r>
              <a:rPr lang="en-US" dirty="0">
                <a:solidFill>
                  <a:srgbClr val="18537D"/>
                </a:solidFill>
              </a:rPr>
              <a:t>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It does not need a NAT instance or an EIP to communicate with the internet.</a:t>
            </a:r>
          </a:p>
          <a:p>
            <a:pPr>
              <a:lnSpc>
                <a:spcPct val="150000"/>
              </a:lnSpc>
            </a:pPr>
            <a:r>
              <a:rPr lang="en-US" dirty="0">
                <a:solidFill>
                  <a:srgbClr val="18537D"/>
                </a:solidFill>
              </a:rPr>
              <a:t>b. The EC2 instance can connect to the internet using the EIP or public IP assigned to it</a:t>
            </a:r>
          </a:p>
          <a:p>
            <a:pPr>
              <a:lnSpc>
                <a:spcPct val="150000"/>
              </a:lnSpc>
            </a:pPr>
            <a:r>
              <a:rPr lang="en-US" dirty="0">
                <a:solidFill>
                  <a:srgbClr val="18537D"/>
                </a:solidFill>
              </a:rPr>
              <a:t>c. None of the above</a:t>
            </a:r>
          </a:p>
          <a:p>
            <a:pPr>
              <a:lnSpc>
                <a:spcPct val="150000"/>
              </a:lnSpc>
            </a:pPr>
            <a:r>
              <a:rPr lang="en-US" dirty="0">
                <a:solidFill>
                  <a:srgbClr val="18537D"/>
                </a:solidFill>
              </a:rPr>
              <a:t>d. It can connect.</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12271749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64</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3779304"/>
          </a:xfrm>
          <a:prstGeom prst="rect">
            <a:avLst/>
          </a:prstGeom>
        </p:spPr>
        <p:txBody>
          <a:bodyPr wrap="square">
            <a:spAutoFit/>
          </a:bodyPr>
          <a:lstStyle/>
          <a:p>
            <a:pPr>
              <a:lnSpc>
                <a:spcPct val="150000"/>
              </a:lnSpc>
            </a:pPr>
            <a:r>
              <a:rPr lang="en-US" dirty="0">
                <a:solidFill>
                  <a:srgbClr val="18537D"/>
                </a:solidFill>
              </a:rPr>
              <a:t>You have created a VPC that has the </a:t>
            </a:r>
            <a:r>
              <a:rPr lang="en-US" b="1" dirty="0">
                <a:solidFill>
                  <a:srgbClr val="18537D"/>
                </a:solidFill>
              </a:rPr>
              <a:t>default subnet with an internet gateway attached </a:t>
            </a:r>
            <a:r>
              <a:rPr lang="en-US" dirty="0">
                <a:solidFill>
                  <a:srgbClr val="18537D"/>
                </a:solidFill>
              </a:rPr>
              <a:t>and required route table entry set. Which of the following is true with regards to the </a:t>
            </a:r>
            <a:r>
              <a:rPr lang="en-US" b="1" dirty="0">
                <a:solidFill>
                  <a:srgbClr val="18537D"/>
                </a:solidFill>
              </a:rPr>
              <a:t>connection of an EC2 instance located in the VPC</a:t>
            </a:r>
            <a:r>
              <a:rPr lang="en-US" dirty="0">
                <a:solidFill>
                  <a:srgbClr val="18537D"/>
                </a:solidFill>
              </a:rPr>
              <a:t>?</a:t>
            </a:r>
          </a:p>
          <a:p>
            <a:pPr>
              <a:lnSpc>
                <a:spcPct val="150000"/>
              </a:lnSpc>
            </a:pPr>
            <a:r>
              <a:rPr lang="en-US" dirty="0">
                <a:solidFill>
                  <a:srgbClr val="18537D"/>
                </a:solidFill>
              </a:rPr>
              <a:t>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It does not need a NAT instance or an EIP to communicate with the internet.</a:t>
            </a:r>
          </a:p>
          <a:p>
            <a:pPr>
              <a:lnSpc>
                <a:spcPct val="150000"/>
              </a:lnSpc>
            </a:pPr>
            <a:r>
              <a:rPr lang="en-US" b="1" dirty="0">
                <a:solidFill>
                  <a:srgbClr val="18537D"/>
                </a:solidFill>
              </a:rPr>
              <a:t>b. The EC2 instance can connect to the internet using the EIP or public IP assigned to it</a:t>
            </a:r>
          </a:p>
          <a:p>
            <a:pPr>
              <a:lnSpc>
                <a:spcPct val="150000"/>
              </a:lnSpc>
            </a:pPr>
            <a:r>
              <a:rPr lang="en-US" dirty="0">
                <a:solidFill>
                  <a:srgbClr val="18537D"/>
                </a:solidFill>
              </a:rPr>
              <a:t>c. None of the above</a:t>
            </a:r>
          </a:p>
          <a:p>
            <a:pPr>
              <a:lnSpc>
                <a:spcPct val="150000"/>
              </a:lnSpc>
            </a:pPr>
            <a:r>
              <a:rPr lang="en-US" dirty="0">
                <a:solidFill>
                  <a:srgbClr val="18537D"/>
                </a:solidFill>
              </a:rPr>
              <a:t>d. It can connect.</a:t>
            </a:r>
          </a:p>
          <a:p>
            <a:pPr>
              <a:lnSpc>
                <a:spcPct val="150000"/>
              </a:lnSpc>
            </a:pPr>
            <a:endParaRPr lang="en-US" dirty="0">
              <a:solidFill>
                <a:srgbClr val="18537D"/>
              </a:solidFill>
            </a:endParaRPr>
          </a:p>
        </p:txBody>
      </p:sp>
    </p:spTree>
    <p:extLst>
      <p:ext uri="{BB962C8B-B14F-4D97-AF65-F5344CB8AC3E}">
        <p14:creationId xmlns:p14="http://schemas.microsoft.com/office/powerpoint/2010/main" val="22509615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65</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5441298"/>
          </a:xfrm>
          <a:prstGeom prst="rect">
            <a:avLst/>
          </a:prstGeom>
        </p:spPr>
        <p:txBody>
          <a:bodyPr wrap="square">
            <a:spAutoFit/>
          </a:bodyPr>
          <a:lstStyle/>
          <a:p>
            <a:pPr>
              <a:lnSpc>
                <a:spcPct val="150000"/>
              </a:lnSpc>
            </a:pPr>
            <a:r>
              <a:rPr lang="en-US" dirty="0">
                <a:solidFill>
                  <a:srgbClr val="18537D"/>
                </a:solidFill>
              </a:rPr>
              <a:t>Someone on your team configured a Virtual Private Cloud with two public subnets in two separate AZs and two private subnets in two separate AZs. Each public subnet AZ has a matching private subnet AZ. The VPC and its subnets are properly configured. You also notice that there are multiple web server instances in the private subnet, and you've been charged with setting up a public-facing Elastic Load Balancer which will accept requests from clients and distribute those requests to the web server instances. How can you set this up?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Associate one public subnet and one private subnet which contain the web server instances with the ELB when configuring the ELB</a:t>
            </a:r>
          </a:p>
          <a:p>
            <a:pPr>
              <a:lnSpc>
                <a:spcPct val="150000"/>
              </a:lnSpc>
            </a:pPr>
            <a:r>
              <a:rPr lang="en-US" dirty="0">
                <a:solidFill>
                  <a:srgbClr val="18537D"/>
                </a:solidFill>
              </a:rPr>
              <a:t>b. Associate both the public subnets with the ELB when configuring the ELB</a:t>
            </a:r>
          </a:p>
          <a:p>
            <a:pPr>
              <a:lnSpc>
                <a:spcPct val="150000"/>
              </a:lnSpc>
            </a:pPr>
            <a:r>
              <a:rPr lang="en-US" dirty="0">
                <a:solidFill>
                  <a:srgbClr val="18537D"/>
                </a:solidFill>
              </a:rPr>
              <a:t>c. You can't. Web server instances must be in public subnets in order for this to work</a:t>
            </a:r>
          </a:p>
          <a:p>
            <a:pPr>
              <a:lnSpc>
                <a:spcPct val="150000"/>
              </a:lnSpc>
            </a:pPr>
            <a:r>
              <a:rPr lang="en-US" dirty="0">
                <a:solidFill>
                  <a:srgbClr val="18537D"/>
                </a:solidFill>
              </a:rPr>
              <a:t>d. Associate both the private subnets which contain the web server instances with the ELB when configuring the ELB</a:t>
            </a:r>
          </a:p>
        </p:txBody>
      </p:sp>
    </p:spTree>
    <p:extLst>
      <p:ext uri="{BB962C8B-B14F-4D97-AF65-F5344CB8AC3E}">
        <p14:creationId xmlns:p14="http://schemas.microsoft.com/office/powerpoint/2010/main" val="31805657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66</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5441298"/>
          </a:xfrm>
          <a:prstGeom prst="rect">
            <a:avLst/>
          </a:prstGeom>
        </p:spPr>
        <p:txBody>
          <a:bodyPr wrap="square">
            <a:spAutoFit/>
          </a:bodyPr>
          <a:lstStyle/>
          <a:p>
            <a:pPr>
              <a:lnSpc>
                <a:spcPct val="150000"/>
              </a:lnSpc>
            </a:pPr>
            <a:r>
              <a:rPr lang="en-US" dirty="0">
                <a:solidFill>
                  <a:srgbClr val="18537D"/>
                </a:solidFill>
              </a:rPr>
              <a:t>Someone on your team configured a </a:t>
            </a:r>
            <a:r>
              <a:rPr lang="en-US" b="1" dirty="0">
                <a:solidFill>
                  <a:srgbClr val="18537D"/>
                </a:solidFill>
              </a:rPr>
              <a:t>Virtual Private Cloud</a:t>
            </a:r>
            <a:r>
              <a:rPr lang="en-US" dirty="0">
                <a:solidFill>
                  <a:srgbClr val="18537D"/>
                </a:solidFill>
              </a:rPr>
              <a:t> with two public subnets in </a:t>
            </a:r>
            <a:r>
              <a:rPr lang="en-US" b="1" dirty="0">
                <a:solidFill>
                  <a:srgbClr val="18537D"/>
                </a:solidFill>
              </a:rPr>
              <a:t>two separate AZs and two private subnets in two separate AZs. Each public subnet AZ has a matching private subnet AZ.</a:t>
            </a:r>
            <a:r>
              <a:rPr lang="en-US" dirty="0">
                <a:solidFill>
                  <a:srgbClr val="18537D"/>
                </a:solidFill>
              </a:rPr>
              <a:t> The VPC and its subnets are properly configured. You also notice that there are </a:t>
            </a:r>
            <a:r>
              <a:rPr lang="en-US" b="1" dirty="0">
                <a:solidFill>
                  <a:srgbClr val="18537D"/>
                </a:solidFill>
              </a:rPr>
              <a:t>multiple web server instances in the private subnet</a:t>
            </a:r>
            <a:r>
              <a:rPr lang="en-US" dirty="0">
                <a:solidFill>
                  <a:srgbClr val="18537D"/>
                </a:solidFill>
              </a:rPr>
              <a:t>, and you've been charged with setting up a </a:t>
            </a:r>
            <a:r>
              <a:rPr lang="en-US" b="1" dirty="0">
                <a:solidFill>
                  <a:srgbClr val="18537D"/>
                </a:solidFill>
              </a:rPr>
              <a:t>public-facing Elastic Load Balancer </a:t>
            </a:r>
            <a:r>
              <a:rPr lang="en-US" dirty="0">
                <a:solidFill>
                  <a:srgbClr val="18537D"/>
                </a:solidFill>
              </a:rPr>
              <a:t>which will accept requests from clients and distribute those requests to the web server instances. How can you set this up?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Associate one public subnet and one private subnet which contain the web server instances with the ELB when configuring the ELB</a:t>
            </a:r>
          </a:p>
          <a:p>
            <a:pPr>
              <a:lnSpc>
                <a:spcPct val="150000"/>
              </a:lnSpc>
            </a:pPr>
            <a:r>
              <a:rPr lang="en-US" dirty="0">
                <a:solidFill>
                  <a:srgbClr val="18537D"/>
                </a:solidFill>
              </a:rPr>
              <a:t>b. Associate both the public subnets with the ELB when configuring the ELB</a:t>
            </a:r>
          </a:p>
          <a:p>
            <a:pPr>
              <a:lnSpc>
                <a:spcPct val="150000"/>
              </a:lnSpc>
            </a:pPr>
            <a:r>
              <a:rPr lang="en-US" dirty="0">
                <a:solidFill>
                  <a:srgbClr val="18537D"/>
                </a:solidFill>
              </a:rPr>
              <a:t>c. You can't. Web server instances must be in public subnets in order for this to work</a:t>
            </a:r>
          </a:p>
          <a:p>
            <a:pPr>
              <a:lnSpc>
                <a:spcPct val="150000"/>
              </a:lnSpc>
            </a:pPr>
            <a:r>
              <a:rPr lang="en-US" dirty="0">
                <a:solidFill>
                  <a:srgbClr val="18537D"/>
                </a:solidFill>
              </a:rPr>
              <a:t>d. Associate both the private subnets which contain the web server instances with the ELB when configuring the ELB</a:t>
            </a:r>
          </a:p>
        </p:txBody>
      </p:sp>
    </p:spTree>
    <p:extLst>
      <p:ext uri="{BB962C8B-B14F-4D97-AF65-F5344CB8AC3E}">
        <p14:creationId xmlns:p14="http://schemas.microsoft.com/office/powerpoint/2010/main" val="19308415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2CC09C-2AB5-486D-B004-805454C2F53B}"/>
              </a:ext>
            </a:extLst>
          </p:cNvPr>
          <p:cNvSpPr>
            <a:spLocks noGrp="1"/>
          </p:cNvSpPr>
          <p:nvPr>
            <p:ph type="sldNum" sz="quarter" idx="17"/>
          </p:nvPr>
        </p:nvSpPr>
        <p:spPr/>
        <p:txBody>
          <a:bodyPr/>
          <a:lstStyle/>
          <a:p>
            <a:fld id="{4F9AC08D-23A9-440E-BCB9-AA1E9877CC38}" type="slidenum">
              <a:rPr lang="en-US" smtClean="0"/>
              <a:pPr/>
              <a:t>67</a:t>
            </a:fld>
            <a:endParaRPr lang="en-US" dirty="0"/>
          </a:p>
        </p:txBody>
      </p:sp>
      <p:sp>
        <p:nvSpPr>
          <p:cNvPr id="3" name="Title 2">
            <a:extLst>
              <a:ext uri="{FF2B5EF4-FFF2-40B4-BE49-F238E27FC236}">
                <a16:creationId xmlns:a16="http://schemas.microsoft.com/office/drawing/2014/main" id="{4E154400-A26C-45FE-AA9B-62924FDB6811}"/>
              </a:ext>
            </a:extLst>
          </p:cNvPr>
          <p:cNvSpPr>
            <a:spLocks noGrp="1"/>
          </p:cNvSpPr>
          <p:nvPr>
            <p:ph type="title"/>
          </p:nvPr>
        </p:nvSpPr>
        <p:spPr>
          <a:xfrm>
            <a:off x="450006" y="281977"/>
            <a:ext cx="13500200" cy="1359871"/>
          </a:xfrm>
        </p:spPr>
        <p:txBody>
          <a:bodyPr/>
          <a:lstStyle/>
          <a:p>
            <a:r>
              <a:rPr lang="en-US" dirty="0">
                <a:solidFill>
                  <a:schemeClr val="bg1"/>
                </a:solidFill>
              </a:rPr>
              <a:t>Sample Questions</a:t>
            </a:r>
          </a:p>
        </p:txBody>
      </p:sp>
      <p:sp>
        <p:nvSpPr>
          <p:cNvPr id="4" name="Footer Placeholder 3">
            <a:extLst>
              <a:ext uri="{FF2B5EF4-FFF2-40B4-BE49-F238E27FC236}">
                <a16:creationId xmlns:a16="http://schemas.microsoft.com/office/drawing/2014/main" id="{CFEFA542-5B74-483F-B82E-65B8A4012BB8}"/>
              </a:ext>
            </a:extLst>
          </p:cNvPr>
          <p:cNvSpPr>
            <a:spLocks noGrp="1"/>
          </p:cNvSpPr>
          <p:nvPr>
            <p:ph type="ftr" sz="quarter" idx="16"/>
          </p:nvPr>
        </p:nvSpPr>
        <p:spPr/>
        <p:txBody>
          <a:bodyPr/>
          <a:lstStyle/>
          <a:p>
            <a:r>
              <a:rPr lang="en-US"/>
              <a:t>Copyright © 2020 Accenture. All rights reserved.</a:t>
            </a:r>
            <a:endParaRPr lang="en-US" dirty="0"/>
          </a:p>
        </p:txBody>
      </p:sp>
      <p:sp>
        <p:nvSpPr>
          <p:cNvPr id="5" name="Rectangle 4">
            <a:extLst>
              <a:ext uri="{FF2B5EF4-FFF2-40B4-BE49-F238E27FC236}">
                <a16:creationId xmlns:a16="http://schemas.microsoft.com/office/drawing/2014/main" id="{1A9AA99E-75E9-4659-8631-A9A2C7FFCB4F}"/>
              </a:ext>
            </a:extLst>
          </p:cNvPr>
          <p:cNvSpPr/>
          <p:nvPr/>
        </p:nvSpPr>
        <p:spPr>
          <a:xfrm>
            <a:off x="611442" y="1071272"/>
            <a:ext cx="12494956" cy="5441298"/>
          </a:xfrm>
          <a:prstGeom prst="rect">
            <a:avLst/>
          </a:prstGeom>
        </p:spPr>
        <p:txBody>
          <a:bodyPr wrap="square">
            <a:spAutoFit/>
          </a:bodyPr>
          <a:lstStyle/>
          <a:p>
            <a:pPr>
              <a:lnSpc>
                <a:spcPct val="150000"/>
              </a:lnSpc>
            </a:pPr>
            <a:r>
              <a:rPr lang="en-US" dirty="0">
                <a:solidFill>
                  <a:srgbClr val="18537D"/>
                </a:solidFill>
              </a:rPr>
              <a:t>Someone on your team configured a </a:t>
            </a:r>
            <a:r>
              <a:rPr lang="en-US" b="1" dirty="0">
                <a:solidFill>
                  <a:srgbClr val="18537D"/>
                </a:solidFill>
              </a:rPr>
              <a:t>Virtual Private Cloud</a:t>
            </a:r>
            <a:r>
              <a:rPr lang="en-US" dirty="0">
                <a:solidFill>
                  <a:srgbClr val="18537D"/>
                </a:solidFill>
              </a:rPr>
              <a:t> with two public subnets in </a:t>
            </a:r>
            <a:r>
              <a:rPr lang="en-US" b="1" dirty="0">
                <a:solidFill>
                  <a:srgbClr val="18537D"/>
                </a:solidFill>
              </a:rPr>
              <a:t>two separate AZs and two private subnets in two separate AZs. Each public subnet AZ has a matching private subnet AZ.</a:t>
            </a:r>
            <a:r>
              <a:rPr lang="en-US" dirty="0">
                <a:solidFill>
                  <a:srgbClr val="18537D"/>
                </a:solidFill>
              </a:rPr>
              <a:t> The VPC and its subnets are properly configured. You also notice that there are </a:t>
            </a:r>
            <a:r>
              <a:rPr lang="en-US" b="1" dirty="0">
                <a:solidFill>
                  <a:srgbClr val="18537D"/>
                </a:solidFill>
              </a:rPr>
              <a:t>multiple web server instances in the private subnet</a:t>
            </a:r>
            <a:r>
              <a:rPr lang="en-US" dirty="0">
                <a:solidFill>
                  <a:srgbClr val="18537D"/>
                </a:solidFill>
              </a:rPr>
              <a:t>, and you've been charged with setting up a </a:t>
            </a:r>
            <a:r>
              <a:rPr lang="en-US" b="1" dirty="0">
                <a:solidFill>
                  <a:srgbClr val="18537D"/>
                </a:solidFill>
              </a:rPr>
              <a:t>public-facing Elastic Load Balancer </a:t>
            </a:r>
            <a:r>
              <a:rPr lang="en-US" dirty="0">
                <a:solidFill>
                  <a:srgbClr val="18537D"/>
                </a:solidFill>
              </a:rPr>
              <a:t>which will accept requests from clients and distribute those requests to the web server instances. How can you set this up? Choose the correct answer from the options below</a:t>
            </a:r>
          </a:p>
          <a:p>
            <a:pPr>
              <a:lnSpc>
                <a:spcPct val="150000"/>
              </a:lnSpc>
            </a:pPr>
            <a:endParaRPr lang="en-US" dirty="0">
              <a:solidFill>
                <a:srgbClr val="18537D"/>
              </a:solidFill>
            </a:endParaRPr>
          </a:p>
          <a:p>
            <a:pPr>
              <a:lnSpc>
                <a:spcPct val="150000"/>
              </a:lnSpc>
            </a:pPr>
            <a:r>
              <a:rPr lang="en-US" dirty="0">
                <a:solidFill>
                  <a:srgbClr val="18537D"/>
                </a:solidFill>
              </a:rPr>
              <a:t>a. Associate one public subnet and one private subnet which contain the web server instances with the ELB when configuring the ELB</a:t>
            </a:r>
          </a:p>
          <a:p>
            <a:pPr>
              <a:lnSpc>
                <a:spcPct val="150000"/>
              </a:lnSpc>
            </a:pPr>
            <a:r>
              <a:rPr lang="en-US" b="1" dirty="0">
                <a:solidFill>
                  <a:srgbClr val="18537D"/>
                </a:solidFill>
              </a:rPr>
              <a:t>b. Associate both the public subnets with the ELB when configuring the ELB</a:t>
            </a:r>
          </a:p>
          <a:p>
            <a:pPr>
              <a:lnSpc>
                <a:spcPct val="150000"/>
              </a:lnSpc>
            </a:pPr>
            <a:r>
              <a:rPr lang="en-US" dirty="0">
                <a:solidFill>
                  <a:srgbClr val="18537D"/>
                </a:solidFill>
              </a:rPr>
              <a:t>c. You can't. Web server instances must be in public subnets in order for this to work</a:t>
            </a:r>
          </a:p>
          <a:p>
            <a:pPr>
              <a:lnSpc>
                <a:spcPct val="150000"/>
              </a:lnSpc>
            </a:pPr>
            <a:r>
              <a:rPr lang="en-US" dirty="0">
                <a:solidFill>
                  <a:srgbClr val="18537D"/>
                </a:solidFill>
              </a:rPr>
              <a:t>d. Associate both the private subnets which contain the web server instances with the ELB when configuring the ELB</a:t>
            </a:r>
          </a:p>
        </p:txBody>
      </p:sp>
    </p:spTree>
    <p:extLst>
      <p:ext uri="{BB962C8B-B14F-4D97-AF65-F5344CB8AC3E}">
        <p14:creationId xmlns:p14="http://schemas.microsoft.com/office/powerpoint/2010/main" val="6580692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7833A-1D22-44C8-AA11-ABF04E08EE8B}"/>
              </a:ext>
            </a:extLst>
          </p:cNvPr>
          <p:cNvSpPr>
            <a:spLocks noGrp="1"/>
          </p:cNvSpPr>
          <p:nvPr>
            <p:ph type="title"/>
          </p:nvPr>
        </p:nvSpPr>
        <p:spPr>
          <a:xfrm>
            <a:off x="3489158" y="3320733"/>
            <a:ext cx="9589168" cy="557845"/>
          </a:xfrm>
        </p:spPr>
        <p:txBody>
          <a:bodyPr>
            <a:normAutofit fontScale="90000"/>
          </a:bodyPr>
          <a:lstStyle/>
          <a:p>
            <a:r>
              <a:rPr lang="en-US" dirty="0">
                <a:solidFill>
                  <a:srgbClr val="18537D"/>
                </a:solidFill>
                <a:latin typeface="Arial Black" panose="020B0A04020102020204" pitchFamily="34" charset="0"/>
              </a:rPr>
              <a:t>Happy Learning!!</a:t>
            </a:r>
          </a:p>
        </p:txBody>
      </p:sp>
      <p:sp>
        <p:nvSpPr>
          <p:cNvPr id="3" name="Slide Number Placeholder 2">
            <a:extLst>
              <a:ext uri="{FF2B5EF4-FFF2-40B4-BE49-F238E27FC236}">
                <a16:creationId xmlns:a16="http://schemas.microsoft.com/office/drawing/2014/main" id="{99BEF341-2DB0-4159-B670-24611B8CA7B2}"/>
              </a:ext>
            </a:extLst>
          </p:cNvPr>
          <p:cNvSpPr txBox="1">
            <a:spLocks/>
          </p:cNvSpPr>
          <p:nvPr/>
        </p:nvSpPr>
        <p:spPr>
          <a:xfrm>
            <a:off x="13550876" y="6705802"/>
            <a:ext cx="705898" cy="2161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9AC08D-23A9-440E-BCB9-AA1E9877CC38}" type="slidenum">
              <a:rPr lang="en-US" smtClean="0"/>
              <a:pPr/>
              <a:t>68</a:t>
            </a:fld>
            <a:endParaRPr lang="en-US" dirty="0"/>
          </a:p>
        </p:txBody>
      </p:sp>
    </p:spTree>
    <p:extLst>
      <p:ext uri="{BB962C8B-B14F-4D97-AF65-F5344CB8AC3E}">
        <p14:creationId xmlns:p14="http://schemas.microsoft.com/office/powerpoint/2010/main" val="2175134941"/>
      </p:ext>
    </p:extLst>
  </p:cSld>
  <p:clrMapOvr>
    <a:masterClrMapping/>
  </p:clrMapOvr>
</p:sld>
</file>

<file path=ppt/theme/theme1.xml><?xml version="1.0" encoding="utf-8"?>
<a:theme xmlns:a="http://schemas.openxmlformats.org/drawingml/2006/main" name="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2.xml><?xml version="1.0" encoding="utf-8"?>
<a:theme xmlns:a="http://schemas.openxmlformats.org/drawingml/2006/main" name="1_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2D4628B5F0DE14882B47AED0C5966F0" ma:contentTypeVersion="12" ma:contentTypeDescription="Create a new document." ma:contentTypeScope="" ma:versionID="55b389601a80f891819a40b048f86b7b">
  <xsd:schema xmlns:xsd="http://www.w3.org/2001/XMLSchema" xmlns:xs="http://www.w3.org/2001/XMLSchema" xmlns:p="http://schemas.microsoft.com/office/2006/metadata/properties" xmlns:ns3="25376a1e-acf6-4d0e-a31f-9846047eee0a" xmlns:ns4="d61169d6-dafa-460d-aa42-7f3810e84ea1" targetNamespace="http://schemas.microsoft.com/office/2006/metadata/properties" ma:root="true" ma:fieldsID="e6b501d0506227862faddbc1d8a8e3d7" ns3:_="" ns4:_="">
    <xsd:import namespace="25376a1e-acf6-4d0e-a31f-9846047eee0a"/>
    <xsd:import namespace="d61169d6-dafa-460d-aa42-7f3810e84ea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AutoKeyPoints" minOccurs="0"/>
                <xsd:element ref="ns4:MediaServiceKeyPoint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376a1e-acf6-4d0e-a31f-9846047eee0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1169d6-dafa-460d-aa42-7f3810e84ea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BE717E-816E-4571-A23B-53E4DC8E1895}">
  <ds:schemaRefs>
    <ds:schemaRef ds:uri="http://schemas.microsoft.com/office/2006/metadata/properties"/>
    <ds:schemaRef ds:uri="http://purl.org/dc/terms/"/>
    <ds:schemaRef ds:uri="http://schemas.openxmlformats.org/package/2006/metadata/core-properties"/>
    <ds:schemaRef ds:uri="d61169d6-dafa-460d-aa42-7f3810e84ea1"/>
    <ds:schemaRef ds:uri="http://schemas.microsoft.com/office/2006/documentManagement/types"/>
    <ds:schemaRef ds:uri="http://schemas.microsoft.com/office/infopath/2007/PartnerControls"/>
    <ds:schemaRef ds:uri="http://purl.org/dc/elements/1.1/"/>
    <ds:schemaRef ds:uri="25376a1e-acf6-4d0e-a31f-9846047eee0a"/>
    <ds:schemaRef ds:uri="http://www.w3.org/XML/1998/namespace"/>
    <ds:schemaRef ds:uri="http://purl.org/dc/dcmitype/"/>
  </ds:schemaRefs>
</ds:datastoreItem>
</file>

<file path=customXml/itemProps2.xml><?xml version="1.0" encoding="utf-8"?>
<ds:datastoreItem xmlns:ds="http://schemas.openxmlformats.org/officeDocument/2006/customXml" ds:itemID="{86E8B75E-1448-403E-9C36-A8C659AD49D4}">
  <ds:schemaRefs>
    <ds:schemaRef ds:uri="http://schemas.microsoft.com/sharepoint/v3/contenttype/forms"/>
  </ds:schemaRefs>
</ds:datastoreItem>
</file>

<file path=customXml/itemProps3.xml><?xml version="1.0" encoding="utf-8"?>
<ds:datastoreItem xmlns:ds="http://schemas.openxmlformats.org/officeDocument/2006/customXml" ds:itemID="{E73F6FFA-FF3F-493E-9E94-0880F41B67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376a1e-acf6-4d0e-a31f-9846047eee0a"/>
    <ds:schemaRef ds:uri="d61169d6-dafa-460d-aa42-7f3810e84e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12032</TotalTime>
  <Words>6767</Words>
  <Application>Microsoft Office PowerPoint</Application>
  <PresentationFormat>Custom</PresentationFormat>
  <Paragraphs>807</Paragraphs>
  <Slides>68</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68</vt:i4>
      </vt:variant>
    </vt:vector>
  </HeadingPairs>
  <TitlesOfParts>
    <vt:vector size="79" baseType="lpstr">
      <vt:lpstr>Amazon Ember</vt:lpstr>
      <vt:lpstr>Amazon Ember Light</vt:lpstr>
      <vt:lpstr>Amazon Ember Medium</vt:lpstr>
      <vt:lpstr>Arial</vt:lpstr>
      <vt:lpstr>Arial Black</vt:lpstr>
      <vt:lpstr>Calibri</vt:lpstr>
      <vt:lpstr>Graphik</vt:lpstr>
      <vt:lpstr>Graphik Black</vt:lpstr>
      <vt:lpstr>Graphik Medium</vt:lpstr>
      <vt:lpstr>Titles</vt:lpstr>
      <vt:lpstr>1_Titles</vt:lpstr>
      <vt:lpstr> Cloud Elevate –Exam Readiness workshop    AWS Certified Developer - Associate</vt:lpstr>
      <vt:lpstr>PowerPoint Presentation</vt:lpstr>
      <vt:lpstr>AWS Developer - associate</vt:lpstr>
      <vt:lpstr>Security– 26%</vt:lpstr>
      <vt:lpstr>Security – 26%</vt:lpstr>
      <vt:lpstr>AWS Shared Responsibility Model</vt:lpstr>
      <vt:lpstr>AWS security services</vt:lpstr>
      <vt:lpstr>AWS IAM</vt:lpstr>
      <vt:lpstr>Iam users and Groups</vt:lpstr>
      <vt:lpstr>Iam Roles</vt:lpstr>
      <vt:lpstr>Iam Policies and permissions</vt:lpstr>
      <vt:lpstr>Multi-factor authentication (MFA)</vt:lpstr>
      <vt:lpstr>Manage Multiple Account- AWS Organizations</vt:lpstr>
      <vt:lpstr>AWS Security Token Service</vt:lpstr>
      <vt:lpstr>Encryption</vt:lpstr>
      <vt:lpstr>AWS KMS </vt:lpstr>
      <vt:lpstr>AWS CERTIFICATE manager</vt:lpstr>
      <vt:lpstr>AWS Secrets Manager </vt:lpstr>
      <vt:lpstr>WAF &amp; shield</vt:lpstr>
      <vt:lpstr>AWS WAF Conditions</vt:lpstr>
      <vt:lpstr>Introduction to VPC</vt:lpstr>
      <vt:lpstr>VPC-Peering</vt:lpstr>
      <vt:lpstr>AWS VPN</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Sample Questions</vt:lpstr>
      <vt:lpstr>Happy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Nithyanand, Anupama</dc:creator>
  <cp:lastModifiedBy>Govindarajan, Mathan</cp:lastModifiedBy>
  <cp:revision>371</cp:revision>
  <dcterms:created xsi:type="dcterms:W3CDTF">2020-02-10T04:26:22Z</dcterms:created>
  <dcterms:modified xsi:type="dcterms:W3CDTF">2020-09-23T06:37:45Z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0x01010072D4628B5F0DE14882B47AED0C5966F0</vt:lpwstr>
  </property>
</Properties>
</file>