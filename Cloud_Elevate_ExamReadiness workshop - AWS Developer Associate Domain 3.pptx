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30"/>
  </p:notesMasterIdLst>
  <p:sldIdLst>
    <p:sldId id="720" r:id="rId6"/>
    <p:sldId id="813" r:id="rId7"/>
    <p:sldId id="814" r:id="rId8"/>
    <p:sldId id="815" r:id="rId9"/>
    <p:sldId id="816" r:id="rId10"/>
    <p:sldId id="819" r:id="rId11"/>
    <p:sldId id="822" r:id="rId12"/>
    <p:sldId id="831" r:id="rId13"/>
    <p:sldId id="832" r:id="rId14"/>
    <p:sldId id="867" r:id="rId15"/>
    <p:sldId id="868" r:id="rId16"/>
    <p:sldId id="872" r:id="rId17"/>
    <p:sldId id="874" r:id="rId18"/>
    <p:sldId id="875" r:id="rId19"/>
    <p:sldId id="876" r:id="rId20"/>
    <p:sldId id="877" r:id="rId21"/>
    <p:sldId id="878" r:id="rId22"/>
    <p:sldId id="879" r:id="rId23"/>
    <p:sldId id="880" r:id="rId24"/>
    <p:sldId id="881" r:id="rId25"/>
    <p:sldId id="883" r:id="rId26"/>
    <p:sldId id="884" r:id="rId27"/>
    <p:sldId id="885" r:id="rId28"/>
    <p:sldId id="886" r:id="rId29"/>
    <p:sldId id="888" r:id="rId30"/>
    <p:sldId id="887" r:id="rId31"/>
    <p:sldId id="889" r:id="rId32"/>
    <p:sldId id="841" r:id="rId33"/>
    <p:sldId id="892" r:id="rId34"/>
    <p:sldId id="893" r:id="rId35"/>
    <p:sldId id="842" r:id="rId36"/>
    <p:sldId id="830" r:id="rId37"/>
    <p:sldId id="844" r:id="rId38"/>
    <p:sldId id="829" r:id="rId39"/>
    <p:sldId id="870" r:id="rId40"/>
    <p:sldId id="975" r:id="rId41"/>
    <p:sldId id="894" r:id="rId42"/>
    <p:sldId id="895" r:id="rId43"/>
    <p:sldId id="871" r:id="rId44"/>
    <p:sldId id="873" r:id="rId45"/>
    <p:sldId id="896" r:id="rId46"/>
    <p:sldId id="939" r:id="rId47"/>
    <p:sldId id="898" r:id="rId48"/>
    <p:sldId id="963" r:id="rId49"/>
    <p:sldId id="897" r:id="rId50"/>
    <p:sldId id="964" r:id="rId51"/>
    <p:sldId id="940" r:id="rId52"/>
    <p:sldId id="965" r:id="rId53"/>
    <p:sldId id="899" r:id="rId54"/>
    <p:sldId id="901" r:id="rId55"/>
    <p:sldId id="966" r:id="rId56"/>
    <p:sldId id="941" r:id="rId57"/>
    <p:sldId id="967" r:id="rId58"/>
    <p:sldId id="900" r:id="rId59"/>
    <p:sldId id="968" r:id="rId60"/>
    <p:sldId id="902" r:id="rId61"/>
    <p:sldId id="969" r:id="rId62"/>
    <p:sldId id="942" r:id="rId63"/>
    <p:sldId id="970" r:id="rId64"/>
    <p:sldId id="903" r:id="rId65"/>
    <p:sldId id="971" r:id="rId66"/>
    <p:sldId id="904" r:id="rId67"/>
    <p:sldId id="972" r:id="rId68"/>
    <p:sldId id="943" r:id="rId69"/>
    <p:sldId id="973" r:id="rId70"/>
    <p:sldId id="905" r:id="rId71"/>
    <p:sldId id="974" r:id="rId72"/>
    <p:sldId id="906" r:id="rId73"/>
    <p:sldId id="944" r:id="rId74"/>
    <p:sldId id="907" r:id="rId75"/>
    <p:sldId id="908" r:id="rId76"/>
    <p:sldId id="945" r:id="rId77"/>
    <p:sldId id="909" r:id="rId78"/>
    <p:sldId id="910" r:id="rId79"/>
    <p:sldId id="946" r:id="rId80"/>
    <p:sldId id="911" r:id="rId81"/>
    <p:sldId id="912" r:id="rId82"/>
    <p:sldId id="947" r:id="rId83"/>
    <p:sldId id="913" r:id="rId84"/>
    <p:sldId id="865" r:id="rId85"/>
    <p:sldId id="948" r:id="rId86"/>
    <p:sldId id="949" r:id="rId87"/>
    <p:sldId id="890" r:id="rId88"/>
    <p:sldId id="950" r:id="rId89"/>
    <p:sldId id="891" r:id="rId90"/>
    <p:sldId id="914" r:id="rId91"/>
    <p:sldId id="951" r:id="rId92"/>
    <p:sldId id="915" r:id="rId93"/>
    <p:sldId id="916" r:id="rId94"/>
    <p:sldId id="952" r:id="rId95"/>
    <p:sldId id="917" r:id="rId96"/>
    <p:sldId id="918" r:id="rId97"/>
    <p:sldId id="953" r:id="rId98"/>
    <p:sldId id="919" r:id="rId99"/>
    <p:sldId id="920" r:id="rId100"/>
    <p:sldId id="954" r:id="rId101"/>
    <p:sldId id="921" r:id="rId102"/>
    <p:sldId id="807" r:id="rId103"/>
    <p:sldId id="922" r:id="rId104"/>
    <p:sldId id="955" r:id="rId105"/>
    <p:sldId id="923" r:id="rId106"/>
    <p:sldId id="866" r:id="rId107"/>
    <p:sldId id="924" r:id="rId108"/>
    <p:sldId id="956" r:id="rId109"/>
    <p:sldId id="925" r:id="rId110"/>
    <p:sldId id="926" r:id="rId111"/>
    <p:sldId id="957" r:id="rId112"/>
    <p:sldId id="927" r:id="rId113"/>
    <p:sldId id="929" r:id="rId114"/>
    <p:sldId id="958" r:id="rId115"/>
    <p:sldId id="930" r:id="rId116"/>
    <p:sldId id="931" r:id="rId117"/>
    <p:sldId id="959" r:id="rId118"/>
    <p:sldId id="932" r:id="rId119"/>
    <p:sldId id="933" r:id="rId120"/>
    <p:sldId id="960" r:id="rId121"/>
    <p:sldId id="934" r:id="rId122"/>
    <p:sldId id="935" r:id="rId123"/>
    <p:sldId id="961" r:id="rId124"/>
    <p:sldId id="936" r:id="rId125"/>
    <p:sldId id="937" r:id="rId126"/>
    <p:sldId id="962" r:id="rId127"/>
    <p:sldId id="938" r:id="rId128"/>
    <p:sldId id="812" r:id="rId129"/>
  </p:sldIdLst>
  <p:sldSz cx="14400213" cy="71993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 userDrawn="1">
          <p15:clr>
            <a:srgbClr val="A4A3A4"/>
          </p15:clr>
        </p15:guide>
        <p15:guide id="2"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537D"/>
    <a:srgbClr val="DBECF1"/>
    <a:srgbClr val="8DC4D2"/>
    <a:srgbClr val="1B96C7"/>
    <a:srgbClr val="4CD4FE"/>
    <a:srgbClr val="34B2E3"/>
    <a:srgbClr val="128FB6"/>
    <a:srgbClr val="1398C3"/>
    <a:srgbClr val="6DDBFE"/>
    <a:srgbClr val="68B1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77" autoAdjust="0"/>
    <p:restoredTop sz="94660"/>
  </p:normalViewPr>
  <p:slideViewPr>
    <p:cSldViewPr snapToGrid="0">
      <p:cViewPr varScale="1">
        <p:scale>
          <a:sx n="78" d="100"/>
          <a:sy n="78" d="100"/>
        </p:scale>
        <p:origin x="197" y="58"/>
      </p:cViewPr>
      <p:guideLst>
        <p:guide orient="horz" pos="180"/>
        <p:guide pos="2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theme" Target="theme/theme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slide" Target="slides/slide121.xml"/><Relationship Id="rId13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slide" Target="slides/slide12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A152D-2352-43D4-B54C-2F347C5EE05E}" type="datetimeFigureOut">
              <a:rPr lang="en-US" smtClean="0"/>
              <a:t>9/24/2020</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27CF2-43D9-4177-B1E6-91F4D2A9287E}" type="slidenum">
              <a:rPr lang="en-US" smtClean="0"/>
              <a:t>‹#›</a:t>
            </a:fld>
            <a:endParaRPr lang="en-US" dirty="0"/>
          </a:p>
        </p:txBody>
      </p:sp>
    </p:spTree>
    <p:extLst>
      <p:ext uri="{BB962C8B-B14F-4D97-AF65-F5344CB8AC3E}">
        <p14:creationId xmlns:p14="http://schemas.microsoft.com/office/powerpoint/2010/main" val="237806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6</a:t>
            </a:fld>
            <a:endParaRPr lang="en-US"/>
          </a:p>
        </p:txBody>
      </p:sp>
    </p:spTree>
    <p:extLst>
      <p:ext uri="{BB962C8B-B14F-4D97-AF65-F5344CB8AC3E}">
        <p14:creationId xmlns:p14="http://schemas.microsoft.com/office/powerpoint/2010/main" val="3756699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7</a:t>
            </a:fld>
            <a:endParaRPr lang="en-US"/>
          </a:p>
        </p:txBody>
      </p:sp>
    </p:spTree>
    <p:extLst>
      <p:ext uri="{BB962C8B-B14F-4D97-AF65-F5344CB8AC3E}">
        <p14:creationId xmlns:p14="http://schemas.microsoft.com/office/powerpoint/2010/main" val="1081829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27CF2-43D9-4177-B1E6-91F4D2A928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396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27CF2-43D9-4177-B1E6-91F4D2A928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0677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227CF2-43D9-4177-B1E6-91F4D2A9287E}" type="slidenum">
              <a:rPr lang="en-US" smtClean="0"/>
              <a:t>15</a:t>
            </a:fld>
            <a:endParaRPr lang="en-US" dirty="0"/>
          </a:p>
        </p:txBody>
      </p:sp>
    </p:spTree>
    <p:extLst>
      <p:ext uri="{BB962C8B-B14F-4D97-AF65-F5344CB8AC3E}">
        <p14:creationId xmlns:p14="http://schemas.microsoft.com/office/powerpoint/2010/main" val="2656286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227CF2-43D9-4177-B1E6-91F4D2A9287E}" type="slidenum">
              <a:rPr lang="en-US" smtClean="0"/>
              <a:t>98</a:t>
            </a:fld>
            <a:endParaRPr lang="en-US"/>
          </a:p>
        </p:txBody>
      </p:sp>
    </p:spTree>
    <p:extLst>
      <p:ext uri="{BB962C8B-B14F-4D97-AF65-F5344CB8AC3E}">
        <p14:creationId xmlns:p14="http://schemas.microsoft.com/office/powerpoint/2010/main" val="1450624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64985373"/>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476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Tree>
    <p:extLst>
      <p:ext uri="{BB962C8B-B14F-4D97-AF65-F5344CB8AC3E}">
        <p14:creationId xmlns:p14="http://schemas.microsoft.com/office/powerpoint/2010/main" val="3599980087"/>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919109099"/>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3597271105"/>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8527728"/>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008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781597129"/>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202018241"/>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1872011597"/>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10" name="Slide Number Placeholder 9"/>
          <p:cNvSpPr>
            <a:spLocks noGrp="1"/>
          </p:cNvSpPr>
          <p:nvPr>
            <p:ph type="sldNum" sz="quarter" idx="17"/>
          </p:nvPr>
        </p:nvSpPr>
        <p:spPr>
          <a:xfrm>
            <a:off x="13590205" y="6843453"/>
            <a:ext cx="656737" cy="355859"/>
          </a:xfrm>
          <a:prstGeom prst="rect">
            <a:avLst/>
          </a:prstGeom>
        </p:spPr>
        <p:txBody>
          <a:bodyPr/>
          <a:lstStyle/>
          <a:p>
            <a:fld id="{4F9AC08D-23A9-440E-BCB9-AA1E9877CC38}" type="slidenum">
              <a:rPr lang="en-US" smtClean="0"/>
              <a:pPr/>
              <a:t>‹#›</a:t>
            </a:fld>
            <a:endParaRPr lang="en-US" dirty="0"/>
          </a:p>
        </p:txBody>
      </p:sp>
      <p:sp>
        <p:nvSpPr>
          <p:cNvPr id="11" name="Title 10"/>
          <p:cNvSpPr>
            <a:spLocks noGrp="1"/>
          </p:cNvSpPr>
          <p:nvPr>
            <p:ph type="title"/>
          </p:nvPr>
        </p:nvSpPr>
        <p:spPr>
          <a:xfrm>
            <a:off x="450010" y="301642"/>
            <a:ext cx="13500200" cy="1359871"/>
          </a:xfrm>
        </p:spPr>
        <p:txBody>
          <a:bodyPr/>
          <a:lstStyle/>
          <a:p>
            <a:r>
              <a:rPr lang="en-US" dirty="0"/>
              <a:t>Click to edit Master title style</a:t>
            </a:r>
          </a:p>
        </p:txBody>
      </p:sp>
      <p:sp>
        <p:nvSpPr>
          <p:cNvPr id="5" name="Footer Placeholder 1">
            <a:extLst>
              <a:ext uri="{FF2B5EF4-FFF2-40B4-BE49-F238E27FC236}">
                <a16:creationId xmlns:a16="http://schemas.microsoft.com/office/drawing/2014/main" id="{E59041CF-919B-4138-B495-900C5F8EC477}"/>
              </a:ext>
            </a:extLst>
          </p:cNvPr>
          <p:cNvSpPr>
            <a:spLocks noGrp="1"/>
          </p:cNvSpPr>
          <p:nvPr>
            <p:ph type="ftr" sz="quarter" idx="16"/>
          </p:nvPr>
        </p:nvSpPr>
        <p:spPr>
          <a:xfrm>
            <a:off x="450010" y="6843454"/>
            <a:ext cx="6750098" cy="216646"/>
          </a:xfrm>
          <a:prstGeom prst="rect">
            <a:avLst/>
          </a:prstGeom>
        </p:spPr>
        <p:txBody>
          <a:bodyPr/>
          <a:lstStyle/>
          <a:p>
            <a:r>
              <a:rPr lang="en-US" dirty="0"/>
              <a:t>Copyright © 2020 Accenture. All rights reserved.</a:t>
            </a:r>
          </a:p>
        </p:txBody>
      </p:sp>
    </p:spTree>
    <p:extLst>
      <p:ext uri="{BB962C8B-B14F-4D97-AF65-F5344CB8AC3E}">
        <p14:creationId xmlns:p14="http://schemas.microsoft.com/office/powerpoint/2010/main" val="3037703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1794830"/>
            <a:ext cx="12420184" cy="2994714"/>
          </a:xfrm>
        </p:spPr>
        <p:txBody>
          <a:bodyPr anchor="b"/>
          <a:lstStyle>
            <a:lvl1pPr>
              <a:defRPr sz="6299"/>
            </a:lvl1pPr>
          </a:lstStyle>
          <a:p>
            <a:r>
              <a:rPr lang="en-US"/>
              <a:t>Click to edit Master title style</a:t>
            </a:r>
            <a:endParaRPr lang="en-US" dirty="0"/>
          </a:p>
        </p:txBody>
      </p:sp>
      <p:sp>
        <p:nvSpPr>
          <p:cNvPr id="3" name="Text Placeholder 2"/>
          <p:cNvSpPr>
            <a:spLocks noGrp="1"/>
          </p:cNvSpPr>
          <p:nvPr>
            <p:ph type="body" idx="1"/>
          </p:nvPr>
        </p:nvSpPr>
        <p:spPr>
          <a:xfrm>
            <a:off x="982514" y="4817875"/>
            <a:ext cx="12420184" cy="1574849"/>
          </a:xfrm>
        </p:spPr>
        <p:txBody>
          <a:bodyPr/>
          <a:lstStyle>
            <a:lvl1pPr marL="0" indent="0">
              <a:buNone/>
              <a:defRPr sz="2520">
                <a:solidFill>
                  <a:schemeClr val="tx1">
                    <a:tint val="75000"/>
                  </a:schemeClr>
                </a:solidFill>
              </a:defRPr>
            </a:lvl1pPr>
            <a:lvl2pPr marL="479969" indent="0">
              <a:buNone/>
              <a:defRPr sz="2100">
                <a:solidFill>
                  <a:schemeClr val="tx1">
                    <a:tint val="75000"/>
                  </a:schemeClr>
                </a:solidFill>
              </a:defRPr>
            </a:lvl2pPr>
            <a:lvl3pPr marL="959937" indent="0">
              <a:buNone/>
              <a:defRPr sz="1890">
                <a:solidFill>
                  <a:schemeClr val="tx1">
                    <a:tint val="75000"/>
                  </a:schemeClr>
                </a:solidFill>
              </a:defRPr>
            </a:lvl3pPr>
            <a:lvl4pPr marL="1439906" indent="0">
              <a:buNone/>
              <a:defRPr sz="1680">
                <a:solidFill>
                  <a:schemeClr val="tx1">
                    <a:tint val="75000"/>
                  </a:schemeClr>
                </a:solidFill>
              </a:defRPr>
            </a:lvl4pPr>
            <a:lvl5pPr marL="1919874" indent="0">
              <a:buNone/>
              <a:defRPr sz="1680">
                <a:solidFill>
                  <a:schemeClr val="tx1">
                    <a:tint val="75000"/>
                  </a:schemeClr>
                </a:solidFill>
              </a:defRPr>
            </a:lvl5pPr>
            <a:lvl6pPr marL="2399843" indent="0">
              <a:buNone/>
              <a:defRPr sz="1680">
                <a:solidFill>
                  <a:schemeClr val="tx1">
                    <a:tint val="75000"/>
                  </a:schemeClr>
                </a:solidFill>
              </a:defRPr>
            </a:lvl6pPr>
            <a:lvl7pPr marL="2879811" indent="0">
              <a:buNone/>
              <a:defRPr sz="1680">
                <a:solidFill>
                  <a:schemeClr val="tx1">
                    <a:tint val="75000"/>
                  </a:schemeClr>
                </a:solidFill>
              </a:defRPr>
            </a:lvl7pPr>
            <a:lvl8pPr marL="3359780" indent="0">
              <a:buNone/>
              <a:defRPr sz="1680">
                <a:solidFill>
                  <a:schemeClr val="tx1">
                    <a:tint val="75000"/>
                  </a:schemeClr>
                </a:solidFill>
              </a:defRPr>
            </a:lvl8pPr>
            <a:lvl9pPr marL="3839748"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9/24/2020</a:t>
            </a:fld>
            <a:endParaRPr lang="en-US" dirty="0"/>
          </a:p>
        </p:txBody>
      </p:sp>
      <p:sp>
        <p:nvSpPr>
          <p:cNvPr id="5" name="Footer Placeholder 4"/>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3089115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9/24/2020</a:t>
            </a:fld>
            <a:endParaRPr lang="en-US" dirty="0"/>
          </a:p>
        </p:txBody>
      </p:sp>
      <p:sp>
        <p:nvSpPr>
          <p:cNvPr id="3" name="Footer Placeholder 2"/>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1017379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C2197FA3-5B99-4628-AF84-433B48753126}"/>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18D19DBD-E973-44C3-8B09-B108FC95C381}"/>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84073C86-2D3D-4B84-8D9E-0812FB0289AC}"/>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202E3485-7BC5-41AE-8D69-F09B4D378FB6}"/>
                  </a:ext>
                </a:extLst>
              </p:cNvPr>
              <p:cNvPicPr>
                <a:picLocks noChangeAspect="1"/>
              </p:cNvPicPr>
              <p:nvPr/>
            </p:nvPicPr>
            <p:blipFill rotWithShape="1">
              <a:blip r:embed="rId7"/>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EE303FE2-D2C1-4374-8309-61C0C78D8621}"/>
                  </a:ext>
                </a:extLst>
              </p:cNvPr>
              <p:cNvPicPr>
                <a:picLocks noChangeAspect="1"/>
              </p:cNvPicPr>
              <p:nvPr/>
            </p:nvPicPr>
            <p:blipFill rotWithShape="1">
              <a:blip r:embed="rId7"/>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76C758B9-802A-48BF-9F27-C4292E2C5718}"/>
                </a:ext>
              </a:extLst>
            </p:cNvPr>
            <p:cNvPicPr>
              <a:picLocks noChangeAspect="1"/>
            </p:cNvPicPr>
            <p:nvPr/>
          </p:nvPicPr>
          <p:blipFill rotWithShape="1">
            <a:blip r:embed="rId7"/>
            <a:srcRect r="4037" b="60744"/>
            <a:stretch/>
          </p:blipFill>
          <p:spPr>
            <a:xfrm>
              <a:off x="9690100" y="5791200"/>
              <a:ext cx="4710113" cy="1408113"/>
            </a:xfrm>
            <a:prstGeom prst="rect">
              <a:avLst/>
            </a:prstGeom>
          </p:spPr>
        </p:pic>
      </p:grpSp>
      <p:sp>
        <p:nvSpPr>
          <p:cNvPr id="16" name="Rectangle 15">
            <a:extLst>
              <a:ext uri="{FF2B5EF4-FFF2-40B4-BE49-F238E27FC236}">
                <a16:creationId xmlns:a16="http://schemas.microsoft.com/office/drawing/2014/main" id="{9F7B7C6E-9A57-4D9F-BF37-625FCF543F78}"/>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57465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1DD628D9-A607-4FF2-A355-5E83EDE42EA9}"/>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grpSp>
        <p:nvGrpSpPr>
          <p:cNvPr id="11" name="Group 10">
            <a:extLst>
              <a:ext uri="{FF2B5EF4-FFF2-40B4-BE49-F238E27FC236}">
                <a16:creationId xmlns:a16="http://schemas.microsoft.com/office/drawing/2014/main" id="{07DD19EF-A0B7-4813-8B14-379C4D3C1C3E}"/>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38B02556-23E9-4398-9BBE-E28F901B1599}"/>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A274144B-D7C0-47C0-97B1-F9394434E5CC}"/>
                  </a:ext>
                </a:extLst>
              </p:cNvPr>
              <p:cNvPicPr>
                <a:picLocks noChangeAspect="1"/>
              </p:cNvPicPr>
              <p:nvPr/>
            </p:nvPicPr>
            <p:blipFill rotWithShape="1">
              <a:blip r:embed="rId10"/>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CFBA7F5D-3FE6-40B2-B98B-8894B276CFEE}"/>
                  </a:ext>
                </a:extLst>
              </p:cNvPr>
              <p:cNvPicPr>
                <a:picLocks noChangeAspect="1"/>
              </p:cNvPicPr>
              <p:nvPr/>
            </p:nvPicPr>
            <p:blipFill rotWithShape="1">
              <a:blip r:embed="rId10"/>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65B04B85-4A00-4598-BAB5-0F7F75E3FCE0}"/>
                </a:ext>
              </a:extLst>
            </p:cNvPr>
            <p:cNvPicPr>
              <a:picLocks noChangeAspect="1"/>
            </p:cNvPicPr>
            <p:nvPr/>
          </p:nvPicPr>
          <p:blipFill rotWithShape="1">
            <a:blip r:embed="rId10"/>
            <a:srcRect r="4037" b="60744"/>
            <a:stretch/>
          </p:blipFill>
          <p:spPr>
            <a:xfrm>
              <a:off x="9690100" y="5791200"/>
              <a:ext cx="4710113" cy="1408113"/>
            </a:xfrm>
            <a:prstGeom prst="rect">
              <a:avLst/>
            </a:prstGeom>
          </p:spPr>
        </p:pic>
      </p:grpSp>
      <p:sp>
        <p:nvSpPr>
          <p:cNvPr id="10" name="Rectangle 9">
            <a:extLst>
              <a:ext uri="{FF2B5EF4-FFF2-40B4-BE49-F238E27FC236}">
                <a16:creationId xmlns:a16="http://schemas.microsoft.com/office/drawing/2014/main" id="{8072F825-4C55-4DA7-BBA1-81872DDCE9B1}"/>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06213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713" r:id="rId7"/>
    <p:sldLayoutId id="2147483714" r:id="rId8"/>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d1.awsstatic.com/training-and-certification/docs-dev-associate/AWS-Certified-Developer-Associate_Exam-Guide.pdf"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hyperlink" Target="mailto:John@example.com" TargetMode="External"/><Relationship Id="rId2" Type="http://schemas.openxmlformats.org/officeDocument/2006/relationships/hyperlink" Target="mailto:sam@demo.com" TargetMode="External"/><Relationship Id="rId1" Type="http://schemas.openxmlformats.org/officeDocument/2006/relationships/slideLayout" Target="../slideLayouts/slideLayout11.xml"/><Relationship Id="rId4" Type="http://schemas.openxmlformats.org/officeDocument/2006/relationships/hyperlink" Target="mailto:Bob@sample.com"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mailto:John@example.com" TargetMode="External"/><Relationship Id="rId2" Type="http://schemas.openxmlformats.org/officeDocument/2006/relationships/hyperlink" Target="mailto:sam@demo.com" TargetMode="External"/><Relationship Id="rId1" Type="http://schemas.openxmlformats.org/officeDocument/2006/relationships/slideLayout" Target="../slideLayouts/slideLayout11.xml"/><Relationship Id="rId4" Type="http://schemas.openxmlformats.org/officeDocument/2006/relationships/hyperlink" Target="mailto:Bob@sample.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hyperlink" Target="mailto:John@example.com" TargetMode="External"/><Relationship Id="rId2" Type="http://schemas.openxmlformats.org/officeDocument/2006/relationships/hyperlink" Target="mailto:sam@demo.com" TargetMode="External"/><Relationship Id="rId1" Type="http://schemas.openxmlformats.org/officeDocument/2006/relationships/slideLayout" Target="../slideLayouts/slideLayout11.xml"/><Relationship Id="rId4" Type="http://schemas.openxmlformats.org/officeDocument/2006/relationships/hyperlink" Target="mailto:Bob@sample.com"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John@example.com" TargetMode="External"/><Relationship Id="rId2" Type="http://schemas.openxmlformats.org/officeDocument/2006/relationships/hyperlink" Target="mailto:sam@demo.com" TargetMode="External"/><Relationship Id="rId1" Type="http://schemas.openxmlformats.org/officeDocument/2006/relationships/slideLayout" Target="../slideLayouts/slideLayout11.xml"/><Relationship Id="rId4" Type="http://schemas.openxmlformats.org/officeDocument/2006/relationships/hyperlink" Target="mailto:Bob@sample.com"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mailto:sam@demo.com" TargetMode="Externa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AEDF-0238-4F9E-8067-974A03278C02}"/>
              </a:ext>
            </a:extLst>
          </p:cNvPr>
          <p:cNvSpPr>
            <a:spLocks noGrp="1"/>
          </p:cNvSpPr>
          <p:nvPr>
            <p:ph type="ctrTitle"/>
          </p:nvPr>
        </p:nvSpPr>
        <p:spPr>
          <a:xfrm>
            <a:off x="94741" y="2920692"/>
            <a:ext cx="10032485" cy="983764"/>
          </a:xfrm>
        </p:spPr>
        <p:txBody>
          <a:bodyPr/>
          <a:lstStyle/>
          <a:p>
            <a:br>
              <a:rPr lang="en-US" sz="2400" dirty="0"/>
            </a:br>
            <a:r>
              <a:rPr lang="en-US" sz="2400" dirty="0"/>
              <a:t>Cloud Elevate –Exam Readiness workshop</a:t>
            </a:r>
            <a:br>
              <a:rPr lang="en-US" sz="2400" dirty="0"/>
            </a:br>
            <a:br>
              <a:rPr lang="en-US" sz="2400" dirty="0"/>
            </a:br>
            <a:r>
              <a:rPr lang="en-US" sz="2400" dirty="0"/>
              <a:t>  AWS Certified Developer - Associate</a:t>
            </a:r>
            <a:endParaRPr lang="en-IN" sz="2800" dirty="0"/>
          </a:p>
        </p:txBody>
      </p:sp>
      <p:sp>
        <p:nvSpPr>
          <p:cNvPr id="3" name="Text Placeholder 2">
            <a:extLst>
              <a:ext uri="{FF2B5EF4-FFF2-40B4-BE49-F238E27FC236}">
                <a16:creationId xmlns:a16="http://schemas.microsoft.com/office/drawing/2014/main" id="{5056235A-690C-493E-9A78-BBEFE510A133}"/>
              </a:ext>
            </a:extLst>
          </p:cNvPr>
          <p:cNvSpPr>
            <a:spLocks noGrp="1"/>
          </p:cNvSpPr>
          <p:nvPr>
            <p:ph type="body" sz="quarter" idx="13"/>
          </p:nvPr>
        </p:nvSpPr>
        <p:spPr>
          <a:xfrm>
            <a:off x="94741" y="5025149"/>
            <a:ext cx="5063855" cy="983765"/>
          </a:xfrm>
        </p:spPr>
        <p:txBody>
          <a:bodyPr>
            <a:normAutofit/>
          </a:bodyPr>
          <a:lstStyle/>
          <a:p>
            <a:r>
              <a:rPr lang="en-US" sz="2400" dirty="0"/>
              <a:t>Developing and Deepening </a:t>
            </a:r>
          </a:p>
          <a:p>
            <a:r>
              <a:rPr lang="en-US" sz="2400" dirty="0"/>
              <a:t>Cloud skills @ATCI</a:t>
            </a:r>
          </a:p>
        </p:txBody>
      </p:sp>
    </p:spTree>
    <p:extLst>
      <p:ext uri="{BB962C8B-B14F-4D97-AF65-F5344CB8AC3E}">
        <p14:creationId xmlns:p14="http://schemas.microsoft.com/office/powerpoint/2010/main" val="970403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37BC98-1B5E-418E-9453-30AF408D4067}"/>
              </a:ext>
            </a:extLst>
          </p:cNvPr>
          <p:cNvSpPr/>
          <p:nvPr/>
        </p:nvSpPr>
        <p:spPr>
          <a:xfrm>
            <a:off x="1393089" y="6704497"/>
            <a:ext cx="4594528" cy="378565"/>
          </a:xfrm>
          <a:prstGeom prst="rect">
            <a:avLst/>
          </a:prstGeom>
        </p:spPr>
        <p:txBody>
          <a:bodyPr wrap="none">
            <a:spAutoFit/>
          </a:bodyPr>
          <a:lstStyle/>
          <a:p>
            <a:r>
              <a:rPr lang="en-US" sz="1860" i="1" dirty="0">
                <a:latin typeface="Graphik Medium" panose="020B0603030202060203" pitchFamily="34" charset="0"/>
              </a:rPr>
              <a:t>https://aws.amazon.com/certification/</a:t>
            </a:r>
          </a:p>
        </p:txBody>
      </p:sp>
      <p:sp>
        <p:nvSpPr>
          <p:cNvPr id="4" name="TextBox 3">
            <a:extLst>
              <a:ext uri="{FF2B5EF4-FFF2-40B4-BE49-F238E27FC236}">
                <a16:creationId xmlns:a16="http://schemas.microsoft.com/office/drawing/2014/main" id="{7DD052C8-8862-4872-823F-32DD9632586B}"/>
              </a:ext>
            </a:extLst>
          </p:cNvPr>
          <p:cNvSpPr txBox="1"/>
          <p:nvPr/>
        </p:nvSpPr>
        <p:spPr>
          <a:xfrm>
            <a:off x="285637" y="132966"/>
            <a:ext cx="5852884" cy="584775"/>
          </a:xfrm>
          <a:prstGeom prst="rect">
            <a:avLst/>
          </a:prstGeom>
          <a:noFill/>
        </p:spPr>
        <p:txBody>
          <a:bodyPr wrap="none" rtlCol="0">
            <a:spAutoFit/>
          </a:bodyPr>
          <a:lstStyle/>
          <a:p>
            <a:r>
              <a:rPr lang="en-US" sz="3200" b="1" dirty="0">
                <a:solidFill>
                  <a:schemeClr val="bg1"/>
                </a:solidFill>
                <a:latin typeface="Graphik Black" panose="020B0A03030202060203" pitchFamily="34" charset="0"/>
              </a:rPr>
              <a:t>AWS CERTIFICATION PATH</a:t>
            </a:r>
          </a:p>
        </p:txBody>
      </p:sp>
      <p:sp>
        <p:nvSpPr>
          <p:cNvPr id="5" name="Slide Number Placeholder 2">
            <a:extLst>
              <a:ext uri="{FF2B5EF4-FFF2-40B4-BE49-F238E27FC236}">
                <a16:creationId xmlns:a16="http://schemas.microsoft.com/office/drawing/2014/main" id="{D63F9090-E8F4-4ACC-98F1-7C76216DC883}"/>
              </a:ext>
            </a:extLst>
          </p:cNvPr>
          <p:cNvSpPr txBox="1">
            <a:spLocks/>
          </p:cNvSpPr>
          <p:nvPr/>
        </p:nvSpPr>
        <p:spPr>
          <a:xfrm>
            <a:off x="13480027" y="6794090"/>
            <a:ext cx="470184" cy="26601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2</a:t>
            </a:fld>
            <a:endParaRPr lang="en-US" dirty="0"/>
          </a:p>
        </p:txBody>
      </p:sp>
      <p:pic>
        <p:nvPicPr>
          <p:cNvPr id="8" name="Picture 7">
            <a:extLst>
              <a:ext uri="{FF2B5EF4-FFF2-40B4-BE49-F238E27FC236}">
                <a16:creationId xmlns:a16="http://schemas.microsoft.com/office/drawing/2014/main" id="{F90B2B95-EB5F-4581-AC0D-03C133D9968F}"/>
              </a:ext>
            </a:extLst>
          </p:cNvPr>
          <p:cNvPicPr>
            <a:picLocks noChangeAspect="1"/>
          </p:cNvPicPr>
          <p:nvPr/>
        </p:nvPicPr>
        <p:blipFill>
          <a:blip r:embed="rId2"/>
          <a:stretch>
            <a:fillRect/>
          </a:stretch>
        </p:blipFill>
        <p:spPr>
          <a:xfrm>
            <a:off x="2637631" y="1037431"/>
            <a:ext cx="9124950" cy="5124450"/>
          </a:xfrm>
          <a:prstGeom prst="rect">
            <a:avLst/>
          </a:prstGeom>
        </p:spPr>
      </p:pic>
    </p:spTree>
    <p:extLst>
      <p:ext uri="{BB962C8B-B14F-4D97-AF65-F5344CB8AC3E}">
        <p14:creationId xmlns:p14="http://schemas.microsoft.com/office/powerpoint/2010/main" val="313044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1946-F966-47FE-81CD-76094796A66C}"/>
              </a:ext>
            </a:extLst>
          </p:cNvPr>
          <p:cNvSpPr>
            <a:spLocks noGrp="1"/>
          </p:cNvSpPr>
          <p:nvPr>
            <p:ph type="sldNum" sz="quarter" idx="17"/>
          </p:nvPr>
        </p:nvSpPr>
        <p:spPr/>
        <p:txBody>
          <a:bodyPr/>
          <a:lstStyle/>
          <a:p>
            <a:fld id="{4F9AC08D-23A9-440E-BCB9-AA1E9877CC38}" type="slidenum">
              <a:rPr lang="en-US" smtClean="0"/>
              <a:pPr/>
              <a:t>3</a:t>
            </a:fld>
            <a:endParaRPr lang="en-US" dirty="0"/>
          </a:p>
        </p:txBody>
      </p:sp>
      <p:sp>
        <p:nvSpPr>
          <p:cNvPr id="3" name="Title 2">
            <a:extLst>
              <a:ext uri="{FF2B5EF4-FFF2-40B4-BE49-F238E27FC236}">
                <a16:creationId xmlns:a16="http://schemas.microsoft.com/office/drawing/2014/main" id="{D19D177A-2CB7-416C-867F-3904525059FE}"/>
              </a:ext>
            </a:extLst>
          </p:cNvPr>
          <p:cNvSpPr>
            <a:spLocks noGrp="1"/>
          </p:cNvSpPr>
          <p:nvPr>
            <p:ph type="title"/>
          </p:nvPr>
        </p:nvSpPr>
        <p:spPr>
          <a:xfrm>
            <a:off x="450010" y="284929"/>
            <a:ext cx="13500200" cy="1359871"/>
          </a:xfrm>
        </p:spPr>
        <p:txBody>
          <a:bodyPr/>
          <a:lstStyle/>
          <a:p>
            <a:r>
              <a:rPr lang="en-US" dirty="0">
                <a:solidFill>
                  <a:schemeClr val="bg1"/>
                </a:solidFill>
              </a:rPr>
              <a:t>AWS Developer - associate</a:t>
            </a:r>
          </a:p>
        </p:txBody>
      </p:sp>
      <p:sp>
        <p:nvSpPr>
          <p:cNvPr id="4" name="Footer Placeholder 3">
            <a:extLst>
              <a:ext uri="{FF2B5EF4-FFF2-40B4-BE49-F238E27FC236}">
                <a16:creationId xmlns:a16="http://schemas.microsoft.com/office/drawing/2014/main" id="{F6ACBA3A-B6F1-4D55-85C8-0264E2858170}"/>
              </a:ext>
            </a:extLst>
          </p:cNvPr>
          <p:cNvSpPr>
            <a:spLocks noGrp="1"/>
          </p:cNvSpPr>
          <p:nvPr>
            <p:ph type="ftr" sz="quarter" idx="16"/>
          </p:nvPr>
        </p:nvSpPr>
        <p:spPr/>
        <p:txBody>
          <a:bodyPr/>
          <a:lstStyle/>
          <a:p>
            <a:r>
              <a:rPr lang="en-US"/>
              <a:t>Copyright © 2020 Accenture. All rights reserved.</a:t>
            </a:r>
            <a:endParaRPr lang="en-US" dirty="0"/>
          </a:p>
        </p:txBody>
      </p:sp>
      <p:graphicFrame>
        <p:nvGraphicFramePr>
          <p:cNvPr id="5" name="Table Placeholder 3">
            <a:extLst>
              <a:ext uri="{FF2B5EF4-FFF2-40B4-BE49-F238E27FC236}">
                <a16:creationId xmlns:a16="http://schemas.microsoft.com/office/drawing/2014/main" id="{D8D71FBA-C419-45E2-AA89-CFF7460CE5DE}"/>
              </a:ext>
            </a:extLst>
          </p:cNvPr>
          <p:cNvGraphicFramePr>
            <a:graphicFrameLocks/>
          </p:cNvGraphicFramePr>
          <p:nvPr>
            <p:extLst>
              <p:ext uri="{D42A27DB-BD31-4B8C-83A1-F6EECF244321}">
                <p14:modId xmlns:p14="http://schemas.microsoft.com/office/powerpoint/2010/main" val="829509063"/>
              </p:ext>
            </p:extLst>
          </p:nvPr>
        </p:nvGraphicFramePr>
        <p:xfrm>
          <a:off x="3215148" y="1759836"/>
          <a:ext cx="7285704" cy="3326112"/>
        </p:xfrm>
        <a:graphic>
          <a:graphicData uri="http://schemas.openxmlformats.org/drawingml/2006/table">
            <a:tbl>
              <a:tblPr firstRow="1" bandRow="1">
                <a:tableStyleId>{F2DE63D5-997A-4646-A377-4702673A728D}</a:tableStyleId>
              </a:tblPr>
              <a:tblGrid>
                <a:gridCol w="5399224">
                  <a:extLst>
                    <a:ext uri="{9D8B030D-6E8A-4147-A177-3AD203B41FA5}">
                      <a16:colId xmlns:a16="http://schemas.microsoft.com/office/drawing/2014/main" val="20000"/>
                    </a:ext>
                  </a:extLst>
                </a:gridCol>
                <a:gridCol w="1886480">
                  <a:extLst>
                    <a:ext uri="{9D8B030D-6E8A-4147-A177-3AD203B41FA5}">
                      <a16:colId xmlns:a16="http://schemas.microsoft.com/office/drawing/2014/main" val="20001"/>
                    </a:ext>
                  </a:extLst>
                </a:gridCol>
              </a:tblGrid>
              <a:tr h="544751">
                <a:tc>
                  <a:txBody>
                    <a:bodyPr/>
                    <a:lstStyle/>
                    <a:p>
                      <a:pPr algn="ctr"/>
                      <a:r>
                        <a:rPr lang="en-US" sz="1800" dirty="0"/>
                        <a:t>Domain</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tc>
                  <a:txBody>
                    <a:bodyPr/>
                    <a:lstStyle/>
                    <a:p>
                      <a:pPr algn="ctr"/>
                      <a:r>
                        <a:rPr lang="en-US" sz="1800" dirty="0"/>
                        <a:t>% of Exam</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extLst>
                  <a:ext uri="{0D108BD9-81ED-4DB2-BD59-A6C34878D82A}">
                    <a16:rowId xmlns:a16="http://schemas.microsoft.com/office/drawing/2014/main" val="10000"/>
                  </a:ext>
                </a:extLst>
              </a:tr>
              <a:tr h="425350">
                <a:tc>
                  <a:txBody>
                    <a:bodyPr/>
                    <a:lstStyle/>
                    <a:p>
                      <a:r>
                        <a:rPr lang="en-US" sz="2400" kern="1200" dirty="0">
                          <a:solidFill>
                            <a:schemeClr val="tx1"/>
                          </a:solidFill>
                          <a:latin typeface="+mn-lt"/>
                          <a:ea typeface="+mn-ea"/>
                          <a:cs typeface="+mn-cs"/>
                        </a:rPr>
                        <a:t>a. Deployment</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22%</a:t>
                      </a:r>
                    </a:p>
                  </a:txBody>
                  <a:tcPr/>
                </a:tc>
                <a:extLst>
                  <a:ext uri="{0D108BD9-81ED-4DB2-BD59-A6C34878D82A}">
                    <a16:rowId xmlns:a16="http://schemas.microsoft.com/office/drawing/2014/main" val="10001"/>
                  </a:ext>
                </a:extLst>
              </a:tr>
              <a:tr h="374717">
                <a:tc>
                  <a:txBody>
                    <a:bodyPr/>
                    <a:lstStyle/>
                    <a:p>
                      <a:r>
                        <a:rPr lang="en-US" sz="2400" kern="1200" dirty="0">
                          <a:solidFill>
                            <a:schemeClr val="tx1"/>
                          </a:solidFill>
                          <a:latin typeface="+mn-lt"/>
                          <a:ea typeface="+mn-ea"/>
                          <a:cs typeface="+mn-cs"/>
                        </a:rPr>
                        <a:t>b. Security</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26%</a:t>
                      </a:r>
                    </a:p>
                  </a:txBody>
                  <a:tcPr/>
                </a:tc>
                <a:extLst>
                  <a:ext uri="{0D108BD9-81ED-4DB2-BD59-A6C34878D82A}">
                    <a16:rowId xmlns:a16="http://schemas.microsoft.com/office/drawing/2014/main" val="10002"/>
                  </a:ext>
                </a:extLst>
              </a:tr>
              <a:tr h="468766">
                <a:tc>
                  <a:txBody>
                    <a:bodyPr/>
                    <a:lstStyle/>
                    <a:p>
                      <a:r>
                        <a:rPr lang="en-US" sz="2400" kern="1200" dirty="0">
                          <a:solidFill>
                            <a:schemeClr val="tx1"/>
                          </a:solidFill>
                          <a:latin typeface="+mn-lt"/>
                          <a:ea typeface="+mn-ea"/>
                          <a:cs typeface="+mn-cs"/>
                        </a:rPr>
                        <a:t>c. Development with AWS</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30%</a:t>
                      </a:r>
                    </a:p>
                  </a:txBody>
                  <a:tcPr/>
                </a:tc>
                <a:extLst>
                  <a:ext uri="{0D108BD9-81ED-4DB2-BD59-A6C34878D82A}">
                    <a16:rowId xmlns:a16="http://schemas.microsoft.com/office/drawing/2014/main" val="10003"/>
                  </a:ext>
                </a:extLst>
              </a:tr>
              <a:tr h="408435">
                <a:tc>
                  <a:txBody>
                    <a:bodyPr/>
                    <a:lstStyle/>
                    <a:p>
                      <a:r>
                        <a:rPr lang="en-US" sz="2400" kern="1200" dirty="0">
                          <a:solidFill>
                            <a:schemeClr val="tx1"/>
                          </a:solidFill>
                          <a:latin typeface="+mn-lt"/>
                          <a:ea typeface="+mn-ea"/>
                          <a:cs typeface="+mn-cs"/>
                        </a:rPr>
                        <a:t>d. Refactoring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a:t>
                      </a:r>
                    </a:p>
                  </a:txBody>
                  <a:tcPr/>
                </a:tc>
                <a:extLst>
                  <a:ext uri="{0D108BD9-81ED-4DB2-BD59-A6C34878D82A}">
                    <a16:rowId xmlns:a16="http://schemas.microsoft.com/office/drawing/2014/main" val="10004"/>
                  </a:ext>
                </a:extLst>
              </a:tr>
              <a:tr h="483795">
                <a:tc>
                  <a:txBody>
                    <a:bodyPr/>
                    <a:lstStyle/>
                    <a:p>
                      <a:r>
                        <a:rPr lang="en-US" sz="2400" kern="1200" dirty="0">
                          <a:solidFill>
                            <a:schemeClr val="tx1"/>
                          </a:solidFill>
                          <a:latin typeface="+mn-lt"/>
                          <a:ea typeface="+mn-ea"/>
                          <a:cs typeface="+mn-cs"/>
                        </a:rPr>
                        <a:t>e. Monitoring and Troubleshooting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12%</a:t>
                      </a:r>
                    </a:p>
                  </a:txBody>
                  <a:tcPr/>
                </a:tc>
                <a:extLst>
                  <a:ext uri="{0D108BD9-81ED-4DB2-BD59-A6C34878D82A}">
                    <a16:rowId xmlns:a16="http://schemas.microsoft.com/office/drawing/2014/main" val="10005"/>
                  </a:ext>
                </a:extLst>
              </a:tr>
              <a:tr h="374717">
                <a:tc>
                  <a:txBody>
                    <a:bodyPr/>
                    <a:lstStyle/>
                    <a:p>
                      <a:r>
                        <a:rPr lang="en-US" sz="2400" kern="1200" dirty="0">
                          <a:solidFill>
                            <a:schemeClr val="tx1"/>
                          </a:solidFill>
                          <a:latin typeface="+mn-lt"/>
                          <a:ea typeface="+mn-ea"/>
                          <a:cs typeface="+mn-cs"/>
                        </a:rPr>
                        <a:t>Total</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100%</a:t>
                      </a:r>
                    </a:p>
                  </a:txBody>
                  <a:tcPr/>
                </a:tc>
                <a:extLst>
                  <a:ext uri="{0D108BD9-81ED-4DB2-BD59-A6C34878D82A}">
                    <a16:rowId xmlns:a16="http://schemas.microsoft.com/office/drawing/2014/main" val="2417361994"/>
                  </a:ext>
                </a:extLst>
              </a:tr>
            </a:tbl>
          </a:graphicData>
        </a:graphic>
      </p:graphicFrame>
      <p:sp>
        <p:nvSpPr>
          <p:cNvPr id="7" name="TextBox 6">
            <a:extLst>
              <a:ext uri="{FF2B5EF4-FFF2-40B4-BE49-F238E27FC236}">
                <a16:creationId xmlns:a16="http://schemas.microsoft.com/office/drawing/2014/main" id="{8BB6F6C4-B3B4-425B-9A33-28E114F5DE89}"/>
              </a:ext>
            </a:extLst>
          </p:cNvPr>
          <p:cNvSpPr txBox="1"/>
          <p:nvPr/>
        </p:nvSpPr>
        <p:spPr>
          <a:xfrm>
            <a:off x="2610695" y="1114266"/>
            <a:ext cx="10161408" cy="415498"/>
          </a:xfrm>
          <a:prstGeom prst="rect">
            <a:avLst/>
          </a:prstGeom>
          <a:noFill/>
        </p:spPr>
        <p:txBody>
          <a:bodyPr wrap="square" lIns="0" tIns="0" rIns="0" bIns="45720" rtlCol="0">
            <a:spAutoFit/>
          </a:bodyPr>
          <a:lstStyle/>
          <a:p>
            <a:r>
              <a:rPr lang="en-IN" sz="2400" dirty="0">
                <a:hlinkClick r:id="rId2"/>
              </a:rPr>
              <a:t>AWS Developer - Associate Exam Guide (Exam Blueprint)</a:t>
            </a:r>
            <a:endParaRPr lang="en-IN" sz="2400" dirty="0"/>
          </a:p>
        </p:txBody>
      </p:sp>
    </p:spTree>
    <p:extLst>
      <p:ext uri="{BB962C8B-B14F-4D97-AF65-F5344CB8AC3E}">
        <p14:creationId xmlns:p14="http://schemas.microsoft.com/office/powerpoint/2010/main" val="96616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A1651B-B2A3-4006-AE85-6053D28B5230}"/>
              </a:ext>
            </a:extLst>
          </p:cNvPr>
          <p:cNvSpPr>
            <a:spLocks noGrp="1"/>
          </p:cNvSpPr>
          <p:nvPr>
            <p:ph type="sldNum" sz="quarter" idx="17"/>
          </p:nvPr>
        </p:nvSpPr>
        <p:spPr/>
        <p:txBody>
          <a:bodyPr/>
          <a:lstStyle/>
          <a:p>
            <a:fld id="{4F9AC08D-23A9-440E-BCB9-AA1E9877CC38}" type="slidenum">
              <a:rPr lang="en-US" smtClean="0"/>
              <a:pPr/>
              <a:t>4</a:t>
            </a:fld>
            <a:endParaRPr lang="en-US" dirty="0"/>
          </a:p>
        </p:txBody>
      </p:sp>
      <p:sp>
        <p:nvSpPr>
          <p:cNvPr id="3" name="Title 2">
            <a:extLst>
              <a:ext uri="{FF2B5EF4-FFF2-40B4-BE49-F238E27FC236}">
                <a16:creationId xmlns:a16="http://schemas.microsoft.com/office/drawing/2014/main" id="{C7A8400E-E28F-47CE-B016-C956283F7257}"/>
              </a:ext>
            </a:extLst>
          </p:cNvPr>
          <p:cNvSpPr>
            <a:spLocks noGrp="1"/>
          </p:cNvSpPr>
          <p:nvPr>
            <p:ph type="title"/>
          </p:nvPr>
        </p:nvSpPr>
        <p:spPr>
          <a:xfrm>
            <a:off x="450009" y="281978"/>
            <a:ext cx="13500200" cy="1359871"/>
          </a:xfrm>
        </p:spPr>
        <p:txBody>
          <a:bodyPr/>
          <a:lstStyle/>
          <a:p>
            <a:r>
              <a:rPr lang="en-US" sz="4400" dirty="0">
                <a:solidFill>
                  <a:schemeClr val="bg1"/>
                </a:solidFill>
              </a:rPr>
              <a:t>Development with AWS– 30%</a:t>
            </a:r>
            <a:endParaRPr lang="en-US" dirty="0">
              <a:solidFill>
                <a:schemeClr val="bg1"/>
              </a:solidFill>
            </a:endParaRPr>
          </a:p>
        </p:txBody>
      </p:sp>
      <p:sp>
        <p:nvSpPr>
          <p:cNvPr id="4" name="Footer Placeholder 3">
            <a:extLst>
              <a:ext uri="{FF2B5EF4-FFF2-40B4-BE49-F238E27FC236}">
                <a16:creationId xmlns:a16="http://schemas.microsoft.com/office/drawing/2014/main" id="{A0F06007-E1B0-4FC8-B99E-A6DAAA0A688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91ABA7AC-4BE9-4CDE-8207-931F4FA3B9CF}"/>
              </a:ext>
            </a:extLst>
          </p:cNvPr>
          <p:cNvSpPr/>
          <p:nvPr/>
        </p:nvSpPr>
        <p:spPr>
          <a:xfrm>
            <a:off x="450004" y="1162610"/>
            <a:ext cx="12656395" cy="2862322"/>
          </a:xfrm>
          <a:prstGeom prst="rect">
            <a:avLst/>
          </a:prstGeom>
        </p:spPr>
        <p:txBody>
          <a:bodyPr wrap="square">
            <a:spAutoFit/>
          </a:bodyPr>
          <a:lstStyle/>
          <a:p>
            <a:pPr>
              <a:lnSpc>
                <a:spcPct val="150000"/>
              </a:lnSpc>
            </a:pPr>
            <a:r>
              <a:rPr lang="en-US" dirty="0">
                <a:solidFill>
                  <a:srgbClr val="18537D"/>
                </a:solidFill>
              </a:rPr>
              <a:t>Objectives</a:t>
            </a:r>
          </a:p>
          <a:p>
            <a:pPr marL="742950" lvl="1" indent="-285750">
              <a:lnSpc>
                <a:spcPct val="150000"/>
              </a:lnSpc>
              <a:buFont typeface="Arial" panose="020B0604020202020204" pitchFamily="34" charset="0"/>
              <a:buChar char="•"/>
            </a:pPr>
            <a:r>
              <a:rPr lang="en-US" dirty="0">
                <a:solidFill>
                  <a:srgbClr val="18537D"/>
                </a:solidFill>
              </a:rPr>
              <a:t>Write code for serverless applications </a:t>
            </a:r>
          </a:p>
          <a:p>
            <a:pPr marL="742950" lvl="1" indent="-285750">
              <a:lnSpc>
                <a:spcPct val="150000"/>
              </a:lnSpc>
              <a:buFont typeface="Arial" panose="020B0604020202020204" pitchFamily="34" charset="0"/>
              <a:buChar char="•"/>
            </a:pPr>
            <a:r>
              <a:rPr lang="en-US" dirty="0">
                <a:solidFill>
                  <a:srgbClr val="18537D"/>
                </a:solidFill>
              </a:rPr>
              <a:t>Translate functional requirements into application design</a:t>
            </a:r>
          </a:p>
          <a:p>
            <a:pPr marL="742950" lvl="1" indent="-285750">
              <a:lnSpc>
                <a:spcPct val="150000"/>
              </a:lnSpc>
              <a:buFont typeface="Arial" panose="020B0604020202020204" pitchFamily="34" charset="0"/>
              <a:buChar char="•"/>
            </a:pPr>
            <a:r>
              <a:rPr lang="en-US" dirty="0">
                <a:solidFill>
                  <a:srgbClr val="18537D"/>
                </a:solidFill>
              </a:rPr>
              <a:t>Implement application design into application code </a:t>
            </a:r>
          </a:p>
          <a:p>
            <a:pPr marL="742950" lvl="1" indent="-285750">
              <a:lnSpc>
                <a:spcPct val="150000"/>
              </a:lnSpc>
              <a:buFont typeface="Arial" panose="020B0604020202020204" pitchFamily="34" charset="0"/>
              <a:buChar char="•"/>
            </a:pPr>
            <a:r>
              <a:rPr lang="en-US" dirty="0">
                <a:solidFill>
                  <a:srgbClr val="18537D"/>
                </a:solidFill>
              </a:rPr>
              <a:t>Write code that interacts with AWS by using APIs, SDKs, and AWS Command Line Interface (AWS CLI)</a:t>
            </a:r>
          </a:p>
          <a:p>
            <a:pPr marL="742950" lvl="1" indent="-285750">
              <a:lnSpc>
                <a:spcPct val="150000"/>
              </a:lnSpc>
              <a:buFont typeface="Arial" panose="020B0604020202020204" pitchFamily="34" charset="0"/>
              <a:buChar char="•"/>
            </a:pPr>
            <a:endParaRPr lang="en-US" dirty="0">
              <a:solidFill>
                <a:srgbClr val="18537D"/>
              </a:solidFill>
            </a:endParaRPr>
          </a:p>
          <a:p>
            <a:endParaRPr lang="en-US" dirty="0"/>
          </a:p>
        </p:txBody>
      </p:sp>
    </p:spTree>
    <p:extLst>
      <p:ext uri="{BB962C8B-B14F-4D97-AF65-F5344CB8AC3E}">
        <p14:creationId xmlns:p14="http://schemas.microsoft.com/office/powerpoint/2010/main" val="7445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4F1518-275E-4146-9EDD-43380D66C22A}"/>
              </a:ext>
            </a:extLst>
          </p:cNvPr>
          <p:cNvSpPr>
            <a:spLocks noGrp="1"/>
          </p:cNvSpPr>
          <p:nvPr>
            <p:ph type="sldNum" sz="quarter" idx="17"/>
          </p:nvPr>
        </p:nvSpPr>
        <p:spPr/>
        <p:txBody>
          <a:bodyPr/>
          <a:lstStyle/>
          <a:p>
            <a:fld id="{4F9AC08D-23A9-440E-BCB9-AA1E9877CC38}" type="slidenum">
              <a:rPr lang="en-US" smtClean="0"/>
              <a:pPr/>
              <a:t>5</a:t>
            </a:fld>
            <a:endParaRPr lang="en-US" dirty="0"/>
          </a:p>
        </p:txBody>
      </p:sp>
      <p:sp>
        <p:nvSpPr>
          <p:cNvPr id="3" name="Title 2">
            <a:extLst>
              <a:ext uri="{FF2B5EF4-FFF2-40B4-BE49-F238E27FC236}">
                <a16:creationId xmlns:a16="http://schemas.microsoft.com/office/drawing/2014/main" id="{13D2A14B-A14B-46AC-8939-4DF03C83A84E}"/>
              </a:ext>
            </a:extLst>
          </p:cNvPr>
          <p:cNvSpPr>
            <a:spLocks noGrp="1"/>
          </p:cNvSpPr>
          <p:nvPr>
            <p:ph type="title"/>
          </p:nvPr>
        </p:nvSpPr>
        <p:spPr>
          <a:xfrm>
            <a:off x="450009" y="272145"/>
            <a:ext cx="13500200" cy="1359871"/>
          </a:xfrm>
        </p:spPr>
        <p:txBody>
          <a:bodyPr>
            <a:normAutofit/>
          </a:bodyPr>
          <a:lstStyle/>
          <a:p>
            <a:r>
              <a:rPr lang="en-US" sz="4400" dirty="0">
                <a:solidFill>
                  <a:schemeClr val="bg1"/>
                </a:solidFill>
              </a:rPr>
              <a:t>Development with AWS– 30%</a:t>
            </a:r>
            <a:endParaRPr lang="en-US" sz="4400" dirty="0"/>
          </a:p>
        </p:txBody>
      </p:sp>
      <p:sp>
        <p:nvSpPr>
          <p:cNvPr id="4" name="Footer Placeholder 3">
            <a:extLst>
              <a:ext uri="{FF2B5EF4-FFF2-40B4-BE49-F238E27FC236}">
                <a16:creationId xmlns:a16="http://schemas.microsoft.com/office/drawing/2014/main" id="{3D46655A-9CF2-4EA3-8978-E6409A5E50C6}"/>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737C1EE4-4962-4858-96D2-AEE67EAF5929}"/>
              </a:ext>
            </a:extLst>
          </p:cNvPr>
          <p:cNvSpPr/>
          <p:nvPr/>
        </p:nvSpPr>
        <p:spPr>
          <a:xfrm>
            <a:off x="450004" y="1162610"/>
            <a:ext cx="12656395" cy="6272294"/>
          </a:xfrm>
          <a:prstGeom prst="rect">
            <a:avLst/>
          </a:prstGeom>
        </p:spPr>
        <p:txBody>
          <a:bodyPr wrap="square">
            <a:spAutoFit/>
          </a:bodyPr>
          <a:lstStyle/>
          <a:p>
            <a:pPr>
              <a:lnSpc>
                <a:spcPct val="150000"/>
              </a:lnSpc>
            </a:pPr>
            <a:r>
              <a:rPr lang="en-US" dirty="0">
                <a:solidFill>
                  <a:srgbClr val="18537D"/>
                </a:solidFill>
              </a:rPr>
              <a:t>Key AWS Services</a:t>
            </a:r>
          </a:p>
          <a:p>
            <a:pPr marL="742950" lvl="1" indent="-285750">
              <a:lnSpc>
                <a:spcPct val="150000"/>
              </a:lnSpc>
              <a:buFont typeface="Arial" panose="020B0604020202020204" pitchFamily="34" charset="0"/>
              <a:buChar char="•"/>
            </a:pPr>
            <a:r>
              <a:rPr lang="en-US" dirty="0">
                <a:solidFill>
                  <a:srgbClr val="18537D"/>
                </a:solidFill>
              </a:rPr>
              <a:t>Amazon S3</a:t>
            </a:r>
          </a:p>
          <a:p>
            <a:pPr marL="742950" lvl="1" indent="-285750">
              <a:lnSpc>
                <a:spcPct val="150000"/>
              </a:lnSpc>
              <a:buFont typeface="Arial" panose="020B0604020202020204" pitchFamily="34" charset="0"/>
              <a:buChar char="•"/>
            </a:pPr>
            <a:r>
              <a:rPr lang="en-US" dirty="0">
                <a:solidFill>
                  <a:srgbClr val="18537D"/>
                </a:solidFill>
              </a:rPr>
              <a:t>Amazon Lambda</a:t>
            </a:r>
          </a:p>
          <a:p>
            <a:pPr marL="742950" lvl="1" indent="-285750">
              <a:lnSpc>
                <a:spcPct val="150000"/>
              </a:lnSpc>
              <a:buFont typeface="Arial" panose="020B0604020202020204" pitchFamily="34" charset="0"/>
              <a:buChar char="•"/>
            </a:pPr>
            <a:r>
              <a:rPr lang="en-US" dirty="0">
                <a:solidFill>
                  <a:srgbClr val="18537D"/>
                </a:solidFill>
              </a:rPr>
              <a:t>Amazon DynamoDB</a:t>
            </a:r>
          </a:p>
          <a:p>
            <a:pPr marL="742950" lvl="1" indent="-285750">
              <a:lnSpc>
                <a:spcPct val="150000"/>
              </a:lnSpc>
              <a:buFont typeface="Arial" panose="020B0604020202020204" pitchFamily="34" charset="0"/>
              <a:buChar char="•"/>
            </a:pPr>
            <a:r>
              <a:rPr lang="en-US" dirty="0">
                <a:solidFill>
                  <a:srgbClr val="18537D"/>
                </a:solidFill>
              </a:rPr>
              <a:t>Amazon CloudFront</a:t>
            </a:r>
          </a:p>
          <a:p>
            <a:pPr marL="742950" lvl="1" indent="-285750">
              <a:lnSpc>
                <a:spcPct val="150000"/>
              </a:lnSpc>
              <a:buFont typeface="Arial" panose="020B0604020202020204" pitchFamily="34" charset="0"/>
              <a:buChar char="•"/>
            </a:pPr>
            <a:r>
              <a:rPr lang="en-US" dirty="0">
                <a:solidFill>
                  <a:srgbClr val="18537D"/>
                </a:solidFill>
              </a:rPr>
              <a:t>Amazon </a:t>
            </a:r>
            <a:r>
              <a:rPr lang="en-US" dirty="0" err="1">
                <a:solidFill>
                  <a:srgbClr val="18537D"/>
                </a:solidFill>
              </a:rPr>
              <a:t>ElastiCache</a:t>
            </a:r>
            <a:endParaRPr lang="en-US" dirty="0">
              <a:solidFill>
                <a:srgbClr val="18537D"/>
              </a:solidFill>
            </a:endParaRPr>
          </a:p>
          <a:p>
            <a:pPr marL="742950" lvl="1" indent="-285750">
              <a:lnSpc>
                <a:spcPct val="150000"/>
              </a:lnSpc>
              <a:buFont typeface="Arial" panose="020B0604020202020204" pitchFamily="34" charset="0"/>
              <a:buChar char="•"/>
            </a:pPr>
            <a:r>
              <a:rPr lang="en-US" dirty="0">
                <a:solidFill>
                  <a:srgbClr val="18537D"/>
                </a:solidFill>
              </a:rPr>
              <a:t>Amazon API Gateway</a:t>
            </a:r>
          </a:p>
          <a:p>
            <a:pPr marL="742950" lvl="1" indent="-285750">
              <a:lnSpc>
                <a:spcPct val="150000"/>
              </a:lnSpc>
              <a:buFont typeface="Arial" panose="020B0604020202020204" pitchFamily="34" charset="0"/>
              <a:buChar char="•"/>
            </a:pPr>
            <a:r>
              <a:rPr lang="en-US" dirty="0">
                <a:solidFill>
                  <a:srgbClr val="18537D"/>
                </a:solidFill>
              </a:rPr>
              <a:t>Amazon ECS</a:t>
            </a:r>
          </a:p>
          <a:p>
            <a:pPr marL="742950" lvl="1" indent="-285750">
              <a:lnSpc>
                <a:spcPct val="150000"/>
              </a:lnSpc>
              <a:buFont typeface="Arial" panose="020B0604020202020204" pitchFamily="34" charset="0"/>
              <a:buChar char="•"/>
            </a:pPr>
            <a:r>
              <a:rPr lang="en-US" dirty="0">
                <a:solidFill>
                  <a:srgbClr val="18537D"/>
                </a:solidFill>
              </a:rPr>
              <a:t>AWS Step Functions</a:t>
            </a:r>
          </a:p>
          <a:p>
            <a:pPr marL="742950" lvl="1" indent="-285750">
              <a:lnSpc>
                <a:spcPct val="150000"/>
              </a:lnSpc>
              <a:buFont typeface="Arial" panose="020B0604020202020204" pitchFamily="34" charset="0"/>
              <a:buChar char="•"/>
            </a:pPr>
            <a:r>
              <a:rPr lang="en-US" dirty="0">
                <a:solidFill>
                  <a:srgbClr val="18537D"/>
                </a:solidFill>
              </a:rPr>
              <a:t>AWS SNS</a:t>
            </a:r>
          </a:p>
          <a:p>
            <a:pPr marL="742950" lvl="1" indent="-285750">
              <a:lnSpc>
                <a:spcPct val="150000"/>
              </a:lnSpc>
              <a:buFont typeface="Arial" panose="020B0604020202020204" pitchFamily="34" charset="0"/>
              <a:buChar char="•"/>
            </a:pPr>
            <a:r>
              <a:rPr lang="en-US" dirty="0">
                <a:solidFill>
                  <a:srgbClr val="18537D"/>
                </a:solidFill>
              </a:rPr>
              <a:t>AWS SQS</a:t>
            </a:r>
          </a:p>
          <a:p>
            <a:pPr marL="742950" lvl="1" indent="-285750">
              <a:lnSpc>
                <a:spcPct val="150000"/>
              </a:lnSpc>
              <a:buFont typeface="Arial" panose="020B0604020202020204" pitchFamily="34" charset="0"/>
              <a:buChar char="•"/>
            </a:pPr>
            <a:r>
              <a:rPr lang="en-US" dirty="0">
                <a:solidFill>
                  <a:srgbClr val="18537D"/>
                </a:solidFill>
              </a:rPr>
              <a:t>AWS SDK and CLI</a:t>
            </a:r>
          </a:p>
          <a:p>
            <a:pPr marL="742950" lvl="1" indent="-285750">
              <a:lnSpc>
                <a:spcPct val="150000"/>
              </a:lnSpc>
              <a:buFont typeface="Arial" panose="020B0604020202020204" pitchFamily="34" charset="0"/>
              <a:buChar char="•"/>
            </a:pPr>
            <a:endParaRPr lang="en-US" dirty="0">
              <a:solidFill>
                <a:srgbClr val="18537D"/>
              </a:solidFill>
            </a:endParaRPr>
          </a:p>
          <a:p>
            <a:pPr marL="742950" lvl="1" indent="-285750">
              <a:lnSpc>
                <a:spcPct val="150000"/>
              </a:lnSpc>
              <a:buFont typeface="Arial" panose="020B0604020202020204" pitchFamily="34" charset="0"/>
              <a:buChar char="•"/>
            </a:pPr>
            <a:endParaRPr lang="en-US" dirty="0">
              <a:solidFill>
                <a:srgbClr val="18537D"/>
              </a:solidFill>
            </a:endParaRPr>
          </a:p>
          <a:p>
            <a:pPr marL="742950" lvl="1" indent="-285750">
              <a:lnSpc>
                <a:spcPct val="150000"/>
              </a:lnSpc>
              <a:buFont typeface="Arial" panose="020B0604020202020204" pitchFamily="34" charset="0"/>
              <a:buChar char="•"/>
            </a:pPr>
            <a:endParaRPr lang="en-US" dirty="0">
              <a:solidFill>
                <a:srgbClr val="18537D"/>
              </a:solidFill>
            </a:endParaRPr>
          </a:p>
        </p:txBody>
      </p:sp>
    </p:spTree>
    <p:extLst>
      <p:ext uri="{BB962C8B-B14F-4D97-AF65-F5344CB8AC3E}">
        <p14:creationId xmlns:p14="http://schemas.microsoft.com/office/powerpoint/2010/main" val="3334814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6</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37201" y="329626"/>
            <a:ext cx="13500200" cy="1359871"/>
          </a:xfrm>
        </p:spPr>
        <p:txBody>
          <a:bodyPr/>
          <a:lstStyle/>
          <a:p>
            <a:r>
              <a:rPr lang="en-IN" sz="3307" dirty="0">
                <a:solidFill>
                  <a:schemeClr val="bg1"/>
                </a:solidFill>
                <a:latin typeface="Graphik Black" panose="020B0A03030202060203" pitchFamily="34" charset="0"/>
                <a:ea typeface="+mn-ea"/>
                <a:cs typeface="+mn-cs"/>
              </a:rPr>
              <a:t>Amazon S3 (Simple storage service)</a:t>
            </a:r>
          </a:p>
        </p:txBody>
      </p:sp>
      <p:sp>
        <p:nvSpPr>
          <p:cNvPr id="8" name="TextBox 7">
            <a:extLst>
              <a:ext uri="{FF2B5EF4-FFF2-40B4-BE49-F238E27FC236}">
                <a16:creationId xmlns:a16="http://schemas.microsoft.com/office/drawing/2014/main" id="{2E26210D-6753-494D-BCB7-473DB5481624}"/>
              </a:ext>
            </a:extLst>
          </p:cNvPr>
          <p:cNvSpPr txBox="1"/>
          <p:nvPr/>
        </p:nvSpPr>
        <p:spPr>
          <a:xfrm>
            <a:off x="3738424" y="1989724"/>
            <a:ext cx="10058400" cy="3370153"/>
          </a:xfrm>
          <a:prstGeom prst="rect">
            <a:avLst/>
          </a:prstGeom>
          <a:noFill/>
        </p:spPr>
        <p:txBody>
          <a:bodyPr wrap="square" lIns="0" tIns="0" rIns="0" bIns="45720" rtlCol="0">
            <a:spAutoFit/>
          </a:bodyPr>
          <a:lstStyle/>
          <a:p>
            <a:pPr marL="742950" lvl="1" indent="-285750" algn="just">
              <a:buFont typeface="Wingdings" panose="05000000000000000000" pitchFamily="2" charset="2"/>
              <a:buChar char="§"/>
            </a:pPr>
            <a:r>
              <a:rPr lang="en-US" dirty="0">
                <a:solidFill>
                  <a:srgbClr val="18537D"/>
                </a:solidFill>
              </a:rPr>
              <a:t>AWS S3 is an object storage service where you can store and retrieve any amount of data, at any time and from anywhere</a:t>
            </a:r>
          </a:p>
          <a:p>
            <a:pPr lvl="1" algn="just"/>
            <a:endParaRPr lang="en-US" dirty="0">
              <a:solidFill>
                <a:srgbClr val="18537D"/>
              </a:solidFill>
            </a:endParaRPr>
          </a:p>
          <a:p>
            <a:pPr marL="742950" lvl="1" indent="-285750" algn="just">
              <a:buFont typeface="Wingdings" panose="05000000000000000000" pitchFamily="2" charset="2"/>
              <a:buChar char="§"/>
            </a:pPr>
            <a:r>
              <a:rPr lang="en-US" dirty="0">
                <a:solidFill>
                  <a:srgbClr val="18537D"/>
                </a:solidFill>
              </a:rPr>
              <a:t>AWS S3 stores data as objects within buckets. Buckets are the containers for the objects</a:t>
            </a:r>
          </a:p>
          <a:p>
            <a:pPr marL="742950" lvl="1" indent="-285750" algn="just">
              <a:buFont typeface="Wingdings" panose="05000000000000000000" pitchFamily="2" charset="2"/>
              <a:buChar char="§"/>
            </a:pPr>
            <a:endParaRPr lang="en-US" dirty="0">
              <a:solidFill>
                <a:srgbClr val="18537D"/>
              </a:solidFill>
            </a:endParaRPr>
          </a:p>
          <a:p>
            <a:pPr marL="742950" lvl="1" indent="-285750" algn="just">
              <a:buFont typeface="Wingdings" panose="05000000000000000000" pitchFamily="2" charset="2"/>
              <a:buChar char="§"/>
            </a:pPr>
            <a:r>
              <a:rPr lang="en-US" dirty="0">
                <a:solidFill>
                  <a:srgbClr val="18537D"/>
                </a:solidFill>
              </a:rPr>
              <a:t>AWS provides unlimited storage space and individual s3 objects can range in the size from 0 bytes to maximum of 5 terabytes</a:t>
            </a:r>
          </a:p>
          <a:p>
            <a:pPr lvl="1" algn="just"/>
            <a:endParaRPr lang="en-US" dirty="0">
              <a:solidFill>
                <a:srgbClr val="18537D"/>
              </a:solidFill>
            </a:endParaRPr>
          </a:p>
          <a:p>
            <a:pPr marL="742950" lvl="1" indent="-285750" algn="just">
              <a:buFont typeface="Wingdings" panose="05000000000000000000" pitchFamily="2" charset="2"/>
              <a:buChar char="§"/>
            </a:pPr>
            <a:r>
              <a:rPr lang="en-US" dirty="0">
                <a:solidFill>
                  <a:srgbClr val="18537D"/>
                </a:solidFill>
              </a:rPr>
              <a:t>The largest object that can be uploaded in a single PUT operation is 5 gigabytes. If the object are larger than 100 megabytes consider using multipart upload capability</a:t>
            </a:r>
          </a:p>
          <a:p>
            <a:pPr algn="just"/>
            <a:endParaRPr lang="en-IN" dirty="0"/>
          </a:p>
        </p:txBody>
      </p:sp>
      <p:grpSp>
        <p:nvGrpSpPr>
          <p:cNvPr id="4" name="Group 3">
            <a:extLst>
              <a:ext uri="{FF2B5EF4-FFF2-40B4-BE49-F238E27FC236}">
                <a16:creationId xmlns:a16="http://schemas.microsoft.com/office/drawing/2014/main" id="{E5BFD186-38E6-45F8-AB67-C570FD1241C1}"/>
              </a:ext>
            </a:extLst>
          </p:cNvPr>
          <p:cNvGrpSpPr/>
          <p:nvPr/>
        </p:nvGrpSpPr>
        <p:grpSpPr>
          <a:xfrm>
            <a:off x="603389" y="1722462"/>
            <a:ext cx="2828261" cy="3637415"/>
            <a:chOff x="1039324" y="1855376"/>
            <a:chExt cx="2828261" cy="3637415"/>
          </a:xfrm>
        </p:grpSpPr>
        <p:sp>
          <p:nvSpPr>
            <p:cNvPr id="10" name="Rectangle 9">
              <a:extLst>
                <a:ext uri="{FF2B5EF4-FFF2-40B4-BE49-F238E27FC236}">
                  <a16:creationId xmlns:a16="http://schemas.microsoft.com/office/drawing/2014/main" id="{CD3337B6-8A4D-4A88-9FF4-1DD557DEBD57}"/>
                </a:ext>
              </a:extLst>
            </p:cNvPr>
            <p:cNvSpPr/>
            <p:nvPr/>
          </p:nvSpPr>
          <p:spPr>
            <a:xfrm>
              <a:off x="1039324" y="1855376"/>
              <a:ext cx="2828261" cy="3637415"/>
            </a:xfrm>
            <a:prstGeom prst="rect">
              <a:avLst/>
            </a:prstGeom>
            <a:solidFill>
              <a:schemeClr val="bg1"/>
            </a:solidFill>
            <a:ln w="38100">
              <a:solidFill>
                <a:srgbClr val="128F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BEB3B8EE-A2CB-4809-A914-664A382BC3C9}"/>
                </a:ext>
              </a:extLst>
            </p:cNvPr>
            <p:cNvPicPr>
              <a:picLocks noChangeAspect="1"/>
            </p:cNvPicPr>
            <p:nvPr/>
          </p:nvPicPr>
          <p:blipFill>
            <a:blip r:embed="rId3"/>
            <a:stretch>
              <a:fillRect/>
            </a:stretch>
          </p:blipFill>
          <p:spPr>
            <a:xfrm>
              <a:off x="1210441" y="2375693"/>
              <a:ext cx="2486025" cy="2447925"/>
            </a:xfrm>
            <a:prstGeom prst="rect">
              <a:avLst/>
            </a:prstGeom>
          </p:spPr>
        </p:pic>
      </p:grpSp>
    </p:spTree>
    <p:extLst>
      <p:ext uri="{BB962C8B-B14F-4D97-AF65-F5344CB8AC3E}">
        <p14:creationId xmlns:p14="http://schemas.microsoft.com/office/powerpoint/2010/main" val="2998251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7</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37201" y="329626"/>
            <a:ext cx="13500200" cy="1359871"/>
          </a:xfrm>
        </p:spPr>
        <p:txBody>
          <a:bodyPr/>
          <a:lstStyle/>
          <a:p>
            <a:r>
              <a:rPr lang="en-IN" sz="3307" dirty="0">
                <a:solidFill>
                  <a:schemeClr val="bg1"/>
                </a:solidFill>
                <a:latin typeface="Graphik Black" panose="020B0A03030202060203" pitchFamily="34" charset="0"/>
                <a:ea typeface="+mn-ea"/>
                <a:cs typeface="+mn-cs"/>
              </a:rPr>
              <a:t>Amazon S3 (Simple storage service) – Storage Classes</a:t>
            </a:r>
          </a:p>
        </p:txBody>
      </p:sp>
      <p:sp>
        <p:nvSpPr>
          <p:cNvPr id="10" name="Rectangle 9">
            <a:extLst>
              <a:ext uri="{FF2B5EF4-FFF2-40B4-BE49-F238E27FC236}">
                <a16:creationId xmlns:a16="http://schemas.microsoft.com/office/drawing/2014/main" id="{CD3337B6-8A4D-4A88-9FF4-1DD557DEBD57}"/>
              </a:ext>
            </a:extLst>
          </p:cNvPr>
          <p:cNvSpPr/>
          <p:nvPr/>
        </p:nvSpPr>
        <p:spPr>
          <a:xfrm>
            <a:off x="749790" y="1689497"/>
            <a:ext cx="2828261" cy="3637415"/>
          </a:xfrm>
          <a:prstGeom prst="rect">
            <a:avLst/>
          </a:prstGeom>
          <a:solidFill>
            <a:schemeClr val="bg1"/>
          </a:solidFill>
          <a:ln w="38100">
            <a:solidFill>
              <a:srgbClr val="128F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BEB3B8EE-A2CB-4809-A914-664A382BC3C9}"/>
              </a:ext>
            </a:extLst>
          </p:cNvPr>
          <p:cNvPicPr>
            <a:picLocks noChangeAspect="1"/>
          </p:cNvPicPr>
          <p:nvPr/>
        </p:nvPicPr>
        <p:blipFill>
          <a:blip r:embed="rId3"/>
          <a:stretch>
            <a:fillRect/>
          </a:stretch>
        </p:blipFill>
        <p:spPr>
          <a:xfrm>
            <a:off x="920907" y="2180397"/>
            <a:ext cx="2486025" cy="2447925"/>
          </a:xfrm>
          <a:prstGeom prst="rect">
            <a:avLst/>
          </a:prstGeom>
        </p:spPr>
      </p:pic>
      <p:graphicFrame>
        <p:nvGraphicFramePr>
          <p:cNvPr id="8" name="Content Placeholder 3">
            <a:extLst>
              <a:ext uri="{FF2B5EF4-FFF2-40B4-BE49-F238E27FC236}">
                <a16:creationId xmlns:a16="http://schemas.microsoft.com/office/drawing/2014/main" id="{4669BDA3-BB55-40AE-A999-D5FD0A67D17E}"/>
              </a:ext>
            </a:extLst>
          </p:cNvPr>
          <p:cNvGraphicFramePr>
            <a:graphicFrameLocks/>
          </p:cNvGraphicFramePr>
          <p:nvPr/>
        </p:nvGraphicFramePr>
        <p:xfrm>
          <a:off x="3902943" y="1222744"/>
          <a:ext cx="10347047" cy="5155456"/>
        </p:xfrm>
        <a:graphic>
          <a:graphicData uri="http://schemas.openxmlformats.org/drawingml/2006/table">
            <a:tbl>
              <a:tblPr firstRow="1" bandRow="1">
                <a:tableStyleId>{ED083AE6-46FA-4A59-8FB0-9F97EB10719F}</a:tableStyleId>
              </a:tblPr>
              <a:tblGrid>
                <a:gridCol w="1520287">
                  <a:extLst>
                    <a:ext uri="{9D8B030D-6E8A-4147-A177-3AD203B41FA5}">
                      <a16:colId xmlns:a16="http://schemas.microsoft.com/office/drawing/2014/main" val="2795469404"/>
                    </a:ext>
                  </a:extLst>
                </a:gridCol>
                <a:gridCol w="2379306">
                  <a:extLst>
                    <a:ext uri="{9D8B030D-6E8A-4147-A177-3AD203B41FA5}">
                      <a16:colId xmlns:a16="http://schemas.microsoft.com/office/drawing/2014/main" val="722207695"/>
                    </a:ext>
                  </a:extLst>
                </a:gridCol>
                <a:gridCol w="1479687">
                  <a:extLst>
                    <a:ext uri="{9D8B030D-6E8A-4147-A177-3AD203B41FA5}">
                      <a16:colId xmlns:a16="http://schemas.microsoft.com/office/drawing/2014/main" val="2274800132"/>
                    </a:ext>
                  </a:extLst>
                </a:gridCol>
                <a:gridCol w="1339703">
                  <a:extLst>
                    <a:ext uri="{9D8B030D-6E8A-4147-A177-3AD203B41FA5}">
                      <a16:colId xmlns:a16="http://schemas.microsoft.com/office/drawing/2014/main" val="3380546813"/>
                    </a:ext>
                  </a:extLst>
                </a:gridCol>
                <a:gridCol w="1307804">
                  <a:extLst>
                    <a:ext uri="{9D8B030D-6E8A-4147-A177-3AD203B41FA5}">
                      <a16:colId xmlns:a16="http://schemas.microsoft.com/office/drawing/2014/main" val="2640368738"/>
                    </a:ext>
                  </a:extLst>
                </a:gridCol>
                <a:gridCol w="1060627">
                  <a:extLst>
                    <a:ext uri="{9D8B030D-6E8A-4147-A177-3AD203B41FA5}">
                      <a16:colId xmlns:a16="http://schemas.microsoft.com/office/drawing/2014/main" val="1100436445"/>
                    </a:ext>
                  </a:extLst>
                </a:gridCol>
                <a:gridCol w="1259633">
                  <a:extLst>
                    <a:ext uri="{9D8B030D-6E8A-4147-A177-3AD203B41FA5}">
                      <a16:colId xmlns:a16="http://schemas.microsoft.com/office/drawing/2014/main" val="1626052288"/>
                    </a:ext>
                  </a:extLst>
                </a:gridCol>
              </a:tblGrid>
              <a:tr h="726785">
                <a:tc>
                  <a:txBody>
                    <a:bodyPr/>
                    <a:lstStyle/>
                    <a:p>
                      <a:r>
                        <a:rPr lang="en-US" sz="1400" dirty="0"/>
                        <a:t>Storage Class</a:t>
                      </a:r>
                      <a:endParaRPr lang="en-US" sz="1400" b="1" dirty="0"/>
                    </a:p>
                  </a:txBody>
                  <a:tcPr/>
                </a:tc>
                <a:tc>
                  <a:txBody>
                    <a:bodyPr/>
                    <a:lstStyle/>
                    <a:p>
                      <a:r>
                        <a:rPr lang="en-US" sz="1400" dirty="0"/>
                        <a:t>What it was Designed </a:t>
                      </a:r>
                    </a:p>
                    <a:p>
                      <a:r>
                        <a:rPr lang="en-US" sz="1400" dirty="0"/>
                        <a:t>for ? </a:t>
                      </a:r>
                      <a:endParaRPr lang="en-US" sz="1400" b="1" dirty="0"/>
                    </a:p>
                  </a:txBody>
                  <a:tcPr/>
                </a:tc>
                <a:tc>
                  <a:txBody>
                    <a:bodyPr/>
                    <a:lstStyle/>
                    <a:p>
                      <a:r>
                        <a:rPr lang="en-US" sz="1400" dirty="0"/>
                        <a:t>Durability</a:t>
                      </a:r>
                      <a:endParaRPr lang="en-US" sz="1400" b="1" dirty="0"/>
                    </a:p>
                  </a:txBody>
                  <a:tcPr/>
                </a:tc>
                <a:tc>
                  <a:txBody>
                    <a:bodyPr/>
                    <a:lstStyle/>
                    <a:p>
                      <a:r>
                        <a:rPr lang="en-US" sz="1400" dirty="0"/>
                        <a:t>Availability </a:t>
                      </a:r>
                      <a:endParaRPr lang="en-US" sz="1400" b="1" dirty="0"/>
                    </a:p>
                  </a:txBody>
                  <a:tcPr/>
                </a:tc>
                <a:tc>
                  <a:txBody>
                    <a:bodyPr/>
                    <a:lstStyle/>
                    <a:p>
                      <a:r>
                        <a:rPr lang="en-US" sz="1400" dirty="0"/>
                        <a:t>Availability Zones</a:t>
                      </a:r>
                      <a:endParaRPr lang="en-US" sz="1400" b="1" dirty="0"/>
                    </a:p>
                  </a:txBody>
                  <a:tcPr/>
                </a:tc>
                <a:tc>
                  <a:txBody>
                    <a:bodyPr/>
                    <a:lstStyle/>
                    <a:p>
                      <a:r>
                        <a:rPr lang="en-US" sz="1400" dirty="0"/>
                        <a:t>Min. storage duration</a:t>
                      </a:r>
                      <a:endParaRPr lang="en-US" sz="1400" b="1" dirty="0"/>
                    </a:p>
                  </a:txBody>
                  <a:tcPr/>
                </a:tc>
                <a:tc>
                  <a:txBody>
                    <a:bodyPr/>
                    <a:lstStyle/>
                    <a:p>
                      <a:r>
                        <a:rPr lang="en-US" sz="1400" dirty="0"/>
                        <a:t>Min. billable object size</a:t>
                      </a:r>
                      <a:endParaRPr lang="en-US" sz="1400" b="1" dirty="0"/>
                    </a:p>
                  </a:txBody>
                  <a:tcPr/>
                </a:tc>
                <a:extLst>
                  <a:ext uri="{0D108BD9-81ED-4DB2-BD59-A6C34878D82A}">
                    <a16:rowId xmlns:a16="http://schemas.microsoft.com/office/drawing/2014/main" val="3200292007"/>
                  </a:ext>
                </a:extLst>
              </a:tr>
              <a:tr h="514806">
                <a:tc>
                  <a:txBody>
                    <a:bodyPr/>
                    <a:lstStyle/>
                    <a:p>
                      <a:r>
                        <a:rPr lang="en-US" sz="1400" dirty="0"/>
                        <a:t>Standard</a:t>
                      </a:r>
                      <a:endParaRPr lang="en-US" sz="1400" b="1" dirty="0"/>
                    </a:p>
                  </a:txBody>
                  <a:tcPr/>
                </a:tc>
                <a:tc>
                  <a:txBody>
                    <a:bodyPr/>
                    <a:lstStyle/>
                    <a:p>
                      <a:r>
                        <a:rPr lang="en-US" sz="1400" dirty="0"/>
                        <a:t>Frequently accessed Data</a:t>
                      </a:r>
                      <a:endParaRPr lang="en-US" sz="1400" b="0" dirty="0"/>
                    </a:p>
                  </a:txBody>
                  <a:tcPr/>
                </a:tc>
                <a:tc>
                  <a:txBody>
                    <a:bodyPr/>
                    <a:lstStyle/>
                    <a:p>
                      <a:r>
                        <a:rPr lang="en-US" sz="1400" kern="1200" dirty="0">
                          <a:effectLst/>
                        </a:rPr>
                        <a:t>99.999999999%</a:t>
                      </a:r>
                      <a:endParaRPr lang="en-US" sz="1400" b="0" dirty="0"/>
                    </a:p>
                  </a:txBody>
                  <a:tcPr/>
                </a:tc>
                <a:tc>
                  <a:txBody>
                    <a:bodyPr/>
                    <a:lstStyle/>
                    <a:p>
                      <a:r>
                        <a:rPr lang="en-US" sz="1400" kern="1200" dirty="0">
                          <a:effectLst/>
                        </a:rPr>
                        <a:t>99.99%</a:t>
                      </a:r>
                      <a:endParaRPr lang="en-US" sz="1400" b="0" dirty="0"/>
                    </a:p>
                  </a:txBody>
                  <a:tcPr/>
                </a:tc>
                <a:tc>
                  <a:txBody>
                    <a:bodyPr/>
                    <a:lstStyle/>
                    <a:p>
                      <a:r>
                        <a:rPr lang="en-US" sz="1400" dirty="0"/>
                        <a:t> &gt;= 3</a:t>
                      </a:r>
                      <a:endParaRPr lang="en-US" sz="1400" b="0" dirty="0"/>
                    </a:p>
                  </a:txBody>
                  <a:tcPr/>
                </a:tc>
                <a:tc>
                  <a:txBody>
                    <a:bodyPr/>
                    <a:lstStyle/>
                    <a:p>
                      <a:r>
                        <a:rPr lang="en-US" sz="1400" dirty="0"/>
                        <a:t> None</a:t>
                      </a:r>
                      <a:endParaRPr lang="en-US" sz="1400" b="0" dirty="0"/>
                    </a:p>
                  </a:txBody>
                  <a:tcPr/>
                </a:tc>
                <a:tc>
                  <a:txBody>
                    <a:bodyPr/>
                    <a:lstStyle/>
                    <a:p>
                      <a:r>
                        <a:rPr lang="en-US" sz="1400" dirty="0"/>
                        <a:t> None</a:t>
                      </a:r>
                      <a:endParaRPr lang="en-US" sz="1400" b="0" dirty="0"/>
                    </a:p>
                  </a:txBody>
                  <a:tcPr/>
                </a:tc>
                <a:extLst>
                  <a:ext uri="{0D108BD9-81ED-4DB2-BD59-A6C34878D82A}">
                    <a16:rowId xmlns:a16="http://schemas.microsoft.com/office/drawing/2014/main" val="1090135073"/>
                  </a:ext>
                </a:extLst>
              </a:tr>
              <a:tr h="596528">
                <a:tc>
                  <a:txBody>
                    <a:bodyPr/>
                    <a:lstStyle/>
                    <a:p>
                      <a:r>
                        <a:rPr lang="en-US" sz="1400" dirty="0"/>
                        <a:t>Standard IA</a:t>
                      </a:r>
                      <a:endParaRPr lang="en-US" sz="1400" b="1" dirty="0"/>
                    </a:p>
                  </a:txBody>
                  <a:tcPr/>
                </a:tc>
                <a:tc>
                  <a:txBody>
                    <a:bodyPr/>
                    <a:lstStyle/>
                    <a:p>
                      <a:r>
                        <a:rPr lang="en-US" sz="1400" dirty="0"/>
                        <a:t>Long-lived infrequently accessed data</a:t>
                      </a:r>
                      <a:endParaRPr lang="en-US" sz="1400" b="0" dirty="0"/>
                    </a:p>
                  </a:txBody>
                  <a:tcPr/>
                </a:tc>
                <a:tc>
                  <a:txBody>
                    <a:bodyPr/>
                    <a:lstStyle/>
                    <a:p>
                      <a:r>
                        <a:rPr lang="en-US" sz="1400" kern="1200" dirty="0">
                          <a:effectLst/>
                        </a:rPr>
                        <a:t>99.999999999%</a:t>
                      </a:r>
                      <a:endParaRPr lang="en-US" sz="1400" b="0" dirty="0"/>
                    </a:p>
                  </a:txBody>
                  <a:tcPr/>
                </a:tc>
                <a:tc>
                  <a:txBody>
                    <a:bodyPr/>
                    <a:lstStyle/>
                    <a:p>
                      <a:r>
                        <a:rPr lang="en-US" sz="1400" kern="1200" dirty="0">
                          <a:effectLst/>
                        </a:rPr>
                        <a:t>99.9%</a:t>
                      </a:r>
                      <a:endParaRPr lang="en-US" sz="14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 &gt;= 3</a:t>
                      </a:r>
                    </a:p>
                    <a:p>
                      <a:endParaRPr lang="en-US" sz="1400" b="0" dirty="0"/>
                    </a:p>
                  </a:txBody>
                  <a:tcPr/>
                </a:tc>
                <a:tc>
                  <a:txBody>
                    <a:bodyPr/>
                    <a:lstStyle/>
                    <a:p>
                      <a:r>
                        <a:rPr lang="en-US" sz="1400" dirty="0"/>
                        <a:t>30 days</a:t>
                      </a:r>
                      <a:endParaRPr lang="en-US" sz="1400" b="0" dirty="0"/>
                    </a:p>
                  </a:txBody>
                  <a:tcPr/>
                </a:tc>
                <a:tc>
                  <a:txBody>
                    <a:bodyPr/>
                    <a:lstStyle/>
                    <a:p>
                      <a:r>
                        <a:rPr lang="en-US" sz="1400" dirty="0"/>
                        <a:t>  128 kb </a:t>
                      </a:r>
                      <a:endParaRPr lang="en-US" sz="1400" b="0" dirty="0"/>
                    </a:p>
                  </a:txBody>
                  <a:tcPr/>
                </a:tc>
                <a:extLst>
                  <a:ext uri="{0D108BD9-81ED-4DB2-BD59-A6C34878D82A}">
                    <a16:rowId xmlns:a16="http://schemas.microsoft.com/office/drawing/2014/main" val="2458748156"/>
                  </a:ext>
                </a:extLst>
              </a:tr>
              <a:tr h="726785">
                <a:tc>
                  <a:txBody>
                    <a:bodyPr/>
                    <a:lstStyle/>
                    <a:p>
                      <a:r>
                        <a:rPr lang="en-US" sz="1400" dirty="0"/>
                        <a:t>Intelligent Tiering </a:t>
                      </a:r>
                      <a:endParaRPr lang="en-US" sz="1400" b="1" dirty="0"/>
                    </a:p>
                  </a:txBody>
                  <a:tcPr/>
                </a:tc>
                <a:tc>
                  <a:txBody>
                    <a:bodyPr/>
                    <a:lstStyle/>
                    <a:p>
                      <a:r>
                        <a:rPr lang="en-US" sz="1400" dirty="0"/>
                        <a:t>Long-lived data with changing  unknown access patterns</a:t>
                      </a:r>
                      <a:endParaRPr lang="en-US" sz="1400" b="0" dirty="0"/>
                    </a:p>
                  </a:txBody>
                  <a:tcPr/>
                </a:tc>
                <a:tc>
                  <a:txBody>
                    <a:bodyPr/>
                    <a:lstStyle/>
                    <a:p>
                      <a:r>
                        <a:rPr lang="en-US" sz="1400" kern="1200" dirty="0">
                          <a:effectLst/>
                        </a:rPr>
                        <a:t>99.999999999%</a:t>
                      </a:r>
                      <a:endParaRPr lang="en-US" sz="1400" b="0" dirty="0"/>
                    </a:p>
                  </a:txBody>
                  <a:tcPr/>
                </a:tc>
                <a:tc>
                  <a:txBody>
                    <a:bodyPr/>
                    <a:lstStyle/>
                    <a:p>
                      <a:r>
                        <a:rPr lang="en-US" sz="1400" kern="1200" dirty="0">
                          <a:effectLst/>
                        </a:rPr>
                        <a:t>99.9%</a:t>
                      </a:r>
                      <a:endParaRPr lang="en-US" sz="14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 &gt;= 3</a:t>
                      </a:r>
                    </a:p>
                    <a:p>
                      <a:endParaRPr lang="en-US" sz="1400" b="0" dirty="0"/>
                    </a:p>
                  </a:txBody>
                  <a:tcPr/>
                </a:tc>
                <a:tc>
                  <a:txBody>
                    <a:bodyPr/>
                    <a:lstStyle/>
                    <a:p>
                      <a:r>
                        <a:rPr lang="en-US" sz="1400" dirty="0"/>
                        <a:t>30 days</a:t>
                      </a:r>
                      <a:endParaRPr lang="en-US" sz="14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 None</a:t>
                      </a:r>
                    </a:p>
                    <a:p>
                      <a:endParaRPr lang="en-US" sz="1400" b="0" dirty="0"/>
                    </a:p>
                  </a:txBody>
                  <a:tcPr/>
                </a:tc>
                <a:extLst>
                  <a:ext uri="{0D108BD9-81ED-4DB2-BD59-A6C34878D82A}">
                    <a16:rowId xmlns:a16="http://schemas.microsoft.com/office/drawing/2014/main" val="3202586939"/>
                  </a:ext>
                </a:extLst>
              </a:tr>
              <a:tr h="726785">
                <a:tc>
                  <a:txBody>
                    <a:bodyPr/>
                    <a:lstStyle/>
                    <a:p>
                      <a:r>
                        <a:rPr lang="en-US" sz="1400" dirty="0" err="1"/>
                        <a:t>OneZone</a:t>
                      </a:r>
                      <a:r>
                        <a:rPr lang="en-US" sz="1400" dirty="0"/>
                        <a:t> IA</a:t>
                      </a:r>
                      <a:endParaRPr lang="en-US" sz="1400" b="1"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Long-lived infrequently accessed data, non-critical data</a:t>
                      </a:r>
                      <a:endParaRPr lang="en-US" sz="1400" b="0" dirty="0"/>
                    </a:p>
                  </a:txBody>
                  <a:tcPr/>
                </a:tc>
                <a:tc>
                  <a:txBody>
                    <a:bodyPr/>
                    <a:lstStyle/>
                    <a:p>
                      <a:r>
                        <a:rPr lang="en-US" sz="1400" kern="1200" dirty="0">
                          <a:effectLst/>
                        </a:rPr>
                        <a:t>99.999999999%</a:t>
                      </a:r>
                      <a:endParaRPr lang="en-US" sz="1400" b="0" dirty="0"/>
                    </a:p>
                  </a:txBody>
                  <a:tcPr/>
                </a:tc>
                <a:tc>
                  <a:txBody>
                    <a:bodyPr/>
                    <a:lstStyle/>
                    <a:p>
                      <a:r>
                        <a:rPr lang="en-US" sz="1400" kern="1200" dirty="0">
                          <a:effectLst/>
                        </a:rPr>
                        <a:t>99.5%</a:t>
                      </a:r>
                      <a:endParaRPr lang="en-US" sz="1400" b="0" dirty="0"/>
                    </a:p>
                  </a:txBody>
                  <a:tcPr/>
                </a:tc>
                <a:tc>
                  <a:txBody>
                    <a:bodyPr/>
                    <a:lstStyle/>
                    <a:p>
                      <a:r>
                        <a:rPr lang="en-US" sz="1400" dirty="0"/>
                        <a:t>1</a:t>
                      </a:r>
                      <a:endParaRPr lang="en-US" sz="1400" b="0" dirty="0"/>
                    </a:p>
                  </a:txBody>
                  <a:tcPr/>
                </a:tc>
                <a:tc>
                  <a:txBody>
                    <a:bodyPr/>
                    <a:lstStyle/>
                    <a:p>
                      <a:r>
                        <a:rPr lang="en-US" sz="1400" dirty="0"/>
                        <a:t>30 days</a:t>
                      </a:r>
                      <a:endParaRPr lang="en-US" sz="1400" b="0" dirty="0"/>
                    </a:p>
                  </a:txBody>
                  <a:tcPr/>
                </a:tc>
                <a:tc>
                  <a:txBody>
                    <a:bodyPr/>
                    <a:lstStyle/>
                    <a:p>
                      <a:r>
                        <a:rPr lang="en-US" sz="1400" dirty="0"/>
                        <a:t>128 kb</a:t>
                      </a:r>
                      <a:endParaRPr lang="en-US" sz="1400" b="0" dirty="0"/>
                    </a:p>
                  </a:txBody>
                  <a:tcPr/>
                </a:tc>
                <a:extLst>
                  <a:ext uri="{0D108BD9-81ED-4DB2-BD59-A6C34878D82A}">
                    <a16:rowId xmlns:a16="http://schemas.microsoft.com/office/drawing/2014/main" val="3756169884"/>
                  </a:ext>
                </a:extLst>
              </a:tr>
              <a:tr h="726785">
                <a:tc>
                  <a:txBody>
                    <a:bodyPr/>
                    <a:lstStyle/>
                    <a:p>
                      <a:r>
                        <a:rPr lang="en-US" sz="1400" dirty="0"/>
                        <a:t>Glacier</a:t>
                      </a:r>
                      <a:endParaRPr lang="en-US" sz="1400" b="1" dirty="0"/>
                    </a:p>
                  </a:txBody>
                  <a:tcPr/>
                </a:tc>
                <a:tc>
                  <a:txBody>
                    <a:bodyPr/>
                    <a:lstStyle/>
                    <a:p>
                      <a:r>
                        <a:rPr lang="en-US" sz="1400" dirty="0"/>
                        <a:t>Archived data with retrieval times ranging from minutes to hours</a:t>
                      </a:r>
                      <a:endParaRPr lang="en-US" sz="1400" b="0" dirty="0"/>
                    </a:p>
                  </a:txBody>
                  <a:tcPr/>
                </a:tc>
                <a:tc>
                  <a:txBody>
                    <a:bodyPr/>
                    <a:lstStyle/>
                    <a:p>
                      <a:r>
                        <a:rPr lang="en-US" sz="1400" kern="1200" dirty="0">
                          <a:effectLst/>
                        </a:rPr>
                        <a:t>99.999999999%</a:t>
                      </a:r>
                      <a:endParaRPr lang="en-US" sz="14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400" dirty="0"/>
                    </a:p>
                    <a:p>
                      <a:r>
                        <a:rPr lang="en-US" sz="1400" dirty="0"/>
                        <a:t>99.99%</a:t>
                      </a:r>
                      <a:endParaRPr lang="en-US" sz="14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 &gt;= 3</a:t>
                      </a:r>
                    </a:p>
                    <a:p>
                      <a:endParaRPr lang="en-US" sz="1400" b="0" dirty="0"/>
                    </a:p>
                  </a:txBody>
                  <a:tcPr/>
                </a:tc>
                <a:tc>
                  <a:txBody>
                    <a:bodyPr/>
                    <a:lstStyle/>
                    <a:p>
                      <a:r>
                        <a:rPr lang="en-US" sz="1400" dirty="0"/>
                        <a:t>90 days</a:t>
                      </a:r>
                      <a:endParaRPr lang="en-US" sz="1400" b="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 None</a:t>
                      </a:r>
                    </a:p>
                    <a:p>
                      <a:endParaRPr lang="en-US" sz="1400" b="0" dirty="0"/>
                    </a:p>
                  </a:txBody>
                  <a:tcPr/>
                </a:tc>
                <a:extLst>
                  <a:ext uri="{0D108BD9-81ED-4DB2-BD59-A6C34878D82A}">
                    <a16:rowId xmlns:a16="http://schemas.microsoft.com/office/drawing/2014/main" val="3285509150"/>
                  </a:ext>
                </a:extLst>
              </a:tr>
              <a:tr h="596528">
                <a:tc>
                  <a:txBody>
                    <a:bodyPr/>
                    <a:lstStyle/>
                    <a:p>
                      <a:r>
                        <a:rPr lang="en-US" sz="1400" dirty="0"/>
                        <a:t>Glacier Deep Achieve</a:t>
                      </a:r>
                      <a:endParaRPr lang="en-US" sz="1400" b="1"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Archived data with retrieval times in hours</a:t>
                      </a:r>
                      <a:endParaRPr lang="en-US" sz="1400" b="0" dirty="0"/>
                    </a:p>
                  </a:txBody>
                  <a:tcPr/>
                </a:tc>
                <a:tc>
                  <a:txBody>
                    <a:bodyPr/>
                    <a:lstStyle/>
                    <a:p>
                      <a:r>
                        <a:rPr lang="en-US" sz="1400" kern="1200" dirty="0">
                          <a:effectLst/>
                        </a:rPr>
                        <a:t>99.999999999%</a:t>
                      </a:r>
                      <a:endParaRPr lang="en-US" sz="1400" b="0" dirty="0"/>
                    </a:p>
                  </a:txBody>
                  <a:tcPr/>
                </a:tc>
                <a:tc>
                  <a:txBody>
                    <a:bodyPr/>
                    <a:lstStyle/>
                    <a:p>
                      <a:r>
                        <a:rPr lang="en-US" sz="1400" dirty="0"/>
                        <a:t>99.99%</a:t>
                      </a:r>
                      <a:endParaRPr lang="en-US" sz="1400" b="0" dirty="0"/>
                    </a:p>
                  </a:txBody>
                  <a:tcPr/>
                </a:tc>
                <a:tc>
                  <a:txBody>
                    <a:bodyPr/>
                    <a:lstStyle/>
                    <a:p>
                      <a:r>
                        <a:rPr lang="en-US" sz="1400" dirty="0"/>
                        <a:t>&gt;= 3</a:t>
                      </a:r>
                      <a:endParaRPr lang="en-US" sz="1400" b="0" dirty="0"/>
                    </a:p>
                  </a:txBody>
                  <a:tcPr/>
                </a:tc>
                <a:tc>
                  <a:txBody>
                    <a:bodyPr/>
                    <a:lstStyle/>
                    <a:p>
                      <a:r>
                        <a:rPr lang="en-US" sz="1400" dirty="0"/>
                        <a:t>180 days</a:t>
                      </a:r>
                      <a:endParaRPr lang="en-US" sz="1400" b="0" dirty="0"/>
                    </a:p>
                  </a:txBody>
                  <a:tcPr/>
                </a:tc>
                <a:tc>
                  <a:txBody>
                    <a:bodyPr/>
                    <a:lstStyle/>
                    <a:p>
                      <a:r>
                        <a:rPr lang="en-US" sz="1400" dirty="0"/>
                        <a:t>None</a:t>
                      </a:r>
                      <a:endParaRPr lang="en-US" sz="1400" b="0" dirty="0"/>
                    </a:p>
                  </a:txBody>
                  <a:tcPr/>
                </a:tc>
                <a:extLst>
                  <a:ext uri="{0D108BD9-81ED-4DB2-BD59-A6C34878D82A}">
                    <a16:rowId xmlns:a16="http://schemas.microsoft.com/office/drawing/2014/main" val="3860335649"/>
                  </a:ext>
                </a:extLst>
              </a:tr>
              <a:tr h="514806">
                <a:tc>
                  <a:txBody>
                    <a:bodyPr/>
                    <a:lstStyle/>
                    <a:p>
                      <a:r>
                        <a:rPr lang="en-US" sz="1400" dirty="0"/>
                        <a:t>Reduced Redundancy </a:t>
                      </a:r>
                      <a:endParaRPr lang="en-US" sz="1400" b="1" dirty="0"/>
                    </a:p>
                  </a:txBody>
                  <a:tcPr/>
                </a:tc>
                <a:tc>
                  <a:txBody>
                    <a:bodyPr/>
                    <a:lstStyle/>
                    <a:p>
                      <a:r>
                        <a:rPr lang="en-US" sz="1400" dirty="0"/>
                        <a:t>Frequently accessed non-critical data</a:t>
                      </a:r>
                      <a:endParaRPr lang="en-US" sz="1400" b="0" dirty="0"/>
                    </a:p>
                  </a:txBody>
                  <a:tcPr/>
                </a:tc>
                <a:tc>
                  <a:txBody>
                    <a:bodyPr/>
                    <a:lstStyle/>
                    <a:p>
                      <a:r>
                        <a:rPr lang="en-US" sz="1400" dirty="0"/>
                        <a:t>99.99%</a:t>
                      </a:r>
                      <a:endParaRPr lang="en-US" sz="1400" b="0" dirty="0"/>
                    </a:p>
                  </a:txBody>
                  <a:tcPr/>
                </a:tc>
                <a:tc>
                  <a:txBody>
                    <a:bodyPr/>
                    <a:lstStyle/>
                    <a:p>
                      <a:r>
                        <a:rPr lang="en-US" sz="1400" dirty="0"/>
                        <a:t>99.99%</a:t>
                      </a:r>
                      <a:endParaRPr lang="en-US" sz="1400" b="0" dirty="0"/>
                    </a:p>
                  </a:txBody>
                  <a:tcPr/>
                </a:tc>
                <a:tc>
                  <a:txBody>
                    <a:bodyPr/>
                    <a:lstStyle/>
                    <a:p>
                      <a:r>
                        <a:rPr lang="en-US" sz="1400" dirty="0"/>
                        <a:t>&gt;= 3</a:t>
                      </a:r>
                      <a:endParaRPr lang="en-US" sz="1400" b="0" dirty="0"/>
                    </a:p>
                  </a:txBody>
                  <a:tcPr/>
                </a:tc>
                <a:tc>
                  <a:txBody>
                    <a:bodyPr/>
                    <a:lstStyle/>
                    <a:p>
                      <a:r>
                        <a:rPr lang="en-US" sz="1400" dirty="0"/>
                        <a:t>None</a:t>
                      </a:r>
                      <a:endParaRPr lang="en-US" sz="1400" b="0" dirty="0"/>
                    </a:p>
                  </a:txBody>
                  <a:tcPr/>
                </a:tc>
                <a:tc>
                  <a:txBody>
                    <a:bodyPr/>
                    <a:lstStyle/>
                    <a:p>
                      <a:r>
                        <a:rPr lang="en-US" sz="1400" dirty="0"/>
                        <a:t>None</a:t>
                      </a:r>
                      <a:endParaRPr lang="en-US" sz="1400" b="0" dirty="0"/>
                    </a:p>
                  </a:txBody>
                  <a:tcPr/>
                </a:tc>
                <a:extLst>
                  <a:ext uri="{0D108BD9-81ED-4DB2-BD59-A6C34878D82A}">
                    <a16:rowId xmlns:a16="http://schemas.microsoft.com/office/drawing/2014/main" val="3733721908"/>
                  </a:ext>
                </a:extLst>
              </a:tr>
            </a:tbl>
          </a:graphicData>
        </a:graphic>
      </p:graphicFrame>
    </p:spTree>
    <p:extLst>
      <p:ext uri="{BB962C8B-B14F-4D97-AF65-F5344CB8AC3E}">
        <p14:creationId xmlns:p14="http://schemas.microsoft.com/office/powerpoint/2010/main" val="33315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Graphik"/>
                <a:ea typeface="+mn-ea"/>
                <a:cs typeface="+mn-cs"/>
              </a:rPr>
              <a:t>Copyright © 2020 Accenture. All rights reserved.</a:t>
            </a:r>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a:xfrm>
            <a:off x="13035517" y="6677247"/>
            <a:ext cx="914694" cy="38285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800" b="0" i="0" u="none" strike="noStrike" kern="1200" cap="none" spc="0" normalizeH="0" baseline="0" noProof="0" smtClean="0">
                <a:ln>
                  <a:noFill/>
                </a:ln>
                <a:solidFill>
                  <a:prstClr val="black"/>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LAMBDA</a:t>
            </a:r>
          </a:p>
        </p:txBody>
      </p:sp>
      <p:sp>
        <p:nvSpPr>
          <p:cNvPr id="8" name="TextBox 7">
            <a:extLst>
              <a:ext uri="{FF2B5EF4-FFF2-40B4-BE49-F238E27FC236}">
                <a16:creationId xmlns:a16="http://schemas.microsoft.com/office/drawing/2014/main" id="{2E26210D-6753-494D-BCB7-473DB5481624}"/>
              </a:ext>
            </a:extLst>
          </p:cNvPr>
          <p:cNvSpPr txBox="1"/>
          <p:nvPr/>
        </p:nvSpPr>
        <p:spPr>
          <a:xfrm>
            <a:off x="610342" y="1139743"/>
            <a:ext cx="13539711" cy="5309146"/>
          </a:xfrm>
          <a:prstGeom prst="rect">
            <a:avLst/>
          </a:prstGeom>
          <a:noFill/>
        </p:spPr>
        <p:txBody>
          <a:bodyPr wrap="square" lIns="0" tIns="0" rIns="0" bIns="45720" rtlCol="0">
            <a:spAutoFit/>
          </a:bodyPr>
          <a:lstStyle/>
          <a:p>
            <a:pPr marL="285750" lvl="0" indent="-285750" algn="just">
              <a:buFont typeface="Wingdings" panose="05000000000000000000" pitchFamily="2" charset="2"/>
              <a:buChar char="§"/>
            </a:pPr>
            <a:r>
              <a:rPr lang="en-US">
                <a:solidFill>
                  <a:srgbClr val="18537D"/>
                </a:solidFill>
              </a:rPr>
              <a:t>Lambda(Serverless computing) </a:t>
            </a:r>
            <a:r>
              <a:rPr lang="en-US" dirty="0">
                <a:solidFill>
                  <a:srgbClr val="18537D"/>
                </a:solidFill>
              </a:rPr>
              <a:t>is an execution model where you can build and run applications and services without having to manage the infrastructure.</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Your applications still run on servers but the server management is completely done by the cloud providers. You only need to worry about writing the code.</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In serverless, applications are broken up into individual functions that can be invoked and scaled individually.</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Services like AWS Lambda, Azure Functions take care of  the infrastructure, operating system and operating servers or run time environments.</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Benefits :</a:t>
            </a:r>
          </a:p>
          <a:p>
            <a:pPr lvl="0" algn="just"/>
            <a:r>
              <a:rPr lang="en-US" dirty="0">
                <a:solidFill>
                  <a:srgbClr val="18537D"/>
                </a:solidFill>
              </a:rPr>
              <a:t> 		- No server management</a:t>
            </a:r>
          </a:p>
          <a:p>
            <a:pPr lvl="0" algn="just"/>
            <a:r>
              <a:rPr lang="en-US" dirty="0">
                <a:solidFill>
                  <a:srgbClr val="18537D"/>
                </a:solidFill>
              </a:rPr>
              <a:t>		- Flexible scaling </a:t>
            </a:r>
          </a:p>
          <a:p>
            <a:pPr lvl="0" algn="just"/>
            <a:r>
              <a:rPr lang="en-US" dirty="0">
                <a:solidFill>
                  <a:srgbClr val="18537D"/>
                </a:solidFill>
              </a:rPr>
              <a:t>		- Pay for what you execute</a:t>
            </a:r>
          </a:p>
          <a:p>
            <a:pPr lvl="0" algn="just"/>
            <a:r>
              <a:rPr lang="en-US" dirty="0">
                <a:solidFill>
                  <a:srgbClr val="18537D"/>
                </a:solidFill>
              </a:rPr>
              <a:t>		- Highly available</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p:txBody>
      </p:sp>
    </p:spTree>
    <p:extLst>
      <p:ext uri="{BB962C8B-B14F-4D97-AF65-F5344CB8AC3E}">
        <p14:creationId xmlns:p14="http://schemas.microsoft.com/office/powerpoint/2010/main" val="894838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Graphik"/>
                <a:ea typeface="+mn-ea"/>
                <a:cs typeface="+mn-cs"/>
              </a:rPr>
              <a:t>Copyright © 2020 Accenture. All rights reserved.</a:t>
            </a:r>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a:xfrm>
            <a:off x="13035517" y="6677247"/>
            <a:ext cx="914694" cy="38285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800" b="0" i="0" u="none" strike="noStrike" kern="1200" cap="none" spc="0" normalizeH="0" baseline="0" noProof="0" smtClean="0">
                <a:ln>
                  <a:noFill/>
                </a:ln>
                <a:solidFill>
                  <a:prstClr val="black"/>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LAMBDA</a:t>
            </a:r>
          </a:p>
        </p:txBody>
      </p:sp>
      <p:sp>
        <p:nvSpPr>
          <p:cNvPr id="8" name="TextBox 7">
            <a:extLst>
              <a:ext uri="{FF2B5EF4-FFF2-40B4-BE49-F238E27FC236}">
                <a16:creationId xmlns:a16="http://schemas.microsoft.com/office/drawing/2014/main" id="{2E26210D-6753-494D-BCB7-473DB5481624}"/>
              </a:ext>
            </a:extLst>
          </p:cNvPr>
          <p:cNvSpPr txBox="1"/>
          <p:nvPr/>
        </p:nvSpPr>
        <p:spPr>
          <a:xfrm>
            <a:off x="610342" y="1139743"/>
            <a:ext cx="13539711" cy="7248138"/>
          </a:xfrm>
          <a:prstGeom prst="rect">
            <a:avLst/>
          </a:prstGeom>
          <a:noFill/>
        </p:spPr>
        <p:txBody>
          <a:bodyPr wrap="square" lIns="0" tIns="0" rIns="0" bIns="45720" rtlCol="0">
            <a:spAutoFit/>
          </a:bodyPr>
          <a:lstStyle/>
          <a:p>
            <a:pPr marL="285750" lvl="0" indent="-285750" algn="just">
              <a:buFont typeface="Wingdings" panose="05000000000000000000" pitchFamily="2" charset="2"/>
              <a:buChar char="§"/>
            </a:pPr>
            <a:r>
              <a:rPr lang="en-US" dirty="0">
                <a:solidFill>
                  <a:srgbClr val="18537D"/>
                </a:solidFill>
              </a:rPr>
              <a:t>AWS Lambda is a </a:t>
            </a:r>
            <a:r>
              <a:rPr lang="en-US" dirty="0" err="1">
                <a:solidFill>
                  <a:srgbClr val="18537D"/>
                </a:solidFill>
              </a:rPr>
              <a:t>FaaS</a:t>
            </a:r>
            <a:r>
              <a:rPr lang="en-US" dirty="0">
                <a:solidFill>
                  <a:srgbClr val="18537D"/>
                </a:solidFill>
              </a:rPr>
              <a:t> (Functions-as-a-Service) from AWS.</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AWS Lambda lets you run your code without provisioning or managing the servers. Lambda runs your code with zero-administration from your end.</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You will pay only for the compute time when the code is running and there are no charges when the code is not running.</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You can you AWS Lambda in response to events. Such as Lambda can be triggered if changes to the data in S3 bucket or DynamoDB table.</a:t>
            </a:r>
          </a:p>
          <a:p>
            <a:pPr lvl="0" algn="just"/>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Lambda will take care of the infrastructure, operating system and run time environments of the supported languages and Lambda does not provide access to the underlying infrastructure.</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Currently Lambda supports following languages: Java, NodeJS, Python, .NET, Go, Ruby</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Lambda scales automatically and process few to thousands of requests per second. All you need to do is supply your code.</a:t>
            </a: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r>
              <a:rPr lang="en-US" dirty="0">
                <a:solidFill>
                  <a:srgbClr val="18537D"/>
                </a:solidFill>
              </a:rPr>
              <a:t>Maximum Lambda function execution time is 15 minutes. You can publish new versions of Lambda functions</a:t>
            </a:r>
          </a:p>
          <a:p>
            <a:pPr lvl="0" algn="just"/>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a:p>
            <a:pPr marL="285750" lvl="0" indent="-285750" algn="just">
              <a:buFont typeface="Wingdings" panose="05000000000000000000" pitchFamily="2" charset="2"/>
              <a:buChar char="§"/>
            </a:pPr>
            <a:endParaRPr lang="en-US" dirty="0">
              <a:solidFill>
                <a:srgbClr val="18537D"/>
              </a:solidFill>
            </a:endParaRPr>
          </a:p>
          <a:p>
            <a:pPr lvl="0" algn="just"/>
            <a:endParaRPr lang="en-US" dirty="0">
              <a:solidFill>
                <a:srgbClr val="18537D"/>
              </a:solidFill>
            </a:endParaRPr>
          </a:p>
        </p:txBody>
      </p:sp>
    </p:spTree>
    <p:extLst>
      <p:ext uri="{BB962C8B-B14F-4D97-AF65-F5344CB8AC3E}">
        <p14:creationId xmlns:p14="http://schemas.microsoft.com/office/powerpoint/2010/main" val="216368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9AD830D-0B2C-4B93-AB35-87904F641F4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84AB85A-E289-48A6-B864-55E8B40D3431}"/>
              </a:ext>
            </a:extLst>
          </p:cNvPr>
          <p:cNvSpPr>
            <a:spLocks noGrp="1"/>
          </p:cNvSpPr>
          <p:nvPr>
            <p:ph type="sldNum" sz="quarter" idx="17"/>
          </p:nvPr>
        </p:nvSpPr>
        <p:spPr/>
        <p:txBody>
          <a:bodyPr/>
          <a:lstStyle/>
          <a:p>
            <a:fld id="{4F9AC08D-23A9-440E-BCB9-AA1E9877CC38}" type="slidenum">
              <a:rPr lang="en-US" smtClean="0"/>
              <a:pPr/>
              <a:t>10</a:t>
            </a:fld>
            <a:endParaRPr lang="en-US" dirty="0"/>
          </a:p>
        </p:txBody>
      </p:sp>
      <p:sp>
        <p:nvSpPr>
          <p:cNvPr id="4" name="Title 3">
            <a:extLst>
              <a:ext uri="{FF2B5EF4-FFF2-40B4-BE49-F238E27FC236}">
                <a16:creationId xmlns:a16="http://schemas.microsoft.com/office/drawing/2014/main" id="{5BC797F7-7646-4311-B54D-2DCDF445ECB1}"/>
              </a:ext>
            </a:extLst>
          </p:cNvPr>
          <p:cNvSpPr>
            <a:spLocks noGrp="1"/>
          </p:cNvSpPr>
          <p:nvPr>
            <p:ph type="title"/>
          </p:nvPr>
        </p:nvSpPr>
        <p:spPr>
          <a:xfrm>
            <a:off x="270004" y="299559"/>
            <a:ext cx="13500200" cy="1359871"/>
          </a:xfrm>
        </p:spPr>
        <p:txBody>
          <a:bodyPr/>
          <a:lstStyle/>
          <a:p>
            <a:r>
              <a:rPr lang="en-IN" sz="4400" dirty="0">
                <a:solidFill>
                  <a:schemeClr val="bg1"/>
                </a:solidFill>
              </a:rPr>
              <a:t>Amazon </a:t>
            </a:r>
            <a:r>
              <a:rPr lang="en-IN" sz="4400" dirty="0" err="1">
                <a:solidFill>
                  <a:schemeClr val="bg1"/>
                </a:solidFill>
              </a:rPr>
              <a:t>Dynamodb</a:t>
            </a:r>
            <a:endParaRPr lang="en-US" dirty="0">
              <a:solidFill>
                <a:schemeClr val="bg1"/>
              </a:solidFill>
            </a:endParaRPr>
          </a:p>
        </p:txBody>
      </p:sp>
      <p:sp>
        <p:nvSpPr>
          <p:cNvPr id="6" name="Rectangle 5">
            <a:extLst>
              <a:ext uri="{FF2B5EF4-FFF2-40B4-BE49-F238E27FC236}">
                <a16:creationId xmlns:a16="http://schemas.microsoft.com/office/drawing/2014/main" id="{D01278FA-2139-481B-AEEF-6C045806A49F}"/>
              </a:ext>
            </a:extLst>
          </p:cNvPr>
          <p:cNvSpPr/>
          <p:nvPr/>
        </p:nvSpPr>
        <p:spPr>
          <a:xfrm>
            <a:off x="726114" y="1089665"/>
            <a:ext cx="12587981" cy="1200329"/>
          </a:xfrm>
          <a:prstGeom prst="rect">
            <a:avLst/>
          </a:prstGeom>
        </p:spPr>
        <p:txBody>
          <a:bodyPr wrap="square">
            <a:spAutoFit/>
          </a:bodyPr>
          <a:lstStyle/>
          <a:p>
            <a:pPr algn="ctr"/>
            <a:r>
              <a:rPr lang="en-US" dirty="0">
                <a:solidFill>
                  <a:srgbClr val="18537D"/>
                </a:solidFill>
              </a:rPr>
              <a:t>Amazon DynamoDB is a fast and flexible non-relational database service for all applications that need consistent, single-digit millisecond latency at any scale. It is a fully managed cloud database and supports both document and key-value store models. </a:t>
            </a:r>
          </a:p>
          <a:p>
            <a:pPr algn="ctr"/>
            <a:endParaRPr lang="en-US" b="1" dirty="0"/>
          </a:p>
        </p:txBody>
      </p:sp>
      <p:sp>
        <p:nvSpPr>
          <p:cNvPr id="11" name="TextBox 10">
            <a:extLst>
              <a:ext uri="{FF2B5EF4-FFF2-40B4-BE49-F238E27FC236}">
                <a16:creationId xmlns:a16="http://schemas.microsoft.com/office/drawing/2014/main" id="{EB043DD9-4468-48F1-8ADE-61A9CF94F00E}"/>
              </a:ext>
            </a:extLst>
          </p:cNvPr>
          <p:cNvSpPr txBox="1"/>
          <p:nvPr/>
        </p:nvSpPr>
        <p:spPr>
          <a:xfrm>
            <a:off x="2547307" y="4199167"/>
            <a:ext cx="2250381" cy="646331"/>
          </a:xfrm>
          <a:prstGeom prst="rect">
            <a:avLst/>
          </a:prstGeom>
          <a:noFill/>
        </p:spPr>
        <p:txBody>
          <a:bodyPr wrap="square" rtlCol="0">
            <a:spAutoFit/>
          </a:bodyPr>
          <a:lstStyle/>
          <a:p>
            <a:pPr algn="ctr"/>
            <a:r>
              <a:rPr lang="en-US" dirty="0">
                <a:solidFill>
                  <a:srgbClr val="18537D"/>
                </a:solidFill>
              </a:rPr>
              <a:t>Amazon DynamoDB</a:t>
            </a:r>
          </a:p>
        </p:txBody>
      </p:sp>
      <p:pic>
        <p:nvPicPr>
          <p:cNvPr id="12" name="Picture 11">
            <a:extLst>
              <a:ext uri="{FF2B5EF4-FFF2-40B4-BE49-F238E27FC236}">
                <a16:creationId xmlns:a16="http://schemas.microsoft.com/office/drawing/2014/main" id="{7D9AEE7B-5665-4D64-AA8D-0D4B3C3195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5874" y="3267055"/>
            <a:ext cx="713249" cy="790062"/>
          </a:xfrm>
          <a:prstGeom prst="rect">
            <a:avLst/>
          </a:prstGeom>
        </p:spPr>
      </p:pic>
      <p:sp>
        <p:nvSpPr>
          <p:cNvPr id="13" name="Rectangle 12">
            <a:extLst>
              <a:ext uri="{FF2B5EF4-FFF2-40B4-BE49-F238E27FC236}">
                <a16:creationId xmlns:a16="http://schemas.microsoft.com/office/drawing/2014/main" id="{6399418F-0FFC-4464-9FB0-A22D157910E2}"/>
              </a:ext>
            </a:extLst>
          </p:cNvPr>
          <p:cNvSpPr/>
          <p:nvPr/>
        </p:nvSpPr>
        <p:spPr>
          <a:xfrm>
            <a:off x="6559463" y="2603424"/>
            <a:ext cx="3789820" cy="2616101"/>
          </a:xfrm>
          <a:prstGeom prst="rect">
            <a:avLst/>
          </a:prstGeom>
        </p:spPr>
        <p:txBody>
          <a:bodyPr wrap="none">
            <a:spAutoFit/>
          </a:bodyPr>
          <a:lstStyle/>
          <a:p>
            <a:pPr indent="-342900">
              <a:lnSpc>
                <a:spcPct val="200000"/>
              </a:lnSpc>
              <a:buFont typeface="Arial" panose="020B0604020202020204" pitchFamily="34" charset="0"/>
              <a:buChar char="•"/>
            </a:pPr>
            <a:r>
              <a:rPr lang="en-IN" dirty="0">
                <a:solidFill>
                  <a:srgbClr val="18537D"/>
                </a:solidFill>
              </a:rPr>
              <a:t>Fully managed</a:t>
            </a:r>
          </a:p>
          <a:p>
            <a:pPr indent="-342900">
              <a:lnSpc>
                <a:spcPct val="200000"/>
              </a:lnSpc>
              <a:buFont typeface="Arial" panose="020B0604020202020204" pitchFamily="34" charset="0"/>
              <a:buChar char="•"/>
            </a:pPr>
            <a:r>
              <a:rPr lang="en-IN" dirty="0">
                <a:solidFill>
                  <a:srgbClr val="18537D"/>
                </a:solidFill>
              </a:rPr>
              <a:t>Fast, Consistent Performance</a:t>
            </a:r>
          </a:p>
          <a:p>
            <a:pPr indent="-342900">
              <a:lnSpc>
                <a:spcPct val="200000"/>
              </a:lnSpc>
              <a:buFont typeface="Arial" panose="020B0604020202020204" pitchFamily="34" charset="0"/>
              <a:buChar char="•"/>
            </a:pPr>
            <a:r>
              <a:rPr lang="en-IN" dirty="0">
                <a:solidFill>
                  <a:srgbClr val="18537D"/>
                </a:solidFill>
              </a:rPr>
              <a:t>Fine-grained access control</a:t>
            </a:r>
          </a:p>
          <a:p>
            <a:pPr indent="-342900">
              <a:lnSpc>
                <a:spcPct val="200000"/>
              </a:lnSpc>
              <a:buFont typeface="Arial" panose="020B0604020202020204" pitchFamily="34" charset="0"/>
              <a:buChar char="•"/>
            </a:pPr>
            <a:r>
              <a:rPr lang="en-IN" dirty="0">
                <a:solidFill>
                  <a:srgbClr val="18537D"/>
                </a:solidFill>
              </a:rPr>
              <a:t>Flexible</a:t>
            </a:r>
          </a:p>
          <a:p>
            <a:endParaRPr lang="en-IN" sz="2000" b="1" dirty="0"/>
          </a:p>
        </p:txBody>
      </p:sp>
    </p:spTree>
    <p:extLst>
      <p:ext uri="{BB962C8B-B14F-4D97-AF65-F5344CB8AC3E}">
        <p14:creationId xmlns:p14="http://schemas.microsoft.com/office/powerpoint/2010/main" val="1668024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7394FE-1BB5-416B-BB02-34611C368820}"/>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FA4DD33D-9326-432F-BA9E-A5BB0D137F37}"/>
              </a:ext>
            </a:extLst>
          </p:cNvPr>
          <p:cNvSpPr>
            <a:spLocks noGrp="1"/>
          </p:cNvSpPr>
          <p:nvPr>
            <p:ph type="sldNum" sz="quarter" idx="17"/>
          </p:nvPr>
        </p:nvSpPr>
        <p:spPr/>
        <p:txBody>
          <a:bodyPr/>
          <a:lstStyle/>
          <a:p>
            <a:fld id="{4F9AC08D-23A9-440E-BCB9-AA1E9877CC38}" type="slidenum">
              <a:rPr lang="en-US" smtClean="0"/>
              <a:pPr/>
              <a:t>11</a:t>
            </a:fld>
            <a:endParaRPr lang="en-US" dirty="0"/>
          </a:p>
        </p:txBody>
      </p:sp>
      <p:sp>
        <p:nvSpPr>
          <p:cNvPr id="4" name="Title 3">
            <a:extLst>
              <a:ext uri="{FF2B5EF4-FFF2-40B4-BE49-F238E27FC236}">
                <a16:creationId xmlns:a16="http://schemas.microsoft.com/office/drawing/2014/main" id="{1471D7DF-E80F-4E7B-8197-D651DA7DED32}"/>
              </a:ext>
            </a:extLst>
          </p:cNvPr>
          <p:cNvSpPr>
            <a:spLocks noGrp="1"/>
          </p:cNvSpPr>
          <p:nvPr>
            <p:ph type="title"/>
          </p:nvPr>
        </p:nvSpPr>
        <p:spPr/>
        <p:txBody>
          <a:bodyPr/>
          <a:lstStyle/>
          <a:p>
            <a:r>
              <a:rPr lang="en-IN" sz="4400" dirty="0">
                <a:solidFill>
                  <a:schemeClr val="bg1"/>
                </a:solidFill>
                <a:latin typeface="Graphik Black" panose="020B0A03030202060203" pitchFamily="34" charset="0"/>
              </a:rPr>
              <a:t>Amazon DynamoDB – Core components</a:t>
            </a:r>
            <a:endParaRPr lang="en-US" dirty="0"/>
          </a:p>
        </p:txBody>
      </p:sp>
      <p:sp>
        <p:nvSpPr>
          <p:cNvPr id="5" name="TextBox 4">
            <a:extLst>
              <a:ext uri="{FF2B5EF4-FFF2-40B4-BE49-F238E27FC236}">
                <a16:creationId xmlns:a16="http://schemas.microsoft.com/office/drawing/2014/main" id="{7C3D537E-0ABA-42E4-9ADB-8DCBCE0638FD}"/>
              </a:ext>
            </a:extLst>
          </p:cNvPr>
          <p:cNvSpPr txBox="1"/>
          <p:nvPr/>
        </p:nvSpPr>
        <p:spPr>
          <a:xfrm>
            <a:off x="450005" y="988718"/>
            <a:ext cx="8350313" cy="5395131"/>
          </a:xfrm>
          <a:prstGeom prst="rect">
            <a:avLst/>
          </a:prstGeom>
          <a:noFill/>
        </p:spPr>
        <p:txBody>
          <a:bodyPr wrap="square" lIns="0" tIns="0" rIns="0" bIns="45720" rtlCol="0">
            <a:spAutoFit/>
          </a:bodyPr>
          <a:lstStyle/>
          <a:p>
            <a:pPr marL="285750" indent="-285750" algn="just">
              <a:lnSpc>
                <a:spcPct val="150000"/>
              </a:lnSpc>
              <a:buFont typeface="Wingdings" panose="05000000000000000000" pitchFamily="2" charset="2"/>
              <a:buChar char="§"/>
            </a:pPr>
            <a:r>
              <a:rPr lang="en-US" dirty="0">
                <a:solidFill>
                  <a:srgbClr val="18537D"/>
                </a:solidFill>
              </a:rPr>
              <a:t>Tables </a:t>
            </a:r>
          </a:p>
          <a:p>
            <a:pPr marL="742950" lvl="1" indent="-285750" algn="just">
              <a:lnSpc>
                <a:spcPct val="150000"/>
              </a:lnSpc>
              <a:buFont typeface="Courier New" panose="02070309020205020404" pitchFamily="49" charset="0"/>
              <a:buChar char="o"/>
            </a:pPr>
            <a:r>
              <a:rPr lang="en-US" dirty="0">
                <a:solidFill>
                  <a:srgbClr val="18537D"/>
                </a:solidFill>
              </a:rPr>
              <a:t>DynamoDB stores data in the form of tables similar to RDBMS</a:t>
            </a:r>
          </a:p>
          <a:p>
            <a:pPr marL="742950" lvl="1" indent="-285750" algn="just">
              <a:lnSpc>
                <a:spcPct val="150000"/>
              </a:lnSpc>
              <a:buFont typeface="Courier New" panose="02070309020205020404" pitchFamily="49" charset="0"/>
              <a:buChar char="o"/>
            </a:pPr>
            <a:r>
              <a:rPr lang="en-IN" dirty="0">
                <a:solidFill>
                  <a:srgbClr val="18537D"/>
                </a:solidFill>
              </a:rPr>
              <a:t>A table is a collection of data</a:t>
            </a:r>
            <a:endParaRPr lang="en-US" dirty="0">
              <a:solidFill>
                <a:srgbClr val="18537D"/>
              </a:solidFill>
            </a:endParaRPr>
          </a:p>
          <a:p>
            <a:pPr marL="742950" lvl="1" indent="-285750" algn="just">
              <a:lnSpc>
                <a:spcPct val="150000"/>
              </a:lnSpc>
              <a:buFont typeface="Courier New" panose="02070309020205020404" pitchFamily="49" charset="0"/>
              <a:buChar char="o"/>
            </a:pPr>
            <a:r>
              <a:rPr lang="en-US" dirty="0">
                <a:solidFill>
                  <a:srgbClr val="18537D"/>
                </a:solidFill>
              </a:rPr>
              <a:t>DynamoDB tables are schema less (other than the primary key you need not define any other attributes)</a:t>
            </a:r>
          </a:p>
          <a:p>
            <a:pPr marL="285750" indent="-285750" algn="just">
              <a:lnSpc>
                <a:spcPct val="150000"/>
              </a:lnSpc>
              <a:buFont typeface="Wingdings" panose="05000000000000000000" pitchFamily="2" charset="2"/>
              <a:buChar char="§"/>
            </a:pPr>
            <a:r>
              <a:rPr lang="en-US" dirty="0">
                <a:solidFill>
                  <a:srgbClr val="18537D"/>
                </a:solidFill>
              </a:rPr>
              <a:t>Items</a:t>
            </a:r>
          </a:p>
          <a:p>
            <a:pPr marL="742950" lvl="1" indent="-285750" algn="just">
              <a:lnSpc>
                <a:spcPct val="150000"/>
              </a:lnSpc>
              <a:buFont typeface="Courier New" panose="02070309020205020404" pitchFamily="49" charset="0"/>
              <a:buChar char="o"/>
            </a:pPr>
            <a:r>
              <a:rPr lang="en-US" dirty="0">
                <a:solidFill>
                  <a:srgbClr val="18537D"/>
                </a:solidFill>
              </a:rPr>
              <a:t>A table can contain zero or more items</a:t>
            </a:r>
          </a:p>
          <a:p>
            <a:pPr marL="742950" lvl="1" indent="-285750" algn="just">
              <a:lnSpc>
                <a:spcPct val="150000"/>
              </a:lnSpc>
              <a:buFont typeface="Courier New" panose="02070309020205020404" pitchFamily="49" charset="0"/>
              <a:buChar char="o"/>
            </a:pPr>
            <a:r>
              <a:rPr lang="en-IN" dirty="0">
                <a:solidFill>
                  <a:srgbClr val="18537D"/>
                </a:solidFill>
              </a:rPr>
              <a:t>An item is a group of attributes that is uniquely identifiable among all of the other items</a:t>
            </a:r>
          </a:p>
          <a:p>
            <a:pPr marL="742950" lvl="1" indent="-285750" algn="just">
              <a:lnSpc>
                <a:spcPct val="150000"/>
              </a:lnSpc>
              <a:buFont typeface="Courier New" panose="02070309020205020404" pitchFamily="49" charset="0"/>
              <a:buChar char="o"/>
            </a:pPr>
            <a:r>
              <a:rPr lang="en-US" dirty="0">
                <a:solidFill>
                  <a:srgbClr val="18537D"/>
                </a:solidFill>
              </a:rPr>
              <a:t>Item should be smaller  then 400KB</a:t>
            </a:r>
          </a:p>
          <a:p>
            <a:pPr marL="285750" indent="-285750" algn="just">
              <a:lnSpc>
                <a:spcPct val="150000"/>
              </a:lnSpc>
              <a:buFont typeface="Wingdings" panose="05000000000000000000" pitchFamily="2" charset="2"/>
              <a:buChar char="§"/>
            </a:pPr>
            <a:r>
              <a:rPr lang="en-US" dirty="0">
                <a:solidFill>
                  <a:srgbClr val="18537D"/>
                </a:solidFill>
              </a:rPr>
              <a:t>Attributes</a:t>
            </a:r>
          </a:p>
          <a:p>
            <a:pPr marL="742950" lvl="1" indent="-285750" algn="just">
              <a:lnSpc>
                <a:spcPct val="150000"/>
              </a:lnSpc>
              <a:buFont typeface="Courier New" panose="02070309020205020404" pitchFamily="49" charset="0"/>
              <a:buChar char="o"/>
            </a:pPr>
            <a:r>
              <a:rPr lang="en-US" dirty="0">
                <a:solidFill>
                  <a:srgbClr val="18537D"/>
                </a:solidFill>
              </a:rPr>
              <a:t>Each item is composed of one or more attributes</a:t>
            </a:r>
          </a:p>
          <a:p>
            <a:pPr marL="742950" lvl="1" indent="-285750" algn="just">
              <a:lnSpc>
                <a:spcPct val="150000"/>
              </a:lnSpc>
              <a:buFont typeface="Courier New" panose="02070309020205020404" pitchFamily="49" charset="0"/>
              <a:buChar char="o"/>
            </a:pPr>
            <a:r>
              <a:rPr lang="en-US" dirty="0">
                <a:solidFill>
                  <a:srgbClr val="18537D"/>
                </a:solidFill>
              </a:rPr>
              <a:t>Attributes are similar  to fields or columns in other database systems</a:t>
            </a:r>
            <a:endParaRPr lang="en-IN" dirty="0">
              <a:solidFill>
                <a:srgbClr val="18537D"/>
              </a:solidFill>
            </a:endParaRPr>
          </a:p>
        </p:txBody>
      </p:sp>
      <p:grpSp>
        <p:nvGrpSpPr>
          <p:cNvPr id="6" name="Group 5">
            <a:extLst>
              <a:ext uri="{FF2B5EF4-FFF2-40B4-BE49-F238E27FC236}">
                <a16:creationId xmlns:a16="http://schemas.microsoft.com/office/drawing/2014/main" id="{500DD58C-9B2F-45EA-98C4-209CED2F2CF0}"/>
              </a:ext>
            </a:extLst>
          </p:cNvPr>
          <p:cNvGrpSpPr/>
          <p:nvPr/>
        </p:nvGrpSpPr>
        <p:grpSpPr>
          <a:xfrm>
            <a:off x="9351849" y="1423580"/>
            <a:ext cx="4856651" cy="4525406"/>
            <a:chOff x="5998147" y="999460"/>
            <a:chExt cx="7961708" cy="4912242"/>
          </a:xfrm>
        </p:grpSpPr>
        <p:sp>
          <p:nvSpPr>
            <p:cNvPr id="7" name="TextBox 6">
              <a:extLst>
                <a:ext uri="{FF2B5EF4-FFF2-40B4-BE49-F238E27FC236}">
                  <a16:creationId xmlns:a16="http://schemas.microsoft.com/office/drawing/2014/main" id="{1EF53BAA-1FBB-41F6-BBD0-6B3C90448F53}"/>
                </a:ext>
              </a:extLst>
            </p:cNvPr>
            <p:cNvSpPr txBox="1"/>
            <p:nvPr/>
          </p:nvSpPr>
          <p:spPr>
            <a:xfrm>
              <a:off x="11589488" y="1924493"/>
              <a:ext cx="1392865" cy="292388"/>
            </a:xfrm>
            <a:prstGeom prst="rect">
              <a:avLst/>
            </a:prstGeom>
            <a:noFill/>
          </p:spPr>
          <p:txBody>
            <a:bodyPr wrap="square" lIns="0" tIns="0" rIns="0" bIns="45720" rtlCol="0">
              <a:spAutoFit/>
            </a:bodyPr>
            <a:lstStyle/>
            <a:p>
              <a:r>
                <a:rPr lang="en-IN" sz="1600" dirty="0"/>
                <a:t>item</a:t>
              </a:r>
            </a:p>
          </p:txBody>
        </p:sp>
        <p:grpSp>
          <p:nvGrpSpPr>
            <p:cNvPr id="8" name="Group 7">
              <a:extLst>
                <a:ext uri="{FF2B5EF4-FFF2-40B4-BE49-F238E27FC236}">
                  <a16:creationId xmlns:a16="http://schemas.microsoft.com/office/drawing/2014/main" id="{B3B301BA-5118-4159-BEDF-E6E0568384A9}"/>
                </a:ext>
              </a:extLst>
            </p:cNvPr>
            <p:cNvGrpSpPr/>
            <p:nvPr/>
          </p:nvGrpSpPr>
          <p:grpSpPr>
            <a:xfrm>
              <a:off x="5998147" y="999460"/>
              <a:ext cx="6388783" cy="4912242"/>
              <a:chOff x="5998147" y="999460"/>
              <a:chExt cx="6388783" cy="4912242"/>
            </a:xfrm>
          </p:grpSpPr>
          <p:sp>
            <p:nvSpPr>
              <p:cNvPr id="10" name="Rectangle 9">
                <a:extLst>
                  <a:ext uri="{FF2B5EF4-FFF2-40B4-BE49-F238E27FC236}">
                    <a16:creationId xmlns:a16="http://schemas.microsoft.com/office/drawing/2014/main" id="{816C11D5-356D-479C-A80C-4DC1724664B0}"/>
                  </a:ext>
                </a:extLst>
              </p:cNvPr>
              <p:cNvSpPr/>
              <p:nvPr/>
            </p:nvSpPr>
            <p:spPr>
              <a:xfrm>
                <a:off x="5998147" y="999460"/>
                <a:ext cx="3923414" cy="4912242"/>
              </a:xfrm>
              <a:prstGeom prst="rect">
                <a:avLst/>
              </a:prstGeom>
              <a:solidFill>
                <a:schemeClr val="bg1"/>
              </a:solidFill>
              <a:ln w="28575">
                <a:solidFill>
                  <a:srgbClr val="18537D"/>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N"/>
              </a:p>
            </p:txBody>
          </p:sp>
          <p:sp>
            <p:nvSpPr>
              <p:cNvPr id="11" name="Rectangle 10">
                <a:extLst>
                  <a:ext uri="{FF2B5EF4-FFF2-40B4-BE49-F238E27FC236}">
                    <a16:creationId xmlns:a16="http://schemas.microsoft.com/office/drawing/2014/main" id="{F0C7FB69-BD9D-4903-B73B-EF41CC8AAEB9}"/>
                  </a:ext>
                </a:extLst>
              </p:cNvPr>
              <p:cNvSpPr/>
              <p:nvPr/>
            </p:nvSpPr>
            <p:spPr>
              <a:xfrm>
                <a:off x="6191997" y="1368768"/>
                <a:ext cx="3535713" cy="1469389"/>
              </a:xfrm>
              <a:prstGeom prst="rect">
                <a:avLst/>
              </a:prstGeom>
              <a:solidFill>
                <a:schemeClr val="bg1"/>
              </a:solidFill>
              <a:ln w="28575">
                <a:solidFill>
                  <a:srgbClr val="18537D"/>
                </a:solidFill>
              </a:ln>
            </p:spPr>
            <p:style>
              <a:lnRef idx="2">
                <a:schemeClr val="accent3"/>
              </a:lnRef>
              <a:fillRef idx="1">
                <a:schemeClr val="lt1"/>
              </a:fillRef>
              <a:effectRef idx="0">
                <a:schemeClr val="accent3"/>
              </a:effectRef>
              <a:fontRef idx="minor">
                <a:schemeClr val="dk1"/>
              </a:fontRef>
            </p:style>
            <p:txBody>
              <a:bodyPr rtlCol="0" anchor="ctr"/>
              <a:lstStyle/>
              <a:p>
                <a:r>
                  <a:rPr lang="en-IN" dirty="0">
                    <a:solidFill>
                      <a:srgbClr val="18537D"/>
                    </a:solidFill>
                  </a:rPr>
                  <a:t>{</a:t>
                </a:r>
              </a:p>
              <a:p>
                <a:r>
                  <a:rPr lang="en-IN" dirty="0">
                    <a:solidFill>
                      <a:srgbClr val="18537D"/>
                    </a:solidFill>
                  </a:rPr>
                  <a:t>id:”1”,</a:t>
                </a:r>
              </a:p>
              <a:p>
                <a:r>
                  <a:rPr lang="en-IN" dirty="0" err="1">
                    <a:solidFill>
                      <a:srgbClr val="18537D"/>
                    </a:solidFill>
                  </a:rPr>
                  <a:t>name:”Jack</a:t>
                </a:r>
                <a:r>
                  <a:rPr lang="en-IN" dirty="0">
                    <a:solidFill>
                      <a:srgbClr val="18537D"/>
                    </a:solidFill>
                  </a:rPr>
                  <a:t>”</a:t>
                </a:r>
              </a:p>
              <a:p>
                <a:r>
                  <a:rPr lang="en-IN" dirty="0">
                    <a:solidFill>
                      <a:srgbClr val="18537D"/>
                    </a:solidFill>
                  </a:rPr>
                  <a:t>}</a:t>
                </a:r>
              </a:p>
            </p:txBody>
          </p:sp>
          <p:sp>
            <p:nvSpPr>
              <p:cNvPr id="12" name="Rectangle 11">
                <a:extLst>
                  <a:ext uri="{FF2B5EF4-FFF2-40B4-BE49-F238E27FC236}">
                    <a16:creationId xmlns:a16="http://schemas.microsoft.com/office/drawing/2014/main" id="{CCAB434E-EC32-4CCD-BA66-FDA27CE2BDCD}"/>
                  </a:ext>
                </a:extLst>
              </p:cNvPr>
              <p:cNvSpPr/>
              <p:nvPr/>
            </p:nvSpPr>
            <p:spPr>
              <a:xfrm>
                <a:off x="6191997" y="3173074"/>
                <a:ext cx="3535713" cy="2253887"/>
              </a:xfrm>
              <a:prstGeom prst="rect">
                <a:avLst/>
              </a:prstGeom>
              <a:solidFill>
                <a:schemeClr val="bg1"/>
              </a:solidFill>
              <a:ln w="28575">
                <a:solidFill>
                  <a:srgbClr val="18537D"/>
                </a:solidFill>
              </a:ln>
            </p:spPr>
            <p:style>
              <a:lnRef idx="2">
                <a:schemeClr val="accent3"/>
              </a:lnRef>
              <a:fillRef idx="1">
                <a:schemeClr val="lt1"/>
              </a:fillRef>
              <a:effectRef idx="0">
                <a:schemeClr val="accent3"/>
              </a:effectRef>
              <a:fontRef idx="minor">
                <a:schemeClr val="dk1"/>
              </a:fontRef>
            </p:style>
            <p:txBody>
              <a:bodyPr rtlCol="0" anchor="ctr"/>
              <a:lstStyle/>
              <a:p>
                <a:r>
                  <a:rPr lang="en-IN" dirty="0">
                    <a:solidFill>
                      <a:srgbClr val="18537D"/>
                    </a:solidFill>
                  </a:rPr>
                  <a:t>{</a:t>
                </a:r>
              </a:p>
              <a:p>
                <a:r>
                  <a:rPr lang="en-IN" dirty="0">
                    <a:solidFill>
                      <a:srgbClr val="18537D"/>
                    </a:solidFill>
                  </a:rPr>
                  <a:t>id:”2”,</a:t>
                </a:r>
              </a:p>
              <a:p>
                <a:r>
                  <a:rPr lang="en-IN" dirty="0" err="1">
                    <a:solidFill>
                      <a:srgbClr val="18537D"/>
                    </a:solidFill>
                  </a:rPr>
                  <a:t>name:”James</a:t>
                </a:r>
                <a:r>
                  <a:rPr lang="en-IN" dirty="0">
                    <a:solidFill>
                      <a:srgbClr val="18537D"/>
                    </a:solidFill>
                  </a:rPr>
                  <a:t>”,</a:t>
                </a:r>
              </a:p>
              <a:p>
                <a:r>
                  <a:rPr lang="en-IN" dirty="0">
                    <a:solidFill>
                      <a:srgbClr val="18537D"/>
                    </a:solidFill>
                  </a:rPr>
                  <a:t>address: {</a:t>
                </a:r>
              </a:p>
              <a:p>
                <a:r>
                  <a:rPr lang="en-IN" dirty="0">
                    <a:solidFill>
                      <a:srgbClr val="18537D"/>
                    </a:solidFill>
                  </a:rPr>
                  <a:t> city: “Bangalore”,                    </a:t>
                </a:r>
                <a:r>
                  <a:rPr lang="en-IN" dirty="0" err="1">
                    <a:solidFill>
                      <a:srgbClr val="18537D"/>
                    </a:solidFill>
                  </a:rPr>
                  <a:t>state:”Karnataka</a:t>
                </a:r>
                <a:r>
                  <a:rPr lang="en-IN" dirty="0">
                    <a:solidFill>
                      <a:srgbClr val="18537D"/>
                    </a:solidFill>
                  </a:rPr>
                  <a:t>”</a:t>
                </a:r>
              </a:p>
              <a:p>
                <a:r>
                  <a:rPr lang="en-IN" dirty="0">
                    <a:solidFill>
                      <a:srgbClr val="18537D"/>
                    </a:solidFill>
                  </a:rPr>
                  <a:t>}</a:t>
                </a:r>
              </a:p>
            </p:txBody>
          </p:sp>
          <p:cxnSp>
            <p:nvCxnSpPr>
              <p:cNvPr id="13" name="Straight Arrow Connector 12">
                <a:extLst>
                  <a:ext uri="{FF2B5EF4-FFF2-40B4-BE49-F238E27FC236}">
                    <a16:creationId xmlns:a16="http://schemas.microsoft.com/office/drawing/2014/main" id="{17DEEEF9-64D4-402F-B870-556D7E332B70}"/>
                  </a:ext>
                </a:extLst>
              </p:cNvPr>
              <p:cNvCxnSpPr/>
              <p:nvPr/>
            </p:nvCxnSpPr>
            <p:spPr>
              <a:xfrm>
                <a:off x="9727710" y="2103462"/>
                <a:ext cx="1649127"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4" name="Straight Arrow Connector 13">
                <a:extLst>
                  <a:ext uri="{FF2B5EF4-FFF2-40B4-BE49-F238E27FC236}">
                    <a16:creationId xmlns:a16="http://schemas.microsoft.com/office/drawing/2014/main" id="{C2B5C900-4677-40EF-9C12-2FF068349FF2}"/>
                  </a:ext>
                </a:extLst>
              </p:cNvPr>
              <p:cNvCxnSpPr>
                <a:cxnSpLocks/>
              </p:cNvCxnSpPr>
              <p:nvPr/>
            </p:nvCxnSpPr>
            <p:spPr>
              <a:xfrm>
                <a:off x="8347270" y="2216881"/>
                <a:ext cx="403966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sp>
          <p:nvSpPr>
            <p:cNvPr id="9" name="TextBox 8">
              <a:extLst>
                <a:ext uri="{FF2B5EF4-FFF2-40B4-BE49-F238E27FC236}">
                  <a16:creationId xmlns:a16="http://schemas.microsoft.com/office/drawing/2014/main" id="{78051610-6F76-488B-A8D3-5B64D19606F4}"/>
                </a:ext>
              </a:extLst>
            </p:cNvPr>
            <p:cNvSpPr txBox="1"/>
            <p:nvPr/>
          </p:nvSpPr>
          <p:spPr>
            <a:xfrm>
              <a:off x="12566990" y="2040542"/>
              <a:ext cx="1392865" cy="292388"/>
            </a:xfrm>
            <a:prstGeom prst="rect">
              <a:avLst/>
            </a:prstGeom>
            <a:noFill/>
          </p:spPr>
          <p:txBody>
            <a:bodyPr wrap="square" lIns="0" tIns="0" rIns="0" bIns="45720" rtlCol="0">
              <a:spAutoFit/>
            </a:bodyPr>
            <a:lstStyle/>
            <a:p>
              <a:r>
                <a:rPr lang="en-IN" sz="1600" dirty="0"/>
                <a:t>attribute</a:t>
              </a:r>
            </a:p>
          </p:txBody>
        </p:sp>
      </p:grpSp>
    </p:spTree>
    <p:extLst>
      <p:ext uri="{BB962C8B-B14F-4D97-AF65-F5344CB8AC3E}">
        <p14:creationId xmlns:p14="http://schemas.microsoft.com/office/powerpoint/2010/main" val="1624791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7C4AE8C-0407-4CB2-B669-7080E323B610}"/>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C0BAD22D-FEC2-41E2-A19F-A4856CD19A13}"/>
              </a:ext>
            </a:extLst>
          </p:cNvPr>
          <p:cNvSpPr>
            <a:spLocks noGrp="1"/>
          </p:cNvSpPr>
          <p:nvPr>
            <p:ph type="sldNum" sz="quarter" idx="17"/>
          </p:nvPr>
        </p:nvSpPr>
        <p:spPr/>
        <p:txBody>
          <a:bodyPr/>
          <a:lstStyle/>
          <a:p>
            <a:fld id="{4F9AC08D-23A9-440E-BCB9-AA1E9877CC38}" type="slidenum">
              <a:rPr lang="en-US" smtClean="0"/>
              <a:pPr/>
              <a:t>12</a:t>
            </a:fld>
            <a:endParaRPr lang="en-US" dirty="0"/>
          </a:p>
        </p:txBody>
      </p:sp>
      <p:sp>
        <p:nvSpPr>
          <p:cNvPr id="4" name="Title 3">
            <a:extLst>
              <a:ext uri="{FF2B5EF4-FFF2-40B4-BE49-F238E27FC236}">
                <a16:creationId xmlns:a16="http://schemas.microsoft.com/office/drawing/2014/main" id="{F343FBC1-EE9B-41B9-9BC2-A1A800FE79CF}"/>
              </a:ext>
            </a:extLst>
          </p:cNvPr>
          <p:cNvSpPr>
            <a:spLocks noGrp="1"/>
          </p:cNvSpPr>
          <p:nvPr>
            <p:ph type="title"/>
          </p:nvPr>
        </p:nvSpPr>
        <p:spPr/>
        <p:txBody>
          <a:bodyPr/>
          <a:lstStyle/>
          <a:p>
            <a:r>
              <a:rPr lang="en-IN" sz="4000" dirty="0">
                <a:solidFill>
                  <a:schemeClr val="bg1"/>
                </a:solidFill>
                <a:latin typeface="Graphik Black" panose="020B0A03030202060203" pitchFamily="34" charset="0"/>
              </a:rPr>
              <a:t>Amazon DynamoDB – Core components</a:t>
            </a:r>
            <a:endParaRPr lang="en-US" dirty="0">
              <a:solidFill>
                <a:schemeClr val="bg1"/>
              </a:solidFill>
            </a:endParaRPr>
          </a:p>
        </p:txBody>
      </p:sp>
      <p:sp>
        <p:nvSpPr>
          <p:cNvPr id="5" name="Rectangle 4">
            <a:extLst>
              <a:ext uri="{FF2B5EF4-FFF2-40B4-BE49-F238E27FC236}">
                <a16:creationId xmlns:a16="http://schemas.microsoft.com/office/drawing/2014/main" id="{8D17BB27-7478-4258-8FAC-CFD0A1481BAF}"/>
              </a:ext>
            </a:extLst>
          </p:cNvPr>
          <p:cNvSpPr/>
          <p:nvPr/>
        </p:nvSpPr>
        <p:spPr>
          <a:xfrm>
            <a:off x="1602754" y="1065518"/>
            <a:ext cx="2997119" cy="5025799"/>
          </a:xfrm>
          <a:prstGeom prst="rect">
            <a:avLst/>
          </a:prstGeom>
        </p:spPr>
        <p:txBody>
          <a:bodyPr wrap="square">
            <a:spAutoFit/>
          </a:bodyPr>
          <a:lstStyle/>
          <a:p>
            <a:pPr>
              <a:lnSpc>
                <a:spcPct val="150000"/>
              </a:lnSpc>
            </a:pPr>
            <a:r>
              <a:rPr lang="en-US" dirty="0">
                <a:solidFill>
                  <a:srgbClr val="18537D"/>
                </a:solidFill>
              </a:rPr>
              <a:t>Example:</a:t>
            </a:r>
          </a:p>
          <a:p>
            <a:pPr>
              <a:lnSpc>
                <a:spcPct val="150000"/>
              </a:lnSpc>
            </a:pPr>
            <a:endParaRPr lang="en-US" dirty="0">
              <a:solidFill>
                <a:srgbClr val="18537D"/>
              </a:solidFill>
            </a:endParaRPr>
          </a:p>
          <a:p>
            <a:pPr>
              <a:lnSpc>
                <a:spcPct val="150000"/>
              </a:lnSpc>
            </a:pPr>
            <a:r>
              <a:rPr lang="en-US" dirty="0">
                <a:solidFill>
                  <a:srgbClr val="18537D"/>
                </a:solidFill>
              </a:rPr>
              <a:t>{</a:t>
            </a:r>
          </a:p>
          <a:p>
            <a:pPr>
              <a:lnSpc>
                <a:spcPct val="150000"/>
              </a:lnSpc>
            </a:pPr>
            <a:r>
              <a:rPr lang="en-US" dirty="0">
                <a:solidFill>
                  <a:srgbClr val="18537D"/>
                </a:solidFill>
              </a:rPr>
              <a:t>"Id":"123",</a:t>
            </a:r>
          </a:p>
          <a:p>
            <a:pPr>
              <a:lnSpc>
                <a:spcPct val="150000"/>
              </a:lnSpc>
            </a:pPr>
            <a:r>
              <a:rPr lang="en-US" dirty="0">
                <a:solidFill>
                  <a:srgbClr val="18537D"/>
                </a:solidFill>
              </a:rPr>
              <a:t>"Name":"</a:t>
            </a:r>
            <a:r>
              <a:rPr lang="en-US" dirty="0" err="1">
                <a:solidFill>
                  <a:srgbClr val="18537D"/>
                </a:solidFill>
              </a:rPr>
              <a:t>sam</a:t>
            </a:r>
            <a:r>
              <a:rPr lang="en-US" dirty="0">
                <a:solidFill>
                  <a:srgbClr val="18537D"/>
                </a:solidFill>
              </a:rPr>
              <a:t>",</a:t>
            </a:r>
          </a:p>
          <a:p>
            <a:pPr>
              <a:lnSpc>
                <a:spcPct val="150000"/>
              </a:lnSpc>
            </a:pPr>
            <a:r>
              <a:rPr lang="en-US" dirty="0">
                <a:solidFill>
                  <a:srgbClr val="18537D"/>
                </a:solidFill>
              </a:rPr>
              <a:t>"Age":"29"</a:t>
            </a:r>
          </a:p>
          <a:p>
            <a:pPr>
              <a:lnSpc>
                <a:spcPct val="150000"/>
              </a:lnSpc>
            </a:pP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t>
            </a:r>
          </a:p>
          <a:p>
            <a:pPr>
              <a:lnSpc>
                <a:spcPct val="150000"/>
              </a:lnSpc>
            </a:pPr>
            <a:r>
              <a:rPr lang="en-US" dirty="0">
                <a:solidFill>
                  <a:srgbClr val="18537D"/>
                </a:solidFill>
              </a:rPr>
              <a:t>"Id":"123",</a:t>
            </a:r>
          </a:p>
          <a:p>
            <a:pPr>
              <a:lnSpc>
                <a:spcPct val="150000"/>
              </a:lnSpc>
            </a:pPr>
            <a:r>
              <a:rPr lang="en-US" dirty="0">
                <a:solidFill>
                  <a:srgbClr val="18537D"/>
                </a:solidFill>
              </a:rPr>
              <a:t>"Name":["</a:t>
            </a:r>
            <a:r>
              <a:rPr lang="en-US" dirty="0" err="1">
                <a:solidFill>
                  <a:srgbClr val="18537D"/>
                </a:solidFill>
              </a:rPr>
              <a:t>sam</a:t>
            </a:r>
            <a:r>
              <a:rPr lang="en-US" dirty="0">
                <a:solidFill>
                  <a:srgbClr val="18537D"/>
                </a:solidFill>
              </a:rPr>
              <a:t>","Bob"],</a:t>
            </a:r>
          </a:p>
          <a:p>
            <a:pPr>
              <a:lnSpc>
                <a:spcPct val="150000"/>
              </a:lnSpc>
            </a:pPr>
            <a:r>
              <a:rPr lang="en-US" dirty="0">
                <a:solidFill>
                  <a:srgbClr val="18537D"/>
                </a:solidFill>
              </a:rPr>
              <a:t>}</a:t>
            </a:r>
          </a:p>
        </p:txBody>
      </p:sp>
      <p:sp>
        <p:nvSpPr>
          <p:cNvPr id="6" name="Rectangle 5">
            <a:extLst>
              <a:ext uri="{FF2B5EF4-FFF2-40B4-BE49-F238E27FC236}">
                <a16:creationId xmlns:a16="http://schemas.microsoft.com/office/drawing/2014/main" id="{DE8D85E0-818F-4FED-8A59-0C8C04FCA8C5}"/>
              </a:ext>
            </a:extLst>
          </p:cNvPr>
          <p:cNvSpPr/>
          <p:nvPr/>
        </p:nvSpPr>
        <p:spPr>
          <a:xfrm>
            <a:off x="5752619" y="1065518"/>
            <a:ext cx="8425364" cy="6133795"/>
          </a:xfrm>
          <a:prstGeom prst="rect">
            <a:avLst/>
          </a:prstGeom>
        </p:spPr>
        <p:txBody>
          <a:bodyPr wrap="square">
            <a:spAutoFit/>
          </a:bodyPr>
          <a:lstStyle/>
          <a:p>
            <a:r>
              <a:rPr lang="en-US" dirty="0">
                <a:solidFill>
                  <a:srgbClr val="18537D"/>
                </a:solidFill>
              </a:rPr>
              <a:t>Supported Datatypes:</a:t>
            </a:r>
          </a:p>
          <a:p>
            <a:pPr marL="285750" indent="-285750">
              <a:lnSpc>
                <a:spcPct val="150000"/>
              </a:lnSpc>
              <a:buFont typeface="Arial" panose="020B0604020202020204" pitchFamily="34" charset="0"/>
              <a:buChar char="•"/>
            </a:pPr>
            <a:r>
              <a:rPr lang="en-US" dirty="0">
                <a:solidFill>
                  <a:srgbClr val="18537D"/>
                </a:solidFill>
              </a:rPr>
              <a:t>String</a:t>
            </a:r>
          </a:p>
          <a:p>
            <a:pPr marL="285750" indent="-285750">
              <a:lnSpc>
                <a:spcPct val="150000"/>
              </a:lnSpc>
              <a:buFont typeface="Arial" panose="020B0604020202020204" pitchFamily="34" charset="0"/>
              <a:buChar char="•"/>
            </a:pPr>
            <a:r>
              <a:rPr lang="en-US" dirty="0">
                <a:solidFill>
                  <a:srgbClr val="18537D"/>
                </a:solidFill>
              </a:rPr>
              <a:t>Number</a:t>
            </a:r>
          </a:p>
          <a:p>
            <a:pPr marL="285750" indent="-285750">
              <a:lnSpc>
                <a:spcPct val="150000"/>
              </a:lnSpc>
              <a:buFont typeface="Arial" panose="020B0604020202020204" pitchFamily="34" charset="0"/>
              <a:buChar char="•"/>
            </a:pPr>
            <a:r>
              <a:rPr lang="en-US" dirty="0">
                <a:solidFill>
                  <a:srgbClr val="18537D"/>
                </a:solidFill>
              </a:rPr>
              <a:t>Binary</a:t>
            </a:r>
          </a:p>
          <a:p>
            <a:pPr marL="285750" indent="-285750">
              <a:lnSpc>
                <a:spcPct val="150000"/>
              </a:lnSpc>
              <a:buFont typeface="Arial" panose="020B0604020202020204" pitchFamily="34" charset="0"/>
              <a:buChar char="•"/>
            </a:pPr>
            <a:r>
              <a:rPr lang="en-US" dirty="0">
                <a:solidFill>
                  <a:srgbClr val="18537D"/>
                </a:solidFill>
              </a:rPr>
              <a:t>Boolean</a:t>
            </a:r>
          </a:p>
          <a:p>
            <a:pPr marL="285750" indent="-285750">
              <a:lnSpc>
                <a:spcPct val="150000"/>
              </a:lnSpc>
              <a:buFont typeface="Arial" panose="020B0604020202020204" pitchFamily="34" charset="0"/>
              <a:buChar char="•"/>
            </a:pPr>
            <a:r>
              <a:rPr lang="en-US" dirty="0">
                <a:solidFill>
                  <a:srgbClr val="18537D"/>
                </a:solidFill>
              </a:rPr>
              <a:t>Null</a:t>
            </a:r>
          </a:p>
          <a:p>
            <a:pPr marL="285750" indent="-285750">
              <a:lnSpc>
                <a:spcPct val="150000"/>
              </a:lnSpc>
              <a:buFont typeface="Arial" panose="020B0604020202020204" pitchFamily="34" charset="0"/>
              <a:buChar char="•"/>
            </a:pPr>
            <a:r>
              <a:rPr lang="en-US" dirty="0">
                <a:solidFill>
                  <a:srgbClr val="18537D"/>
                </a:solidFill>
              </a:rPr>
              <a:t>List (any types) - "List":[1,"sam",True]</a:t>
            </a:r>
          </a:p>
          <a:p>
            <a:pPr marL="285750" indent="-285750">
              <a:lnSpc>
                <a:spcPct val="150000"/>
              </a:lnSpc>
              <a:buFont typeface="Arial" panose="020B0604020202020204" pitchFamily="34" charset="0"/>
              <a:buChar char="•"/>
            </a:pPr>
            <a:r>
              <a:rPr lang="en-US" dirty="0">
                <a:solidFill>
                  <a:srgbClr val="18537D"/>
                </a:solidFill>
              </a:rPr>
              <a:t>set of String(Unique values) "Friends":["</a:t>
            </a:r>
            <a:r>
              <a:rPr lang="en-US" dirty="0" err="1">
                <a:solidFill>
                  <a:srgbClr val="18537D"/>
                </a:solidFill>
              </a:rPr>
              <a:t>Sam","bob</a:t>
            </a:r>
            <a:r>
              <a:rPr lang="en-US" dirty="0">
                <a:solidFill>
                  <a:srgbClr val="18537D"/>
                </a:solidFill>
              </a:rPr>
              <a:t>"]</a:t>
            </a:r>
          </a:p>
          <a:p>
            <a:pPr marL="285750" indent="-285750">
              <a:lnSpc>
                <a:spcPct val="150000"/>
              </a:lnSpc>
              <a:buFont typeface="Arial" panose="020B0604020202020204" pitchFamily="34" charset="0"/>
              <a:buChar char="•"/>
            </a:pPr>
            <a:r>
              <a:rPr lang="en-US" dirty="0">
                <a:solidFill>
                  <a:srgbClr val="18537D"/>
                </a:solidFill>
              </a:rPr>
              <a:t>set of Binary(unique values) "Images":["3d..affdd","4dffed...</a:t>
            </a:r>
            <a:r>
              <a:rPr lang="en-US" dirty="0" err="1">
                <a:solidFill>
                  <a:srgbClr val="18537D"/>
                </a:solidFill>
              </a:rPr>
              <a:t>deff</a:t>
            </a:r>
            <a:r>
              <a:rPr lang="en-US" dirty="0">
                <a:solidFill>
                  <a:srgbClr val="18537D"/>
                </a:solidFill>
              </a:rPr>
              <a:t>"]</a:t>
            </a:r>
          </a:p>
          <a:p>
            <a:pPr marL="285750" indent="-285750">
              <a:lnSpc>
                <a:spcPct val="150000"/>
              </a:lnSpc>
              <a:buFont typeface="Arial" panose="020B0604020202020204" pitchFamily="34" charset="0"/>
              <a:buChar char="•"/>
            </a:pPr>
            <a:r>
              <a:rPr lang="en-US" dirty="0">
                <a:solidFill>
                  <a:srgbClr val="18537D"/>
                </a:solidFill>
              </a:rPr>
              <a:t>set of Number(unique value) "Number":[1,24,5,4,7,9]</a:t>
            </a:r>
          </a:p>
          <a:p>
            <a:pPr marL="285750" indent="-285750">
              <a:lnSpc>
                <a:spcPct val="150000"/>
              </a:lnSpc>
              <a:buFont typeface="Arial" panose="020B0604020202020204" pitchFamily="34" charset="0"/>
              <a:buChar char="•"/>
            </a:pPr>
            <a:r>
              <a:rPr lang="en-US" dirty="0">
                <a:solidFill>
                  <a:srgbClr val="18537D"/>
                </a:solidFill>
              </a:rPr>
              <a:t>Map "Address":	{</a:t>
            </a:r>
          </a:p>
          <a:p>
            <a:pPr>
              <a:lnSpc>
                <a:spcPct val="150000"/>
              </a:lnSpc>
            </a:pPr>
            <a:r>
              <a:rPr lang="en-US" dirty="0">
                <a:solidFill>
                  <a:srgbClr val="18537D"/>
                </a:solidFill>
              </a:rPr>
              <a:t>		"No":"123"</a:t>
            </a:r>
          </a:p>
          <a:p>
            <a:pPr>
              <a:lnSpc>
                <a:spcPct val="150000"/>
              </a:lnSpc>
            </a:pPr>
            <a:r>
              <a:rPr lang="en-US" dirty="0">
                <a:solidFill>
                  <a:srgbClr val="18537D"/>
                </a:solidFill>
              </a:rPr>
              <a:t>		"street":"</a:t>
            </a:r>
            <a:r>
              <a:rPr lang="en-US" dirty="0" err="1">
                <a:solidFill>
                  <a:srgbClr val="18537D"/>
                </a:solidFill>
              </a:rPr>
              <a:t>xyz</a:t>
            </a:r>
            <a:r>
              <a:rPr lang="en-US" dirty="0">
                <a:solidFill>
                  <a:srgbClr val="18537D"/>
                </a:solidFill>
              </a:rPr>
              <a:t> street"</a:t>
            </a:r>
          </a:p>
          <a:p>
            <a:pPr>
              <a:lnSpc>
                <a:spcPct val="150000"/>
              </a:lnSpc>
            </a:pPr>
            <a:r>
              <a:rPr lang="en-US" dirty="0">
                <a:solidFill>
                  <a:srgbClr val="18537D"/>
                </a:solidFill>
              </a:rPr>
              <a:t>		"city":"</a:t>
            </a:r>
            <a:r>
              <a:rPr lang="en-US" dirty="0" err="1">
                <a:solidFill>
                  <a:srgbClr val="18537D"/>
                </a:solidFill>
              </a:rPr>
              <a:t>abc</a:t>
            </a:r>
            <a:r>
              <a:rPr lang="en-US" dirty="0">
                <a:solidFill>
                  <a:srgbClr val="18537D"/>
                </a:solidFill>
              </a:rPr>
              <a:t>"</a:t>
            </a:r>
          </a:p>
          <a:p>
            <a:pPr>
              <a:lnSpc>
                <a:spcPct val="150000"/>
              </a:lnSpc>
            </a:pPr>
            <a:r>
              <a:rPr lang="en-US" dirty="0">
                <a:solidFill>
                  <a:srgbClr val="18537D"/>
                </a:solidFill>
              </a:rPr>
              <a:t>		  }</a:t>
            </a:r>
          </a:p>
        </p:txBody>
      </p:sp>
    </p:spTree>
    <p:extLst>
      <p:ext uri="{BB962C8B-B14F-4D97-AF65-F5344CB8AC3E}">
        <p14:creationId xmlns:p14="http://schemas.microsoft.com/office/powerpoint/2010/main" val="761671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F5F79E-D1BF-426F-9793-31AF7274DBD6}"/>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0ABC338D-89C3-40F3-A4EE-886D545B8D5A}"/>
              </a:ext>
            </a:extLst>
          </p:cNvPr>
          <p:cNvSpPr>
            <a:spLocks noGrp="1"/>
          </p:cNvSpPr>
          <p:nvPr>
            <p:ph type="sldNum" sz="quarter" idx="17"/>
          </p:nvPr>
        </p:nvSpPr>
        <p:spPr/>
        <p:txBody>
          <a:bodyPr/>
          <a:lstStyle/>
          <a:p>
            <a:fld id="{4F9AC08D-23A9-440E-BCB9-AA1E9877CC38}" type="slidenum">
              <a:rPr lang="en-US" smtClean="0"/>
              <a:pPr/>
              <a:t>13</a:t>
            </a:fld>
            <a:endParaRPr lang="en-US" dirty="0"/>
          </a:p>
        </p:txBody>
      </p:sp>
      <p:sp>
        <p:nvSpPr>
          <p:cNvPr id="4" name="Title 3">
            <a:extLst>
              <a:ext uri="{FF2B5EF4-FFF2-40B4-BE49-F238E27FC236}">
                <a16:creationId xmlns:a16="http://schemas.microsoft.com/office/drawing/2014/main" id="{D71F9AA8-A947-4604-9D0A-ACC966B59795}"/>
              </a:ext>
            </a:extLst>
          </p:cNvPr>
          <p:cNvSpPr>
            <a:spLocks noGrp="1"/>
          </p:cNvSpPr>
          <p:nvPr>
            <p:ph type="title"/>
          </p:nvPr>
        </p:nvSpPr>
        <p:spPr/>
        <p:txBody>
          <a:bodyPr/>
          <a:lstStyle/>
          <a:p>
            <a:r>
              <a:rPr lang="en-IN" sz="4400" dirty="0">
                <a:solidFill>
                  <a:schemeClr val="bg1"/>
                </a:solidFill>
                <a:latin typeface="Graphik Black" panose="020B0A03030202060203" pitchFamily="34" charset="0"/>
              </a:rPr>
              <a:t>Amazon DynamoDB – Core components</a:t>
            </a:r>
            <a:endParaRPr lang="en-US" dirty="0"/>
          </a:p>
        </p:txBody>
      </p:sp>
      <p:sp>
        <p:nvSpPr>
          <p:cNvPr id="6" name="TextBox 5">
            <a:extLst>
              <a:ext uri="{FF2B5EF4-FFF2-40B4-BE49-F238E27FC236}">
                <a16:creationId xmlns:a16="http://schemas.microsoft.com/office/drawing/2014/main" id="{8F33D4AA-93BD-4D1C-A0B5-15EDD559F569}"/>
              </a:ext>
            </a:extLst>
          </p:cNvPr>
          <p:cNvSpPr txBox="1"/>
          <p:nvPr/>
        </p:nvSpPr>
        <p:spPr>
          <a:xfrm>
            <a:off x="918128" y="1759836"/>
            <a:ext cx="6516493" cy="4755148"/>
          </a:xfrm>
          <a:prstGeom prst="rect">
            <a:avLst/>
          </a:prstGeom>
          <a:noFill/>
        </p:spPr>
        <p:txBody>
          <a:bodyPr wrap="square" lIns="0" tIns="0" rIns="0" bIns="45720" rtlCol="0">
            <a:spAutoFit/>
          </a:bodyPr>
          <a:lstStyle/>
          <a:p>
            <a:pPr algn="just">
              <a:lnSpc>
                <a:spcPct val="150000"/>
              </a:lnSpc>
            </a:pPr>
            <a:r>
              <a:rPr lang="en-IN" b="1" dirty="0">
                <a:solidFill>
                  <a:srgbClr val="18537D"/>
                </a:solidFill>
              </a:rPr>
              <a:t>Partition key:  </a:t>
            </a:r>
          </a:p>
          <a:p>
            <a:pPr marL="285750" indent="-285750" algn="just">
              <a:lnSpc>
                <a:spcPct val="150000"/>
              </a:lnSpc>
              <a:buFont typeface="Courier New" panose="02070309020205020404" pitchFamily="49" charset="0"/>
              <a:buChar char="o"/>
            </a:pPr>
            <a:r>
              <a:rPr lang="en-IN" dirty="0">
                <a:solidFill>
                  <a:srgbClr val="18537D"/>
                </a:solidFill>
              </a:rPr>
              <a:t>A simple primary key, composed of one attribute known as the partition key</a:t>
            </a:r>
          </a:p>
          <a:p>
            <a:pPr marL="285750" indent="-285750" algn="just">
              <a:lnSpc>
                <a:spcPct val="150000"/>
              </a:lnSpc>
              <a:buFont typeface="Courier New" panose="02070309020205020404" pitchFamily="49" charset="0"/>
              <a:buChar char="o"/>
            </a:pPr>
            <a:r>
              <a:rPr lang="en-US" dirty="0">
                <a:solidFill>
                  <a:srgbClr val="18537D"/>
                </a:solidFill>
              </a:rPr>
              <a:t>Each table should have the partition key</a:t>
            </a:r>
          </a:p>
          <a:p>
            <a:pPr marL="285750" indent="-285750" algn="just">
              <a:lnSpc>
                <a:spcPct val="150000"/>
              </a:lnSpc>
              <a:buFont typeface="Courier New" panose="02070309020205020404" pitchFamily="49" charset="0"/>
              <a:buChar char="o"/>
            </a:pPr>
            <a:r>
              <a:rPr lang="en-US" dirty="0">
                <a:solidFill>
                  <a:srgbClr val="18537D"/>
                </a:solidFill>
              </a:rPr>
              <a:t>Every item should have it with same types</a:t>
            </a:r>
          </a:p>
          <a:p>
            <a:pPr marL="285750" indent="-285750" algn="just">
              <a:lnSpc>
                <a:spcPct val="150000"/>
              </a:lnSpc>
              <a:buFont typeface="Courier New" panose="02070309020205020404" pitchFamily="49" charset="0"/>
              <a:buChar char="o"/>
            </a:pPr>
            <a:r>
              <a:rPr lang="en-US" dirty="0">
                <a:solidFill>
                  <a:srgbClr val="18537D"/>
                </a:solidFill>
              </a:rPr>
              <a:t>Each item should have a unique value</a:t>
            </a:r>
          </a:p>
          <a:p>
            <a:pPr marL="285750" indent="-285750" algn="just">
              <a:lnSpc>
                <a:spcPct val="150000"/>
              </a:lnSpc>
              <a:buFont typeface="Courier New" panose="02070309020205020404" pitchFamily="49" charset="0"/>
              <a:buChar char="o"/>
            </a:pPr>
            <a:r>
              <a:rPr lang="en-US" dirty="0">
                <a:solidFill>
                  <a:srgbClr val="18537D"/>
                </a:solidFill>
              </a:rPr>
              <a:t>Help to query and get a single item</a:t>
            </a:r>
          </a:p>
          <a:p>
            <a:pPr marL="285750" indent="-285750" algn="just">
              <a:lnSpc>
                <a:spcPct val="150000"/>
              </a:lnSpc>
              <a:buFont typeface="Courier New" panose="02070309020205020404" pitchFamily="49" charset="0"/>
              <a:buChar char="o"/>
            </a:pPr>
            <a:r>
              <a:rPr lang="en-IN" dirty="0">
                <a:solidFill>
                  <a:srgbClr val="18537D"/>
                </a:solidFill>
              </a:rPr>
              <a:t>Used in Hash function to determine the physical storage</a:t>
            </a:r>
          </a:p>
          <a:p>
            <a:pPr lvl="3" algn="just"/>
            <a:endParaRPr lang="en-IN" dirty="0">
              <a:solidFill>
                <a:srgbClr val="18537D"/>
              </a:solidFill>
            </a:endParaRPr>
          </a:p>
          <a:p>
            <a:pPr marL="1657350" lvl="3" indent="-285750" algn="just">
              <a:buFont typeface="Courier New" panose="02070309020205020404" pitchFamily="49" charset="0"/>
              <a:buChar char="o"/>
            </a:pPr>
            <a:endParaRPr lang="en-IN" dirty="0">
              <a:solidFill>
                <a:srgbClr val="18537D"/>
              </a:solidFill>
            </a:endParaRPr>
          </a:p>
          <a:p>
            <a:endParaRPr lang="en-US" dirty="0"/>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endParaRPr lang="en-IN" dirty="0">
              <a:solidFill>
                <a:srgbClr val="18537D"/>
              </a:solidFill>
            </a:endParaRPr>
          </a:p>
        </p:txBody>
      </p:sp>
      <p:graphicFrame>
        <p:nvGraphicFramePr>
          <p:cNvPr id="7" name="Table 9">
            <a:extLst>
              <a:ext uri="{FF2B5EF4-FFF2-40B4-BE49-F238E27FC236}">
                <a16:creationId xmlns:a16="http://schemas.microsoft.com/office/drawing/2014/main" id="{F2B0CF0F-19C2-49A8-A611-709D04F21289}"/>
              </a:ext>
            </a:extLst>
          </p:cNvPr>
          <p:cNvGraphicFramePr>
            <a:graphicFrameLocks noGrp="1"/>
          </p:cNvGraphicFramePr>
          <p:nvPr/>
        </p:nvGraphicFramePr>
        <p:xfrm>
          <a:off x="7893934" y="3207890"/>
          <a:ext cx="5588151" cy="1553200"/>
        </p:xfrm>
        <a:graphic>
          <a:graphicData uri="http://schemas.openxmlformats.org/drawingml/2006/table">
            <a:tbl>
              <a:tblPr firstRow="1" bandRow="1">
                <a:tableStyleId>{00A15C55-8517-42AA-B614-E9B94910E393}</a:tableStyleId>
              </a:tblPr>
              <a:tblGrid>
                <a:gridCol w="1030147">
                  <a:extLst>
                    <a:ext uri="{9D8B030D-6E8A-4147-A177-3AD203B41FA5}">
                      <a16:colId xmlns:a16="http://schemas.microsoft.com/office/drawing/2014/main" val="3069894280"/>
                    </a:ext>
                  </a:extLst>
                </a:gridCol>
                <a:gridCol w="2704297">
                  <a:extLst>
                    <a:ext uri="{9D8B030D-6E8A-4147-A177-3AD203B41FA5}">
                      <a16:colId xmlns:a16="http://schemas.microsoft.com/office/drawing/2014/main" val="4136390000"/>
                    </a:ext>
                  </a:extLst>
                </a:gridCol>
                <a:gridCol w="1853707">
                  <a:extLst>
                    <a:ext uri="{9D8B030D-6E8A-4147-A177-3AD203B41FA5}">
                      <a16:colId xmlns:a16="http://schemas.microsoft.com/office/drawing/2014/main" val="112496504"/>
                    </a:ext>
                  </a:extLst>
                </a:gridCol>
              </a:tblGrid>
              <a:tr h="388300">
                <a:tc>
                  <a:txBody>
                    <a:bodyPr/>
                    <a:lstStyle/>
                    <a:p>
                      <a:r>
                        <a:rPr lang="en-US" dirty="0" err="1"/>
                        <a:t>UserID</a:t>
                      </a:r>
                      <a:endParaRPr lang="en-US" dirty="0"/>
                    </a:p>
                  </a:txBody>
                  <a:tcPr>
                    <a:solidFill>
                      <a:srgbClr val="00D700"/>
                    </a:solidFill>
                  </a:tcPr>
                </a:tc>
                <a:tc>
                  <a:txBody>
                    <a:bodyPr/>
                    <a:lstStyle/>
                    <a:p>
                      <a:r>
                        <a:rPr lang="en-US" dirty="0"/>
                        <a:t>Email</a:t>
                      </a:r>
                    </a:p>
                  </a:txBody>
                  <a:tcPr/>
                </a:tc>
                <a:tc>
                  <a:txBody>
                    <a:bodyPr/>
                    <a:lstStyle/>
                    <a:p>
                      <a:r>
                        <a:rPr lang="en-US" dirty="0"/>
                        <a:t>Name</a:t>
                      </a:r>
                    </a:p>
                  </a:txBody>
                  <a:tcPr/>
                </a:tc>
                <a:extLst>
                  <a:ext uri="{0D108BD9-81ED-4DB2-BD59-A6C34878D82A}">
                    <a16:rowId xmlns:a16="http://schemas.microsoft.com/office/drawing/2014/main" val="1724493637"/>
                  </a:ext>
                </a:extLst>
              </a:tr>
              <a:tr h="388300">
                <a:tc>
                  <a:txBody>
                    <a:bodyPr/>
                    <a:lstStyle/>
                    <a:p>
                      <a:r>
                        <a:rPr lang="en-US" dirty="0"/>
                        <a:t>1</a:t>
                      </a:r>
                    </a:p>
                  </a:txBody>
                  <a:tcPr>
                    <a:solidFill>
                      <a:srgbClr val="00D700"/>
                    </a:solidFill>
                  </a:tcPr>
                </a:tc>
                <a:tc>
                  <a:txBody>
                    <a:bodyPr/>
                    <a:lstStyle/>
                    <a:p>
                      <a:r>
                        <a:rPr lang="en-US" dirty="0">
                          <a:hlinkClick r:id="rId2"/>
                        </a:rPr>
                        <a:t>sam@demo.com</a:t>
                      </a:r>
                      <a:endParaRPr lang="en-US" dirty="0"/>
                    </a:p>
                  </a:txBody>
                  <a:tcPr/>
                </a:tc>
                <a:tc>
                  <a:txBody>
                    <a:bodyPr/>
                    <a:lstStyle/>
                    <a:p>
                      <a:r>
                        <a:rPr lang="en-US" dirty="0"/>
                        <a:t>Sam</a:t>
                      </a:r>
                    </a:p>
                  </a:txBody>
                  <a:tcPr/>
                </a:tc>
                <a:extLst>
                  <a:ext uri="{0D108BD9-81ED-4DB2-BD59-A6C34878D82A}">
                    <a16:rowId xmlns:a16="http://schemas.microsoft.com/office/drawing/2014/main" val="954803999"/>
                  </a:ext>
                </a:extLst>
              </a:tr>
              <a:tr h="388300">
                <a:tc>
                  <a:txBody>
                    <a:bodyPr/>
                    <a:lstStyle/>
                    <a:p>
                      <a:r>
                        <a:rPr lang="en-US" dirty="0"/>
                        <a:t>2</a:t>
                      </a:r>
                    </a:p>
                  </a:txBody>
                  <a:tcPr>
                    <a:solidFill>
                      <a:srgbClr val="00D700"/>
                    </a:solidFill>
                  </a:tcPr>
                </a:tc>
                <a:tc>
                  <a:txBody>
                    <a:bodyPr/>
                    <a:lstStyle/>
                    <a:p>
                      <a:r>
                        <a:rPr lang="en-US" dirty="0">
                          <a:hlinkClick r:id="rId3"/>
                        </a:rPr>
                        <a:t>John@example.com</a:t>
                      </a:r>
                      <a:endParaRPr lang="en-US" dirty="0"/>
                    </a:p>
                  </a:txBody>
                  <a:tcPr/>
                </a:tc>
                <a:tc>
                  <a:txBody>
                    <a:bodyPr/>
                    <a:lstStyle/>
                    <a:p>
                      <a:r>
                        <a:rPr lang="en-US" dirty="0"/>
                        <a:t>John</a:t>
                      </a:r>
                    </a:p>
                  </a:txBody>
                  <a:tcPr/>
                </a:tc>
                <a:extLst>
                  <a:ext uri="{0D108BD9-81ED-4DB2-BD59-A6C34878D82A}">
                    <a16:rowId xmlns:a16="http://schemas.microsoft.com/office/drawing/2014/main" val="859363223"/>
                  </a:ext>
                </a:extLst>
              </a:tr>
              <a:tr h="388300">
                <a:tc>
                  <a:txBody>
                    <a:bodyPr/>
                    <a:lstStyle/>
                    <a:p>
                      <a:r>
                        <a:rPr lang="en-US" dirty="0"/>
                        <a:t>3</a:t>
                      </a:r>
                    </a:p>
                  </a:txBody>
                  <a:tcPr>
                    <a:solidFill>
                      <a:srgbClr val="00D700"/>
                    </a:solidFill>
                  </a:tcPr>
                </a:tc>
                <a:tc>
                  <a:txBody>
                    <a:bodyPr/>
                    <a:lstStyle/>
                    <a:p>
                      <a:r>
                        <a:rPr lang="en-US" dirty="0">
                          <a:hlinkClick r:id="rId4"/>
                        </a:rPr>
                        <a:t>Bob@sample.com</a:t>
                      </a:r>
                      <a:endParaRPr lang="en-US" dirty="0"/>
                    </a:p>
                  </a:txBody>
                  <a:tcPr/>
                </a:tc>
                <a:tc>
                  <a:txBody>
                    <a:bodyPr/>
                    <a:lstStyle/>
                    <a:p>
                      <a:r>
                        <a:rPr lang="en-US" dirty="0"/>
                        <a:t>Bob</a:t>
                      </a:r>
                    </a:p>
                  </a:txBody>
                  <a:tcPr/>
                </a:tc>
                <a:extLst>
                  <a:ext uri="{0D108BD9-81ED-4DB2-BD59-A6C34878D82A}">
                    <a16:rowId xmlns:a16="http://schemas.microsoft.com/office/drawing/2014/main" val="2180199116"/>
                  </a:ext>
                </a:extLst>
              </a:tr>
            </a:tbl>
          </a:graphicData>
        </a:graphic>
      </p:graphicFrame>
      <p:sp>
        <p:nvSpPr>
          <p:cNvPr id="8" name="Speech Bubble: Rectangle with Corners Rounded 7">
            <a:extLst>
              <a:ext uri="{FF2B5EF4-FFF2-40B4-BE49-F238E27FC236}">
                <a16:creationId xmlns:a16="http://schemas.microsoft.com/office/drawing/2014/main" id="{26361EDD-1D6A-41E7-95B3-EC5087CFA452}"/>
              </a:ext>
            </a:extLst>
          </p:cNvPr>
          <p:cNvSpPr/>
          <p:nvPr/>
        </p:nvSpPr>
        <p:spPr>
          <a:xfrm>
            <a:off x="7893934" y="2188036"/>
            <a:ext cx="1839432" cy="637954"/>
          </a:xfrm>
          <a:prstGeom prst="wedgeRoundRectCallout">
            <a:avLst>
              <a:gd name="adj1" fmla="val -19656"/>
              <a:gd name="adj2" fmla="val 99318"/>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Partition Key</a:t>
            </a:r>
          </a:p>
        </p:txBody>
      </p:sp>
    </p:spTree>
    <p:extLst>
      <p:ext uri="{BB962C8B-B14F-4D97-AF65-F5344CB8AC3E}">
        <p14:creationId xmlns:p14="http://schemas.microsoft.com/office/powerpoint/2010/main" val="2750293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ECAAC9-45E5-4E7C-B428-B0E589A42C3A}"/>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64C992E2-1622-460D-BEDA-4C7F1346D994}"/>
              </a:ext>
            </a:extLst>
          </p:cNvPr>
          <p:cNvSpPr>
            <a:spLocks noGrp="1"/>
          </p:cNvSpPr>
          <p:nvPr>
            <p:ph type="sldNum" sz="quarter" idx="17"/>
          </p:nvPr>
        </p:nvSpPr>
        <p:spPr/>
        <p:txBody>
          <a:bodyPr/>
          <a:lstStyle/>
          <a:p>
            <a:fld id="{4F9AC08D-23A9-440E-BCB9-AA1E9877CC38}" type="slidenum">
              <a:rPr lang="en-US" smtClean="0"/>
              <a:pPr/>
              <a:t>14</a:t>
            </a:fld>
            <a:endParaRPr lang="en-US" dirty="0"/>
          </a:p>
        </p:txBody>
      </p:sp>
      <p:sp>
        <p:nvSpPr>
          <p:cNvPr id="4" name="Title 3">
            <a:extLst>
              <a:ext uri="{FF2B5EF4-FFF2-40B4-BE49-F238E27FC236}">
                <a16:creationId xmlns:a16="http://schemas.microsoft.com/office/drawing/2014/main" id="{D9F16655-6229-443C-8FDA-7CCC9B877BFB}"/>
              </a:ext>
            </a:extLst>
          </p:cNvPr>
          <p:cNvSpPr>
            <a:spLocks noGrp="1"/>
          </p:cNvSpPr>
          <p:nvPr>
            <p:ph type="title"/>
          </p:nvPr>
        </p:nvSpPr>
        <p:spPr/>
        <p:txBody>
          <a:bodyPr/>
          <a:lstStyle/>
          <a:p>
            <a:r>
              <a:rPr lang="en-IN" sz="4000" dirty="0">
                <a:solidFill>
                  <a:schemeClr val="bg1"/>
                </a:solidFill>
                <a:latin typeface="Graphik Black" panose="020B0A03030202060203" pitchFamily="34" charset="0"/>
              </a:rPr>
              <a:t>Amazon DynamoDB – Core components</a:t>
            </a:r>
            <a:endParaRPr lang="en-US" dirty="0"/>
          </a:p>
        </p:txBody>
      </p:sp>
      <p:sp>
        <p:nvSpPr>
          <p:cNvPr id="5" name="Rectangle 4">
            <a:extLst>
              <a:ext uri="{FF2B5EF4-FFF2-40B4-BE49-F238E27FC236}">
                <a16:creationId xmlns:a16="http://schemas.microsoft.com/office/drawing/2014/main" id="{F8DC2F08-C387-480B-AC9F-7B50A582A303}"/>
              </a:ext>
            </a:extLst>
          </p:cNvPr>
          <p:cNvSpPr/>
          <p:nvPr/>
        </p:nvSpPr>
        <p:spPr>
          <a:xfrm>
            <a:off x="450005" y="1759836"/>
            <a:ext cx="6344331" cy="3779304"/>
          </a:xfrm>
          <a:prstGeom prst="rect">
            <a:avLst/>
          </a:prstGeom>
        </p:spPr>
        <p:txBody>
          <a:bodyPr wrap="square">
            <a:spAutoFit/>
          </a:bodyPr>
          <a:lstStyle/>
          <a:p>
            <a:pPr algn="just">
              <a:lnSpc>
                <a:spcPct val="150000"/>
              </a:lnSpc>
            </a:pPr>
            <a:r>
              <a:rPr lang="en-IN" b="1" dirty="0">
                <a:solidFill>
                  <a:srgbClr val="18537D"/>
                </a:solidFill>
              </a:rPr>
              <a:t>Composite Key (Partition key and sort key ):</a:t>
            </a:r>
          </a:p>
          <a:p>
            <a:pPr marL="285750" indent="-285750" algn="just">
              <a:lnSpc>
                <a:spcPct val="150000"/>
              </a:lnSpc>
              <a:buFont typeface="Courier New" panose="02070309020205020404" pitchFamily="49" charset="0"/>
              <a:buChar char="o"/>
            </a:pPr>
            <a:r>
              <a:rPr lang="en-IN" dirty="0">
                <a:solidFill>
                  <a:srgbClr val="18537D"/>
                </a:solidFill>
              </a:rPr>
              <a:t>Composed of two attributes. The first attribute is the partition key, and the second attribute is the sort key</a:t>
            </a:r>
          </a:p>
          <a:p>
            <a:pPr marL="285750" indent="-285750" algn="just">
              <a:lnSpc>
                <a:spcPct val="150000"/>
              </a:lnSpc>
              <a:buFont typeface="Courier New" panose="02070309020205020404" pitchFamily="49" charset="0"/>
              <a:buChar char="o"/>
            </a:pPr>
            <a:r>
              <a:rPr lang="en-IN" dirty="0">
                <a:solidFill>
                  <a:srgbClr val="18537D"/>
                </a:solidFill>
              </a:rPr>
              <a:t>All items with the same partition key value are stored together, in sorted order by sort key value</a:t>
            </a:r>
          </a:p>
          <a:p>
            <a:pPr marL="285750" indent="-285750" algn="just">
              <a:lnSpc>
                <a:spcPct val="150000"/>
              </a:lnSpc>
              <a:buFont typeface="Courier New" panose="02070309020205020404" pitchFamily="49" charset="0"/>
              <a:buChar char="o"/>
            </a:pPr>
            <a:r>
              <a:rPr lang="en-US" dirty="0">
                <a:solidFill>
                  <a:srgbClr val="18537D"/>
                </a:solidFill>
              </a:rPr>
              <a:t>Helps to query and get Multiple items</a:t>
            </a:r>
          </a:p>
          <a:p>
            <a:pPr marL="285750" indent="-285750" algn="just">
              <a:lnSpc>
                <a:spcPct val="150000"/>
              </a:lnSpc>
              <a:buFont typeface="Courier New" panose="02070309020205020404" pitchFamily="49" charset="0"/>
              <a:buChar char="o"/>
            </a:pPr>
            <a:r>
              <a:rPr lang="en-US" dirty="0">
                <a:solidFill>
                  <a:srgbClr val="18537D"/>
                </a:solidFill>
              </a:rPr>
              <a:t>All items should have both partition key and sort key</a:t>
            </a:r>
          </a:p>
          <a:p>
            <a:pPr marL="285750" indent="-285750" algn="just">
              <a:lnSpc>
                <a:spcPct val="150000"/>
              </a:lnSpc>
              <a:buFont typeface="Courier New" panose="02070309020205020404" pitchFamily="49" charset="0"/>
              <a:buChar char="o"/>
            </a:pPr>
            <a:r>
              <a:rPr lang="en-IN" dirty="0">
                <a:solidFill>
                  <a:srgbClr val="18537D"/>
                </a:solidFill>
              </a:rPr>
              <a:t>Pair should be unique</a:t>
            </a:r>
          </a:p>
        </p:txBody>
      </p:sp>
      <p:graphicFrame>
        <p:nvGraphicFramePr>
          <p:cNvPr id="6" name="Table 9">
            <a:extLst>
              <a:ext uri="{FF2B5EF4-FFF2-40B4-BE49-F238E27FC236}">
                <a16:creationId xmlns:a16="http://schemas.microsoft.com/office/drawing/2014/main" id="{2F013B45-291E-460D-AEF1-B361B57F6492}"/>
              </a:ext>
            </a:extLst>
          </p:cNvPr>
          <p:cNvGraphicFramePr>
            <a:graphicFrameLocks noGrp="1"/>
          </p:cNvGraphicFramePr>
          <p:nvPr/>
        </p:nvGraphicFramePr>
        <p:xfrm>
          <a:off x="7200106" y="2893641"/>
          <a:ext cx="6863134" cy="2217100"/>
        </p:xfrm>
        <a:graphic>
          <a:graphicData uri="http://schemas.openxmlformats.org/drawingml/2006/table">
            <a:tbl>
              <a:tblPr firstRow="1" bandRow="1">
                <a:tableStyleId>{00A15C55-8517-42AA-B614-E9B94910E393}</a:tableStyleId>
              </a:tblPr>
              <a:tblGrid>
                <a:gridCol w="1156815">
                  <a:extLst>
                    <a:ext uri="{9D8B030D-6E8A-4147-A177-3AD203B41FA5}">
                      <a16:colId xmlns:a16="http://schemas.microsoft.com/office/drawing/2014/main" val="3069894280"/>
                    </a:ext>
                  </a:extLst>
                </a:gridCol>
                <a:gridCol w="2083443">
                  <a:extLst>
                    <a:ext uri="{9D8B030D-6E8A-4147-A177-3AD203B41FA5}">
                      <a16:colId xmlns:a16="http://schemas.microsoft.com/office/drawing/2014/main" val="1405054367"/>
                    </a:ext>
                  </a:extLst>
                </a:gridCol>
                <a:gridCol w="2349660">
                  <a:extLst>
                    <a:ext uri="{9D8B030D-6E8A-4147-A177-3AD203B41FA5}">
                      <a16:colId xmlns:a16="http://schemas.microsoft.com/office/drawing/2014/main" val="4136390000"/>
                    </a:ext>
                  </a:extLst>
                </a:gridCol>
                <a:gridCol w="1273216">
                  <a:extLst>
                    <a:ext uri="{9D8B030D-6E8A-4147-A177-3AD203B41FA5}">
                      <a16:colId xmlns:a16="http://schemas.microsoft.com/office/drawing/2014/main" val="112496504"/>
                    </a:ext>
                  </a:extLst>
                </a:gridCol>
              </a:tblGrid>
              <a:tr h="388300">
                <a:tc>
                  <a:txBody>
                    <a:bodyPr/>
                    <a:lstStyle/>
                    <a:p>
                      <a:r>
                        <a:rPr lang="en-US" sz="1600" dirty="0"/>
                        <a:t>User ID</a:t>
                      </a:r>
                    </a:p>
                  </a:txBody>
                  <a:tcPr>
                    <a:solidFill>
                      <a:srgbClr val="00D700"/>
                    </a:solidFill>
                  </a:tcPr>
                </a:tc>
                <a:tc>
                  <a:txBody>
                    <a:bodyPr/>
                    <a:lstStyle/>
                    <a:p>
                      <a:r>
                        <a:rPr lang="en-US" sz="1600" dirty="0"/>
                        <a:t>Last Login Time</a:t>
                      </a:r>
                    </a:p>
                  </a:txBody>
                  <a:tcPr>
                    <a:solidFill>
                      <a:srgbClr val="00D700"/>
                    </a:solidFill>
                  </a:tcPr>
                </a:tc>
                <a:tc>
                  <a:txBody>
                    <a:bodyPr/>
                    <a:lstStyle/>
                    <a:p>
                      <a:r>
                        <a:rPr lang="en-US" sz="1600" dirty="0"/>
                        <a:t>Email</a:t>
                      </a:r>
                    </a:p>
                  </a:txBody>
                  <a:tcPr/>
                </a:tc>
                <a:tc>
                  <a:txBody>
                    <a:bodyPr/>
                    <a:lstStyle/>
                    <a:p>
                      <a:r>
                        <a:rPr lang="en-US" sz="1600" dirty="0"/>
                        <a:t>Name</a:t>
                      </a:r>
                    </a:p>
                  </a:txBody>
                  <a:tcPr/>
                </a:tc>
                <a:extLst>
                  <a:ext uri="{0D108BD9-81ED-4DB2-BD59-A6C34878D82A}">
                    <a16:rowId xmlns:a16="http://schemas.microsoft.com/office/drawing/2014/main" val="1724493637"/>
                  </a:ext>
                </a:extLst>
              </a:tr>
              <a:tr h="388300">
                <a:tc>
                  <a:txBody>
                    <a:bodyPr/>
                    <a:lstStyle/>
                    <a:p>
                      <a:r>
                        <a:rPr lang="en-US" sz="1600" dirty="0"/>
                        <a:t>101</a:t>
                      </a:r>
                    </a:p>
                  </a:txBody>
                  <a:tcPr>
                    <a:solidFill>
                      <a:srgbClr val="00D700"/>
                    </a:solidFill>
                  </a:tcPr>
                </a:tc>
                <a:tc>
                  <a:txBody>
                    <a:bodyPr/>
                    <a:lstStyle/>
                    <a:p>
                      <a:r>
                        <a:rPr lang="en-US" sz="1600" kern="1200" dirty="0">
                          <a:solidFill>
                            <a:schemeClr val="dk1"/>
                          </a:solidFill>
                          <a:latin typeface="+mn-lt"/>
                          <a:ea typeface="+mn-ea"/>
                          <a:cs typeface="+mn-cs"/>
                        </a:rPr>
                        <a:t>2018-01-03T10:1e.30</a:t>
                      </a:r>
                    </a:p>
                  </a:txBody>
                  <a:tcPr marL="121920" marR="121920" marT="60960" marB="60960">
                    <a:solidFill>
                      <a:srgbClr val="00D700"/>
                    </a:solidFill>
                  </a:tcPr>
                </a:tc>
                <a:tc>
                  <a:txBody>
                    <a:bodyPr/>
                    <a:lstStyle/>
                    <a:p>
                      <a:r>
                        <a:rPr lang="en-US" sz="1600" dirty="0">
                          <a:hlinkClick r:id="rId2"/>
                        </a:rPr>
                        <a:t>sam@demo.com</a:t>
                      </a:r>
                      <a:endParaRPr lang="en-US" sz="1600" dirty="0"/>
                    </a:p>
                  </a:txBody>
                  <a:tcPr/>
                </a:tc>
                <a:tc>
                  <a:txBody>
                    <a:bodyPr/>
                    <a:lstStyle/>
                    <a:p>
                      <a:r>
                        <a:rPr lang="en-US" sz="1600" dirty="0"/>
                        <a:t>Sam</a:t>
                      </a:r>
                    </a:p>
                  </a:txBody>
                  <a:tcPr/>
                </a:tc>
                <a:extLst>
                  <a:ext uri="{0D108BD9-81ED-4DB2-BD59-A6C34878D82A}">
                    <a16:rowId xmlns:a16="http://schemas.microsoft.com/office/drawing/2014/main" val="954803999"/>
                  </a:ext>
                </a:extLst>
              </a:tr>
              <a:tr h="388300">
                <a:tc>
                  <a:txBody>
                    <a:bodyPr/>
                    <a:lstStyle/>
                    <a:p>
                      <a:r>
                        <a:rPr lang="en-US" sz="1600" dirty="0"/>
                        <a:t>201</a:t>
                      </a:r>
                    </a:p>
                  </a:txBody>
                  <a:tcPr>
                    <a:solidFill>
                      <a:srgbClr val="00D700"/>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2018-01-04T10:19:30</a:t>
                      </a:r>
                    </a:p>
                  </a:txBody>
                  <a:tcPr marL="121920" marR="121920" marT="60960" marB="60960">
                    <a:solidFill>
                      <a:srgbClr val="00D700"/>
                    </a:solidFill>
                  </a:tcPr>
                </a:tc>
                <a:tc>
                  <a:txBody>
                    <a:bodyPr/>
                    <a:lstStyle/>
                    <a:p>
                      <a:r>
                        <a:rPr lang="en-US" sz="1600" dirty="0">
                          <a:hlinkClick r:id="rId3"/>
                        </a:rPr>
                        <a:t>John@example.com</a:t>
                      </a:r>
                      <a:endParaRPr lang="en-US" sz="1600" dirty="0"/>
                    </a:p>
                  </a:txBody>
                  <a:tcPr/>
                </a:tc>
                <a:tc>
                  <a:txBody>
                    <a:bodyPr/>
                    <a:lstStyle/>
                    <a:p>
                      <a:r>
                        <a:rPr lang="en-US" sz="1600" dirty="0"/>
                        <a:t>John</a:t>
                      </a:r>
                    </a:p>
                  </a:txBody>
                  <a:tcPr/>
                </a:tc>
                <a:extLst>
                  <a:ext uri="{0D108BD9-81ED-4DB2-BD59-A6C34878D82A}">
                    <a16:rowId xmlns:a16="http://schemas.microsoft.com/office/drawing/2014/main" val="859363223"/>
                  </a:ext>
                </a:extLst>
              </a:tr>
              <a:tr h="388300">
                <a:tc>
                  <a:txBody>
                    <a:bodyPr/>
                    <a:lstStyle/>
                    <a:p>
                      <a:r>
                        <a:rPr lang="en-US" sz="1600" dirty="0"/>
                        <a:t>301</a:t>
                      </a:r>
                    </a:p>
                  </a:txBody>
                  <a:tcPr>
                    <a:solidFill>
                      <a:srgbClr val="00D700"/>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2018-03-04T1a.2a.20</a:t>
                      </a:r>
                    </a:p>
                  </a:txBody>
                  <a:tcPr marL="121920" marR="121920" marT="60960" marB="60960">
                    <a:solidFill>
                      <a:srgbClr val="00D700"/>
                    </a:solidFill>
                  </a:tcPr>
                </a:tc>
                <a:tc>
                  <a:txBody>
                    <a:bodyPr/>
                    <a:lstStyle/>
                    <a:p>
                      <a:r>
                        <a:rPr lang="en-US" sz="1600" dirty="0">
                          <a:hlinkClick r:id="rId4"/>
                        </a:rPr>
                        <a:t>Bob@sample.com</a:t>
                      </a:r>
                      <a:endParaRPr lang="en-US" sz="1600" dirty="0"/>
                    </a:p>
                  </a:txBody>
                  <a:tcPr/>
                </a:tc>
                <a:tc>
                  <a:txBody>
                    <a:bodyPr/>
                    <a:lstStyle/>
                    <a:p>
                      <a:r>
                        <a:rPr lang="en-US" sz="1600" dirty="0"/>
                        <a:t>Bob</a:t>
                      </a:r>
                    </a:p>
                  </a:txBody>
                  <a:tcPr/>
                </a:tc>
                <a:extLst>
                  <a:ext uri="{0D108BD9-81ED-4DB2-BD59-A6C34878D82A}">
                    <a16:rowId xmlns:a16="http://schemas.microsoft.com/office/drawing/2014/main" val="2180199116"/>
                  </a:ext>
                </a:extLst>
              </a:tr>
            </a:tbl>
          </a:graphicData>
        </a:graphic>
      </p:graphicFrame>
      <p:sp>
        <p:nvSpPr>
          <p:cNvPr id="7" name="Speech Bubble: Rectangle with Corners Rounded 6">
            <a:extLst>
              <a:ext uri="{FF2B5EF4-FFF2-40B4-BE49-F238E27FC236}">
                <a16:creationId xmlns:a16="http://schemas.microsoft.com/office/drawing/2014/main" id="{FD18EA1E-ED27-4FDC-8C98-EBAA8CD18044}"/>
              </a:ext>
            </a:extLst>
          </p:cNvPr>
          <p:cNvSpPr/>
          <p:nvPr/>
        </p:nvSpPr>
        <p:spPr>
          <a:xfrm>
            <a:off x="7074017" y="1860704"/>
            <a:ext cx="1839432" cy="637954"/>
          </a:xfrm>
          <a:prstGeom prst="wedgeRoundRectCallout">
            <a:avLst>
              <a:gd name="adj1" fmla="val -19656"/>
              <a:gd name="adj2" fmla="val 99318"/>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Partition Key</a:t>
            </a:r>
          </a:p>
        </p:txBody>
      </p:sp>
      <p:sp>
        <p:nvSpPr>
          <p:cNvPr id="8" name="Speech Bubble: Rectangle with Corners Rounded 7">
            <a:extLst>
              <a:ext uri="{FF2B5EF4-FFF2-40B4-BE49-F238E27FC236}">
                <a16:creationId xmlns:a16="http://schemas.microsoft.com/office/drawing/2014/main" id="{1351AAFD-6164-4A22-8759-F0AE04188F47}"/>
              </a:ext>
            </a:extLst>
          </p:cNvPr>
          <p:cNvSpPr/>
          <p:nvPr/>
        </p:nvSpPr>
        <p:spPr>
          <a:xfrm>
            <a:off x="8615379" y="5539140"/>
            <a:ext cx="1477745" cy="586426"/>
          </a:xfrm>
          <a:prstGeom prst="wedgeRoundRectCallout">
            <a:avLst>
              <a:gd name="adj1" fmla="val -19656"/>
              <a:gd name="adj2" fmla="val -134733"/>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Sort Key</a:t>
            </a:r>
          </a:p>
        </p:txBody>
      </p:sp>
    </p:spTree>
    <p:extLst>
      <p:ext uri="{BB962C8B-B14F-4D97-AF65-F5344CB8AC3E}">
        <p14:creationId xmlns:p14="http://schemas.microsoft.com/office/powerpoint/2010/main" val="1264429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B83F3D-30E2-4FE0-9779-394EB2B7A57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0934EF76-ECE0-402C-81E7-53570BE4E967}"/>
              </a:ext>
            </a:extLst>
          </p:cNvPr>
          <p:cNvSpPr>
            <a:spLocks noGrp="1"/>
          </p:cNvSpPr>
          <p:nvPr>
            <p:ph type="sldNum" sz="quarter" idx="17"/>
          </p:nvPr>
        </p:nvSpPr>
        <p:spPr/>
        <p:txBody>
          <a:bodyPr/>
          <a:lstStyle/>
          <a:p>
            <a:fld id="{4F9AC08D-23A9-440E-BCB9-AA1E9877CC38}" type="slidenum">
              <a:rPr lang="en-US" smtClean="0"/>
              <a:pPr/>
              <a:t>15</a:t>
            </a:fld>
            <a:endParaRPr lang="en-US" dirty="0"/>
          </a:p>
        </p:txBody>
      </p:sp>
      <p:sp>
        <p:nvSpPr>
          <p:cNvPr id="4" name="Title 3">
            <a:extLst>
              <a:ext uri="{FF2B5EF4-FFF2-40B4-BE49-F238E27FC236}">
                <a16:creationId xmlns:a16="http://schemas.microsoft.com/office/drawing/2014/main" id="{AFE85EEA-0C50-48D7-B847-85DC873869BB}"/>
              </a:ext>
            </a:extLst>
          </p:cNvPr>
          <p:cNvSpPr>
            <a:spLocks noGrp="1"/>
          </p:cNvSpPr>
          <p:nvPr>
            <p:ph type="title"/>
          </p:nvPr>
        </p:nvSpPr>
        <p:spPr/>
        <p:txBody>
          <a:bodyPr/>
          <a:lstStyle/>
          <a:p>
            <a:r>
              <a:rPr lang="en-US" dirty="0">
                <a:solidFill>
                  <a:schemeClr val="bg1"/>
                </a:solidFill>
              </a:rPr>
              <a:t>How </a:t>
            </a:r>
            <a:r>
              <a:rPr lang="en-US" dirty="0" err="1">
                <a:solidFill>
                  <a:schemeClr val="bg1"/>
                </a:solidFill>
              </a:rPr>
              <a:t>Dynamodb</a:t>
            </a:r>
            <a:r>
              <a:rPr lang="en-US" dirty="0">
                <a:solidFill>
                  <a:schemeClr val="bg1"/>
                </a:solidFill>
              </a:rPr>
              <a:t> works</a:t>
            </a:r>
          </a:p>
        </p:txBody>
      </p:sp>
      <p:sp>
        <p:nvSpPr>
          <p:cNvPr id="5" name="Rectangle 4">
            <a:extLst>
              <a:ext uri="{FF2B5EF4-FFF2-40B4-BE49-F238E27FC236}">
                <a16:creationId xmlns:a16="http://schemas.microsoft.com/office/drawing/2014/main" id="{B19BF3BF-6F7E-4A21-A51F-93E68B7C8CB4}"/>
              </a:ext>
            </a:extLst>
          </p:cNvPr>
          <p:cNvSpPr/>
          <p:nvPr/>
        </p:nvSpPr>
        <p:spPr>
          <a:xfrm>
            <a:off x="450005" y="1062502"/>
            <a:ext cx="10372324" cy="455317"/>
          </a:xfrm>
          <a:prstGeom prst="rect">
            <a:avLst/>
          </a:prstGeom>
        </p:spPr>
        <p:txBody>
          <a:bodyPr wrap="square">
            <a:spAutoFit/>
          </a:bodyPr>
          <a:lstStyle/>
          <a:p>
            <a:pPr marL="285750" indent="-285750" algn="just">
              <a:lnSpc>
                <a:spcPct val="150000"/>
              </a:lnSpc>
              <a:buFont typeface="Courier New" panose="02070309020205020404" pitchFamily="49" charset="0"/>
              <a:buChar char="o"/>
            </a:pPr>
            <a:r>
              <a:rPr lang="en-US" dirty="0">
                <a:solidFill>
                  <a:srgbClr val="18537D"/>
                </a:solidFill>
              </a:rPr>
              <a:t>Amazon </a:t>
            </a:r>
            <a:r>
              <a:rPr lang="en-US" dirty="0" err="1">
                <a:solidFill>
                  <a:srgbClr val="18537D"/>
                </a:solidFill>
              </a:rPr>
              <a:t>DyanamoDB</a:t>
            </a:r>
            <a:r>
              <a:rPr lang="en-US" dirty="0">
                <a:solidFill>
                  <a:srgbClr val="18537D"/>
                </a:solidFill>
              </a:rPr>
              <a:t> reads and write the data using Hashing mechanism</a:t>
            </a:r>
            <a:endParaRPr lang="en-IN" dirty="0">
              <a:solidFill>
                <a:srgbClr val="18537D"/>
              </a:solidFill>
            </a:endParaRPr>
          </a:p>
        </p:txBody>
      </p:sp>
      <p:graphicFrame>
        <p:nvGraphicFramePr>
          <p:cNvPr id="6" name="Table 6">
            <a:extLst>
              <a:ext uri="{FF2B5EF4-FFF2-40B4-BE49-F238E27FC236}">
                <a16:creationId xmlns:a16="http://schemas.microsoft.com/office/drawing/2014/main" id="{35402DD5-6CA1-4663-9D03-6B306BBF5B24}"/>
              </a:ext>
            </a:extLst>
          </p:cNvPr>
          <p:cNvGraphicFramePr>
            <a:graphicFrameLocks noGrp="1"/>
          </p:cNvGraphicFramePr>
          <p:nvPr/>
        </p:nvGraphicFramePr>
        <p:xfrm>
          <a:off x="4508963" y="2278678"/>
          <a:ext cx="1037646" cy="3660672"/>
        </p:xfrm>
        <a:graphic>
          <a:graphicData uri="http://schemas.openxmlformats.org/drawingml/2006/table">
            <a:tbl>
              <a:tblPr firstRow="1" bandRow="1">
                <a:tableStyleId>{00A15C55-8517-42AA-B614-E9B94910E393}</a:tableStyleId>
              </a:tblPr>
              <a:tblGrid>
                <a:gridCol w="1037646">
                  <a:extLst>
                    <a:ext uri="{9D8B030D-6E8A-4147-A177-3AD203B41FA5}">
                      <a16:colId xmlns:a16="http://schemas.microsoft.com/office/drawing/2014/main" val="583408296"/>
                    </a:ext>
                  </a:extLst>
                </a:gridCol>
              </a:tblGrid>
              <a:tr h="457584">
                <a:tc>
                  <a:txBody>
                    <a:bodyPr/>
                    <a:lstStyle/>
                    <a:p>
                      <a:pPr algn="ctr"/>
                      <a:r>
                        <a:rPr lang="en-US" dirty="0"/>
                        <a:t>Nodes</a:t>
                      </a:r>
                    </a:p>
                  </a:txBody>
                  <a:tcPr/>
                </a:tc>
                <a:extLst>
                  <a:ext uri="{0D108BD9-81ED-4DB2-BD59-A6C34878D82A}">
                    <a16:rowId xmlns:a16="http://schemas.microsoft.com/office/drawing/2014/main" val="680305715"/>
                  </a:ext>
                </a:extLst>
              </a:tr>
              <a:tr h="457584">
                <a:tc>
                  <a:txBody>
                    <a:bodyPr/>
                    <a:lstStyle/>
                    <a:p>
                      <a:endParaRPr lang="en-US" dirty="0"/>
                    </a:p>
                  </a:txBody>
                  <a:tcPr/>
                </a:tc>
                <a:extLst>
                  <a:ext uri="{0D108BD9-81ED-4DB2-BD59-A6C34878D82A}">
                    <a16:rowId xmlns:a16="http://schemas.microsoft.com/office/drawing/2014/main" val="4131732976"/>
                  </a:ext>
                </a:extLst>
              </a:tr>
              <a:tr h="457584">
                <a:tc>
                  <a:txBody>
                    <a:bodyPr/>
                    <a:lstStyle/>
                    <a:p>
                      <a:endParaRPr lang="en-US" dirty="0"/>
                    </a:p>
                  </a:txBody>
                  <a:tcPr/>
                </a:tc>
                <a:extLst>
                  <a:ext uri="{0D108BD9-81ED-4DB2-BD59-A6C34878D82A}">
                    <a16:rowId xmlns:a16="http://schemas.microsoft.com/office/drawing/2014/main" val="313077174"/>
                  </a:ext>
                </a:extLst>
              </a:tr>
              <a:tr h="457584">
                <a:tc>
                  <a:txBody>
                    <a:bodyPr/>
                    <a:lstStyle/>
                    <a:p>
                      <a:endParaRPr lang="en-US" dirty="0"/>
                    </a:p>
                  </a:txBody>
                  <a:tcPr/>
                </a:tc>
                <a:extLst>
                  <a:ext uri="{0D108BD9-81ED-4DB2-BD59-A6C34878D82A}">
                    <a16:rowId xmlns:a16="http://schemas.microsoft.com/office/drawing/2014/main" val="419528806"/>
                  </a:ext>
                </a:extLst>
              </a:tr>
              <a:tr h="457584">
                <a:tc>
                  <a:txBody>
                    <a:bodyPr/>
                    <a:lstStyle/>
                    <a:p>
                      <a:endParaRPr lang="en-US" dirty="0"/>
                    </a:p>
                  </a:txBody>
                  <a:tcPr/>
                </a:tc>
                <a:extLst>
                  <a:ext uri="{0D108BD9-81ED-4DB2-BD59-A6C34878D82A}">
                    <a16:rowId xmlns:a16="http://schemas.microsoft.com/office/drawing/2014/main" val="585795193"/>
                  </a:ext>
                </a:extLst>
              </a:tr>
              <a:tr h="457584">
                <a:tc>
                  <a:txBody>
                    <a:bodyPr/>
                    <a:lstStyle/>
                    <a:p>
                      <a:endParaRPr lang="en-US" dirty="0"/>
                    </a:p>
                  </a:txBody>
                  <a:tcPr/>
                </a:tc>
                <a:extLst>
                  <a:ext uri="{0D108BD9-81ED-4DB2-BD59-A6C34878D82A}">
                    <a16:rowId xmlns:a16="http://schemas.microsoft.com/office/drawing/2014/main" val="1692633286"/>
                  </a:ext>
                </a:extLst>
              </a:tr>
              <a:tr h="457584">
                <a:tc>
                  <a:txBody>
                    <a:bodyPr/>
                    <a:lstStyle/>
                    <a:p>
                      <a:endParaRPr lang="en-US" dirty="0"/>
                    </a:p>
                  </a:txBody>
                  <a:tcPr/>
                </a:tc>
                <a:extLst>
                  <a:ext uri="{0D108BD9-81ED-4DB2-BD59-A6C34878D82A}">
                    <a16:rowId xmlns:a16="http://schemas.microsoft.com/office/drawing/2014/main" val="2144936027"/>
                  </a:ext>
                </a:extLst>
              </a:tr>
              <a:tr h="457584">
                <a:tc>
                  <a:txBody>
                    <a:bodyPr/>
                    <a:lstStyle/>
                    <a:p>
                      <a:endParaRPr lang="en-US" dirty="0"/>
                    </a:p>
                  </a:txBody>
                  <a:tcPr/>
                </a:tc>
                <a:extLst>
                  <a:ext uri="{0D108BD9-81ED-4DB2-BD59-A6C34878D82A}">
                    <a16:rowId xmlns:a16="http://schemas.microsoft.com/office/drawing/2014/main" val="3149494573"/>
                  </a:ext>
                </a:extLst>
              </a:tr>
            </a:tbl>
          </a:graphicData>
        </a:graphic>
      </p:graphicFrame>
      <p:sp>
        <p:nvSpPr>
          <p:cNvPr id="8" name="Rectangle 7">
            <a:extLst>
              <a:ext uri="{FF2B5EF4-FFF2-40B4-BE49-F238E27FC236}">
                <a16:creationId xmlns:a16="http://schemas.microsoft.com/office/drawing/2014/main" id="{F0C3D2DF-3004-4BF9-9B2C-8FCCEF639240}"/>
              </a:ext>
            </a:extLst>
          </p:cNvPr>
          <p:cNvSpPr/>
          <p:nvPr/>
        </p:nvSpPr>
        <p:spPr>
          <a:xfrm>
            <a:off x="374465" y="4038959"/>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Key</a:t>
            </a:r>
          </a:p>
        </p:txBody>
      </p:sp>
      <p:cxnSp>
        <p:nvCxnSpPr>
          <p:cNvPr id="10" name="Straight Arrow Connector 9">
            <a:extLst>
              <a:ext uri="{FF2B5EF4-FFF2-40B4-BE49-F238E27FC236}">
                <a16:creationId xmlns:a16="http://schemas.microsoft.com/office/drawing/2014/main" id="{6FDE23E1-C34A-4132-8C41-9022B1A6BD67}"/>
              </a:ext>
            </a:extLst>
          </p:cNvPr>
          <p:cNvCxnSpPr>
            <a:cxnSpLocks/>
            <a:stCxn id="8" idx="3"/>
          </p:cNvCxnSpPr>
          <p:nvPr/>
        </p:nvCxnSpPr>
        <p:spPr>
          <a:xfrm>
            <a:off x="1219417" y="4266618"/>
            <a:ext cx="4820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795415A-D5BA-4005-A820-8131C54C88A9}"/>
              </a:ext>
            </a:extLst>
          </p:cNvPr>
          <p:cNvSpPr/>
          <p:nvPr/>
        </p:nvSpPr>
        <p:spPr>
          <a:xfrm>
            <a:off x="1653839" y="4059628"/>
            <a:ext cx="1053494" cy="369332"/>
          </a:xfrm>
          <a:prstGeom prst="rect">
            <a:avLst/>
          </a:prstGeom>
        </p:spPr>
        <p:txBody>
          <a:bodyPr wrap="none">
            <a:spAutoFit/>
          </a:bodyPr>
          <a:lstStyle/>
          <a:p>
            <a:r>
              <a:rPr lang="en-US" dirty="0">
                <a:solidFill>
                  <a:srgbClr val="18537D"/>
                </a:solidFill>
              </a:rPr>
              <a:t>F(“key”)</a:t>
            </a:r>
            <a:endParaRPr lang="en-US" dirty="0"/>
          </a:p>
        </p:txBody>
      </p:sp>
      <p:cxnSp>
        <p:nvCxnSpPr>
          <p:cNvPr id="13" name="Straight Arrow Connector 12">
            <a:extLst>
              <a:ext uri="{FF2B5EF4-FFF2-40B4-BE49-F238E27FC236}">
                <a16:creationId xmlns:a16="http://schemas.microsoft.com/office/drawing/2014/main" id="{91E002DF-0378-4BBA-84AC-40C772A00E74}"/>
              </a:ext>
            </a:extLst>
          </p:cNvPr>
          <p:cNvCxnSpPr>
            <a:cxnSpLocks/>
            <a:endCxn id="14" idx="1"/>
          </p:cNvCxnSpPr>
          <p:nvPr/>
        </p:nvCxnSpPr>
        <p:spPr>
          <a:xfrm>
            <a:off x="2567263" y="4242318"/>
            <a:ext cx="386443" cy="1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555AB31-B2FE-47B6-844D-A8D8A30EF095}"/>
              </a:ext>
            </a:extLst>
          </p:cNvPr>
          <p:cNvSpPr/>
          <p:nvPr/>
        </p:nvSpPr>
        <p:spPr>
          <a:xfrm>
            <a:off x="2953706" y="4059628"/>
            <a:ext cx="800219" cy="369332"/>
          </a:xfrm>
          <a:prstGeom prst="rect">
            <a:avLst/>
          </a:prstGeom>
        </p:spPr>
        <p:txBody>
          <a:bodyPr wrap="none">
            <a:spAutoFit/>
          </a:bodyPr>
          <a:lstStyle/>
          <a:p>
            <a:r>
              <a:rPr lang="en-US" dirty="0">
                <a:solidFill>
                  <a:srgbClr val="18537D"/>
                </a:solidFill>
              </a:rPr>
              <a:t>Index</a:t>
            </a:r>
            <a:endParaRPr lang="en-US" dirty="0"/>
          </a:p>
        </p:txBody>
      </p:sp>
      <p:cxnSp>
        <p:nvCxnSpPr>
          <p:cNvPr id="16" name="Connector: Elbow 15">
            <a:extLst>
              <a:ext uri="{FF2B5EF4-FFF2-40B4-BE49-F238E27FC236}">
                <a16:creationId xmlns:a16="http://schemas.microsoft.com/office/drawing/2014/main" id="{6FA6CECB-1AC6-4702-910A-6349CB6BF754}"/>
              </a:ext>
            </a:extLst>
          </p:cNvPr>
          <p:cNvCxnSpPr>
            <a:cxnSpLocks/>
            <a:stCxn id="14" idx="3"/>
          </p:cNvCxnSpPr>
          <p:nvPr/>
        </p:nvCxnSpPr>
        <p:spPr>
          <a:xfrm flipV="1">
            <a:off x="3753925" y="3866997"/>
            <a:ext cx="709504" cy="37729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441824D0-3ED2-41FA-A6E0-1F733F44CC48}"/>
              </a:ext>
            </a:extLst>
          </p:cNvPr>
          <p:cNvGrpSpPr/>
          <p:nvPr/>
        </p:nvGrpSpPr>
        <p:grpSpPr>
          <a:xfrm>
            <a:off x="5636167" y="5036992"/>
            <a:ext cx="844952" cy="902358"/>
            <a:chOff x="7761042" y="2664390"/>
            <a:chExt cx="844952" cy="902358"/>
          </a:xfrm>
        </p:grpSpPr>
        <p:sp>
          <p:nvSpPr>
            <p:cNvPr id="24" name="Rectangle 23">
              <a:extLst>
                <a:ext uri="{FF2B5EF4-FFF2-40B4-BE49-F238E27FC236}">
                  <a16:creationId xmlns:a16="http://schemas.microsoft.com/office/drawing/2014/main" id="{B3D82769-5782-4B6E-8A26-3B86C7E6EFFD}"/>
                </a:ext>
              </a:extLst>
            </p:cNvPr>
            <p:cNvSpPr/>
            <p:nvPr/>
          </p:nvSpPr>
          <p:spPr>
            <a:xfrm>
              <a:off x="7761042" y="2664390"/>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Key2</a:t>
              </a:r>
            </a:p>
          </p:txBody>
        </p:sp>
        <p:sp>
          <p:nvSpPr>
            <p:cNvPr id="25" name="Rectangle 24">
              <a:extLst>
                <a:ext uri="{FF2B5EF4-FFF2-40B4-BE49-F238E27FC236}">
                  <a16:creationId xmlns:a16="http://schemas.microsoft.com/office/drawing/2014/main" id="{3436D579-5E60-4202-BFF7-2FB9A9583A64}"/>
                </a:ext>
              </a:extLst>
            </p:cNvPr>
            <p:cNvSpPr/>
            <p:nvPr/>
          </p:nvSpPr>
          <p:spPr>
            <a:xfrm>
              <a:off x="7761042" y="3111431"/>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Value</a:t>
              </a:r>
            </a:p>
          </p:txBody>
        </p:sp>
      </p:grpSp>
      <p:grpSp>
        <p:nvGrpSpPr>
          <p:cNvPr id="27" name="Group 26">
            <a:extLst>
              <a:ext uri="{FF2B5EF4-FFF2-40B4-BE49-F238E27FC236}">
                <a16:creationId xmlns:a16="http://schemas.microsoft.com/office/drawing/2014/main" id="{F083B93B-B51F-42EF-BA22-5C797C4A2808}"/>
              </a:ext>
            </a:extLst>
          </p:cNvPr>
          <p:cNvGrpSpPr/>
          <p:nvPr/>
        </p:nvGrpSpPr>
        <p:grpSpPr>
          <a:xfrm>
            <a:off x="5636167" y="3442114"/>
            <a:ext cx="844952" cy="902358"/>
            <a:chOff x="7761042" y="2664390"/>
            <a:chExt cx="844952" cy="902358"/>
          </a:xfrm>
        </p:grpSpPr>
        <p:sp>
          <p:nvSpPr>
            <p:cNvPr id="28" name="Rectangle 27">
              <a:extLst>
                <a:ext uri="{FF2B5EF4-FFF2-40B4-BE49-F238E27FC236}">
                  <a16:creationId xmlns:a16="http://schemas.microsoft.com/office/drawing/2014/main" id="{BFD5EE64-5005-4780-9EDF-9D8CE7585F5C}"/>
                </a:ext>
              </a:extLst>
            </p:cNvPr>
            <p:cNvSpPr/>
            <p:nvPr/>
          </p:nvSpPr>
          <p:spPr>
            <a:xfrm>
              <a:off x="7761042" y="2664390"/>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Key1</a:t>
              </a:r>
            </a:p>
          </p:txBody>
        </p:sp>
        <p:sp>
          <p:nvSpPr>
            <p:cNvPr id="29" name="Rectangle 28">
              <a:extLst>
                <a:ext uri="{FF2B5EF4-FFF2-40B4-BE49-F238E27FC236}">
                  <a16:creationId xmlns:a16="http://schemas.microsoft.com/office/drawing/2014/main" id="{09649F8C-DA9D-41FF-882A-E4766A16953B}"/>
                </a:ext>
              </a:extLst>
            </p:cNvPr>
            <p:cNvSpPr/>
            <p:nvPr/>
          </p:nvSpPr>
          <p:spPr>
            <a:xfrm>
              <a:off x="7761042" y="3111431"/>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Value</a:t>
              </a:r>
            </a:p>
          </p:txBody>
        </p:sp>
      </p:grpSp>
      <p:grpSp>
        <p:nvGrpSpPr>
          <p:cNvPr id="30" name="Group 29">
            <a:extLst>
              <a:ext uri="{FF2B5EF4-FFF2-40B4-BE49-F238E27FC236}">
                <a16:creationId xmlns:a16="http://schemas.microsoft.com/office/drawing/2014/main" id="{4B125D1A-9223-47A3-998D-2657C278EBD0}"/>
              </a:ext>
            </a:extLst>
          </p:cNvPr>
          <p:cNvGrpSpPr/>
          <p:nvPr/>
        </p:nvGrpSpPr>
        <p:grpSpPr>
          <a:xfrm>
            <a:off x="6689681" y="3437976"/>
            <a:ext cx="844952" cy="902358"/>
            <a:chOff x="7761042" y="2664390"/>
            <a:chExt cx="844952" cy="902358"/>
          </a:xfrm>
        </p:grpSpPr>
        <p:sp>
          <p:nvSpPr>
            <p:cNvPr id="31" name="Rectangle 30">
              <a:extLst>
                <a:ext uri="{FF2B5EF4-FFF2-40B4-BE49-F238E27FC236}">
                  <a16:creationId xmlns:a16="http://schemas.microsoft.com/office/drawing/2014/main" id="{484F60D4-93EA-4870-8151-5292734F9424}"/>
                </a:ext>
              </a:extLst>
            </p:cNvPr>
            <p:cNvSpPr/>
            <p:nvPr/>
          </p:nvSpPr>
          <p:spPr>
            <a:xfrm>
              <a:off x="7761042" y="2664390"/>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Key3</a:t>
              </a:r>
            </a:p>
          </p:txBody>
        </p:sp>
        <p:sp>
          <p:nvSpPr>
            <p:cNvPr id="32" name="Rectangle 31">
              <a:extLst>
                <a:ext uri="{FF2B5EF4-FFF2-40B4-BE49-F238E27FC236}">
                  <a16:creationId xmlns:a16="http://schemas.microsoft.com/office/drawing/2014/main" id="{3080453D-0896-49D0-AA14-EBDC5B5FCC84}"/>
                </a:ext>
              </a:extLst>
            </p:cNvPr>
            <p:cNvSpPr/>
            <p:nvPr/>
          </p:nvSpPr>
          <p:spPr>
            <a:xfrm>
              <a:off x="7761042" y="3111431"/>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Value</a:t>
              </a:r>
            </a:p>
          </p:txBody>
        </p:sp>
      </p:grpSp>
      <p:sp>
        <p:nvSpPr>
          <p:cNvPr id="34" name="Rectangle 33">
            <a:extLst>
              <a:ext uri="{FF2B5EF4-FFF2-40B4-BE49-F238E27FC236}">
                <a16:creationId xmlns:a16="http://schemas.microsoft.com/office/drawing/2014/main" id="{72613B06-37F5-4BA1-A06F-96B229539769}"/>
              </a:ext>
            </a:extLst>
          </p:cNvPr>
          <p:cNvSpPr/>
          <p:nvPr/>
        </p:nvSpPr>
        <p:spPr>
          <a:xfrm>
            <a:off x="450005" y="2288304"/>
            <a:ext cx="2004075" cy="369332"/>
          </a:xfrm>
          <a:prstGeom prst="rect">
            <a:avLst/>
          </a:prstGeom>
        </p:spPr>
        <p:txBody>
          <a:bodyPr wrap="none">
            <a:spAutoFit/>
          </a:bodyPr>
          <a:lstStyle/>
          <a:p>
            <a:r>
              <a:rPr lang="en-US" dirty="0">
                <a:solidFill>
                  <a:srgbClr val="18537D"/>
                </a:solidFill>
              </a:rPr>
              <a:t>Default Hashing </a:t>
            </a:r>
            <a:endParaRPr lang="en-US" dirty="0"/>
          </a:p>
        </p:txBody>
      </p:sp>
      <p:sp>
        <p:nvSpPr>
          <p:cNvPr id="35" name="Rectangle 34">
            <a:extLst>
              <a:ext uri="{FF2B5EF4-FFF2-40B4-BE49-F238E27FC236}">
                <a16:creationId xmlns:a16="http://schemas.microsoft.com/office/drawing/2014/main" id="{261CD641-B083-4823-9DF3-94B92EBECF12}"/>
              </a:ext>
            </a:extLst>
          </p:cNvPr>
          <p:cNvSpPr/>
          <p:nvPr/>
        </p:nvSpPr>
        <p:spPr>
          <a:xfrm>
            <a:off x="7601492" y="2103638"/>
            <a:ext cx="2337499" cy="369332"/>
          </a:xfrm>
          <a:prstGeom prst="rect">
            <a:avLst/>
          </a:prstGeom>
        </p:spPr>
        <p:txBody>
          <a:bodyPr wrap="none">
            <a:spAutoFit/>
          </a:bodyPr>
          <a:lstStyle/>
          <a:p>
            <a:r>
              <a:rPr lang="en-US" dirty="0">
                <a:solidFill>
                  <a:srgbClr val="18537D"/>
                </a:solidFill>
              </a:rPr>
              <a:t>Consistent Hashing</a:t>
            </a:r>
            <a:endParaRPr lang="en-US" dirty="0"/>
          </a:p>
        </p:txBody>
      </p:sp>
      <p:sp>
        <p:nvSpPr>
          <p:cNvPr id="37" name="Circle: Hollow 36">
            <a:extLst>
              <a:ext uri="{FF2B5EF4-FFF2-40B4-BE49-F238E27FC236}">
                <a16:creationId xmlns:a16="http://schemas.microsoft.com/office/drawing/2014/main" id="{70D1E75C-2467-4A9E-AC46-CDD3F0606319}"/>
              </a:ext>
            </a:extLst>
          </p:cNvPr>
          <p:cNvSpPr/>
          <p:nvPr/>
        </p:nvSpPr>
        <p:spPr>
          <a:xfrm>
            <a:off x="8458325" y="2657636"/>
            <a:ext cx="4722471" cy="4128467"/>
          </a:xfrm>
          <a:prstGeom prst="donut">
            <a:avLst>
              <a:gd name="adj" fmla="val 2886"/>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
        <p:nvSpPr>
          <p:cNvPr id="40" name="Oval 39">
            <a:extLst>
              <a:ext uri="{FF2B5EF4-FFF2-40B4-BE49-F238E27FC236}">
                <a16:creationId xmlns:a16="http://schemas.microsoft.com/office/drawing/2014/main" id="{D9F75CA4-CAA1-4D2D-B70E-67260ADB2A8B}"/>
              </a:ext>
            </a:extLst>
          </p:cNvPr>
          <p:cNvSpPr/>
          <p:nvPr/>
        </p:nvSpPr>
        <p:spPr>
          <a:xfrm>
            <a:off x="8900932" y="3148314"/>
            <a:ext cx="491903" cy="4513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606D8FA-C7B9-462D-BB9B-82CB390D8A49}"/>
              </a:ext>
            </a:extLst>
          </p:cNvPr>
          <p:cNvSpPr/>
          <p:nvPr/>
        </p:nvSpPr>
        <p:spPr>
          <a:xfrm>
            <a:off x="8900932" y="5881772"/>
            <a:ext cx="491903" cy="4513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8555774-36FB-40D1-B5B6-041C34737622}"/>
              </a:ext>
            </a:extLst>
          </p:cNvPr>
          <p:cNvSpPr/>
          <p:nvPr/>
        </p:nvSpPr>
        <p:spPr>
          <a:xfrm>
            <a:off x="12406108" y="5649294"/>
            <a:ext cx="491903" cy="4513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ECB70D44-9CAE-4BA3-9DF3-17F84FE6094A}"/>
              </a:ext>
            </a:extLst>
          </p:cNvPr>
          <p:cNvSpPr/>
          <p:nvPr/>
        </p:nvSpPr>
        <p:spPr>
          <a:xfrm>
            <a:off x="12450374" y="3306896"/>
            <a:ext cx="491903" cy="4513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6E7FCEBE-3EAD-4DFE-BF07-B601CBCF873B}"/>
              </a:ext>
            </a:extLst>
          </p:cNvPr>
          <p:cNvSpPr/>
          <p:nvPr/>
        </p:nvSpPr>
        <p:spPr>
          <a:xfrm>
            <a:off x="11599762" y="6230941"/>
            <a:ext cx="491903" cy="4513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85A622B-0D3F-4866-A1CA-B0BC234071A8}"/>
              </a:ext>
            </a:extLst>
          </p:cNvPr>
          <p:cNvSpPr/>
          <p:nvPr/>
        </p:nvSpPr>
        <p:spPr>
          <a:xfrm>
            <a:off x="13099478" y="1241588"/>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Key</a:t>
            </a:r>
          </a:p>
        </p:txBody>
      </p:sp>
      <p:sp>
        <p:nvSpPr>
          <p:cNvPr id="46" name="Rectangle 45">
            <a:extLst>
              <a:ext uri="{FF2B5EF4-FFF2-40B4-BE49-F238E27FC236}">
                <a16:creationId xmlns:a16="http://schemas.microsoft.com/office/drawing/2014/main" id="{CBE51447-9F92-43C9-AD8C-514AC448DC58}"/>
              </a:ext>
            </a:extLst>
          </p:cNvPr>
          <p:cNvSpPr/>
          <p:nvPr/>
        </p:nvSpPr>
        <p:spPr>
          <a:xfrm>
            <a:off x="12995207" y="2064045"/>
            <a:ext cx="1053494" cy="369332"/>
          </a:xfrm>
          <a:prstGeom prst="rect">
            <a:avLst/>
          </a:prstGeom>
        </p:spPr>
        <p:txBody>
          <a:bodyPr wrap="none">
            <a:spAutoFit/>
          </a:bodyPr>
          <a:lstStyle/>
          <a:p>
            <a:r>
              <a:rPr lang="en-US" dirty="0">
                <a:solidFill>
                  <a:srgbClr val="18537D"/>
                </a:solidFill>
              </a:rPr>
              <a:t>F(“key”)</a:t>
            </a:r>
            <a:endParaRPr lang="en-US" dirty="0"/>
          </a:p>
        </p:txBody>
      </p:sp>
      <p:sp>
        <p:nvSpPr>
          <p:cNvPr id="48" name="Rectangle 47">
            <a:extLst>
              <a:ext uri="{FF2B5EF4-FFF2-40B4-BE49-F238E27FC236}">
                <a16:creationId xmlns:a16="http://schemas.microsoft.com/office/drawing/2014/main" id="{C13AB9FF-27CC-4709-B05C-EB8A8F4FDFBF}"/>
              </a:ext>
            </a:extLst>
          </p:cNvPr>
          <p:cNvSpPr/>
          <p:nvPr/>
        </p:nvSpPr>
        <p:spPr>
          <a:xfrm>
            <a:off x="12871899" y="2552920"/>
            <a:ext cx="1436612" cy="369332"/>
          </a:xfrm>
          <a:prstGeom prst="rect">
            <a:avLst/>
          </a:prstGeom>
        </p:spPr>
        <p:txBody>
          <a:bodyPr wrap="none">
            <a:spAutoFit/>
          </a:bodyPr>
          <a:lstStyle/>
          <a:p>
            <a:r>
              <a:rPr lang="en-US" dirty="0">
                <a:solidFill>
                  <a:srgbClr val="18537D"/>
                </a:solidFill>
              </a:rPr>
              <a:t>67%256=67</a:t>
            </a:r>
            <a:endParaRPr lang="en-US" dirty="0"/>
          </a:p>
        </p:txBody>
      </p:sp>
      <p:sp>
        <p:nvSpPr>
          <p:cNvPr id="49" name="Rectangle 48">
            <a:extLst>
              <a:ext uri="{FF2B5EF4-FFF2-40B4-BE49-F238E27FC236}">
                <a16:creationId xmlns:a16="http://schemas.microsoft.com/office/drawing/2014/main" id="{0FB5BF2E-E001-4249-A4F9-9568582F473A}"/>
              </a:ext>
            </a:extLst>
          </p:cNvPr>
          <p:cNvSpPr/>
          <p:nvPr/>
        </p:nvSpPr>
        <p:spPr>
          <a:xfrm>
            <a:off x="10523645" y="2368254"/>
            <a:ext cx="591829" cy="369332"/>
          </a:xfrm>
          <a:prstGeom prst="rect">
            <a:avLst/>
          </a:prstGeom>
        </p:spPr>
        <p:txBody>
          <a:bodyPr wrap="none">
            <a:spAutoFit/>
          </a:bodyPr>
          <a:lstStyle/>
          <a:p>
            <a:r>
              <a:rPr lang="en-US" dirty="0">
                <a:solidFill>
                  <a:srgbClr val="18537D"/>
                </a:solidFill>
              </a:rPr>
              <a:t>255</a:t>
            </a:r>
            <a:endParaRPr lang="en-US" dirty="0"/>
          </a:p>
        </p:txBody>
      </p:sp>
      <p:sp>
        <p:nvSpPr>
          <p:cNvPr id="50" name="Rectangle 49">
            <a:extLst>
              <a:ext uri="{FF2B5EF4-FFF2-40B4-BE49-F238E27FC236}">
                <a16:creationId xmlns:a16="http://schemas.microsoft.com/office/drawing/2014/main" id="{97EA8F28-D001-4AB2-A845-AAE28BE3850D}"/>
              </a:ext>
            </a:extLst>
          </p:cNvPr>
          <p:cNvSpPr/>
          <p:nvPr/>
        </p:nvSpPr>
        <p:spPr>
          <a:xfrm>
            <a:off x="13152824" y="4537203"/>
            <a:ext cx="476412" cy="369332"/>
          </a:xfrm>
          <a:prstGeom prst="rect">
            <a:avLst/>
          </a:prstGeom>
        </p:spPr>
        <p:txBody>
          <a:bodyPr wrap="none">
            <a:spAutoFit/>
          </a:bodyPr>
          <a:lstStyle/>
          <a:p>
            <a:r>
              <a:rPr lang="en-US" dirty="0">
                <a:solidFill>
                  <a:srgbClr val="18537D"/>
                </a:solidFill>
              </a:rPr>
              <a:t>64</a:t>
            </a:r>
            <a:endParaRPr lang="en-US" dirty="0"/>
          </a:p>
        </p:txBody>
      </p:sp>
      <p:sp>
        <p:nvSpPr>
          <p:cNvPr id="51" name="Rectangle 50">
            <a:extLst>
              <a:ext uri="{FF2B5EF4-FFF2-40B4-BE49-F238E27FC236}">
                <a16:creationId xmlns:a16="http://schemas.microsoft.com/office/drawing/2014/main" id="{36F2BE33-24C8-491F-94A1-20F2BF87FEAB}"/>
              </a:ext>
            </a:extLst>
          </p:cNvPr>
          <p:cNvSpPr/>
          <p:nvPr/>
        </p:nvSpPr>
        <p:spPr>
          <a:xfrm>
            <a:off x="10523644" y="6767111"/>
            <a:ext cx="553357" cy="369332"/>
          </a:xfrm>
          <a:prstGeom prst="rect">
            <a:avLst/>
          </a:prstGeom>
        </p:spPr>
        <p:txBody>
          <a:bodyPr wrap="none">
            <a:spAutoFit/>
          </a:bodyPr>
          <a:lstStyle/>
          <a:p>
            <a:r>
              <a:rPr lang="en-US" dirty="0">
                <a:solidFill>
                  <a:srgbClr val="18537D"/>
                </a:solidFill>
              </a:rPr>
              <a:t>128</a:t>
            </a:r>
            <a:endParaRPr lang="en-US" dirty="0"/>
          </a:p>
        </p:txBody>
      </p:sp>
      <p:sp>
        <p:nvSpPr>
          <p:cNvPr id="52" name="Rectangle 51">
            <a:extLst>
              <a:ext uri="{FF2B5EF4-FFF2-40B4-BE49-F238E27FC236}">
                <a16:creationId xmlns:a16="http://schemas.microsoft.com/office/drawing/2014/main" id="{8FA50C76-A9E9-490B-8FED-3066033935F3}"/>
              </a:ext>
            </a:extLst>
          </p:cNvPr>
          <p:cNvSpPr/>
          <p:nvPr/>
        </p:nvSpPr>
        <p:spPr>
          <a:xfrm>
            <a:off x="7866496" y="4537203"/>
            <a:ext cx="570990" cy="369332"/>
          </a:xfrm>
          <a:prstGeom prst="rect">
            <a:avLst/>
          </a:prstGeom>
        </p:spPr>
        <p:txBody>
          <a:bodyPr wrap="none">
            <a:spAutoFit/>
          </a:bodyPr>
          <a:lstStyle/>
          <a:p>
            <a:r>
              <a:rPr lang="en-US" dirty="0">
                <a:solidFill>
                  <a:srgbClr val="18537D"/>
                </a:solidFill>
              </a:rPr>
              <a:t>196</a:t>
            </a:r>
            <a:endParaRPr lang="en-US" dirty="0"/>
          </a:p>
        </p:txBody>
      </p:sp>
      <p:cxnSp>
        <p:nvCxnSpPr>
          <p:cNvPr id="55" name="Connector: Curved 54">
            <a:extLst>
              <a:ext uri="{FF2B5EF4-FFF2-40B4-BE49-F238E27FC236}">
                <a16:creationId xmlns:a16="http://schemas.microsoft.com/office/drawing/2014/main" id="{735C293F-D682-4E84-A313-550D8A07D85B}"/>
              </a:ext>
            </a:extLst>
          </p:cNvPr>
          <p:cNvCxnSpPr>
            <a:cxnSpLocks/>
            <a:stCxn id="48" idx="2"/>
          </p:cNvCxnSpPr>
          <p:nvPr/>
        </p:nvCxnSpPr>
        <p:spPr>
          <a:xfrm rot="5400000">
            <a:off x="12118292" y="3701971"/>
            <a:ext cx="2251632" cy="692194"/>
          </a:xfrm>
          <a:prstGeom prst="curvedConnector3">
            <a:avLst>
              <a:gd name="adj1" fmla="val 5102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0CC99AE6-06FD-4FCC-84E6-F2F4B0282E84}"/>
              </a:ext>
            </a:extLst>
          </p:cNvPr>
          <p:cNvCxnSpPr>
            <a:cxnSpLocks/>
            <a:stCxn id="42" idx="1"/>
            <a:endCxn id="44" idx="0"/>
          </p:cNvCxnSpPr>
          <p:nvPr/>
        </p:nvCxnSpPr>
        <p:spPr>
          <a:xfrm rot="16200000" flipH="1" flipV="1">
            <a:off x="11904155" y="5656950"/>
            <a:ext cx="515549" cy="632432"/>
          </a:xfrm>
          <a:prstGeom prst="curvedConnector3">
            <a:avLst>
              <a:gd name="adj1" fmla="val -57162"/>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Connector: Curved 61">
            <a:extLst>
              <a:ext uri="{FF2B5EF4-FFF2-40B4-BE49-F238E27FC236}">
                <a16:creationId xmlns:a16="http://schemas.microsoft.com/office/drawing/2014/main" id="{91863EC2-29F1-4E34-8F5B-CB5E2B1BFD57}"/>
              </a:ext>
            </a:extLst>
          </p:cNvPr>
          <p:cNvCxnSpPr>
            <a:cxnSpLocks/>
            <a:stCxn id="42" idx="1"/>
            <a:endCxn id="41" idx="7"/>
          </p:cNvCxnSpPr>
          <p:nvPr/>
        </p:nvCxnSpPr>
        <p:spPr>
          <a:xfrm rot="16200000" flipH="1" flipV="1">
            <a:off x="10783233" y="4252956"/>
            <a:ext cx="232478" cy="3157349"/>
          </a:xfrm>
          <a:prstGeom prst="curvedConnector3">
            <a:avLst>
              <a:gd name="adj1" fmla="val -126764"/>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22B1CC18-4E94-478E-B696-C0E72AAEE16B}"/>
              </a:ext>
            </a:extLst>
          </p:cNvPr>
          <p:cNvSpPr/>
          <p:nvPr/>
        </p:nvSpPr>
        <p:spPr>
          <a:xfrm>
            <a:off x="11536999" y="2657636"/>
            <a:ext cx="491903" cy="451342"/>
          </a:xfrm>
          <a:prstGeom prst="ellipse">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6D4E851A-9E44-48D5-8C5B-FCCA15360422}"/>
              </a:ext>
            </a:extLst>
          </p:cNvPr>
          <p:cNvSpPr/>
          <p:nvPr/>
        </p:nvSpPr>
        <p:spPr>
          <a:xfrm>
            <a:off x="11201425" y="5445782"/>
            <a:ext cx="771365" cy="369332"/>
          </a:xfrm>
          <a:prstGeom prst="rect">
            <a:avLst/>
          </a:prstGeom>
        </p:spPr>
        <p:txBody>
          <a:bodyPr wrap="none">
            <a:spAutoFit/>
          </a:bodyPr>
          <a:lstStyle/>
          <a:p>
            <a:r>
              <a:rPr lang="en-US" dirty="0">
                <a:solidFill>
                  <a:srgbClr val="18537D"/>
                </a:solidFill>
              </a:rPr>
              <a:t>Copy</a:t>
            </a:r>
            <a:endParaRPr lang="en-US" dirty="0"/>
          </a:p>
        </p:txBody>
      </p:sp>
      <p:grpSp>
        <p:nvGrpSpPr>
          <p:cNvPr id="69" name="Group 68">
            <a:extLst>
              <a:ext uri="{FF2B5EF4-FFF2-40B4-BE49-F238E27FC236}">
                <a16:creationId xmlns:a16="http://schemas.microsoft.com/office/drawing/2014/main" id="{DB311934-10E5-4889-89E5-A0D89ECA280B}"/>
              </a:ext>
            </a:extLst>
          </p:cNvPr>
          <p:cNvGrpSpPr/>
          <p:nvPr/>
        </p:nvGrpSpPr>
        <p:grpSpPr>
          <a:xfrm>
            <a:off x="13215336" y="4937761"/>
            <a:ext cx="844952" cy="902358"/>
            <a:chOff x="7761042" y="2664390"/>
            <a:chExt cx="844952" cy="902358"/>
          </a:xfrm>
        </p:grpSpPr>
        <p:sp>
          <p:nvSpPr>
            <p:cNvPr id="70" name="Rectangle 69">
              <a:extLst>
                <a:ext uri="{FF2B5EF4-FFF2-40B4-BE49-F238E27FC236}">
                  <a16:creationId xmlns:a16="http://schemas.microsoft.com/office/drawing/2014/main" id="{E769B66C-00D6-4C8F-9185-7323AF8C1148}"/>
                </a:ext>
              </a:extLst>
            </p:cNvPr>
            <p:cNvSpPr/>
            <p:nvPr/>
          </p:nvSpPr>
          <p:spPr>
            <a:xfrm>
              <a:off x="7761042" y="2664390"/>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Key1</a:t>
              </a:r>
            </a:p>
          </p:txBody>
        </p:sp>
        <p:sp>
          <p:nvSpPr>
            <p:cNvPr id="71" name="Rectangle 70">
              <a:extLst>
                <a:ext uri="{FF2B5EF4-FFF2-40B4-BE49-F238E27FC236}">
                  <a16:creationId xmlns:a16="http://schemas.microsoft.com/office/drawing/2014/main" id="{0126F459-79C9-48D6-B21F-0388A73D3C0C}"/>
                </a:ext>
              </a:extLst>
            </p:cNvPr>
            <p:cNvSpPr/>
            <p:nvPr/>
          </p:nvSpPr>
          <p:spPr>
            <a:xfrm>
              <a:off x="7761042" y="3111431"/>
              <a:ext cx="844952" cy="45531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Value</a:t>
              </a:r>
            </a:p>
          </p:txBody>
        </p:sp>
      </p:grpSp>
    </p:spTree>
    <p:extLst>
      <p:ext uri="{BB962C8B-B14F-4D97-AF65-F5344CB8AC3E}">
        <p14:creationId xmlns:p14="http://schemas.microsoft.com/office/powerpoint/2010/main" val="1783575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F21DD7-3CB3-4F96-A670-083C6C973E7A}"/>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CFDEA69C-6BA5-41BC-A382-9ACDF7A09922}"/>
              </a:ext>
            </a:extLst>
          </p:cNvPr>
          <p:cNvSpPr>
            <a:spLocks noGrp="1"/>
          </p:cNvSpPr>
          <p:nvPr>
            <p:ph type="sldNum" sz="quarter" idx="17"/>
          </p:nvPr>
        </p:nvSpPr>
        <p:spPr/>
        <p:txBody>
          <a:bodyPr/>
          <a:lstStyle/>
          <a:p>
            <a:fld id="{4F9AC08D-23A9-440E-BCB9-AA1E9877CC38}" type="slidenum">
              <a:rPr lang="en-US" smtClean="0"/>
              <a:pPr/>
              <a:t>16</a:t>
            </a:fld>
            <a:endParaRPr lang="en-US" dirty="0"/>
          </a:p>
        </p:txBody>
      </p:sp>
      <p:sp>
        <p:nvSpPr>
          <p:cNvPr id="4" name="Title 3">
            <a:extLst>
              <a:ext uri="{FF2B5EF4-FFF2-40B4-BE49-F238E27FC236}">
                <a16:creationId xmlns:a16="http://schemas.microsoft.com/office/drawing/2014/main" id="{ECB3879C-E700-42CD-BA89-D4F902DD15BD}"/>
              </a:ext>
            </a:extLst>
          </p:cNvPr>
          <p:cNvSpPr>
            <a:spLocks noGrp="1"/>
          </p:cNvSpPr>
          <p:nvPr>
            <p:ph type="title"/>
          </p:nvPr>
        </p:nvSpPr>
        <p:spPr/>
        <p:txBody>
          <a:bodyPr/>
          <a:lstStyle/>
          <a:p>
            <a:r>
              <a:rPr lang="en-US" dirty="0">
                <a:solidFill>
                  <a:schemeClr val="bg1"/>
                </a:solidFill>
              </a:rPr>
              <a:t>Read/Write Consistency</a:t>
            </a:r>
          </a:p>
        </p:txBody>
      </p:sp>
      <p:sp>
        <p:nvSpPr>
          <p:cNvPr id="6" name="Rectangle 5">
            <a:extLst>
              <a:ext uri="{FF2B5EF4-FFF2-40B4-BE49-F238E27FC236}">
                <a16:creationId xmlns:a16="http://schemas.microsoft.com/office/drawing/2014/main" id="{6635B0AE-F356-4E06-87D9-1A49E0A66576}"/>
              </a:ext>
            </a:extLst>
          </p:cNvPr>
          <p:cNvSpPr/>
          <p:nvPr/>
        </p:nvSpPr>
        <p:spPr>
          <a:xfrm>
            <a:off x="450005" y="1294505"/>
            <a:ext cx="12557808" cy="4610301"/>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DynamoDB maintains multiple copies of data for durability.</a:t>
            </a:r>
          </a:p>
          <a:p>
            <a:pPr marL="742950" lvl="1" indent="-285750">
              <a:lnSpc>
                <a:spcPct val="150000"/>
              </a:lnSpc>
              <a:buFont typeface="Arial" panose="020B0604020202020204" pitchFamily="34" charset="0"/>
              <a:buChar char="•"/>
            </a:pPr>
            <a:r>
              <a:rPr lang="en-US" dirty="0">
                <a:solidFill>
                  <a:srgbClr val="18537D"/>
                </a:solidFill>
              </a:rPr>
              <a:t>All copies are usually consistent within a second after write operation.</a:t>
            </a:r>
          </a:p>
          <a:p>
            <a:pPr marL="285750" indent="-285750">
              <a:lnSpc>
                <a:spcPct val="150000"/>
              </a:lnSpc>
              <a:buFont typeface="Arial" panose="020B0604020202020204" pitchFamily="34" charset="0"/>
              <a:buChar char="•"/>
            </a:pPr>
            <a:r>
              <a:rPr lang="en-US" dirty="0">
                <a:solidFill>
                  <a:srgbClr val="18537D"/>
                </a:solidFill>
              </a:rPr>
              <a:t>Read consistency levels.</a:t>
            </a:r>
          </a:p>
          <a:p>
            <a:pPr marL="742950" lvl="1" indent="-285750">
              <a:lnSpc>
                <a:spcPct val="150000"/>
              </a:lnSpc>
              <a:buFont typeface="Arial" panose="020B0604020202020204" pitchFamily="34" charset="0"/>
              <a:buChar char="•"/>
            </a:pPr>
            <a:r>
              <a:rPr lang="en-US" dirty="0">
                <a:solidFill>
                  <a:srgbClr val="18537D"/>
                </a:solidFill>
              </a:rPr>
              <a:t>Eventually consistent read may return slightly stale data if a read operation is performed immediately after a write operation. </a:t>
            </a:r>
          </a:p>
          <a:p>
            <a:pPr marL="742950" lvl="1" indent="-285750">
              <a:lnSpc>
                <a:spcPct val="150000"/>
              </a:lnSpc>
              <a:buFont typeface="Arial" panose="020B0604020202020204" pitchFamily="34" charset="0"/>
              <a:buChar char="•"/>
            </a:pPr>
            <a:r>
              <a:rPr lang="en-US" dirty="0">
                <a:solidFill>
                  <a:srgbClr val="18537D"/>
                </a:solidFill>
              </a:rPr>
              <a:t>Strongly consistent read returns most up-to-date data. </a:t>
            </a:r>
          </a:p>
          <a:p>
            <a:pPr marL="742950" lvl="1" indent="-285750">
              <a:lnSpc>
                <a:spcPct val="150000"/>
              </a:lnSpc>
              <a:buFont typeface="Arial" panose="020B0604020202020204" pitchFamily="34" charset="0"/>
              <a:buChar char="•"/>
            </a:pPr>
            <a:r>
              <a:rPr lang="en-US" dirty="0">
                <a:solidFill>
                  <a:srgbClr val="18537D"/>
                </a:solidFill>
              </a:rPr>
              <a:t>Transactional provides ACID consistency.</a:t>
            </a:r>
          </a:p>
          <a:p>
            <a:pPr marL="285750" indent="-285750">
              <a:lnSpc>
                <a:spcPct val="150000"/>
              </a:lnSpc>
              <a:buFont typeface="Arial" panose="020B0604020202020204" pitchFamily="34" charset="0"/>
              <a:buChar char="•"/>
            </a:pPr>
            <a:r>
              <a:rPr lang="en-US" dirty="0">
                <a:solidFill>
                  <a:srgbClr val="18537D"/>
                </a:solidFill>
              </a:rPr>
              <a:t>Write consistency levels.</a:t>
            </a:r>
          </a:p>
          <a:p>
            <a:pPr marL="742950" lvl="1" indent="-285750">
              <a:lnSpc>
                <a:spcPct val="150000"/>
              </a:lnSpc>
              <a:buFont typeface="Arial" panose="020B0604020202020204" pitchFamily="34" charset="0"/>
              <a:buChar char="•"/>
            </a:pPr>
            <a:r>
              <a:rPr lang="en-US" dirty="0">
                <a:solidFill>
                  <a:srgbClr val="18537D"/>
                </a:solidFill>
              </a:rPr>
              <a:t>Standard </a:t>
            </a:r>
          </a:p>
          <a:p>
            <a:pPr marL="742950" lvl="1" indent="-285750">
              <a:lnSpc>
                <a:spcPct val="150000"/>
              </a:lnSpc>
              <a:buFont typeface="Arial" panose="020B0604020202020204" pitchFamily="34" charset="0"/>
              <a:buChar char="•"/>
            </a:pPr>
            <a:r>
              <a:rPr lang="en-US" dirty="0">
                <a:solidFill>
                  <a:srgbClr val="18537D"/>
                </a:solidFill>
              </a:rPr>
              <a:t>Transactional provides ACID consistency.</a:t>
            </a:r>
          </a:p>
          <a:p>
            <a:pPr marL="742950" lvl="1" indent="-285750">
              <a:lnSpc>
                <a:spcPct val="150000"/>
              </a:lnSpc>
              <a:buFont typeface="Arial" panose="020B0604020202020204" pitchFamily="34" charset="0"/>
              <a:buChar char="•"/>
            </a:pPr>
            <a:r>
              <a:rPr lang="en-US" dirty="0">
                <a:solidFill>
                  <a:srgbClr val="18537D"/>
                </a:solidFill>
              </a:rPr>
              <a:t>You can specify the desired consistency level when reading data.</a:t>
            </a:r>
          </a:p>
        </p:txBody>
      </p:sp>
    </p:spTree>
    <p:extLst>
      <p:ext uri="{BB962C8B-B14F-4D97-AF65-F5344CB8AC3E}">
        <p14:creationId xmlns:p14="http://schemas.microsoft.com/office/powerpoint/2010/main" val="3418897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29A785-F1D9-4B16-840B-3EA5AA14BDB2}"/>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71049A3E-1E20-4380-A7E2-1358F958D8AF}"/>
              </a:ext>
            </a:extLst>
          </p:cNvPr>
          <p:cNvSpPr>
            <a:spLocks noGrp="1"/>
          </p:cNvSpPr>
          <p:nvPr>
            <p:ph type="sldNum" sz="quarter" idx="17"/>
          </p:nvPr>
        </p:nvSpPr>
        <p:spPr/>
        <p:txBody>
          <a:bodyPr/>
          <a:lstStyle/>
          <a:p>
            <a:fld id="{4F9AC08D-23A9-440E-BCB9-AA1E9877CC38}" type="slidenum">
              <a:rPr lang="en-US" smtClean="0"/>
              <a:pPr/>
              <a:t>17</a:t>
            </a:fld>
            <a:endParaRPr lang="en-US" dirty="0"/>
          </a:p>
        </p:txBody>
      </p:sp>
      <p:sp>
        <p:nvSpPr>
          <p:cNvPr id="4" name="Title 3">
            <a:extLst>
              <a:ext uri="{FF2B5EF4-FFF2-40B4-BE49-F238E27FC236}">
                <a16:creationId xmlns:a16="http://schemas.microsoft.com/office/drawing/2014/main" id="{0E43DE86-EDC0-4009-9EFC-ECACFE99CB23}"/>
              </a:ext>
            </a:extLst>
          </p:cNvPr>
          <p:cNvSpPr>
            <a:spLocks noGrp="1"/>
          </p:cNvSpPr>
          <p:nvPr>
            <p:ph type="title"/>
          </p:nvPr>
        </p:nvSpPr>
        <p:spPr/>
        <p:txBody>
          <a:bodyPr/>
          <a:lstStyle/>
          <a:p>
            <a:r>
              <a:rPr lang="en-US" dirty="0">
                <a:solidFill>
                  <a:schemeClr val="bg1"/>
                </a:solidFill>
              </a:rPr>
              <a:t>Scaling in DynamoDB</a:t>
            </a:r>
          </a:p>
        </p:txBody>
      </p:sp>
      <p:grpSp>
        <p:nvGrpSpPr>
          <p:cNvPr id="7" name="Group 6">
            <a:extLst>
              <a:ext uri="{FF2B5EF4-FFF2-40B4-BE49-F238E27FC236}">
                <a16:creationId xmlns:a16="http://schemas.microsoft.com/office/drawing/2014/main" id="{747AF992-B38D-4B27-85C3-3B199008F459}"/>
              </a:ext>
            </a:extLst>
          </p:cNvPr>
          <p:cNvGrpSpPr/>
          <p:nvPr/>
        </p:nvGrpSpPr>
        <p:grpSpPr>
          <a:xfrm>
            <a:off x="1251743" y="1286982"/>
            <a:ext cx="11896725" cy="2009775"/>
            <a:chOff x="1266573" y="1079900"/>
            <a:chExt cx="11896725" cy="2009775"/>
          </a:xfrm>
        </p:grpSpPr>
        <p:pic>
          <p:nvPicPr>
            <p:cNvPr id="5" name="Picture 4">
              <a:extLst>
                <a:ext uri="{FF2B5EF4-FFF2-40B4-BE49-F238E27FC236}">
                  <a16:creationId xmlns:a16="http://schemas.microsoft.com/office/drawing/2014/main" id="{AB977891-4BE6-4352-84A2-37B3C9081CB8}"/>
                </a:ext>
              </a:extLst>
            </p:cNvPr>
            <p:cNvPicPr>
              <a:picLocks noChangeAspect="1"/>
            </p:cNvPicPr>
            <p:nvPr/>
          </p:nvPicPr>
          <p:blipFill>
            <a:blip r:embed="rId2"/>
            <a:stretch>
              <a:fillRect/>
            </a:stretch>
          </p:blipFill>
          <p:spPr>
            <a:xfrm>
              <a:off x="1266573" y="1079900"/>
              <a:ext cx="11496675" cy="981075"/>
            </a:xfrm>
            <a:prstGeom prst="rect">
              <a:avLst/>
            </a:prstGeom>
          </p:spPr>
        </p:pic>
        <p:pic>
          <p:nvPicPr>
            <p:cNvPr id="6" name="Picture 5">
              <a:extLst>
                <a:ext uri="{FF2B5EF4-FFF2-40B4-BE49-F238E27FC236}">
                  <a16:creationId xmlns:a16="http://schemas.microsoft.com/office/drawing/2014/main" id="{ED44D3E0-8A09-45A2-ACF8-FAEF2AB122F5}"/>
                </a:ext>
              </a:extLst>
            </p:cNvPr>
            <p:cNvPicPr>
              <a:picLocks noChangeAspect="1"/>
            </p:cNvPicPr>
            <p:nvPr/>
          </p:nvPicPr>
          <p:blipFill>
            <a:blip r:embed="rId3"/>
            <a:stretch>
              <a:fillRect/>
            </a:stretch>
          </p:blipFill>
          <p:spPr>
            <a:xfrm>
              <a:off x="1266573" y="2060975"/>
              <a:ext cx="11896725" cy="1028700"/>
            </a:xfrm>
            <a:prstGeom prst="rect">
              <a:avLst/>
            </a:prstGeom>
          </p:spPr>
        </p:pic>
      </p:grpSp>
      <p:graphicFrame>
        <p:nvGraphicFramePr>
          <p:cNvPr id="8" name="Table 8">
            <a:extLst>
              <a:ext uri="{FF2B5EF4-FFF2-40B4-BE49-F238E27FC236}">
                <a16:creationId xmlns:a16="http://schemas.microsoft.com/office/drawing/2014/main" id="{53A5F2C3-9FB6-4B05-A503-3766C884D839}"/>
              </a:ext>
            </a:extLst>
          </p:cNvPr>
          <p:cNvGraphicFramePr>
            <a:graphicFrameLocks noGrp="1"/>
          </p:cNvGraphicFramePr>
          <p:nvPr/>
        </p:nvGraphicFramePr>
        <p:xfrm>
          <a:off x="1251742" y="3391241"/>
          <a:ext cx="12338463" cy="1499616"/>
        </p:xfrm>
        <a:graphic>
          <a:graphicData uri="http://schemas.openxmlformats.org/drawingml/2006/table">
            <a:tbl>
              <a:tblPr firstRow="1" bandRow="1">
                <a:tableStyleId>{ED083AE6-46FA-4A59-8FB0-9F97EB10719F}</a:tableStyleId>
              </a:tblPr>
              <a:tblGrid>
                <a:gridCol w="6514870">
                  <a:extLst>
                    <a:ext uri="{9D8B030D-6E8A-4147-A177-3AD203B41FA5}">
                      <a16:colId xmlns:a16="http://schemas.microsoft.com/office/drawing/2014/main" val="3712072951"/>
                    </a:ext>
                  </a:extLst>
                </a:gridCol>
                <a:gridCol w="5823593">
                  <a:extLst>
                    <a:ext uri="{9D8B030D-6E8A-4147-A177-3AD203B41FA5}">
                      <a16:colId xmlns:a16="http://schemas.microsoft.com/office/drawing/2014/main" val="4049468007"/>
                    </a:ext>
                  </a:extLst>
                </a:gridCol>
              </a:tblGrid>
              <a:tr h="370840">
                <a:tc>
                  <a:txBody>
                    <a:bodyPr/>
                    <a:lstStyle/>
                    <a:p>
                      <a:r>
                        <a:rPr lang="en-US" b="0" dirty="0"/>
                        <a:t>Need to specify capacity</a:t>
                      </a:r>
                    </a:p>
                  </a:txBody>
                  <a:tcPr/>
                </a:tc>
                <a:tc>
                  <a:txBody>
                    <a:bodyPr/>
                    <a:lstStyle/>
                    <a:p>
                      <a:r>
                        <a:rPr lang="en-US" b="0" dirty="0"/>
                        <a:t>No Need to configure anything</a:t>
                      </a:r>
                    </a:p>
                  </a:txBody>
                  <a:tcPr/>
                </a:tc>
                <a:extLst>
                  <a:ext uri="{0D108BD9-81ED-4DB2-BD59-A6C34878D82A}">
                    <a16:rowId xmlns:a16="http://schemas.microsoft.com/office/drawing/2014/main" val="3141021405"/>
                  </a:ext>
                </a:extLst>
              </a:tr>
              <a:tr h="370840">
                <a:tc>
                  <a:txBody>
                    <a:bodyPr/>
                    <a:lstStyle/>
                    <a:p>
                      <a:r>
                        <a:rPr lang="en-US" b="0" dirty="0"/>
                        <a:t>Cheaper per request</a:t>
                      </a:r>
                    </a:p>
                  </a:txBody>
                  <a:tcPr/>
                </a:tc>
                <a:tc>
                  <a:txBody>
                    <a:bodyPr/>
                    <a:lstStyle/>
                    <a:p>
                      <a:r>
                        <a:rPr lang="en-US" b="0" dirty="0"/>
                        <a:t>More expensive per request</a:t>
                      </a:r>
                    </a:p>
                  </a:txBody>
                  <a:tcPr/>
                </a:tc>
                <a:extLst>
                  <a:ext uri="{0D108BD9-81ED-4DB2-BD59-A6C34878D82A}">
                    <a16:rowId xmlns:a16="http://schemas.microsoft.com/office/drawing/2014/main" val="931123404"/>
                  </a:ext>
                </a:extLst>
              </a:tr>
              <a:tr h="370840">
                <a:tc>
                  <a:txBody>
                    <a:bodyPr/>
                    <a:lstStyle/>
                    <a:p>
                      <a:r>
                        <a:rPr lang="en-US" b="0" dirty="0"/>
                        <a:t>Good for established application</a:t>
                      </a:r>
                    </a:p>
                  </a:txBody>
                  <a:tcPr/>
                </a:tc>
                <a:tc>
                  <a:txBody>
                    <a:bodyPr/>
                    <a:lstStyle/>
                    <a:p>
                      <a:r>
                        <a:rPr lang="en-US" b="0" dirty="0"/>
                        <a:t>Good for new applications</a:t>
                      </a:r>
                    </a:p>
                  </a:txBody>
                  <a:tcPr/>
                </a:tc>
                <a:extLst>
                  <a:ext uri="{0D108BD9-81ED-4DB2-BD59-A6C34878D82A}">
                    <a16:rowId xmlns:a16="http://schemas.microsoft.com/office/drawing/2014/main" val="4133627176"/>
                  </a:ext>
                </a:extLst>
              </a:tr>
              <a:tr h="370840">
                <a:tc>
                  <a:txBody>
                    <a:bodyPr/>
                    <a:lstStyle/>
                    <a:p>
                      <a:r>
                        <a:rPr lang="en-US" b="0" dirty="0"/>
                        <a:t>Useful when there are traffic </a:t>
                      </a:r>
                      <a:r>
                        <a:rPr lang="en-US" b="0" dirty="0" err="1"/>
                        <a:t>pattens</a:t>
                      </a:r>
                      <a:endParaRPr lang="en-US" b="0" dirty="0"/>
                    </a:p>
                  </a:txBody>
                  <a:tcPr/>
                </a:tc>
                <a:tc>
                  <a:txBody>
                    <a:bodyPr/>
                    <a:lstStyle/>
                    <a:p>
                      <a:r>
                        <a:rPr lang="en-US" b="0" dirty="0"/>
                        <a:t>Useful when traffic are </a:t>
                      </a:r>
                      <a:r>
                        <a:rPr lang="en-US" b="0" dirty="0" err="1"/>
                        <a:t>adhoc</a:t>
                      </a:r>
                      <a:endParaRPr lang="en-US" b="0" dirty="0"/>
                    </a:p>
                  </a:txBody>
                  <a:tcPr/>
                </a:tc>
                <a:extLst>
                  <a:ext uri="{0D108BD9-81ED-4DB2-BD59-A6C34878D82A}">
                    <a16:rowId xmlns:a16="http://schemas.microsoft.com/office/drawing/2014/main" val="3500772898"/>
                  </a:ext>
                </a:extLst>
              </a:tr>
            </a:tbl>
          </a:graphicData>
        </a:graphic>
      </p:graphicFrame>
      <p:pic>
        <p:nvPicPr>
          <p:cNvPr id="10" name="Picture 9">
            <a:extLst>
              <a:ext uri="{FF2B5EF4-FFF2-40B4-BE49-F238E27FC236}">
                <a16:creationId xmlns:a16="http://schemas.microsoft.com/office/drawing/2014/main" id="{961CBF1E-44E9-4A3D-9D2B-3D269CBD4612}"/>
              </a:ext>
            </a:extLst>
          </p:cNvPr>
          <p:cNvPicPr>
            <a:picLocks noChangeAspect="1"/>
          </p:cNvPicPr>
          <p:nvPr/>
        </p:nvPicPr>
        <p:blipFill>
          <a:blip r:embed="rId4"/>
          <a:stretch>
            <a:fillRect/>
          </a:stretch>
        </p:blipFill>
        <p:spPr>
          <a:xfrm>
            <a:off x="4720194" y="5700647"/>
            <a:ext cx="4959823" cy="345685"/>
          </a:xfrm>
          <a:prstGeom prst="rect">
            <a:avLst/>
          </a:prstGeom>
        </p:spPr>
      </p:pic>
    </p:spTree>
    <p:extLst>
      <p:ext uri="{BB962C8B-B14F-4D97-AF65-F5344CB8AC3E}">
        <p14:creationId xmlns:p14="http://schemas.microsoft.com/office/powerpoint/2010/main" val="3227893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A1C456-5057-4976-9F79-86BF8967660F}"/>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2D25DA4B-3086-4395-A727-E0D3D23F00A0}"/>
              </a:ext>
            </a:extLst>
          </p:cNvPr>
          <p:cNvSpPr>
            <a:spLocks noGrp="1"/>
          </p:cNvSpPr>
          <p:nvPr>
            <p:ph type="sldNum" sz="quarter" idx="17"/>
          </p:nvPr>
        </p:nvSpPr>
        <p:spPr/>
        <p:txBody>
          <a:bodyPr/>
          <a:lstStyle/>
          <a:p>
            <a:fld id="{4F9AC08D-23A9-440E-BCB9-AA1E9877CC38}" type="slidenum">
              <a:rPr lang="en-US" smtClean="0"/>
              <a:pPr/>
              <a:t>18</a:t>
            </a:fld>
            <a:endParaRPr lang="en-US" dirty="0"/>
          </a:p>
        </p:txBody>
      </p:sp>
      <p:sp>
        <p:nvSpPr>
          <p:cNvPr id="4" name="Title 3">
            <a:extLst>
              <a:ext uri="{FF2B5EF4-FFF2-40B4-BE49-F238E27FC236}">
                <a16:creationId xmlns:a16="http://schemas.microsoft.com/office/drawing/2014/main" id="{63D3C544-9AC8-4591-AC0C-12CE7E188639}"/>
              </a:ext>
            </a:extLst>
          </p:cNvPr>
          <p:cNvSpPr>
            <a:spLocks noGrp="1"/>
          </p:cNvSpPr>
          <p:nvPr>
            <p:ph type="title"/>
          </p:nvPr>
        </p:nvSpPr>
        <p:spPr/>
        <p:txBody>
          <a:bodyPr/>
          <a:lstStyle/>
          <a:p>
            <a:r>
              <a:rPr lang="en-US" dirty="0">
                <a:solidFill>
                  <a:schemeClr val="bg1"/>
                </a:solidFill>
              </a:rPr>
              <a:t>Read and Write Throughput</a:t>
            </a:r>
          </a:p>
        </p:txBody>
      </p:sp>
      <p:sp>
        <p:nvSpPr>
          <p:cNvPr id="5" name="Rectangle 4">
            <a:extLst>
              <a:ext uri="{FF2B5EF4-FFF2-40B4-BE49-F238E27FC236}">
                <a16:creationId xmlns:a16="http://schemas.microsoft.com/office/drawing/2014/main" id="{4030E361-B585-4D6E-8527-F4B7C75F548D}"/>
              </a:ext>
            </a:extLst>
          </p:cNvPr>
          <p:cNvSpPr/>
          <p:nvPr/>
        </p:nvSpPr>
        <p:spPr>
          <a:xfrm>
            <a:off x="753077" y="1213218"/>
            <a:ext cx="12569383" cy="870816"/>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Read Capacity Unit (RCU): Number of strongly consistent reads per second of items up to 4 KB in size.</a:t>
            </a:r>
          </a:p>
          <a:p>
            <a:pPr marL="285750" indent="-285750">
              <a:lnSpc>
                <a:spcPct val="150000"/>
              </a:lnSpc>
              <a:buFont typeface="Arial" panose="020B0604020202020204" pitchFamily="34" charset="0"/>
              <a:buChar char="•"/>
            </a:pPr>
            <a:r>
              <a:rPr lang="en-US" dirty="0">
                <a:solidFill>
                  <a:srgbClr val="18537D"/>
                </a:solidFill>
              </a:rPr>
              <a:t>Eventually consistent reads use half the provisioned read capacity.</a:t>
            </a:r>
          </a:p>
        </p:txBody>
      </p:sp>
      <p:sp>
        <p:nvSpPr>
          <p:cNvPr id="6" name="Rectangle 5">
            <a:extLst>
              <a:ext uri="{FF2B5EF4-FFF2-40B4-BE49-F238E27FC236}">
                <a16:creationId xmlns:a16="http://schemas.microsoft.com/office/drawing/2014/main" id="{0878645C-0ECB-4465-93C4-8A3ADAD48902}"/>
              </a:ext>
            </a:extLst>
          </p:cNvPr>
          <p:cNvSpPr/>
          <p:nvPr/>
        </p:nvSpPr>
        <p:spPr>
          <a:xfrm>
            <a:off x="934954" y="2271939"/>
            <a:ext cx="12530303" cy="4247317"/>
          </a:xfrm>
          <a:prstGeom prst="rect">
            <a:avLst/>
          </a:prstGeom>
        </p:spPr>
        <p:txBody>
          <a:bodyPr wrap="square">
            <a:spAutoFit/>
          </a:bodyPr>
          <a:lstStyle/>
          <a:p>
            <a:pPr indent="-285750" algn="just"/>
            <a:r>
              <a:rPr lang="en-IN" dirty="0">
                <a:solidFill>
                  <a:srgbClr val="18537D"/>
                </a:solidFill>
              </a:rPr>
              <a:t>Formula: Read Capacity</a:t>
            </a:r>
          </a:p>
          <a:p>
            <a:pPr indent="-285750" algn="just"/>
            <a:endParaRPr lang="en-IN" dirty="0">
              <a:solidFill>
                <a:srgbClr val="18537D"/>
              </a:solidFill>
            </a:endParaRPr>
          </a:p>
          <a:p>
            <a:pPr lvl="1" indent="-285750" algn="just"/>
            <a:r>
              <a:rPr lang="en-IN" dirty="0">
                <a:solidFill>
                  <a:srgbClr val="18537D"/>
                </a:solidFill>
              </a:rPr>
              <a:t>(ITEM SIZE (rounded up to the next 4KB multiplier) / 4KB) * # of items (Round up to the nearest 4 KB multiplier)</a:t>
            </a:r>
          </a:p>
          <a:p>
            <a:pPr indent="-285750" algn="just"/>
            <a:endParaRPr lang="en-IN" dirty="0">
              <a:solidFill>
                <a:srgbClr val="18537D"/>
              </a:solidFill>
            </a:endParaRPr>
          </a:p>
          <a:p>
            <a:pPr indent="-285750" algn="just"/>
            <a:r>
              <a:rPr lang="en-IN" dirty="0">
                <a:solidFill>
                  <a:srgbClr val="18537D"/>
                </a:solidFill>
              </a:rPr>
              <a:t>Example: </a:t>
            </a:r>
          </a:p>
          <a:p>
            <a:pPr indent="-285750" algn="just"/>
            <a:endParaRPr lang="en-IN" dirty="0">
              <a:solidFill>
                <a:srgbClr val="18537D"/>
              </a:solidFill>
            </a:endParaRPr>
          </a:p>
          <a:p>
            <a:pPr indent="-285750" algn="just"/>
            <a:r>
              <a:rPr lang="en-IN" dirty="0">
                <a:solidFill>
                  <a:srgbClr val="18537D"/>
                </a:solidFill>
              </a:rPr>
              <a:t>An item size of 3 KB and we want to read 80 (strongly consistent read) items per second per table</a:t>
            </a:r>
          </a:p>
          <a:p>
            <a:pPr indent="-285750" algn="just"/>
            <a:endParaRPr lang="en-IN" dirty="0">
              <a:solidFill>
                <a:srgbClr val="18537D"/>
              </a:solidFill>
            </a:endParaRPr>
          </a:p>
          <a:p>
            <a:pPr lvl="3" indent="-285750" algn="just"/>
            <a:r>
              <a:rPr lang="en-IN" dirty="0">
                <a:solidFill>
                  <a:srgbClr val="18537D"/>
                </a:solidFill>
              </a:rPr>
              <a:t>80 * (3KB (round up to 4) / 4KB)</a:t>
            </a:r>
          </a:p>
          <a:p>
            <a:pPr lvl="3" indent="-285750" algn="just"/>
            <a:r>
              <a:rPr lang="en-IN" dirty="0">
                <a:solidFill>
                  <a:srgbClr val="18537D"/>
                </a:solidFill>
              </a:rPr>
              <a:t>80 * 1 = 80 required provisioned read throughput</a:t>
            </a:r>
          </a:p>
          <a:p>
            <a:pPr indent="-285750" algn="just"/>
            <a:endParaRPr lang="en-IN" dirty="0">
              <a:solidFill>
                <a:srgbClr val="18537D"/>
              </a:solidFill>
            </a:endParaRPr>
          </a:p>
          <a:p>
            <a:pPr indent="-285750" algn="just"/>
            <a:r>
              <a:rPr lang="en-IN" dirty="0">
                <a:solidFill>
                  <a:srgbClr val="18537D"/>
                </a:solidFill>
              </a:rPr>
              <a:t>Eventually consistent reads:</a:t>
            </a:r>
          </a:p>
          <a:p>
            <a:pPr indent="-285750" algn="just"/>
            <a:endParaRPr lang="en-IN" dirty="0">
              <a:solidFill>
                <a:srgbClr val="18537D"/>
              </a:solidFill>
            </a:endParaRPr>
          </a:p>
          <a:p>
            <a:pPr lvl="3" indent="-285750" algn="just"/>
            <a:r>
              <a:rPr lang="en-IN" dirty="0">
                <a:solidFill>
                  <a:srgbClr val="18537D"/>
                </a:solidFill>
              </a:rPr>
              <a:t>(80 * 1) / 2 = 40 required read capacity</a:t>
            </a:r>
          </a:p>
          <a:p>
            <a:pPr algn="just"/>
            <a:endParaRPr lang="en-US" dirty="0">
              <a:solidFill>
                <a:srgbClr val="18537D"/>
              </a:solidFill>
            </a:endParaRPr>
          </a:p>
        </p:txBody>
      </p:sp>
    </p:spTree>
    <p:extLst>
      <p:ext uri="{BB962C8B-B14F-4D97-AF65-F5344CB8AC3E}">
        <p14:creationId xmlns:p14="http://schemas.microsoft.com/office/powerpoint/2010/main" val="3779361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58386E-4503-4B8F-B911-66F9ED64660E}"/>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26CE94F-8343-403F-A6E8-86F7CB167A5C}"/>
              </a:ext>
            </a:extLst>
          </p:cNvPr>
          <p:cNvSpPr>
            <a:spLocks noGrp="1"/>
          </p:cNvSpPr>
          <p:nvPr>
            <p:ph type="sldNum" sz="quarter" idx="17"/>
          </p:nvPr>
        </p:nvSpPr>
        <p:spPr/>
        <p:txBody>
          <a:bodyPr/>
          <a:lstStyle/>
          <a:p>
            <a:fld id="{4F9AC08D-23A9-440E-BCB9-AA1E9877CC38}" type="slidenum">
              <a:rPr lang="en-US" smtClean="0"/>
              <a:pPr/>
              <a:t>19</a:t>
            </a:fld>
            <a:endParaRPr lang="en-US" dirty="0"/>
          </a:p>
        </p:txBody>
      </p:sp>
      <p:sp>
        <p:nvSpPr>
          <p:cNvPr id="4" name="Title 3">
            <a:extLst>
              <a:ext uri="{FF2B5EF4-FFF2-40B4-BE49-F238E27FC236}">
                <a16:creationId xmlns:a16="http://schemas.microsoft.com/office/drawing/2014/main" id="{0F940F66-C877-4ED6-A032-1BA82F699B3D}"/>
              </a:ext>
            </a:extLst>
          </p:cNvPr>
          <p:cNvSpPr>
            <a:spLocks noGrp="1"/>
          </p:cNvSpPr>
          <p:nvPr>
            <p:ph type="title"/>
          </p:nvPr>
        </p:nvSpPr>
        <p:spPr/>
        <p:txBody>
          <a:bodyPr/>
          <a:lstStyle/>
          <a:p>
            <a:r>
              <a:rPr lang="en-US" dirty="0">
                <a:solidFill>
                  <a:schemeClr val="bg1"/>
                </a:solidFill>
              </a:rPr>
              <a:t>Read and Write Throughput</a:t>
            </a:r>
            <a:endParaRPr lang="en-US" dirty="0"/>
          </a:p>
        </p:txBody>
      </p:sp>
      <p:sp>
        <p:nvSpPr>
          <p:cNvPr id="5" name="Rectangle 4">
            <a:extLst>
              <a:ext uri="{FF2B5EF4-FFF2-40B4-BE49-F238E27FC236}">
                <a16:creationId xmlns:a16="http://schemas.microsoft.com/office/drawing/2014/main" id="{900EF6F1-BC31-4571-B51E-B28FBE483FE2}"/>
              </a:ext>
            </a:extLst>
          </p:cNvPr>
          <p:cNvSpPr/>
          <p:nvPr/>
        </p:nvSpPr>
        <p:spPr>
          <a:xfrm>
            <a:off x="637331" y="1159671"/>
            <a:ext cx="8726588" cy="1200329"/>
          </a:xfrm>
          <a:prstGeom prst="rect">
            <a:avLst/>
          </a:prstGeom>
        </p:spPr>
        <p:txBody>
          <a:bodyPr wrap="square">
            <a:spAutoFit/>
          </a:bodyPr>
          <a:lstStyle/>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Write Capacity Unit (WCU): Number of 1 KB writes per second.</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Throughput is divided evenly among partitions. </a:t>
            </a:r>
          </a:p>
        </p:txBody>
      </p:sp>
      <p:sp>
        <p:nvSpPr>
          <p:cNvPr id="6" name="Rectangle 5">
            <a:extLst>
              <a:ext uri="{FF2B5EF4-FFF2-40B4-BE49-F238E27FC236}">
                <a16:creationId xmlns:a16="http://schemas.microsoft.com/office/drawing/2014/main" id="{D1E6D334-F024-49D8-B7F1-83B4A6687C76}"/>
              </a:ext>
            </a:extLst>
          </p:cNvPr>
          <p:cNvSpPr/>
          <p:nvPr/>
        </p:nvSpPr>
        <p:spPr>
          <a:xfrm>
            <a:off x="637331" y="2708901"/>
            <a:ext cx="12530303" cy="2585323"/>
          </a:xfrm>
          <a:prstGeom prst="rect">
            <a:avLst/>
          </a:prstGeom>
        </p:spPr>
        <p:txBody>
          <a:bodyPr wrap="square">
            <a:spAutoFit/>
          </a:bodyPr>
          <a:lstStyle/>
          <a:p>
            <a:pPr indent="-285750" algn="just"/>
            <a:r>
              <a:rPr lang="en-IN" dirty="0">
                <a:solidFill>
                  <a:srgbClr val="18537D"/>
                </a:solidFill>
              </a:rPr>
              <a:t>Formula: Write Capacity</a:t>
            </a:r>
          </a:p>
          <a:p>
            <a:pPr indent="-285750" algn="just"/>
            <a:endParaRPr lang="en-IN" dirty="0">
              <a:solidFill>
                <a:srgbClr val="18537D"/>
              </a:solidFill>
            </a:endParaRPr>
          </a:p>
          <a:p>
            <a:pPr lvl="1" indent="-285750" algn="just"/>
            <a:r>
              <a:rPr lang="en-IN" dirty="0">
                <a:solidFill>
                  <a:srgbClr val="18537D"/>
                </a:solidFill>
              </a:rPr>
              <a:t>(ITEM SIZE (rounded up to the next 1KB multiplier) / 1KB) * # of items (Round up to the nearest 1 KB multiplier)</a:t>
            </a:r>
          </a:p>
          <a:p>
            <a:pPr indent="-285750" algn="just"/>
            <a:endParaRPr lang="en-IN" dirty="0">
              <a:solidFill>
                <a:srgbClr val="18537D"/>
              </a:solidFill>
            </a:endParaRPr>
          </a:p>
          <a:p>
            <a:pPr indent="-285750" algn="just"/>
            <a:r>
              <a:rPr lang="en-IN" dirty="0">
                <a:solidFill>
                  <a:srgbClr val="18537D"/>
                </a:solidFill>
              </a:rPr>
              <a:t>Example: </a:t>
            </a:r>
          </a:p>
          <a:p>
            <a:pPr indent="-285750" algn="just"/>
            <a:endParaRPr lang="en-IN" dirty="0">
              <a:solidFill>
                <a:srgbClr val="18537D"/>
              </a:solidFill>
            </a:endParaRPr>
          </a:p>
          <a:p>
            <a:pPr lvl="1" algn="just"/>
            <a:r>
              <a:rPr lang="en-IN" dirty="0">
                <a:solidFill>
                  <a:srgbClr val="18537D"/>
                </a:solidFill>
              </a:rPr>
              <a:t>We need 10 writes per second, and we have an item of size 1.5KB, how much throughput is required?</a:t>
            </a:r>
          </a:p>
          <a:p>
            <a:pPr lvl="1" algn="just"/>
            <a:endParaRPr lang="en-IN" dirty="0">
              <a:solidFill>
                <a:srgbClr val="18537D"/>
              </a:solidFill>
            </a:endParaRPr>
          </a:p>
          <a:p>
            <a:pPr lvl="3" algn="just"/>
            <a:r>
              <a:rPr lang="en-IN" dirty="0">
                <a:solidFill>
                  <a:srgbClr val="18537D"/>
                </a:solidFill>
              </a:rPr>
              <a:t>(ITEM SIZE (1.5KB) / 1 KB) x 10 = 20 capacity units</a:t>
            </a:r>
            <a:endParaRPr lang="en-US" dirty="0">
              <a:solidFill>
                <a:srgbClr val="18537D"/>
              </a:solidFill>
            </a:endParaRPr>
          </a:p>
        </p:txBody>
      </p:sp>
    </p:spTree>
    <p:extLst>
      <p:ext uri="{BB962C8B-B14F-4D97-AF65-F5344CB8AC3E}">
        <p14:creationId xmlns:p14="http://schemas.microsoft.com/office/powerpoint/2010/main" val="2756614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58502C-71A6-4CFB-892E-3D9CA3309E38}"/>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D58FC0FB-0000-4640-91A3-1D1E9C9C5C43}"/>
              </a:ext>
            </a:extLst>
          </p:cNvPr>
          <p:cNvSpPr>
            <a:spLocks noGrp="1"/>
          </p:cNvSpPr>
          <p:nvPr>
            <p:ph type="sldNum" sz="quarter" idx="17"/>
          </p:nvPr>
        </p:nvSpPr>
        <p:spPr/>
        <p:txBody>
          <a:bodyPr/>
          <a:lstStyle/>
          <a:p>
            <a:fld id="{4F9AC08D-23A9-440E-BCB9-AA1E9877CC38}" type="slidenum">
              <a:rPr lang="en-US" smtClean="0"/>
              <a:pPr/>
              <a:t>20</a:t>
            </a:fld>
            <a:endParaRPr lang="en-US" dirty="0"/>
          </a:p>
        </p:txBody>
      </p:sp>
      <p:sp>
        <p:nvSpPr>
          <p:cNvPr id="4" name="Title 3">
            <a:extLst>
              <a:ext uri="{FF2B5EF4-FFF2-40B4-BE49-F238E27FC236}">
                <a16:creationId xmlns:a16="http://schemas.microsoft.com/office/drawing/2014/main" id="{D96308ED-70F8-4340-BC34-37586DB685C9}"/>
              </a:ext>
            </a:extLst>
          </p:cNvPr>
          <p:cNvSpPr>
            <a:spLocks noGrp="1"/>
          </p:cNvSpPr>
          <p:nvPr>
            <p:ph type="title"/>
          </p:nvPr>
        </p:nvSpPr>
        <p:spPr/>
        <p:txBody>
          <a:bodyPr/>
          <a:lstStyle/>
          <a:p>
            <a:r>
              <a:rPr lang="en-US" dirty="0">
                <a:solidFill>
                  <a:schemeClr val="bg1"/>
                </a:solidFill>
              </a:rPr>
              <a:t>Amazon </a:t>
            </a:r>
            <a:r>
              <a:rPr lang="en-US" dirty="0" err="1">
                <a:solidFill>
                  <a:schemeClr val="bg1"/>
                </a:solidFill>
              </a:rPr>
              <a:t>Dyanamodb</a:t>
            </a:r>
            <a:r>
              <a:rPr lang="en-US" dirty="0">
                <a:solidFill>
                  <a:schemeClr val="bg1"/>
                </a:solidFill>
              </a:rPr>
              <a:t> partitions</a:t>
            </a:r>
          </a:p>
        </p:txBody>
      </p:sp>
      <p:sp>
        <p:nvSpPr>
          <p:cNvPr id="5" name="Rectangle 4">
            <a:extLst>
              <a:ext uri="{FF2B5EF4-FFF2-40B4-BE49-F238E27FC236}">
                <a16:creationId xmlns:a16="http://schemas.microsoft.com/office/drawing/2014/main" id="{7E963F17-02F4-43F7-A109-34B27F64CEB5}"/>
              </a:ext>
            </a:extLst>
          </p:cNvPr>
          <p:cNvSpPr/>
          <p:nvPr/>
        </p:nvSpPr>
        <p:spPr>
          <a:xfrm>
            <a:off x="609976" y="1446500"/>
            <a:ext cx="7596475" cy="1477328"/>
          </a:xfrm>
          <a:prstGeom prst="rect">
            <a:avLst/>
          </a:prstGeom>
        </p:spPr>
        <p:txBody>
          <a:bodyPr wrap="square">
            <a:spAutoFit/>
          </a:bodyPr>
          <a:lstStyle/>
          <a:p>
            <a:pPr marL="285750" indent="-285750">
              <a:buFont typeface="Arial" panose="020B0604020202020204" pitchFamily="34" charset="0"/>
              <a:buChar char="•"/>
            </a:pPr>
            <a:r>
              <a:rPr lang="en-US" dirty="0">
                <a:solidFill>
                  <a:srgbClr val="18537D"/>
                </a:solidFill>
              </a:rPr>
              <a:t>Amazon DynamoDB each partition can store up to 10 GB of data</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Once it filled up it will split into two</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endParaRPr lang="en-US" dirty="0"/>
          </a:p>
        </p:txBody>
      </p:sp>
      <p:sp>
        <p:nvSpPr>
          <p:cNvPr id="6" name="Rectangle 5">
            <a:extLst>
              <a:ext uri="{FF2B5EF4-FFF2-40B4-BE49-F238E27FC236}">
                <a16:creationId xmlns:a16="http://schemas.microsoft.com/office/drawing/2014/main" id="{A1491932-69B4-4729-8183-A239A9DE6EF5}"/>
              </a:ext>
            </a:extLst>
          </p:cNvPr>
          <p:cNvSpPr/>
          <p:nvPr/>
        </p:nvSpPr>
        <p:spPr>
          <a:xfrm>
            <a:off x="714148" y="2799493"/>
            <a:ext cx="6901994" cy="1840312"/>
          </a:xfrm>
          <a:prstGeom prst="rect">
            <a:avLst/>
          </a:prstGeom>
        </p:spPr>
        <p:txBody>
          <a:bodyPr wrap="square">
            <a:spAutoFit/>
          </a:bodyPr>
          <a:lstStyle/>
          <a:p>
            <a:pPr indent="-285750" algn="just"/>
            <a:r>
              <a:rPr lang="en-IN" dirty="0">
                <a:solidFill>
                  <a:srgbClr val="18537D"/>
                </a:solidFill>
              </a:rPr>
              <a:t>Formula to calculate no of partition</a:t>
            </a:r>
          </a:p>
          <a:p>
            <a:pPr indent="-285750" algn="just"/>
            <a:endParaRPr lang="en-IN" dirty="0">
              <a:solidFill>
                <a:srgbClr val="18537D"/>
              </a:solidFill>
            </a:endParaRPr>
          </a:p>
          <a:p>
            <a:pPr indent="-285750" algn="just">
              <a:lnSpc>
                <a:spcPct val="150000"/>
              </a:lnSpc>
            </a:pPr>
            <a:r>
              <a:rPr lang="en-IN" dirty="0">
                <a:solidFill>
                  <a:srgbClr val="18537D"/>
                </a:solidFill>
              </a:rPr>
              <a:t>By Capacity : RCU/3000 + WCU/1000</a:t>
            </a:r>
          </a:p>
          <a:p>
            <a:pPr indent="-285750" algn="just">
              <a:lnSpc>
                <a:spcPct val="150000"/>
              </a:lnSpc>
            </a:pPr>
            <a:r>
              <a:rPr lang="en-IN" dirty="0">
                <a:solidFill>
                  <a:srgbClr val="18537D"/>
                </a:solidFill>
              </a:rPr>
              <a:t>By Size 	       :  Total Size / 10 GB</a:t>
            </a:r>
          </a:p>
          <a:p>
            <a:pPr indent="-285750" algn="just">
              <a:lnSpc>
                <a:spcPct val="150000"/>
              </a:lnSpc>
            </a:pPr>
            <a:r>
              <a:rPr lang="en-IN" dirty="0">
                <a:solidFill>
                  <a:srgbClr val="18537D"/>
                </a:solidFill>
              </a:rPr>
              <a:t>Result No     : ceiling(max(</a:t>
            </a:r>
            <a:r>
              <a:rPr lang="en-IN" dirty="0" err="1">
                <a:solidFill>
                  <a:srgbClr val="18537D"/>
                </a:solidFill>
              </a:rPr>
              <a:t>Capacity,Size</a:t>
            </a:r>
            <a:r>
              <a:rPr lang="en-IN" dirty="0">
                <a:solidFill>
                  <a:srgbClr val="18537D"/>
                </a:solidFill>
              </a:rPr>
              <a:t>))  </a:t>
            </a:r>
          </a:p>
        </p:txBody>
      </p:sp>
    </p:spTree>
    <p:extLst>
      <p:ext uri="{BB962C8B-B14F-4D97-AF65-F5344CB8AC3E}">
        <p14:creationId xmlns:p14="http://schemas.microsoft.com/office/powerpoint/2010/main" val="2996556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83F546F-EFB6-4524-B425-D210BAD133A4}"/>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B8E3ACCA-F87D-4047-A4C1-B2EB49C58CD0}"/>
              </a:ext>
            </a:extLst>
          </p:cNvPr>
          <p:cNvSpPr>
            <a:spLocks noGrp="1"/>
          </p:cNvSpPr>
          <p:nvPr>
            <p:ph type="sldNum" sz="quarter" idx="17"/>
          </p:nvPr>
        </p:nvSpPr>
        <p:spPr/>
        <p:txBody>
          <a:bodyPr/>
          <a:lstStyle/>
          <a:p>
            <a:fld id="{4F9AC08D-23A9-440E-BCB9-AA1E9877CC38}" type="slidenum">
              <a:rPr lang="en-US" smtClean="0"/>
              <a:pPr/>
              <a:t>21</a:t>
            </a:fld>
            <a:endParaRPr lang="en-US" dirty="0"/>
          </a:p>
        </p:txBody>
      </p:sp>
      <p:sp>
        <p:nvSpPr>
          <p:cNvPr id="4" name="Title 3">
            <a:extLst>
              <a:ext uri="{FF2B5EF4-FFF2-40B4-BE49-F238E27FC236}">
                <a16:creationId xmlns:a16="http://schemas.microsoft.com/office/drawing/2014/main" id="{640021C4-CB48-4018-836D-24A8390A9663}"/>
              </a:ext>
            </a:extLst>
          </p:cNvPr>
          <p:cNvSpPr>
            <a:spLocks noGrp="1"/>
          </p:cNvSpPr>
          <p:nvPr>
            <p:ph type="title"/>
          </p:nvPr>
        </p:nvSpPr>
        <p:spPr/>
        <p:txBody>
          <a:bodyPr/>
          <a:lstStyle/>
          <a:p>
            <a:r>
              <a:rPr lang="en-US" dirty="0">
                <a:solidFill>
                  <a:schemeClr val="bg1"/>
                </a:solidFill>
              </a:rPr>
              <a:t>Amazon </a:t>
            </a:r>
            <a:r>
              <a:rPr lang="en-US" dirty="0" err="1">
                <a:solidFill>
                  <a:schemeClr val="bg1"/>
                </a:solidFill>
              </a:rPr>
              <a:t>Dyanamodb</a:t>
            </a:r>
            <a:r>
              <a:rPr lang="en-US" dirty="0">
                <a:solidFill>
                  <a:schemeClr val="bg1"/>
                </a:solidFill>
              </a:rPr>
              <a:t> – Secondary Indexing</a:t>
            </a:r>
            <a:endParaRPr lang="en-US" dirty="0"/>
          </a:p>
        </p:txBody>
      </p:sp>
      <p:sp>
        <p:nvSpPr>
          <p:cNvPr id="6" name="Rectangle 5">
            <a:extLst>
              <a:ext uri="{FF2B5EF4-FFF2-40B4-BE49-F238E27FC236}">
                <a16:creationId xmlns:a16="http://schemas.microsoft.com/office/drawing/2014/main" id="{12DD72D5-C029-4052-8822-059214059963}"/>
              </a:ext>
            </a:extLst>
          </p:cNvPr>
          <p:cNvSpPr/>
          <p:nvPr/>
        </p:nvSpPr>
        <p:spPr>
          <a:xfrm>
            <a:off x="450005" y="1439323"/>
            <a:ext cx="7197725" cy="4194803"/>
          </a:xfrm>
          <a:prstGeom prst="rect">
            <a:avLst/>
          </a:prstGeom>
        </p:spPr>
        <p:txBody>
          <a:bodyPr>
            <a:spAutoFit/>
          </a:bodyPr>
          <a:lstStyle/>
          <a:p>
            <a:pPr marL="285750" indent="-285750">
              <a:lnSpc>
                <a:spcPct val="150000"/>
              </a:lnSpc>
              <a:buFont typeface="Arial" panose="020B0604020202020204" pitchFamily="34" charset="0"/>
              <a:buChar char="•"/>
            </a:pPr>
            <a:r>
              <a:rPr lang="en-US" dirty="0">
                <a:solidFill>
                  <a:srgbClr val="18537D"/>
                </a:solidFill>
              </a:rPr>
              <a:t>Allow you to query data based on non-primary key attributes.</a:t>
            </a:r>
          </a:p>
          <a:p>
            <a:pPr marL="742950" lvl="1" indent="-285750">
              <a:lnSpc>
                <a:spcPct val="150000"/>
              </a:lnSpc>
              <a:buFont typeface="Arial" panose="020B0604020202020204" pitchFamily="34" charset="0"/>
              <a:buChar char="•"/>
            </a:pPr>
            <a:r>
              <a:rPr lang="en-US" dirty="0">
                <a:solidFill>
                  <a:srgbClr val="18537D"/>
                </a:solidFill>
              </a:rPr>
              <a:t>A secondary index defines an alternate key.</a:t>
            </a:r>
          </a:p>
          <a:p>
            <a:pPr marL="285750" indent="-285750">
              <a:lnSpc>
                <a:spcPct val="150000"/>
              </a:lnSpc>
              <a:buFont typeface="Arial" panose="020B0604020202020204" pitchFamily="34" charset="0"/>
              <a:buChar char="•"/>
            </a:pPr>
            <a:r>
              <a:rPr lang="en-US" dirty="0">
                <a:solidFill>
                  <a:srgbClr val="18537D"/>
                </a:solidFill>
              </a:rPr>
              <a:t>Contain:</a:t>
            </a:r>
          </a:p>
          <a:p>
            <a:pPr marL="742950" lvl="1" indent="-285750">
              <a:lnSpc>
                <a:spcPct val="150000"/>
              </a:lnSpc>
              <a:buFont typeface="Arial" panose="020B0604020202020204" pitchFamily="34" charset="0"/>
              <a:buChar char="•"/>
            </a:pPr>
            <a:r>
              <a:rPr lang="en-US" dirty="0">
                <a:solidFill>
                  <a:srgbClr val="18537D"/>
                </a:solidFill>
              </a:rPr>
              <a:t>Alternate key attributes.</a:t>
            </a:r>
          </a:p>
          <a:p>
            <a:pPr marL="742950" lvl="1" indent="-285750">
              <a:lnSpc>
                <a:spcPct val="150000"/>
              </a:lnSpc>
              <a:buFont typeface="Arial" panose="020B0604020202020204" pitchFamily="34" charset="0"/>
              <a:buChar char="•"/>
            </a:pPr>
            <a:r>
              <a:rPr lang="en-US" dirty="0">
                <a:solidFill>
                  <a:srgbClr val="18537D"/>
                </a:solidFill>
              </a:rPr>
              <a:t>Primary key attributes.</a:t>
            </a:r>
          </a:p>
          <a:p>
            <a:pPr marL="742950" lvl="1" indent="-285750">
              <a:lnSpc>
                <a:spcPct val="150000"/>
              </a:lnSpc>
              <a:buFont typeface="Arial" panose="020B0604020202020204" pitchFamily="34" charset="0"/>
              <a:buChar char="•"/>
            </a:pPr>
            <a:r>
              <a:rPr lang="en-US" dirty="0">
                <a:solidFill>
                  <a:srgbClr val="18537D"/>
                </a:solidFill>
              </a:rPr>
              <a:t>Optional subset of other attributes from the base table (Projected attributes).</a:t>
            </a:r>
          </a:p>
          <a:p>
            <a:pPr marL="285750" indent="-285750">
              <a:lnSpc>
                <a:spcPct val="150000"/>
              </a:lnSpc>
              <a:buFont typeface="Arial" panose="020B0604020202020204" pitchFamily="34" charset="0"/>
              <a:buChar char="•"/>
            </a:pPr>
            <a:r>
              <a:rPr lang="en-US" dirty="0">
                <a:solidFill>
                  <a:srgbClr val="18537D"/>
                </a:solidFill>
              </a:rPr>
              <a:t>Can be one of two types:</a:t>
            </a:r>
          </a:p>
          <a:p>
            <a:pPr marL="742950" lvl="1" indent="-285750">
              <a:lnSpc>
                <a:spcPct val="150000"/>
              </a:lnSpc>
              <a:buFont typeface="Arial" panose="020B0604020202020204" pitchFamily="34" charset="0"/>
              <a:buChar char="•"/>
            </a:pPr>
            <a:r>
              <a:rPr lang="en-US" dirty="0">
                <a:solidFill>
                  <a:srgbClr val="18537D"/>
                </a:solidFill>
              </a:rPr>
              <a:t>Global Secondary Index (GSI) – 20 GSI per table</a:t>
            </a:r>
          </a:p>
          <a:p>
            <a:pPr marL="742950" lvl="1" indent="-285750">
              <a:lnSpc>
                <a:spcPct val="150000"/>
              </a:lnSpc>
              <a:buFont typeface="Arial" panose="020B0604020202020204" pitchFamily="34" charset="0"/>
              <a:buChar char="•"/>
            </a:pPr>
            <a:r>
              <a:rPr lang="en-US" dirty="0">
                <a:solidFill>
                  <a:srgbClr val="18537D"/>
                </a:solidFill>
              </a:rPr>
              <a:t>Local Secondary Index (LSI) – 5 LSI per table</a:t>
            </a:r>
          </a:p>
        </p:txBody>
      </p:sp>
    </p:spTree>
    <p:extLst>
      <p:ext uri="{BB962C8B-B14F-4D97-AF65-F5344CB8AC3E}">
        <p14:creationId xmlns:p14="http://schemas.microsoft.com/office/powerpoint/2010/main" val="3702775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5684060-8484-4FDC-B6D8-893917DDDAF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F266FB78-060A-4022-9A4C-B8BD2F1C4624}"/>
              </a:ext>
            </a:extLst>
          </p:cNvPr>
          <p:cNvSpPr>
            <a:spLocks noGrp="1"/>
          </p:cNvSpPr>
          <p:nvPr>
            <p:ph type="sldNum" sz="quarter" idx="17"/>
          </p:nvPr>
        </p:nvSpPr>
        <p:spPr/>
        <p:txBody>
          <a:bodyPr/>
          <a:lstStyle/>
          <a:p>
            <a:fld id="{4F9AC08D-23A9-440E-BCB9-AA1E9877CC38}" type="slidenum">
              <a:rPr lang="en-US" smtClean="0"/>
              <a:pPr/>
              <a:t>22</a:t>
            </a:fld>
            <a:endParaRPr lang="en-US" dirty="0"/>
          </a:p>
        </p:txBody>
      </p:sp>
      <p:sp>
        <p:nvSpPr>
          <p:cNvPr id="4" name="Title 3">
            <a:extLst>
              <a:ext uri="{FF2B5EF4-FFF2-40B4-BE49-F238E27FC236}">
                <a16:creationId xmlns:a16="http://schemas.microsoft.com/office/drawing/2014/main" id="{1F727F9D-0460-48BE-A711-C9EB737B7E22}"/>
              </a:ext>
            </a:extLst>
          </p:cNvPr>
          <p:cNvSpPr>
            <a:spLocks noGrp="1"/>
          </p:cNvSpPr>
          <p:nvPr>
            <p:ph type="title"/>
          </p:nvPr>
        </p:nvSpPr>
        <p:spPr/>
        <p:txBody>
          <a:bodyPr/>
          <a:lstStyle/>
          <a:p>
            <a:r>
              <a:rPr lang="en-US" dirty="0">
                <a:solidFill>
                  <a:schemeClr val="bg1"/>
                </a:solidFill>
              </a:rPr>
              <a:t>Local Secondary Indexing</a:t>
            </a:r>
            <a:endParaRPr lang="en-US" dirty="0"/>
          </a:p>
        </p:txBody>
      </p:sp>
      <p:sp>
        <p:nvSpPr>
          <p:cNvPr id="6" name="Rectangle 5">
            <a:extLst>
              <a:ext uri="{FF2B5EF4-FFF2-40B4-BE49-F238E27FC236}">
                <a16:creationId xmlns:a16="http://schemas.microsoft.com/office/drawing/2014/main" id="{327C36BB-5690-41C8-A96F-5CDD3CB18F91}"/>
              </a:ext>
            </a:extLst>
          </p:cNvPr>
          <p:cNvSpPr/>
          <p:nvPr/>
        </p:nvSpPr>
        <p:spPr>
          <a:xfrm>
            <a:off x="196020" y="1201908"/>
            <a:ext cx="7953216" cy="5025799"/>
          </a:xfrm>
          <a:prstGeom prst="rect">
            <a:avLst/>
          </a:prstGeom>
        </p:spPr>
        <p:txBody>
          <a:bodyPr wrap="square">
            <a:spAutoFit/>
          </a:bodyPr>
          <a:lstStyle/>
          <a:p>
            <a:pPr>
              <a:lnSpc>
                <a:spcPct val="150000"/>
              </a:lnSpc>
            </a:pPr>
            <a:r>
              <a:rPr lang="en-US" dirty="0">
                <a:solidFill>
                  <a:srgbClr val="18537D"/>
                </a:solidFill>
              </a:rPr>
              <a:t>The characteristics of a local secondary index are:</a:t>
            </a:r>
          </a:p>
          <a:p>
            <a:pPr marL="628650" lvl="1" indent="-171450">
              <a:lnSpc>
                <a:spcPct val="150000"/>
              </a:lnSpc>
              <a:buFont typeface="Arial" panose="020B0604020202020204" pitchFamily="34" charset="0"/>
              <a:buChar char="•"/>
            </a:pPr>
            <a:r>
              <a:rPr lang="en-US" dirty="0">
                <a:solidFill>
                  <a:srgbClr val="18537D"/>
                </a:solidFill>
              </a:rPr>
              <a:t>The partition key is the same as the table’s partition key. The sort key can be any scalar attribute.</a:t>
            </a:r>
          </a:p>
          <a:p>
            <a:pPr marL="628650" lvl="1" indent="-171450">
              <a:lnSpc>
                <a:spcPct val="150000"/>
              </a:lnSpc>
              <a:buFont typeface="Arial" panose="020B0604020202020204" pitchFamily="34" charset="0"/>
              <a:buChar char="•"/>
            </a:pPr>
            <a:r>
              <a:rPr lang="en-US" dirty="0">
                <a:solidFill>
                  <a:srgbClr val="18537D"/>
                </a:solidFill>
              </a:rPr>
              <a:t>It can only be created when a table is created and It cannot be deleted.</a:t>
            </a:r>
          </a:p>
          <a:p>
            <a:pPr marL="628650" lvl="1" indent="-171450">
              <a:lnSpc>
                <a:spcPct val="150000"/>
              </a:lnSpc>
              <a:buFont typeface="Arial" panose="020B0604020202020204" pitchFamily="34" charset="0"/>
              <a:buChar char="•"/>
            </a:pPr>
            <a:r>
              <a:rPr lang="en-US" dirty="0">
                <a:solidFill>
                  <a:srgbClr val="18537D"/>
                </a:solidFill>
              </a:rPr>
              <a:t>It supports eventual consistency and strong consistency.</a:t>
            </a:r>
          </a:p>
          <a:p>
            <a:pPr marL="628650" lvl="1" indent="-171450">
              <a:lnSpc>
                <a:spcPct val="150000"/>
              </a:lnSpc>
              <a:buFont typeface="Arial" panose="020B0604020202020204" pitchFamily="34" charset="0"/>
              <a:buChar char="•"/>
            </a:pPr>
            <a:r>
              <a:rPr lang="en-US" dirty="0">
                <a:solidFill>
                  <a:srgbClr val="18537D"/>
                </a:solidFill>
              </a:rPr>
              <a:t>It does not have its own provisioned throughput. Instead, it uses the table’s read and write capacity units.</a:t>
            </a:r>
          </a:p>
          <a:p>
            <a:pPr marL="628650" lvl="1" indent="-171450">
              <a:lnSpc>
                <a:spcPct val="150000"/>
              </a:lnSpc>
              <a:buFont typeface="Arial" panose="020B0604020202020204" pitchFamily="34" charset="0"/>
              <a:buChar char="•"/>
            </a:pPr>
            <a:r>
              <a:rPr lang="en-US" dirty="0">
                <a:solidFill>
                  <a:srgbClr val="18537D"/>
                </a:solidFill>
              </a:rPr>
              <a:t>All the items with a particular partition key in the table and the items in the corresponding local secondary index are stored on the same partition. </a:t>
            </a:r>
          </a:p>
          <a:p>
            <a:pPr marL="628650" lvl="1" indent="-171450">
              <a:lnSpc>
                <a:spcPct val="150000"/>
              </a:lnSpc>
              <a:buFont typeface="Arial" panose="020B0604020202020204" pitchFamily="34" charset="0"/>
              <a:buChar char="•"/>
            </a:pPr>
            <a:r>
              <a:rPr lang="en-US" dirty="0">
                <a:solidFill>
                  <a:srgbClr val="18537D"/>
                </a:solidFill>
              </a:rPr>
              <a:t>The total size of an item collection cannot exceed 10 GB.</a:t>
            </a:r>
          </a:p>
        </p:txBody>
      </p:sp>
      <p:graphicFrame>
        <p:nvGraphicFramePr>
          <p:cNvPr id="7" name="Table 9">
            <a:extLst>
              <a:ext uri="{FF2B5EF4-FFF2-40B4-BE49-F238E27FC236}">
                <a16:creationId xmlns:a16="http://schemas.microsoft.com/office/drawing/2014/main" id="{C694C169-8A42-4AAF-A62D-F0356421851F}"/>
              </a:ext>
            </a:extLst>
          </p:cNvPr>
          <p:cNvGraphicFramePr>
            <a:graphicFrameLocks noGrp="1"/>
          </p:cNvGraphicFramePr>
          <p:nvPr/>
        </p:nvGraphicFramePr>
        <p:xfrm>
          <a:off x="8149236" y="2692447"/>
          <a:ext cx="6087624" cy="2651760"/>
        </p:xfrm>
        <a:graphic>
          <a:graphicData uri="http://schemas.openxmlformats.org/drawingml/2006/table">
            <a:tbl>
              <a:tblPr firstRow="1" bandRow="1">
                <a:tableStyleId>{00A15C55-8517-42AA-B614-E9B94910E393}</a:tableStyleId>
              </a:tblPr>
              <a:tblGrid>
                <a:gridCol w="865530">
                  <a:extLst>
                    <a:ext uri="{9D8B030D-6E8A-4147-A177-3AD203B41FA5}">
                      <a16:colId xmlns:a16="http://schemas.microsoft.com/office/drawing/2014/main" val="3069894280"/>
                    </a:ext>
                  </a:extLst>
                </a:gridCol>
                <a:gridCol w="1558834">
                  <a:extLst>
                    <a:ext uri="{9D8B030D-6E8A-4147-A177-3AD203B41FA5}">
                      <a16:colId xmlns:a16="http://schemas.microsoft.com/office/drawing/2014/main" val="1405054367"/>
                    </a:ext>
                  </a:extLst>
                </a:gridCol>
                <a:gridCol w="1758018">
                  <a:extLst>
                    <a:ext uri="{9D8B030D-6E8A-4147-A177-3AD203B41FA5}">
                      <a16:colId xmlns:a16="http://schemas.microsoft.com/office/drawing/2014/main" val="4136390000"/>
                    </a:ext>
                  </a:extLst>
                </a:gridCol>
                <a:gridCol w="798958">
                  <a:extLst>
                    <a:ext uri="{9D8B030D-6E8A-4147-A177-3AD203B41FA5}">
                      <a16:colId xmlns:a16="http://schemas.microsoft.com/office/drawing/2014/main" val="112496504"/>
                    </a:ext>
                  </a:extLst>
                </a:gridCol>
                <a:gridCol w="1106284">
                  <a:extLst>
                    <a:ext uri="{9D8B030D-6E8A-4147-A177-3AD203B41FA5}">
                      <a16:colId xmlns:a16="http://schemas.microsoft.com/office/drawing/2014/main" val="3307308763"/>
                    </a:ext>
                  </a:extLst>
                </a:gridCol>
              </a:tblGrid>
              <a:tr h="734180">
                <a:tc>
                  <a:txBody>
                    <a:bodyPr/>
                    <a:lstStyle/>
                    <a:p>
                      <a:r>
                        <a:rPr lang="en-US" sz="1600" dirty="0"/>
                        <a:t>User ID</a:t>
                      </a:r>
                    </a:p>
                  </a:txBody>
                  <a:tcPr/>
                </a:tc>
                <a:tc>
                  <a:txBody>
                    <a:bodyPr/>
                    <a:lstStyle/>
                    <a:p>
                      <a:r>
                        <a:rPr lang="en-US" sz="1600" dirty="0"/>
                        <a:t>Last Login Time</a:t>
                      </a:r>
                    </a:p>
                  </a:txBody>
                  <a:tcPr/>
                </a:tc>
                <a:tc>
                  <a:txBody>
                    <a:bodyPr/>
                    <a:lstStyle/>
                    <a:p>
                      <a:r>
                        <a:rPr lang="en-US" sz="1600" dirty="0"/>
                        <a:t>Email</a:t>
                      </a:r>
                    </a:p>
                  </a:txBody>
                  <a:tcPr/>
                </a:tc>
                <a:tc>
                  <a:txBody>
                    <a:bodyPr/>
                    <a:lstStyle/>
                    <a:p>
                      <a:r>
                        <a:rPr lang="en-US" sz="1600" dirty="0"/>
                        <a:t>Name</a:t>
                      </a:r>
                    </a:p>
                  </a:txBody>
                  <a:tcPr/>
                </a:tc>
                <a:tc>
                  <a:txBody>
                    <a:bodyPr/>
                    <a:lstStyle/>
                    <a:p>
                      <a:r>
                        <a:rPr lang="en-US" sz="1600" dirty="0"/>
                        <a:t>Account Expire Year</a:t>
                      </a:r>
                    </a:p>
                  </a:txBody>
                  <a:tcPr/>
                </a:tc>
                <a:extLst>
                  <a:ext uri="{0D108BD9-81ED-4DB2-BD59-A6C34878D82A}">
                    <a16:rowId xmlns:a16="http://schemas.microsoft.com/office/drawing/2014/main" val="1724493637"/>
                  </a:ext>
                </a:extLst>
              </a:tr>
              <a:tr h="543837">
                <a:tc>
                  <a:txBody>
                    <a:bodyPr/>
                    <a:lstStyle/>
                    <a:p>
                      <a:r>
                        <a:rPr lang="en-US" sz="1600" dirty="0"/>
                        <a:t>101</a:t>
                      </a:r>
                    </a:p>
                  </a:txBody>
                  <a:tcPr/>
                </a:tc>
                <a:tc>
                  <a:txBody>
                    <a:bodyPr/>
                    <a:lstStyle/>
                    <a:p>
                      <a:r>
                        <a:rPr lang="en-US" sz="1600" kern="1200" dirty="0"/>
                        <a:t>2018-01-03T10:1e.30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2"/>
                        </a:rPr>
                        <a:t>sam@demo.com</a:t>
                      </a:r>
                      <a:endParaRPr lang="en-US" sz="1600" dirty="0"/>
                    </a:p>
                  </a:txBody>
                  <a:tcPr/>
                </a:tc>
                <a:tc>
                  <a:txBody>
                    <a:bodyPr/>
                    <a:lstStyle/>
                    <a:p>
                      <a:r>
                        <a:rPr lang="en-US" sz="1600" dirty="0"/>
                        <a:t>Sam</a:t>
                      </a:r>
                    </a:p>
                  </a:txBody>
                  <a:tcPr/>
                </a:tc>
                <a:tc>
                  <a:txBody>
                    <a:bodyPr/>
                    <a:lstStyle/>
                    <a:p>
                      <a:r>
                        <a:rPr lang="en-US" sz="1600" dirty="0"/>
                        <a:t>2019</a:t>
                      </a:r>
                    </a:p>
                  </a:txBody>
                  <a:tcPr/>
                </a:tc>
                <a:extLst>
                  <a:ext uri="{0D108BD9-81ED-4DB2-BD59-A6C34878D82A}">
                    <a16:rowId xmlns:a16="http://schemas.microsoft.com/office/drawing/2014/main" val="954803999"/>
                  </a:ext>
                </a:extLst>
              </a:tr>
              <a:tr h="543837">
                <a:tc>
                  <a:txBody>
                    <a:bodyPr/>
                    <a:lstStyle/>
                    <a:p>
                      <a:r>
                        <a:rPr lang="en-US" sz="1600" dirty="0"/>
                        <a:t>201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2018-01-04T10:19:30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3"/>
                        </a:rPr>
                        <a:t>John@example.com</a:t>
                      </a:r>
                      <a:endParaRPr lang="en-US" sz="1600" dirty="0"/>
                    </a:p>
                  </a:txBody>
                  <a:tcPr/>
                </a:tc>
                <a:tc>
                  <a:txBody>
                    <a:bodyPr/>
                    <a:lstStyle/>
                    <a:p>
                      <a:r>
                        <a:rPr lang="en-US" sz="1600" dirty="0"/>
                        <a:t>John</a:t>
                      </a:r>
                    </a:p>
                  </a:txBody>
                  <a:tcPr/>
                </a:tc>
                <a:tc>
                  <a:txBody>
                    <a:bodyPr/>
                    <a:lstStyle/>
                    <a:p>
                      <a:r>
                        <a:rPr lang="en-US" sz="1600" dirty="0"/>
                        <a:t>2020</a:t>
                      </a:r>
                    </a:p>
                  </a:txBody>
                  <a:tcPr/>
                </a:tc>
                <a:extLst>
                  <a:ext uri="{0D108BD9-81ED-4DB2-BD59-A6C34878D82A}">
                    <a16:rowId xmlns:a16="http://schemas.microsoft.com/office/drawing/2014/main" val="859363223"/>
                  </a:ext>
                </a:extLst>
              </a:tr>
              <a:tr h="543837">
                <a:tc>
                  <a:txBody>
                    <a:bodyPr/>
                    <a:lstStyle/>
                    <a:p>
                      <a:r>
                        <a:rPr lang="en-US" sz="1600" dirty="0"/>
                        <a:t>301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2018-03-04T1a.2a.20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4"/>
                        </a:rPr>
                        <a:t>Bob@sample.com</a:t>
                      </a:r>
                      <a:endParaRPr lang="en-US" sz="1600" dirty="0"/>
                    </a:p>
                  </a:txBody>
                  <a:tcPr/>
                </a:tc>
                <a:tc>
                  <a:txBody>
                    <a:bodyPr/>
                    <a:lstStyle/>
                    <a:p>
                      <a:r>
                        <a:rPr lang="en-US" sz="1600" dirty="0"/>
                        <a:t>Bob</a:t>
                      </a:r>
                    </a:p>
                  </a:txBody>
                  <a:tcPr/>
                </a:tc>
                <a:tc>
                  <a:txBody>
                    <a:bodyPr/>
                    <a:lstStyle/>
                    <a:p>
                      <a:r>
                        <a:rPr lang="en-US" sz="1600" dirty="0"/>
                        <a:t>2021</a:t>
                      </a:r>
                    </a:p>
                  </a:txBody>
                  <a:tcPr/>
                </a:tc>
                <a:extLst>
                  <a:ext uri="{0D108BD9-81ED-4DB2-BD59-A6C34878D82A}">
                    <a16:rowId xmlns:a16="http://schemas.microsoft.com/office/drawing/2014/main" val="2180199116"/>
                  </a:ext>
                </a:extLst>
              </a:tr>
            </a:tbl>
          </a:graphicData>
        </a:graphic>
      </p:graphicFrame>
      <p:sp>
        <p:nvSpPr>
          <p:cNvPr id="8" name="Speech Bubble: Rectangle with Corners Rounded 7">
            <a:extLst>
              <a:ext uri="{FF2B5EF4-FFF2-40B4-BE49-F238E27FC236}">
                <a16:creationId xmlns:a16="http://schemas.microsoft.com/office/drawing/2014/main" id="{8EDB8451-859B-4CF9-838A-A42E2E57FF3B}"/>
              </a:ext>
            </a:extLst>
          </p:cNvPr>
          <p:cNvSpPr/>
          <p:nvPr/>
        </p:nvSpPr>
        <p:spPr>
          <a:xfrm>
            <a:off x="8055979" y="1748733"/>
            <a:ext cx="1839432" cy="637954"/>
          </a:xfrm>
          <a:prstGeom prst="wedgeRoundRectCallout">
            <a:avLst>
              <a:gd name="adj1" fmla="val -19656"/>
              <a:gd name="adj2" fmla="val 99318"/>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Partition Key</a:t>
            </a:r>
          </a:p>
        </p:txBody>
      </p:sp>
      <p:sp>
        <p:nvSpPr>
          <p:cNvPr id="9" name="Speech Bubble: Rectangle with Corners Rounded 8">
            <a:extLst>
              <a:ext uri="{FF2B5EF4-FFF2-40B4-BE49-F238E27FC236}">
                <a16:creationId xmlns:a16="http://schemas.microsoft.com/office/drawing/2014/main" id="{1F077711-20D6-4260-A4DA-3FB5C3777F9E}"/>
              </a:ext>
            </a:extLst>
          </p:cNvPr>
          <p:cNvSpPr/>
          <p:nvPr/>
        </p:nvSpPr>
        <p:spPr>
          <a:xfrm>
            <a:off x="9226294" y="5774853"/>
            <a:ext cx="1515012" cy="637954"/>
          </a:xfrm>
          <a:prstGeom prst="wedgeRoundRectCallout">
            <a:avLst>
              <a:gd name="adj1" fmla="val -20915"/>
              <a:gd name="adj2" fmla="val -111146"/>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Sort Key</a:t>
            </a:r>
          </a:p>
        </p:txBody>
      </p:sp>
      <p:sp>
        <p:nvSpPr>
          <p:cNvPr id="10" name="Speech Bubble: Rectangle with Corners Rounded 9">
            <a:extLst>
              <a:ext uri="{FF2B5EF4-FFF2-40B4-BE49-F238E27FC236}">
                <a16:creationId xmlns:a16="http://schemas.microsoft.com/office/drawing/2014/main" id="{E43A7550-E835-4354-8EEC-42BFC23CEC48}"/>
              </a:ext>
            </a:extLst>
          </p:cNvPr>
          <p:cNvSpPr/>
          <p:nvPr/>
        </p:nvSpPr>
        <p:spPr>
          <a:xfrm>
            <a:off x="10883403" y="1746619"/>
            <a:ext cx="841751" cy="637954"/>
          </a:xfrm>
          <a:prstGeom prst="wedgeRoundRectCallout">
            <a:avLst>
              <a:gd name="adj1" fmla="val -23207"/>
              <a:gd name="adj2" fmla="val 97504"/>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LSI</a:t>
            </a:r>
          </a:p>
        </p:txBody>
      </p:sp>
      <p:sp>
        <p:nvSpPr>
          <p:cNvPr id="11" name="Speech Bubble: Rectangle with Corners Rounded 10">
            <a:extLst>
              <a:ext uri="{FF2B5EF4-FFF2-40B4-BE49-F238E27FC236}">
                <a16:creationId xmlns:a16="http://schemas.microsoft.com/office/drawing/2014/main" id="{0BF0E66F-5726-4468-8824-30B427955121}"/>
              </a:ext>
            </a:extLst>
          </p:cNvPr>
          <p:cNvSpPr/>
          <p:nvPr/>
        </p:nvSpPr>
        <p:spPr>
          <a:xfrm>
            <a:off x="13181577" y="1746619"/>
            <a:ext cx="841751" cy="637954"/>
          </a:xfrm>
          <a:prstGeom prst="wedgeRoundRectCallout">
            <a:avLst>
              <a:gd name="adj1" fmla="val -23207"/>
              <a:gd name="adj2" fmla="val 97504"/>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LSI</a:t>
            </a:r>
          </a:p>
        </p:txBody>
      </p:sp>
    </p:spTree>
    <p:extLst>
      <p:ext uri="{BB962C8B-B14F-4D97-AF65-F5344CB8AC3E}">
        <p14:creationId xmlns:p14="http://schemas.microsoft.com/office/powerpoint/2010/main" val="898621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93A03-AA2D-4A88-9EE2-2D8FF0EEA272}"/>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E2817A71-2EAC-42B2-8B09-5553A336EA05}"/>
              </a:ext>
            </a:extLst>
          </p:cNvPr>
          <p:cNvSpPr>
            <a:spLocks noGrp="1"/>
          </p:cNvSpPr>
          <p:nvPr>
            <p:ph type="sldNum" sz="quarter" idx="17"/>
          </p:nvPr>
        </p:nvSpPr>
        <p:spPr/>
        <p:txBody>
          <a:bodyPr/>
          <a:lstStyle/>
          <a:p>
            <a:fld id="{4F9AC08D-23A9-440E-BCB9-AA1E9877CC38}" type="slidenum">
              <a:rPr lang="en-US" smtClean="0"/>
              <a:pPr/>
              <a:t>23</a:t>
            </a:fld>
            <a:endParaRPr lang="en-US" dirty="0"/>
          </a:p>
        </p:txBody>
      </p:sp>
      <p:sp>
        <p:nvSpPr>
          <p:cNvPr id="4" name="Title 3">
            <a:extLst>
              <a:ext uri="{FF2B5EF4-FFF2-40B4-BE49-F238E27FC236}">
                <a16:creationId xmlns:a16="http://schemas.microsoft.com/office/drawing/2014/main" id="{C8861947-5480-434C-B481-4443531F945B}"/>
              </a:ext>
            </a:extLst>
          </p:cNvPr>
          <p:cNvSpPr>
            <a:spLocks noGrp="1"/>
          </p:cNvSpPr>
          <p:nvPr>
            <p:ph type="title"/>
          </p:nvPr>
        </p:nvSpPr>
        <p:spPr/>
        <p:txBody>
          <a:bodyPr/>
          <a:lstStyle/>
          <a:p>
            <a:r>
              <a:rPr lang="en-US" dirty="0">
                <a:solidFill>
                  <a:schemeClr val="bg1"/>
                </a:solidFill>
              </a:rPr>
              <a:t>Global Secondary Indexing</a:t>
            </a:r>
            <a:endParaRPr lang="en-US" dirty="0"/>
          </a:p>
        </p:txBody>
      </p:sp>
      <p:sp>
        <p:nvSpPr>
          <p:cNvPr id="5" name="Rectangle 4">
            <a:extLst>
              <a:ext uri="{FF2B5EF4-FFF2-40B4-BE49-F238E27FC236}">
                <a16:creationId xmlns:a16="http://schemas.microsoft.com/office/drawing/2014/main" id="{338AC9DB-8E81-43B1-84DD-876041CA9B03}"/>
              </a:ext>
            </a:extLst>
          </p:cNvPr>
          <p:cNvSpPr/>
          <p:nvPr/>
        </p:nvSpPr>
        <p:spPr>
          <a:xfrm>
            <a:off x="226196" y="1079900"/>
            <a:ext cx="7197725" cy="5441298"/>
          </a:xfrm>
          <a:prstGeom prst="rect">
            <a:avLst/>
          </a:prstGeom>
        </p:spPr>
        <p:txBody>
          <a:bodyPr>
            <a:spAutoFit/>
          </a:bodyPr>
          <a:lstStyle/>
          <a:p>
            <a:pPr>
              <a:lnSpc>
                <a:spcPct val="150000"/>
              </a:lnSpc>
            </a:pPr>
            <a:r>
              <a:rPr lang="en-US" dirty="0">
                <a:solidFill>
                  <a:srgbClr val="18537D"/>
                </a:solidFill>
              </a:rPr>
              <a:t>The characteristics of a global secondary index are:</a:t>
            </a:r>
          </a:p>
          <a:p>
            <a:pPr marL="628650" lvl="1" indent="-171450">
              <a:lnSpc>
                <a:spcPct val="150000"/>
              </a:lnSpc>
              <a:buFont typeface="Arial" panose="020B0604020202020204" pitchFamily="34" charset="0"/>
              <a:buChar char="•"/>
            </a:pPr>
            <a:r>
              <a:rPr lang="en-US" dirty="0">
                <a:solidFill>
                  <a:srgbClr val="18537D"/>
                </a:solidFill>
              </a:rPr>
              <a:t>It can have a partition key and optional sort key that are different from the partition key and sort key of the original table.</a:t>
            </a:r>
          </a:p>
          <a:p>
            <a:pPr marL="628650" lvl="1" indent="-171450">
              <a:lnSpc>
                <a:spcPct val="150000"/>
              </a:lnSpc>
              <a:buFont typeface="Arial" panose="020B0604020202020204" pitchFamily="34" charset="0"/>
              <a:buChar char="•"/>
            </a:pPr>
            <a:r>
              <a:rPr lang="en-US" dirty="0">
                <a:solidFill>
                  <a:srgbClr val="18537D"/>
                </a:solidFill>
              </a:rPr>
              <a:t>Key values do not need to be unique.</a:t>
            </a:r>
          </a:p>
          <a:p>
            <a:pPr marL="628650" lvl="1" indent="-171450">
              <a:lnSpc>
                <a:spcPct val="150000"/>
              </a:lnSpc>
              <a:buFont typeface="Arial" panose="020B0604020202020204" pitchFamily="34" charset="0"/>
              <a:buChar char="•"/>
            </a:pPr>
            <a:r>
              <a:rPr lang="en-US" dirty="0">
                <a:solidFill>
                  <a:srgbClr val="18537D"/>
                </a:solidFill>
              </a:rPr>
              <a:t>It can be created when a table is created or can be added to an existing table.</a:t>
            </a:r>
          </a:p>
          <a:p>
            <a:pPr marL="628650" lvl="1" indent="-171450">
              <a:lnSpc>
                <a:spcPct val="150000"/>
              </a:lnSpc>
              <a:buFont typeface="Arial" panose="020B0604020202020204" pitchFamily="34" charset="0"/>
              <a:buChar char="•"/>
            </a:pPr>
            <a:r>
              <a:rPr lang="en-US" dirty="0">
                <a:solidFill>
                  <a:srgbClr val="18537D"/>
                </a:solidFill>
              </a:rPr>
              <a:t>It can be deleted.</a:t>
            </a:r>
          </a:p>
          <a:p>
            <a:pPr marL="628650" lvl="1" indent="-171450">
              <a:lnSpc>
                <a:spcPct val="150000"/>
              </a:lnSpc>
              <a:buFont typeface="Arial" panose="020B0604020202020204" pitchFamily="34" charset="0"/>
              <a:buChar char="•"/>
            </a:pPr>
            <a:r>
              <a:rPr lang="en-US" dirty="0">
                <a:solidFill>
                  <a:srgbClr val="18537D"/>
                </a:solidFill>
              </a:rPr>
              <a:t>It supports eventual consistency only.</a:t>
            </a:r>
          </a:p>
          <a:p>
            <a:pPr marL="628650" lvl="1" indent="-171450">
              <a:lnSpc>
                <a:spcPct val="150000"/>
              </a:lnSpc>
              <a:buFont typeface="Arial" panose="020B0604020202020204" pitchFamily="34" charset="0"/>
              <a:buChar char="•"/>
            </a:pPr>
            <a:r>
              <a:rPr lang="en-US" dirty="0">
                <a:solidFill>
                  <a:srgbClr val="18537D"/>
                </a:solidFill>
              </a:rPr>
              <a:t>It has its own provisioned throughput settings for read and write operations.</a:t>
            </a:r>
          </a:p>
          <a:p>
            <a:pPr marL="628650" lvl="1" indent="-171450">
              <a:lnSpc>
                <a:spcPct val="150000"/>
              </a:lnSpc>
              <a:buFont typeface="Arial" panose="020B0604020202020204" pitchFamily="34" charset="0"/>
              <a:buChar char="•"/>
            </a:pPr>
            <a:r>
              <a:rPr lang="en-US" dirty="0">
                <a:solidFill>
                  <a:srgbClr val="18537D"/>
                </a:solidFill>
              </a:rPr>
              <a:t>Queries only return attributes that are projected into the index.</a:t>
            </a:r>
          </a:p>
        </p:txBody>
      </p:sp>
      <p:graphicFrame>
        <p:nvGraphicFramePr>
          <p:cNvPr id="6" name="Table 9">
            <a:extLst>
              <a:ext uri="{FF2B5EF4-FFF2-40B4-BE49-F238E27FC236}">
                <a16:creationId xmlns:a16="http://schemas.microsoft.com/office/drawing/2014/main" id="{34272B9F-0DD4-466B-885E-A33A722B8694}"/>
              </a:ext>
            </a:extLst>
          </p:cNvPr>
          <p:cNvGraphicFramePr>
            <a:graphicFrameLocks noGrp="1"/>
          </p:cNvGraphicFramePr>
          <p:nvPr/>
        </p:nvGraphicFramePr>
        <p:xfrm>
          <a:off x="7862584" y="2634574"/>
          <a:ext cx="6087624" cy="2651760"/>
        </p:xfrm>
        <a:graphic>
          <a:graphicData uri="http://schemas.openxmlformats.org/drawingml/2006/table">
            <a:tbl>
              <a:tblPr firstRow="1" bandRow="1">
                <a:tableStyleId>{00A15C55-8517-42AA-B614-E9B94910E393}</a:tableStyleId>
              </a:tblPr>
              <a:tblGrid>
                <a:gridCol w="865530">
                  <a:extLst>
                    <a:ext uri="{9D8B030D-6E8A-4147-A177-3AD203B41FA5}">
                      <a16:colId xmlns:a16="http://schemas.microsoft.com/office/drawing/2014/main" val="3069894280"/>
                    </a:ext>
                  </a:extLst>
                </a:gridCol>
                <a:gridCol w="1558834">
                  <a:extLst>
                    <a:ext uri="{9D8B030D-6E8A-4147-A177-3AD203B41FA5}">
                      <a16:colId xmlns:a16="http://schemas.microsoft.com/office/drawing/2014/main" val="1405054367"/>
                    </a:ext>
                  </a:extLst>
                </a:gridCol>
                <a:gridCol w="1758018">
                  <a:extLst>
                    <a:ext uri="{9D8B030D-6E8A-4147-A177-3AD203B41FA5}">
                      <a16:colId xmlns:a16="http://schemas.microsoft.com/office/drawing/2014/main" val="4136390000"/>
                    </a:ext>
                  </a:extLst>
                </a:gridCol>
                <a:gridCol w="798958">
                  <a:extLst>
                    <a:ext uri="{9D8B030D-6E8A-4147-A177-3AD203B41FA5}">
                      <a16:colId xmlns:a16="http://schemas.microsoft.com/office/drawing/2014/main" val="112496504"/>
                    </a:ext>
                  </a:extLst>
                </a:gridCol>
                <a:gridCol w="1106284">
                  <a:extLst>
                    <a:ext uri="{9D8B030D-6E8A-4147-A177-3AD203B41FA5}">
                      <a16:colId xmlns:a16="http://schemas.microsoft.com/office/drawing/2014/main" val="3307308763"/>
                    </a:ext>
                  </a:extLst>
                </a:gridCol>
              </a:tblGrid>
              <a:tr h="734180">
                <a:tc>
                  <a:txBody>
                    <a:bodyPr/>
                    <a:lstStyle/>
                    <a:p>
                      <a:r>
                        <a:rPr lang="en-US" sz="1600" dirty="0"/>
                        <a:t>User ID</a:t>
                      </a:r>
                    </a:p>
                  </a:txBody>
                  <a:tcPr/>
                </a:tc>
                <a:tc>
                  <a:txBody>
                    <a:bodyPr/>
                    <a:lstStyle/>
                    <a:p>
                      <a:r>
                        <a:rPr lang="en-US" sz="1600" dirty="0"/>
                        <a:t>Last Login Time</a:t>
                      </a:r>
                    </a:p>
                  </a:txBody>
                  <a:tcPr/>
                </a:tc>
                <a:tc>
                  <a:txBody>
                    <a:bodyPr/>
                    <a:lstStyle/>
                    <a:p>
                      <a:r>
                        <a:rPr lang="en-US" sz="1600" dirty="0"/>
                        <a:t>Email</a:t>
                      </a:r>
                    </a:p>
                  </a:txBody>
                  <a:tcPr/>
                </a:tc>
                <a:tc>
                  <a:txBody>
                    <a:bodyPr/>
                    <a:lstStyle/>
                    <a:p>
                      <a:r>
                        <a:rPr lang="en-US" sz="1600" dirty="0"/>
                        <a:t>Name</a:t>
                      </a:r>
                    </a:p>
                  </a:txBody>
                  <a:tcPr/>
                </a:tc>
                <a:tc>
                  <a:txBody>
                    <a:bodyPr/>
                    <a:lstStyle/>
                    <a:p>
                      <a:r>
                        <a:rPr lang="en-US" sz="1600" dirty="0"/>
                        <a:t>Account Expire Year</a:t>
                      </a:r>
                    </a:p>
                  </a:txBody>
                  <a:tcPr/>
                </a:tc>
                <a:extLst>
                  <a:ext uri="{0D108BD9-81ED-4DB2-BD59-A6C34878D82A}">
                    <a16:rowId xmlns:a16="http://schemas.microsoft.com/office/drawing/2014/main" val="1724493637"/>
                  </a:ext>
                </a:extLst>
              </a:tr>
              <a:tr h="543837">
                <a:tc>
                  <a:txBody>
                    <a:bodyPr/>
                    <a:lstStyle/>
                    <a:p>
                      <a:r>
                        <a:rPr lang="en-US" sz="1600" dirty="0"/>
                        <a:t>101</a:t>
                      </a:r>
                    </a:p>
                  </a:txBody>
                  <a:tcPr/>
                </a:tc>
                <a:tc>
                  <a:txBody>
                    <a:bodyPr/>
                    <a:lstStyle/>
                    <a:p>
                      <a:r>
                        <a:rPr lang="en-US" sz="1600" kern="1200" dirty="0"/>
                        <a:t>2018-01-03T10:1e.30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2"/>
                        </a:rPr>
                        <a:t>sam@demo.com</a:t>
                      </a:r>
                      <a:endParaRPr lang="en-US" sz="1600" dirty="0"/>
                    </a:p>
                  </a:txBody>
                  <a:tcPr/>
                </a:tc>
                <a:tc>
                  <a:txBody>
                    <a:bodyPr/>
                    <a:lstStyle/>
                    <a:p>
                      <a:r>
                        <a:rPr lang="en-US" sz="1600" dirty="0"/>
                        <a:t>Sam</a:t>
                      </a:r>
                    </a:p>
                  </a:txBody>
                  <a:tcPr/>
                </a:tc>
                <a:tc>
                  <a:txBody>
                    <a:bodyPr/>
                    <a:lstStyle/>
                    <a:p>
                      <a:r>
                        <a:rPr lang="en-US" sz="1600" dirty="0"/>
                        <a:t>2019</a:t>
                      </a:r>
                    </a:p>
                  </a:txBody>
                  <a:tcPr/>
                </a:tc>
                <a:extLst>
                  <a:ext uri="{0D108BD9-81ED-4DB2-BD59-A6C34878D82A}">
                    <a16:rowId xmlns:a16="http://schemas.microsoft.com/office/drawing/2014/main" val="954803999"/>
                  </a:ext>
                </a:extLst>
              </a:tr>
              <a:tr h="543837">
                <a:tc>
                  <a:txBody>
                    <a:bodyPr/>
                    <a:lstStyle/>
                    <a:p>
                      <a:r>
                        <a:rPr lang="en-US" sz="1600" dirty="0"/>
                        <a:t>201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2018-01-04T10:19:30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3"/>
                        </a:rPr>
                        <a:t>John@example.com</a:t>
                      </a:r>
                      <a:endParaRPr lang="en-US" sz="1600" dirty="0"/>
                    </a:p>
                  </a:txBody>
                  <a:tcPr/>
                </a:tc>
                <a:tc>
                  <a:txBody>
                    <a:bodyPr/>
                    <a:lstStyle/>
                    <a:p>
                      <a:r>
                        <a:rPr lang="en-US" sz="1600" dirty="0"/>
                        <a:t>John</a:t>
                      </a:r>
                    </a:p>
                  </a:txBody>
                  <a:tcPr/>
                </a:tc>
                <a:tc>
                  <a:txBody>
                    <a:bodyPr/>
                    <a:lstStyle/>
                    <a:p>
                      <a:r>
                        <a:rPr lang="en-US" sz="1600" dirty="0"/>
                        <a:t>2020</a:t>
                      </a:r>
                    </a:p>
                  </a:txBody>
                  <a:tcPr/>
                </a:tc>
                <a:extLst>
                  <a:ext uri="{0D108BD9-81ED-4DB2-BD59-A6C34878D82A}">
                    <a16:rowId xmlns:a16="http://schemas.microsoft.com/office/drawing/2014/main" val="859363223"/>
                  </a:ext>
                </a:extLst>
              </a:tr>
              <a:tr h="543837">
                <a:tc>
                  <a:txBody>
                    <a:bodyPr/>
                    <a:lstStyle/>
                    <a:p>
                      <a:r>
                        <a:rPr lang="en-US" sz="1600" dirty="0"/>
                        <a:t>301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2018-03-04T1a.2a.20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4"/>
                        </a:rPr>
                        <a:t>Bob@sample.com</a:t>
                      </a:r>
                      <a:endParaRPr lang="en-US" sz="1600" dirty="0"/>
                    </a:p>
                  </a:txBody>
                  <a:tcPr/>
                </a:tc>
                <a:tc>
                  <a:txBody>
                    <a:bodyPr/>
                    <a:lstStyle/>
                    <a:p>
                      <a:r>
                        <a:rPr lang="en-US" sz="1600" dirty="0"/>
                        <a:t>Bob</a:t>
                      </a:r>
                    </a:p>
                  </a:txBody>
                  <a:tcPr/>
                </a:tc>
                <a:tc>
                  <a:txBody>
                    <a:bodyPr/>
                    <a:lstStyle/>
                    <a:p>
                      <a:r>
                        <a:rPr lang="en-US" sz="1600" dirty="0"/>
                        <a:t>2021</a:t>
                      </a:r>
                    </a:p>
                  </a:txBody>
                  <a:tcPr/>
                </a:tc>
                <a:extLst>
                  <a:ext uri="{0D108BD9-81ED-4DB2-BD59-A6C34878D82A}">
                    <a16:rowId xmlns:a16="http://schemas.microsoft.com/office/drawing/2014/main" val="2180199116"/>
                  </a:ext>
                </a:extLst>
              </a:tr>
            </a:tbl>
          </a:graphicData>
        </a:graphic>
      </p:graphicFrame>
      <p:sp>
        <p:nvSpPr>
          <p:cNvPr id="7" name="Speech Bubble: Rectangle with Corners Rounded 6">
            <a:extLst>
              <a:ext uri="{FF2B5EF4-FFF2-40B4-BE49-F238E27FC236}">
                <a16:creationId xmlns:a16="http://schemas.microsoft.com/office/drawing/2014/main" id="{BAFF0520-D0A3-4D7F-9FFA-A871B464666E}"/>
              </a:ext>
            </a:extLst>
          </p:cNvPr>
          <p:cNvSpPr/>
          <p:nvPr/>
        </p:nvSpPr>
        <p:spPr>
          <a:xfrm>
            <a:off x="7535118" y="1667710"/>
            <a:ext cx="1839432" cy="637954"/>
          </a:xfrm>
          <a:prstGeom prst="wedgeRoundRectCallout">
            <a:avLst>
              <a:gd name="adj1" fmla="val -19656"/>
              <a:gd name="adj2" fmla="val 99318"/>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Partition Key</a:t>
            </a:r>
          </a:p>
        </p:txBody>
      </p:sp>
      <p:sp>
        <p:nvSpPr>
          <p:cNvPr id="8" name="Speech Bubble: Rectangle with Corners Rounded 7">
            <a:extLst>
              <a:ext uri="{FF2B5EF4-FFF2-40B4-BE49-F238E27FC236}">
                <a16:creationId xmlns:a16="http://schemas.microsoft.com/office/drawing/2014/main" id="{D3A46DE1-8E80-4A37-BE16-67C7234CB70E}"/>
              </a:ext>
            </a:extLst>
          </p:cNvPr>
          <p:cNvSpPr/>
          <p:nvPr/>
        </p:nvSpPr>
        <p:spPr>
          <a:xfrm>
            <a:off x="9168421" y="5695944"/>
            <a:ext cx="1515012" cy="637954"/>
          </a:xfrm>
          <a:prstGeom prst="wedgeRoundRectCallout">
            <a:avLst>
              <a:gd name="adj1" fmla="val -20915"/>
              <a:gd name="adj2" fmla="val -111146"/>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Sort Key</a:t>
            </a:r>
          </a:p>
        </p:txBody>
      </p:sp>
      <p:sp>
        <p:nvSpPr>
          <p:cNvPr id="9" name="Speech Bubble: Rectangle with Corners Rounded 8">
            <a:extLst>
              <a:ext uri="{FF2B5EF4-FFF2-40B4-BE49-F238E27FC236}">
                <a16:creationId xmlns:a16="http://schemas.microsoft.com/office/drawing/2014/main" id="{C017F48D-0BE2-4A04-9E8A-1DCEF842D985}"/>
              </a:ext>
            </a:extLst>
          </p:cNvPr>
          <p:cNvSpPr/>
          <p:nvPr/>
        </p:nvSpPr>
        <p:spPr>
          <a:xfrm>
            <a:off x="9598362" y="1647966"/>
            <a:ext cx="1839432" cy="637954"/>
          </a:xfrm>
          <a:prstGeom prst="wedgeRoundRectCallout">
            <a:avLst>
              <a:gd name="adj1" fmla="val -23207"/>
              <a:gd name="adj2" fmla="val 97504"/>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GSI Sort Key</a:t>
            </a:r>
          </a:p>
        </p:txBody>
      </p:sp>
      <p:sp>
        <p:nvSpPr>
          <p:cNvPr id="10" name="Speech Bubble: Rectangle with Corners Rounded 9">
            <a:extLst>
              <a:ext uri="{FF2B5EF4-FFF2-40B4-BE49-F238E27FC236}">
                <a16:creationId xmlns:a16="http://schemas.microsoft.com/office/drawing/2014/main" id="{5A523574-3EA7-4334-A50D-73BA1B3B5C46}"/>
              </a:ext>
            </a:extLst>
          </p:cNvPr>
          <p:cNvSpPr/>
          <p:nvPr/>
        </p:nvSpPr>
        <p:spPr>
          <a:xfrm>
            <a:off x="11035551" y="5676135"/>
            <a:ext cx="2229035" cy="637954"/>
          </a:xfrm>
          <a:prstGeom prst="wedgeRoundRectCallout">
            <a:avLst>
              <a:gd name="adj1" fmla="val -35163"/>
              <a:gd name="adj2" fmla="val -114775"/>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GSI Partition Key</a:t>
            </a:r>
          </a:p>
        </p:txBody>
      </p:sp>
    </p:spTree>
    <p:extLst>
      <p:ext uri="{BB962C8B-B14F-4D97-AF65-F5344CB8AC3E}">
        <p14:creationId xmlns:p14="http://schemas.microsoft.com/office/powerpoint/2010/main" val="4008198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398A6E-4573-4583-930E-8938080DA520}"/>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023073A0-9263-425D-9C3D-E5C74688DF76}"/>
              </a:ext>
            </a:extLst>
          </p:cNvPr>
          <p:cNvSpPr>
            <a:spLocks noGrp="1"/>
          </p:cNvSpPr>
          <p:nvPr>
            <p:ph type="sldNum" sz="quarter" idx="17"/>
          </p:nvPr>
        </p:nvSpPr>
        <p:spPr/>
        <p:txBody>
          <a:bodyPr/>
          <a:lstStyle/>
          <a:p>
            <a:fld id="{4F9AC08D-23A9-440E-BCB9-AA1E9877CC38}" type="slidenum">
              <a:rPr lang="en-US" smtClean="0"/>
              <a:pPr/>
              <a:t>24</a:t>
            </a:fld>
            <a:endParaRPr lang="en-US" dirty="0"/>
          </a:p>
        </p:txBody>
      </p:sp>
      <p:sp>
        <p:nvSpPr>
          <p:cNvPr id="4" name="Title 3">
            <a:extLst>
              <a:ext uri="{FF2B5EF4-FFF2-40B4-BE49-F238E27FC236}">
                <a16:creationId xmlns:a16="http://schemas.microsoft.com/office/drawing/2014/main" id="{AB5B129B-A701-4DFD-950D-4788B9B54D7A}"/>
              </a:ext>
            </a:extLst>
          </p:cNvPr>
          <p:cNvSpPr>
            <a:spLocks noGrp="1"/>
          </p:cNvSpPr>
          <p:nvPr>
            <p:ph type="title"/>
          </p:nvPr>
        </p:nvSpPr>
        <p:spPr/>
        <p:txBody>
          <a:bodyPr/>
          <a:lstStyle/>
          <a:p>
            <a:r>
              <a:rPr lang="en-US" dirty="0">
                <a:solidFill>
                  <a:schemeClr val="bg1"/>
                </a:solidFill>
              </a:rPr>
              <a:t>Amazon </a:t>
            </a:r>
            <a:r>
              <a:rPr lang="en-US" dirty="0" err="1">
                <a:solidFill>
                  <a:schemeClr val="bg1"/>
                </a:solidFill>
              </a:rPr>
              <a:t>dynamodb</a:t>
            </a:r>
            <a:r>
              <a:rPr lang="en-US" dirty="0">
                <a:solidFill>
                  <a:schemeClr val="bg1"/>
                </a:solidFill>
              </a:rPr>
              <a:t> - Streams</a:t>
            </a:r>
          </a:p>
        </p:txBody>
      </p:sp>
      <p:sp>
        <p:nvSpPr>
          <p:cNvPr id="6" name="Rectangle 5">
            <a:extLst>
              <a:ext uri="{FF2B5EF4-FFF2-40B4-BE49-F238E27FC236}">
                <a16:creationId xmlns:a16="http://schemas.microsoft.com/office/drawing/2014/main" id="{EF9975E4-930F-461B-BC37-54BD04673ECC}"/>
              </a:ext>
            </a:extLst>
          </p:cNvPr>
          <p:cNvSpPr/>
          <p:nvPr/>
        </p:nvSpPr>
        <p:spPr>
          <a:xfrm>
            <a:off x="313240" y="1263657"/>
            <a:ext cx="12777728" cy="5579797"/>
          </a:xfrm>
          <a:prstGeom prst="rect">
            <a:avLst/>
          </a:prstGeom>
        </p:spPr>
        <p:txBody>
          <a:bodyPr wrap="square">
            <a:spAutoFit/>
          </a:bodyPr>
          <a:lstStyle/>
          <a:p>
            <a:pPr algn="just"/>
            <a:r>
              <a:rPr lang="en-US" dirty="0">
                <a:solidFill>
                  <a:srgbClr val="18537D"/>
                </a:solidFill>
              </a:rPr>
              <a:t>DynamoDB Streams:</a:t>
            </a:r>
          </a:p>
          <a:p>
            <a:pPr algn="just"/>
            <a:endParaRPr lang="en-US" dirty="0">
              <a:solidFill>
                <a:srgbClr val="18537D"/>
              </a:solidFill>
            </a:endParaRPr>
          </a:p>
          <a:p>
            <a:pPr marL="742950" lvl="1" indent="-285750">
              <a:buFont typeface="Wingdings" panose="05000000000000000000" pitchFamily="2" charset="2"/>
              <a:buChar char="§"/>
            </a:pPr>
            <a:r>
              <a:rPr lang="en-IN" dirty="0">
                <a:solidFill>
                  <a:srgbClr val="18537D"/>
                </a:solidFill>
              </a:rPr>
              <a:t>Captures data modification events in DynamoDB</a:t>
            </a:r>
          </a:p>
          <a:p>
            <a:pPr marL="742950" lvl="1" indent="-285750">
              <a:buFont typeface="Wingdings" panose="05000000000000000000" pitchFamily="2" charset="2"/>
              <a:buChar char="§"/>
            </a:pPr>
            <a:endParaRPr lang="en-IN" dirty="0">
              <a:solidFill>
                <a:srgbClr val="18537D"/>
              </a:solidFill>
            </a:endParaRPr>
          </a:p>
          <a:p>
            <a:pPr marL="742950" lvl="1" indent="-285750">
              <a:buFont typeface="Wingdings" panose="05000000000000000000" pitchFamily="2" charset="2"/>
              <a:buChar char="§"/>
            </a:pPr>
            <a:r>
              <a:rPr lang="en-IN" dirty="0">
                <a:solidFill>
                  <a:srgbClr val="18537D"/>
                </a:solidFill>
              </a:rPr>
              <a:t>Each event is represented by a stream record</a:t>
            </a:r>
          </a:p>
          <a:p>
            <a:pPr marL="742950" lvl="1" indent="-285750">
              <a:buFont typeface="Wingdings" panose="05000000000000000000" pitchFamily="2" charset="2"/>
              <a:buChar char="§"/>
            </a:pPr>
            <a:endParaRPr lang="en-IN" dirty="0">
              <a:solidFill>
                <a:srgbClr val="18537D"/>
              </a:solidFill>
            </a:endParaRPr>
          </a:p>
          <a:p>
            <a:pPr marL="742950" lvl="1" indent="-285750">
              <a:buFont typeface="Wingdings" panose="05000000000000000000" pitchFamily="2" charset="2"/>
              <a:buChar char="§"/>
            </a:pPr>
            <a:r>
              <a:rPr lang="en-IN" dirty="0">
                <a:solidFill>
                  <a:srgbClr val="18537D"/>
                </a:solidFill>
              </a:rPr>
              <a:t>DynamoDB Streams writes a stream record whenever,</a:t>
            </a:r>
          </a:p>
          <a:p>
            <a:pPr marL="1200150" lvl="2" indent="-285750">
              <a:buFont typeface="Courier New" panose="02070309020205020404" pitchFamily="49" charset="0"/>
              <a:buChar char="o"/>
            </a:pPr>
            <a:r>
              <a:rPr lang="en-IN" dirty="0">
                <a:solidFill>
                  <a:srgbClr val="18537D"/>
                </a:solidFill>
              </a:rPr>
              <a:t>A new item is added to the table</a:t>
            </a:r>
          </a:p>
          <a:p>
            <a:pPr marL="1200150" lvl="2" indent="-285750">
              <a:buFont typeface="Courier New" panose="02070309020205020404" pitchFamily="49" charset="0"/>
              <a:buChar char="o"/>
            </a:pPr>
            <a:r>
              <a:rPr lang="en-IN" dirty="0">
                <a:solidFill>
                  <a:srgbClr val="18537D"/>
                </a:solidFill>
              </a:rPr>
              <a:t>An item is updated</a:t>
            </a:r>
          </a:p>
          <a:p>
            <a:pPr marL="1200150" lvl="2" indent="-285750">
              <a:buFont typeface="Courier New" panose="02070309020205020404" pitchFamily="49" charset="0"/>
              <a:buChar char="o"/>
            </a:pPr>
            <a:r>
              <a:rPr lang="en-IN" dirty="0">
                <a:solidFill>
                  <a:srgbClr val="18537D"/>
                </a:solidFill>
              </a:rPr>
              <a:t>An item is deleted from the table</a:t>
            </a:r>
          </a:p>
          <a:p>
            <a:pPr lvl="2"/>
            <a:endParaRPr lang="en-IN" dirty="0">
              <a:solidFill>
                <a:srgbClr val="18537D"/>
              </a:solidFill>
            </a:endParaRPr>
          </a:p>
          <a:p>
            <a:pPr marL="742950" lvl="1" indent="-285750">
              <a:buFont typeface="Wingdings" panose="05000000000000000000" pitchFamily="2" charset="2"/>
              <a:buChar char="§"/>
            </a:pPr>
            <a:r>
              <a:rPr lang="en-IN" dirty="0">
                <a:solidFill>
                  <a:srgbClr val="18537D"/>
                </a:solidFill>
              </a:rPr>
              <a:t>Each stream record contains,</a:t>
            </a:r>
          </a:p>
          <a:p>
            <a:pPr marL="1200150" lvl="2" indent="-285750">
              <a:buFont typeface="Courier New" panose="02070309020205020404" pitchFamily="49" charset="0"/>
              <a:buChar char="o"/>
            </a:pPr>
            <a:r>
              <a:rPr lang="en-IN" dirty="0">
                <a:solidFill>
                  <a:srgbClr val="18537D"/>
                </a:solidFill>
              </a:rPr>
              <a:t>name of the table</a:t>
            </a:r>
          </a:p>
          <a:p>
            <a:pPr marL="1200150" lvl="2" indent="-285750">
              <a:buFont typeface="Courier New" panose="02070309020205020404" pitchFamily="49" charset="0"/>
              <a:buChar char="o"/>
            </a:pPr>
            <a:r>
              <a:rPr lang="en-IN" dirty="0">
                <a:solidFill>
                  <a:srgbClr val="18537D"/>
                </a:solidFill>
              </a:rPr>
              <a:t>event timestamp</a:t>
            </a:r>
          </a:p>
          <a:p>
            <a:pPr marL="1200150" lvl="2" indent="-285750">
              <a:buFont typeface="Courier New" panose="02070309020205020404" pitchFamily="49" charset="0"/>
              <a:buChar char="o"/>
            </a:pPr>
            <a:r>
              <a:rPr lang="en-IN" dirty="0">
                <a:solidFill>
                  <a:srgbClr val="18537D"/>
                </a:solidFill>
              </a:rPr>
              <a:t>and other metadata</a:t>
            </a:r>
          </a:p>
          <a:p>
            <a:pPr lvl="2"/>
            <a:r>
              <a:rPr lang="en-IN" dirty="0">
                <a:solidFill>
                  <a:srgbClr val="18537D"/>
                </a:solidFill>
              </a:rPr>
              <a:t> </a:t>
            </a:r>
          </a:p>
          <a:p>
            <a:pPr marL="742950" lvl="1" indent="-285750" algn="just">
              <a:buFont typeface="Wingdings" panose="05000000000000000000" pitchFamily="2" charset="2"/>
              <a:buChar char="§"/>
            </a:pPr>
            <a:r>
              <a:rPr lang="en-IN" dirty="0">
                <a:solidFill>
                  <a:srgbClr val="18537D"/>
                </a:solidFill>
              </a:rPr>
              <a:t>Use it with AWS Lambda with trigger</a:t>
            </a:r>
            <a:endParaRPr lang="en-US" dirty="0">
              <a:solidFill>
                <a:srgbClr val="18537D"/>
              </a:solidFill>
            </a:endParaRPr>
          </a:p>
          <a:p>
            <a:pPr>
              <a:lnSpc>
                <a:spcPct val="150000"/>
              </a:lnSpc>
            </a:pPr>
            <a:endParaRPr lang="en-US" dirty="0">
              <a:solidFill>
                <a:srgbClr val="18537D"/>
              </a:solidFill>
            </a:endParaRPr>
          </a:p>
          <a:p>
            <a:pPr>
              <a:lnSpc>
                <a:spcPct val="150000"/>
              </a:lnSpc>
            </a:pPr>
            <a:r>
              <a:rPr lang="en-US" dirty="0">
                <a:solidFill>
                  <a:srgbClr val="18537D"/>
                </a:solidFill>
              </a:rPr>
              <a:t> </a:t>
            </a:r>
          </a:p>
        </p:txBody>
      </p:sp>
      <p:graphicFrame>
        <p:nvGraphicFramePr>
          <p:cNvPr id="25" name="Table 24">
            <a:extLst>
              <a:ext uri="{FF2B5EF4-FFF2-40B4-BE49-F238E27FC236}">
                <a16:creationId xmlns:a16="http://schemas.microsoft.com/office/drawing/2014/main" id="{3757E572-8606-4D60-B260-133E080E5AD3}"/>
              </a:ext>
            </a:extLst>
          </p:cNvPr>
          <p:cNvGraphicFramePr>
            <a:graphicFrameLocks noGrp="1"/>
          </p:cNvGraphicFramePr>
          <p:nvPr/>
        </p:nvGraphicFramePr>
        <p:xfrm>
          <a:off x="7430946" y="1394856"/>
          <a:ext cx="6339261" cy="1432560"/>
        </p:xfrm>
        <a:graphic>
          <a:graphicData uri="http://schemas.openxmlformats.org/drawingml/2006/table">
            <a:tbl>
              <a:tblPr firstRow="1" bandRow="1">
                <a:tableStyleId>{00A15C55-8517-42AA-B614-E9B94910E393}</a:tableStyleId>
              </a:tblPr>
              <a:tblGrid>
                <a:gridCol w="901308">
                  <a:extLst>
                    <a:ext uri="{9D8B030D-6E8A-4147-A177-3AD203B41FA5}">
                      <a16:colId xmlns:a16="http://schemas.microsoft.com/office/drawing/2014/main" val="925657977"/>
                    </a:ext>
                  </a:extLst>
                </a:gridCol>
                <a:gridCol w="1623270">
                  <a:extLst>
                    <a:ext uri="{9D8B030D-6E8A-4147-A177-3AD203B41FA5}">
                      <a16:colId xmlns:a16="http://schemas.microsoft.com/office/drawing/2014/main" val="154451121"/>
                    </a:ext>
                  </a:extLst>
                </a:gridCol>
                <a:gridCol w="1830687">
                  <a:extLst>
                    <a:ext uri="{9D8B030D-6E8A-4147-A177-3AD203B41FA5}">
                      <a16:colId xmlns:a16="http://schemas.microsoft.com/office/drawing/2014/main" val="2661503576"/>
                    </a:ext>
                  </a:extLst>
                </a:gridCol>
                <a:gridCol w="831983">
                  <a:extLst>
                    <a:ext uri="{9D8B030D-6E8A-4147-A177-3AD203B41FA5}">
                      <a16:colId xmlns:a16="http://schemas.microsoft.com/office/drawing/2014/main" val="651586099"/>
                    </a:ext>
                  </a:extLst>
                </a:gridCol>
                <a:gridCol w="1152013">
                  <a:extLst>
                    <a:ext uri="{9D8B030D-6E8A-4147-A177-3AD203B41FA5}">
                      <a16:colId xmlns:a16="http://schemas.microsoft.com/office/drawing/2014/main" val="3443167208"/>
                    </a:ext>
                  </a:extLst>
                </a:gridCol>
              </a:tblGrid>
              <a:tr h="734180">
                <a:tc>
                  <a:txBody>
                    <a:bodyPr/>
                    <a:lstStyle/>
                    <a:p>
                      <a:r>
                        <a:rPr lang="en-US" sz="1600" dirty="0"/>
                        <a:t>User ID</a:t>
                      </a:r>
                    </a:p>
                  </a:txBody>
                  <a:tcPr/>
                </a:tc>
                <a:tc>
                  <a:txBody>
                    <a:bodyPr/>
                    <a:lstStyle/>
                    <a:p>
                      <a:r>
                        <a:rPr lang="en-US" sz="1600" dirty="0"/>
                        <a:t>Last Login Time</a:t>
                      </a:r>
                    </a:p>
                  </a:txBody>
                  <a:tcPr/>
                </a:tc>
                <a:tc>
                  <a:txBody>
                    <a:bodyPr/>
                    <a:lstStyle/>
                    <a:p>
                      <a:r>
                        <a:rPr lang="en-US" sz="1600" dirty="0"/>
                        <a:t>Email</a:t>
                      </a:r>
                    </a:p>
                  </a:txBody>
                  <a:tcPr/>
                </a:tc>
                <a:tc>
                  <a:txBody>
                    <a:bodyPr/>
                    <a:lstStyle/>
                    <a:p>
                      <a:r>
                        <a:rPr lang="en-US" sz="1600" dirty="0"/>
                        <a:t>Name</a:t>
                      </a:r>
                    </a:p>
                  </a:txBody>
                  <a:tcPr/>
                </a:tc>
                <a:tc>
                  <a:txBody>
                    <a:bodyPr/>
                    <a:lstStyle/>
                    <a:p>
                      <a:r>
                        <a:rPr lang="en-US" sz="1600" dirty="0"/>
                        <a:t>Account Expire Year</a:t>
                      </a:r>
                    </a:p>
                  </a:txBody>
                  <a:tcPr/>
                </a:tc>
                <a:extLst>
                  <a:ext uri="{0D108BD9-81ED-4DB2-BD59-A6C34878D82A}">
                    <a16:rowId xmlns:a16="http://schemas.microsoft.com/office/drawing/2014/main" val="621248896"/>
                  </a:ext>
                </a:extLst>
              </a:tr>
              <a:tr h="543837">
                <a:tc>
                  <a:txBody>
                    <a:bodyPr/>
                    <a:lstStyle/>
                    <a:p>
                      <a:r>
                        <a:rPr lang="en-US" sz="1600" dirty="0"/>
                        <a:t>101</a:t>
                      </a:r>
                    </a:p>
                  </a:txBody>
                  <a:tcPr/>
                </a:tc>
                <a:tc>
                  <a:txBody>
                    <a:bodyPr/>
                    <a:lstStyle/>
                    <a:p>
                      <a:r>
                        <a:rPr lang="en-US" sz="1600" kern="1200" dirty="0"/>
                        <a:t>2018-01-03T10:1e.30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2"/>
                        </a:rPr>
                        <a:t>sam@demo.com</a:t>
                      </a:r>
                      <a:endParaRPr lang="en-US" sz="1600" dirty="0"/>
                    </a:p>
                  </a:txBody>
                  <a:tcPr/>
                </a:tc>
                <a:tc>
                  <a:txBody>
                    <a:bodyPr/>
                    <a:lstStyle/>
                    <a:p>
                      <a:r>
                        <a:rPr lang="en-US" sz="1600" dirty="0"/>
                        <a:t>Sam</a:t>
                      </a:r>
                    </a:p>
                  </a:txBody>
                  <a:tcPr/>
                </a:tc>
                <a:tc>
                  <a:txBody>
                    <a:bodyPr/>
                    <a:lstStyle/>
                    <a:p>
                      <a:r>
                        <a:rPr lang="en-US" sz="1600" dirty="0"/>
                        <a:t>2019</a:t>
                      </a:r>
                    </a:p>
                  </a:txBody>
                  <a:tcPr/>
                </a:tc>
                <a:extLst>
                  <a:ext uri="{0D108BD9-81ED-4DB2-BD59-A6C34878D82A}">
                    <a16:rowId xmlns:a16="http://schemas.microsoft.com/office/drawing/2014/main" val="1674806908"/>
                  </a:ext>
                </a:extLst>
              </a:tr>
            </a:tbl>
          </a:graphicData>
        </a:graphic>
      </p:graphicFrame>
      <p:graphicFrame>
        <p:nvGraphicFramePr>
          <p:cNvPr id="26" name="Table 25">
            <a:extLst>
              <a:ext uri="{FF2B5EF4-FFF2-40B4-BE49-F238E27FC236}">
                <a16:creationId xmlns:a16="http://schemas.microsoft.com/office/drawing/2014/main" id="{274E0658-BD4B-4260-A32C-7750C93D03E5}"/>
              </a:ext>
            </a:extLst>
          </p:cNvPr>
          <p:cNvGraphicFramePr>
            <a:graphicFrameLocks noGrp="1"/>
          </p:cNvGraphicFramePr>
          <p:nvPr/>
        </p:nvGraphicFramePr>
        <p:xfrm>
          <a:off x="7430946" y="3402875"/>
          <a:ext cx="6339261" cy="1432560"/>
        </p:xfrm>
        <a:graphic>
          <a:graphicData uri="http://schemas.openxmlformats.org/drawingml/2006/table">
            <a:tbl>
              <a:tblPr firstRow="1" bandRow="1">
                <a:tableStyleId>{00A15C55-8517-42AA-B614-E9B94910E393}</a:tableStyleId>
              </a:tblPr>
              <a:tblGrid>
                <a:gridCol w="901308">
                  <a:extLst>
                    <a:ext uri="{9D8B030D-6E8A-4147-A177-3AD203B41FA5}">
                      <a16:colId xmlns:a16="http://schemas.microsoft.com/office/drawing/2014/main" val="925657977"/>
                    </a:ext>
                  </a:extLst>
                </a:gridCol>
                <a:gridCol w="1623270">
                  <a:extLst>
                    <a:ext uri="{9D8B030D-6E8A-4147-A177-3AD203B41FA5}">
                      <a16:colId xmlns:a16="http://schemas.microsoft.com/office/drawing/2014/main" val="154451121"/>
                    </a:ext>
                  </a:extLst>
                </a:gridCol>
                <a:gridCol w="1830687">
                  <a:extLst>
                    <a:ext uri="{9D8B030D-6E8A-4147-A177-3AD203B41FA5}">
                      <a16:colId xmlns:a16="http://schemas.microsoft.com/office/drawing/2014/main" val="2661503576"/>
                    </a:ext>
                  </a:extLst>
                </a:gridCol>
                <a:gridCol w="831983">
                  <a:extLst>
                    <a:ext uri="{9D8B030D-6E8A-4147-A177-3AD203B41FA5}">
                      <a16:colId xmlns:a16="http://schemas.microsoft.com/office/drawing/2014/main" val="651586099"/>
                    </a:ext>
                  </a:extLst>
                </a:gridCol>
                <a:gridCol w="1152013">
                  <a:extLst>
                    <a:ext uri="{9D8B030D-6E8A-4147-A177-3AD203B41FA5}">
                      <a16:colId xmlns:a16="http://schemas.microsoft.com/office/drawing/2014/main" val="3443167208"/>
                    </a:ext>
                  </a:extLst>
                </a:gridCol>
              </a:tblGrid>
              <a:tr h="734180">
                <a:tc>
                  <a:txBody>
                    <a:bodyPr/>
                    <a:lstStyle/>
                    <a:p>
                      <a:r>
                        <a:rPr lang="en-US" sz="1600" dirty="0"/>
                        <a:t>User ID</a:t>
                      </a:r>
                    </a:p>
                  </a:txBody>
                  <a:tcPr/>
                </a:tc>
                <a:tc>
                  <a:txBody>
                    <a:bodyPr/>
                    <a:lstStyle/>
                    <a:p>
                      <a:r>
                        <a:rPr lang="en-US" sz="1600" dirty="0"/>
                        <a:t>Last Login Time</a:t>
                      </a:r>
                    </a:p>
                  </a:txBody>
                  <a:tcPr/>
                </a:tc>
                <a:tc>
                  <a:txBody>
                    <a:bodyPr/>
                    <a:lstStyle/>
                    <a:p>
                      <a:r>
                        <a:rPr lang="en-US" sz="1600" dirty="0"/>
                        <a:t>Email</a:t>
                      </a:r>
                    </a:p>
                  </a:txBody>
                  <a:tcPr/>
                </a:tc>
                <a:tc>
                  <a:txBody>
                    <a:bodyPr/>
                    <a:lstStyle/>
                    <a:p>
                      <a:r>
                        <a:rPr lang="en-US" sz="1600" dirty="0"/>
                        <a:t>Name</a:t>
                      </a:r>
                    </a:p>
                  </a:txBody>
                  <a:tcPr/>
                </a:tc>
                <a:tc>
                  <a:txBody>
                    <a:bodyPr/>
                    <a:lstStyle/>
                    <a:p>
                      <a:r>
                        <a:rPr lang="en-US" sz="1600" dirty="0"/>
                        <a:t>Account Expire Year</a:t>
                      </a:r>
                    </a:p>
                  </a:txBody>
                  <a:tcPr/>
                </a:tc>
                <a:extLst>
                  <a:ext uri="{0D108BD9-81ED-4DB2-BD59-A6C34878D82A}">
                    <a16:rowId xmlns:a16="http://schemas.microsoft.com/office/drawing/2014/main" val="621248896"/>
                  </a:ext>
                </a:extLst>
              </a:tr>
              <a:tr h="543837">
                <a:tc>
                  <a:txBody>
                    <a:bodyPr/>
                    <a:lstStyle/>
                    <a:p>
                      <a:r>
                        <a:rPr lang="en-US" sz="1600" dirty="0"/>
                        <a:t>101</a:t>
                      </a:r>
                    </a:p>
                  </a:txBody>
                  <a:tcPr/>
                </a:tc>
                <a:tc>
                  <a:txBody>
                    <a:bodyPr/>
                    <a:lstStyle/>
                    <a:p>
                      <a:r>
                        <a:rPr lang="en-US" sz="1600" kern="1200" dirty="0"/>
                        <a:t>2018-02-03T10:a.30</a:t>
                      </a:r>
                      <a:endParaRPr lang="en-US" sz="1600" kern="1200" dirty="0">
                        <a:solidFill>
                          <a:schemeClr val="dk1"/>
                        </a:solidFill>
                        <a:latin typeface="+mn-lt"/>
                        <a:ea typeface="+mn-ea"/>
                        <a:cs typeface="+mn-cs"/>
                      </a:endParaRPr>
                    </a:p>
                  </a:txBody>
                  <a:tcPr marL="121920" marR="121920" marT="60960" marB="60960"/>
                </a:tc>
                <a:tc>
                  <a:txBody>
                    <a:bodyPr/>
                    <a:lstStyle/>
                    <a:p>
                      <a:r>
                        <a:rPr lang="en-US" sz="1600" dirty="0">
                          <a:hlinkClick r:id="rId2"/>
                        </a:rPr>
                        <a:t>sam123@demo.com</a:t>
                      </a:r>
                      <a:endParaRPr lang="en-US" sz="1600" dirty="0"/>
                    </a:p>
                  </a:txBody>
                  <a:tcPr/>
                </a:tc>
                <a:tc>
                  <a:txBody>
                    <a:bodyPr/>
                    <a:lstStyle/>
                    <a:p>
                      <a:r>
                        <a:rPr lang="en-US" sz="1600" dirty="0"/>
                        <a:t>Sam</a:t>
                      </a:r>
                    </a:p>
                  </a:txBody>
                  <a:tcPr/>
                </a:tc>
                <a:tc>
                  <a:txBody>
                    <a:bodyPr/>
                    <a:lstStyle/>
                    <a:p>
                      <a:r>
                        <a:rPr lang="en-US" sz="1600" dirty="0"/>
                        <a:t>2019</a:t>
                      </a:r>
                    </a:p>
                  </a:txBody>
                  <a:tcPr/>
                </a:tc>
                <a:extLst>
                  <a:ext uri="{0D108BD9-81ED-4DB2-BD59-A6C34878D82A}">
                    <a16:rowId xmlns:a16="http://schemas.microsoft.com/office/drawing/2014/main" val="1674806908"/>
                  </a:ext>
                </a:extLst>
              </a:tr>
            </a:tbl>
          </a:graphicData>
        </a:graphic>
      </p:graphicFrame>
      <p:sp>
        <p:nvSpPr>
          <p:cNvPr id="27" name="Arrow: Down 26">
            <a:extLst>
              <a:ext uri="{FF2B5EF4-FFF2-40B4-BE49-F238E27FC236}">
                <a16:creationId xmlns:a16="http://schemas.microsoft.com/office/drawing/2014/main" id="{571E4018-2C32-4DEB-8EFF-F17F2E70A4DB}"/>
              </a:ext>
            </a:extLst>
          </p:cNvPr>
          <p:cNvSpPr/>
          <p:nvPr/>
        </p:nvSpPr>
        <p:spPr>
          <a:xfrm>
            <a:off x="8877782" y="2807969"/>
            <a:ext cx="312517" cy="5754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C22EA12-5EEC-4522-AD17-6D5995AC6F93}"/>
              </a:ext>
            </a:extLst>
          </p:cNvPr>
          <p:cNvSpPr txBox="1"/>
          <p:nvPr/>
        </p:nvSpPr>
        <p:spPr>
          <a:xfrm>
            <a:off x="10648709" y="2911033"/>
            <a:ext cx="3722494" cy="369332"/>
          </a:xfrm>
          <a:prstGeom prst="rect">
            <a:avLst/>
          </a:prstGeom>
          <a:noFill/>
        </p:spPr>
        <p:txBody>
          <a:bodyPr wrap="none" rtlCol="0">
            <a:spAutoFit/>
          </a:bodyPr>
          <a:lstStyle/>
          <a:p>
            <a:r>
              <a:rPr lang="en-US" dirty="0">
                <a:solidFill>
                  <a:srgbClr val="18537D"/>
                </a:solidFill>
              </a:rPr>
              <a:t>Asynchronous update to stream</a:t>
            </a:r>
          </a:p>
        </p:txBody>
      </p:sp>
      <p:sp>
        <p:nvSpPr>
          <p:cNvPr id="29" name="Rounded Rectangle 17">
            <a:extLst>
              <a:ext uri="{FF2B5EF4-FFF2-40B4-BE49-F238E27FC236}">
                <a16:creationId xmlns:a16="http://schemas.microsoft.com/office/drawing/2014/main" id="{38563304-3966-41F7-88AC-200AC3EA8D88}"/>
              </a:ext>
            </a:extLst>
          </p:cNvPr>
          <p:cNvSpPr/>
          <p:nvPr/>
        </p:nvSpPr>
        <p:spPr>
          <a:xfrm>
            <a:off x="5949387" y="5138224"/>
            <a:ext cx="7978979" cy="1252281"/>
          </a:xfrm>
          <a:prstGeom prst="round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solidFill>
                <a:schemeClr val="tx1"/>
              </a:solidFill>
              <a:latin typeface="Amazon Ember Light" charset="0"/>
              <a:ea typeface="Amazon Ember Light" charset="0"/>
              <a:cs typeface="Amazon Ember Light" charset="0"/>
            </a:endParaRPr>
          </a:p>
        </p:txBody>
      </p:sp>
      <p:sp>
        <p:nvSpPr>
          <p:cNvPr id="35" name="Rounded Rectangle 18">
            <a:extLst>
              <a:ext uri="{FF2B5EF4-FFF2-40B4-BE49-F238E27FC236}">
                <a16:creationId xmlns:a16="http://schemas.microsoft.com/office/drawing/2014/main" id="{10EC4BA3-1FC8-4F31-87E7-9284F3D97A9B}"/>
              </a:ext>
            </a:extLst>
          </p:cNvPr>
          <p:cNvSpPr/>
          <p:nvPr/>
        </p:nvSpPr>
        <p:spPr>
          <a:xfrm>
            <a:off x="6211746" y="5254226"/>
            <a:ext cx="1219200" cy="1020276"/>
          </a:xfrm>
          <a:prstGeom prst="roundRect">
            <a:avLst/>
          </a:prstGeom>
          <a:solidFill>
            <a:schemeClr val="accent6">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67" dirty="0">
                <a:solidFill>
                  <a:schemeClr val="tx1"/>
                </a:solidFill>
                <a:latin typeface="Amazon Ember Light" charset="0"/>
                <a:ea typeface="Amazon Ember Light" charset="0"/>
                <a:cs typeface="Amazon Ember Light" charset="0"/>
              </a:rPr>
              <a:t>Shard1</a:t>
            </a:r>
          </a:p>
        </p:txBody>
      </p:sp>
      <p:sp>
        <p:nvSpPr>
          <p:cNvPr id="36" name="Rounded Rectangle 18">
            <a:extLst>
              <a:ext uri="{FF2B5EF4-FFF2-40B4-BE49-F238E27FC236}">
                <a16:creationId xmlns:a16="http://schemas.microsoft.com/office/drawing/2014/main" id="{26D06801-F6CE-4BBC-BFA3-228E357EE677}"/>
              </a:ext>
            </a:extLst>
          </p:cNvPr>
          <p:cNvSpPr/>
          <p:nvPr/>
        </p:nvSpPr>
        <p:spPr>
          <a:xfrm>
            <a:off x="7693306" y="5254226"/>
            <a:ext cx="4617440" cy="1020276"/>
          </a:xfrm>
          <a:prstGeom prst="roundRect">
            <a:avLst/>
          </a:prstGeom>
          <a:solidFill>
            <a:schemeClr val="accent6">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67" dirty="0">
                <a:solidFill>
                  <a:schemeClr val="tx1"/>
                </a:solidFill>
                <a:latin typeface="Amazon Ember Light" charset="0"/>
                <a:ea typeface="Amazon Ember Light" charset="0"/>
                <a:cs typeface="Amazon Ember Light" charset="0"/>
              </a:rPr>
              <a:t>Last Login Time: 2018-01-03T10:1e.30</a:t>
            </a:r>
          </a:p>
          <a:p>
            <a:pPr algn="ctr"/>
            <a:r>
              <a:rPr lang="en-US" sz="1867" dirty="0">
                <a:solidFill>
                  <a:schemeClr val="tx1"/>
                </a:solidFill>
                <a:latin typeface="Amazon Ember Light" charset="0"/>
                <a:ea typeface="Amazon Ember Light" charset="0"/>
                <a:cs typeface="Amazon Ember Light" charset="0"/>
              </a:rPr>
              <a:t>Last Login Time: 2018-01-05T10:1b.30 </a:t>
            </a:r>
          </a:p>
        </p:txBody>
      </p:sp>
      <p:sp>
        <p:nvSpPr>
          <p:cNvPr id="37" name="Rounded Rectangle 18">
            <a:extLst>
              <a:ext uri="{FF2B5EF4-FFF2-40B4-BE49-F238E27FC236}">
                <a16:creationId xmlns:a16="http://schemas.microsoft.com/office/drawing/2014/main" id="{F88F8B13-21EC-4B0F-A58D-FC199D30EA34}"/>
              </a:ext>
            </a:extLst>
          </p:cNvPr>
          <p:cNvSpPr/>
          <p:nvPr/>
        </p:nvSpPr>
        <p:spPr>
          <a:xfrm>
            <a:off x="12509956" y="5254226"/>
            <a:ext cx="1219200" cy="1020276"/>
          </a:xfrm>
          <a:prstGeom prst="roundRect">
            <a:avLst/>
          </a:prstGeom>
          <a:solidFill>
            <a:schemeClr val="accent6">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867" dirty="0">
                <a:solidFill>
                  <a:schemeClr val="tx1"/>
                </a:solidFill>
                <a:latin typeface="Amazon Ember Light" charset="0"/>
                <a:ea typeface="Amazon Ember Light" charset="0"/>
                <a:cs typeface="Amazon Ember Light" charset="0"/>
              </a:rPr>
              <a:t>Shard n</a:t>
            </a:r>
          </a:p>
        </p:txBody>
      </p:sp>
    </p:spTree>
    <p:extLst>
      <p:ext uri="{BB962C8B-B14F-4D97-AF65-F5344CB8AC3E}">
        <p14:creationId xmlns:p14="http://schemas.microsoft.com/office/powerpoint/2010/main" val="3024762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9B4D9B-176C-4890-B8FF-019B99B85A6D}"/>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9C4B8217-65E9-4795-8C93-A1250E063381}"/>
              </a:ext>
            </a:extLst>
          </p:cNvPr>
          <p:cNvSpPr>
            <a:spLocks noGrp="1"/>
          </p:cNvSpPr>
          <p:nvPr>
            <p:ph type="sldNum" sz="quarter" idx="17"/>
          </p:nvPr>
        </p:nvSpPr>
        <p:spPr/>
        <p:txBody>
          <a:bodyPr/>
          <a:lstStyle/>
          <a:p>
            <a:fld id="{4F9AC08D-23A9-440E-BCB9-AA1E9877CC38}" type="slidenum">
              <a:rPr lang="en-US" smtClean="0"/>
              <a:pPr/>
              <a:t>25</a:t>
            </a:fld>
            <a:endParaRPr lang="en-US" dirty="0"/>
          </a:p>
        </p:txBody>
      </p:sp>
      <p:sp>
        <p:nvSpPr>
          <p:cNvPr id="4" name="Title 3">
            <a:extLst>
              <a:ext uri="{FF2B5EF4-FFF2-40B4-BE49-F238E27FC236}">
                <a16:creationId xmlns:a16="http://schemas.microsoft.com/office/drawing/2014/main" id="{9663875B-2FEA-44A0-AC30-EF2168A563E5}"/>
              </a:ext>
            </a:extLst>
          </p:cNvPr>
          <p:cNvSpPr>
            <a:spLocks noGrp="1"/>
          </p:cNvSpPr>
          <p:nvPr>
            <p:ph type="title"/>
          </p:nvPr>
        </p:nvSpPr>
        <p:spPr>
          <a:xfrm>
            <a:off x="450010" y="272146"/>
            <a:ext cx="13500200" cy="1359871"/>
          </a:xfrm>
        </p:spPr>
        <p:txBody>
          <a:bodyPr/>
          <a:lstStyle/>
          <a:p>
            <a:r>
              <a:rPr lang="en-US" dirty="0">
                <a:solidFill>
                  <a:schemeClr val="bg1"/>
                </a:solidFill>
              </a:rPr>
              <a:t>Amazon </a:t>
            </a:r>
            <a:r>
              <a:rPr lang="en-US" dirty="0" err="1">
                <a:solidFill>
                  <a:schemeClr val="bg1"/>
                </a:solidFill>
              </a:rPr>
              <a:t>dynamodb</a:t>
            </a:r>
            <a:r>
              <a:rPr lang="en-US" dirty="0">
                <a:solidFill>
                  <a:schemeClr val="bg1"/>
                </a:solidFill>
              </a:rPr>
              <a:t> – Backup</a:t>
            </a:r>
            <a:endParaRPr lang="en-US" dirty="0"/>
          </a:p>
        </p:txBody>
      </p:sp>
      <p:sp>
        <p:nvSpPr>
          <p:cNvPr id="29" name="Rectangle 28">
            <a:extLst>
              <a:ext uri="{FF2B5EF4-FFF2-40B4-BE49-F238E27FC236}">
                <a16:creationId xmlns:a16="http://schemas.microsoft.com/office/drawing/2014/main" id="{A31F1C3B-1841-42E9-97A0-313880BE3767}"/>
              </a:ext>
            </a:extLst>
          </p:cNvPr>
          <p:cNvSpPr/>
          <p:nvPr/>
        </p:nvSpPr>
        <p:spPr>
          <a:xfrm>
            <a:off x="590042" y="1079900"/>
            <a:ext cx="12953299" cy="4108817"/>
          </a:xfrm>
          <a:prstGeom prst="rect">
            <a:avLst/>
          </a:prstGeom>
        </p:spPr>
        <p:txBody>
          <a:bodyPr wrap="square">
            <a:spAutoFit/>
          </a:bodyPr>
          <a:lstStyle/>
          <a:p>
            <a:pPr>
              <a:lnSpc>
                <a:spcPct val="150000"/>
              </a:lnSpc>
            </a:pPr>
            <a:r>
              <a:rPr lang="en-US" dirty="0">
                <a:solidFill>
                  <a:srgbClr val="18537D"/>
                </a:solidFill>
              </a:rPr>
              <a:t>On-demand backup</a:t>
            </a:r>
          </a:p>
          <a:p>
            <a:pPr marL="742950" lvl="1" indent="-285750">
              <a:lnSpc>
                <a:spcPct val="150000"/>
              </a:lnSpc>
              <a:buFont typeface="Arial" panose="020B0604020202020204" pitchFamily="34" charset="0"/>
              <a:buChar char="•"/>
            </a:pPr>
            <a:r>
              <a:rPr lang="en-US" dirty="0">
                <a:solidFill>
                  <a:srgbClr val="18537D"/>
                </a:solidFill>
              </a:rPr>
              <a:t>on-demand backup and restore capabilities allows you to create full backups of your tables.</a:t>
            </a:r>
          </a:p>
          <a:p>
            <a:pPr marL="742950" lvl="1" indent="-285750">
              <a:lnSpc>
                <a:spcPct val="150000"/>
              </a:lnSpc>
              <a:buFont typeface="Arial" panose="020B0604020202020204" pitchFamily="34" charset="0"/>
              <a:buChar char="•"/>
            </a:pPr>
            <a:r>
              <a:rPr lang="en-US" dirty="0">
                <a:solidFill>
                  <a:srgbClr val="18537D"/>
                </a:solidFill>
              </a:rPr>
              <a:t>The backup is created asynchronously by applying all changes until the time of the request to the last full table snapshot</a:t>
            </a:r>
          </a:p>
          <a:p>
            <a:pPr>
              <a:lnSpc>
                <a:spcPct val="150000"/>
              </a:lnSpc>
            </a:pPr>
            <a:r>
              <a:rPr lang="en-US" dirty="0">
                <a:solidFill>
                  <a:srgbClr val="18537D"/>
                </a:solidFill>
              </a:rPr>
              <a:t>Point in time Recovery</a:t>
            </a:r>
          </a:p>
          <a:p>
            <a:pPr marL="742950" lvl="1" indent="-285750">
              <a:lnSpc>
                <a:spcPct val="150000"/>
              </a:lnSpc>
              <a:buFont typeface="Arial" panose="020B0604020202020204" pitchFamily="34" charset="0"/>
              <a:buChar char="•"/>
            </a:pPr>
            <a:r>
              <a:rPr lang="en-US" dirty="0">
                <a:solidFill>
                  <a:srgbClr val="18537D"/>
                </a:solidFill>
              </a:rPr>
              <a:t>Automatic backup mechanism help to protect your Amazon DynamoDB tables from accidental write or delete operations</a:t>
            </a:r>
          </a:p>
          <a:p>
            <a:pPr marL="742950" lvl="1" indent="-285750">
              <a:lnSpc>
                <a:spcPct val="150000"/>
              </a:lnSpc>
              <a:buFont typeface="Arial" panose="020B0604020202020204" pitchFamily="34" charset="0"/>
              <a:buChar char="•"/>
            </a:pPr>
            <a:r>
              <a:rPr lang="en-US" dirty="0">
                <a:solidFill>
                  <a:srgbClr val="18537D"/>
                </a:solidFill>
              </a:rPr>
              <a:t>. DynamoDB maintains incremental backups of your table.</a:t>
            </a:r>
          </a:p>
          <a:p>
            <a:pPr marL="742950" lvl="1" indent="-285750">
              <a:lnSpc>
                <a:spcPct val="150000"/>
              </a:lnSpc>
              <a:buFont typeface="Arial" panose="020B0604020202020204" pitchFamily="34" charset="0"/>
              <a:buChar char="•"/>
            </a:pPr>
            <a:r>
              <a:rPr lang="en-US" dirty="0">
                <a:solidFill>
                  <a:srgbClr val="18537D"/>
                </a:solidFill>
              </a:rPr>
              <a:t>restore that table to any point in time during the last 35 days</a:t>
            </a:r>
          </a:p>
          <a:p>
            <a:endParaRPr lang="en-US" dirty="0"/>
          </a:p>
        </p:txBody>
      </p:sp>
    </p:spTree>
    <p:extLst>
      <p:ext uri="{BB962C8B-B14F-4D97-AF65-F5344CB8AC3E}">
        <p14:creationId xmlns:p14="http://schemas.microsoft.com/office/powerpoint/2010/main" val="838369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CC7FCD-1CFD-4141-B844-7638CDB5647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F5DBA4B7-4FFC-455E-8F08-AFB56E99144B}"/>
              </a:ext>
            </a:extLst>
          </p:cNvPr>
          <p:cNvSpPr>
            <a:spLocks noGrp="1"/>
          </p:cNvSpPr>
          <p:nvPr>
            <p:ph type="sldNum" sz="quarter" idx="17"/>
          </p:nvPr>
        </p:nvSpPr>
        <p:spPr/>
        <p:txBody>
          <a:bodyPr/>
          <a:lstStyle/>
          <a:p>
            <a:fld id="{4F9AC08D-23A9-440E-BCB9-AA1E9877CC38}" type="slidenum">
              <a:rPr lang="en-US" smtClean="0"/>
              <a:pPr/>
              <a:t>26</a:t>
            </a:fld>
            <a:endParaRPr lang="en-US" dirty="0"/>
          </a:p>
        </p:txBody>
      </p:sp>
      <p:sp>
        <p:nvSpPr>
          <p:cNvPr id="4" name="Title 3">
            <a:extLst>
              <a:ext uri="{FF2B5EF4-FFF2-40B4-BE49-F238E27FC236}">
                <a16:creationId xmlns:a16="http://schemas.microsoft.com/office/drawing/2014/main" id="{009605F3-D742-4209-90FF-67DAAB5B45B8}"/>
              </a:ext>
            </a:extLst>
          </p:cNvPr>
          <p:cNvSpPr>
            <a:spLocks noGrp="1"/>
          </p:cNvSpPr>
          <p:nvPr>
            <p:ph type="title"/>
          </p:nvPr>
        </p:nvSpPr>
        <p:spPr/>
        <p:txBody>
          <a:bodyPr/>
          <a:lstStyle/>
          <a:p>
            <a:r>
              <a:rPr lang="en-US" dirty="0">
                <a:solidFill>
                  <a:schemeClr val="bg1"/>
                </a:solidFill>
              </a:rPr>
              <a:t>Amazon </a:t>
            </a:r>
            <a:r>
              <a:rPr lang="en-US" dirty="0" err="1">
                <a:solidFill>
                  <a:schemeClr val="bg1"/>
                </a:solidFill>
              </a:rPr>
              <a:t>dynamodb</a:t>
            </a:r>
            <a:r>
              <a:rPr lang="en-US" dirty="0">
                <a:solidFill>
                  <a:schemeClr val="bg1"/>
                </a:solidFill>
              </a:rPr>
              <a:t> – Global Tables</a:t>
            </a:r>
            <a:endParaRPr lang="en-US" dirty="0"/>
          </a:p>
        </p:txBody>
      </p:sp>
      <p:sp>
        <p:nvSpPr>
          <p:cNvPr id="5" name="Rectangle 4">
            <a:extLst>
              <a:ext uri="{FF2B5EF4-FFF2-40B4-BE49-F238E27FC236}">
                <a16:creationId xmlns:a16="http://schemas.microsoft.com/office/drawing/2014/main" id="{41799192-B08F-4B17-B277-BF3E80EEB8F3}"/>
              </a:ext>
            </a:extLst>
          </p:cNvPr>
          <p:cNvSpPr/>
          <p:nvPr/>
        </p:nvSpPr>
        <p:spPr>
          <a:xfrm>
            <a:off x="683630" y="1226979"/>
            <a:ext cx="6538633" cy="4194803"/>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A global table is a collection of one or more DynamoDB tables, all owned by a single AWS account, identified as replica tables. </a:t>
            </a:r>
          </a:p>
          <a:p>
            <a:pPr marL="285750" indent="-285750" algn="just">
              <a:lnSpc>
                <a:spcPct val="150000"/>
              </a:lnSpc>
              <a:buFont typeface="Courier New" panose="02070309020205020404" pitchFamily="49" charset="0"/>
              <a:buChar char="o"/>
            </a:pPr>
            <a:r>
              <a:rPr lang="en-US" dirty="0">
                <a:solidFill>
                  <a:srgbClr val="18537D"/>
                </a:solidFill>
              </a:rPr>
              <a:t>DynamoDB global tables can be created in three steps:</a:t>
            </a:r>
          </a:p>
          <a:p>
            <a:pPr marL="742950" lvl="1" indent="-285750" algn="just">
              <a:lnSpc>
                <a:spcPct val="150000"/>
              </a:lnSpc>
              <a:buFont typeface="Courier New" panose="02070309020205020404" pitchFamily="49" charset="0"/>
              <a:buChar char="o"/>
            </a:pPr>
            <a:r>
              <a:rPr lang="en-US" dirty="0">
                <a:solidFill>
                  <a:srgbClr val="18537D"/>
                </a:solidFill>
              </a:rPr>
              <a:t>Create an ordinary DynamoDB table, with DynamoDB Streams enabled, in an AWS Region.</a:t>
            </a:r>
          </a:p>
          <a:p>
            <a:pPr marL="742950" lvl="1" indent="-285750" algn="just">
              <a:lnSpc>
                <a:spcPct val="150000"/>
              </a:lnSpc>
              <a:buFont typeface="Courier New" panose="02070309020205020404" pitchFamily="49" charset="0"/>
              <a:buChar char="o"/>
            </a:pPr>
            <a:r>
              <a:rPr lang="en-US" dirty="0">
                <a:solidFill>
                  <a:srgbClr val="18537D"/>
                </a:solidFill>
              </a:rPr>
              <a:t>Repeat step 1 for every other AWS Region where you want to replicate your data.</a:t>
            </a:r>
          </a:p>
          <a:p>
            <a:pPr marL="742950" lvl="1" indent="-285750" algn="just">
              <a:lnSpc>
                <a:spcPct val="150000"/>
              </a:lnSpc>
              <a:buFont typeface="Courier New" panose="02070309020205020404" pitchFamily="49" charset="0"/>
              <a:buChar char="o"/>
            </a:pPr>
            <a:r>
              <a:rPr lang="en-US" dirty="0">
                <a:solidFill>
                  <a:srgbClr val="18537D"/>
                </a:solidFill>
              </a:rPr>
              <a:t>Define a DynamoDB global table based on the tables that you have created.</a:t>
            </a:r>
            <a:endParaRPr lang="en-US" dirty="0"/>
          </a:p>
        </p:txBody>
      </p:sp>
      <p:pic>
        <p:nvPicPr>
          <p:cNvPr id="6" name="Picture 5">
            <a:extLst>
              <a:ext uri="{FF2B5EF4-FFF2-40B4-BE49-F238E27FC236}">
                <a16:creationId xmlns:a16="http://schemas.microsoft.com/office/drawing/2014/main" id="{2C1F9290-9A58-48F4-8056-4785CB20D8B1}"/>
              </a:ext>
            </a:extLst>
          </p:cNvPr>
          <p:cNvPicPr>
            <a:picLocks noChangeAspect="1"/>
          </p:cNvPicPr>
          <p:nvPr/>
        </p:nvPicPr>
        <p:blipFill>
          <a:blip r:embed="rId2"/>
          <a:stretch>
            <a:fillRect/>
          </a:stretch>
        </p:blipFill>
        <p:spPr>
          <a:xfrm>
            <a:off x="7222264" y="897426"/>
            <a:ext cx="6973368" cy="56538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75388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8A0AB5-35A3-48ED-8310-97013B566357}"/>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B625965B-D036-461C-BA3B-245C8BBC718C}"/>
              </a:ext>
            </a:extLst>
          </p:cNvPr>
          <p:cNvSpPr>
            <a:spLocks noGrp="1"/>
          </p:cNvSpPr>
          <p:nvPr>
            <p:ph type="sldNum" sz="quarter" idx="17"/>
          </p:nvPr>
        </p:nvSpPr>
        <p:spPr/>
        <p:txBody>
          <a:bodyPr/>
          <a:lstStyle/>
          <a:p>
            <a:fld id="{4F9AC08D-23A9-440E-BCB9-AA1E9877CC38}" type="slidenum">
              <a:rPr lang="en-US" smtClean="0"/>
              <a:pPr/>
              <a:t>27</a:t>
            </a:fld>
            <a:endParaRPr lang="en-US" dirty="0"/>
          </a:p>
        </p:txBody>
      </p:sp>
      <p:sp>
        <p:nvSpPr>
          <p:cNvPr id="4" name="Title 3">
            <a:extLst>
              <a:ext uri="{FF2B5EF4-FFF2-40B4-BE49-F238E27FC236}">
                <a16:creationId xmlns:a16="http://schemas.microsoft.com/office/drawing/2014/main" id="{E9BEC2D8-FC15-4213-8E38-7FEF7BC62AC0}"/>
              </a:ext>
            </a:extLst>
          </p:cNvPr>
          <p:cNvSpPr>
            <a:spLocks noGrp="1"/>
          </p:cNvSpPr>
          <p:nvPr>
            <p:ph type="title"/>
          </p:nvPr>
        </p:nvSpPr>
        <p:spPr/>
        <p:txBody>
          <a:bodyPr/>
          <a:lstStyle/>
          <a:p>
            <a:r>
              <a:rPr lang="en-US" dirty="0">
                <a:solidFill>
                  <a:schemeClr val="bg1"/>
                </a:solidFill>
              </a:rPr>
              <a:t>DynamoDB Accelerator (DAX)</a:t>
            </a:r>
          </a:p>
        </p:txBody>
      </p:sp>
      <p:sp>
        <p:nvSpPr>
          <p:cNvPr id="5" name="Rectangle 4">
            <a:extLst>
              <a:ext uri="{FF2B5EF4-FFF2-40B4-BE49-F238E27FC236}">
                <a16:creationId xmlns:a16="http://schemas.microsoft.com/office/drawing/2014/main" id="{121038A6-971B-4277-8756-2B123F3B5232}"/>
              </a:ext>
            </a:extLst>
          </p:cNvPr>
          <p:cNvSpPr/>
          <p:nvPr/>
        </p:nvSpPr>
        <p:spPr>
          <a:xfrm>
            <a:off x="633730" y="1224946"/>
            <a:ext cx="12523470" cy="4524315"/>
          </a:xfrm>
          <a:prstGeom prst="rect">
            <a:avLst/>
          </a:prstGeom>
        </p:spPr>
        <p:txBody>
          <a:bodyPr wrap="square">
            <a:spAutoFit/>
          </a:bodyPr>
          <a:lstStyle/>
          <a:p>
            <a:pPr marL="285750" indent="-285750" algn="just">
              <a:lnSpc>
                <a:spcPct val="150000"/>
              </a:lnSpc>
              <a:buFont typeface="Courier New" panose="02070309020205020404" pitchFamily="49" charset="0"/>
              <a:buChar char="o"/>
            </a:pPr>
            <a:r>
              <a:rPr lang="en-US" dirty="0">
                <a:solidFill>
                  <a:srgbClr val="18537D"/>
                </a:solidFill>
              </a:rPr>
              <a:t>DAX is a DynamoDB-compatible caching service that enables you to benefit from fast in-memory performance for demanding applications. DAX addresses three core scenarios:</a:t>
            </a:r>
          </a:p>
          <a:p>
            <a:pPr marL="742950" lvl="1" indent="-285750" algn="just">
              <a:lnSpc>
                <a:spcPct val="150000"/>
              </a:lnSpc>
              <a:buFont typeface="Courier New" panose="02070309020205020404" pitchFamily="49" charset="0"/>
              <a:buChar char="o"/>
            </a:pPr>
            <a:r>
              <a:rPr lang="en-US" dirty="0">
                <a:solidFill>
                  <a:srgbClr val="18537D"/>
                </a:solidFill>
              </a:rPr>
              <a:t>As an in-memory cache, DAX reduces the response times of eventually-consistent read workloads by an order of magnitude, from single-digit milliseconds to microseconds.</a:t>
            </a:r>
          </a:p>
          <a:p>
            <a:pPr marL="742950" lvl="1" indent="-285750" algn="just">
              <a:lnSpc>
                <a:spcPct val="150000"/>
              </a:lnSpc>
              <a:buFont typeface="Courier New" panose="02070309020205020404" pitchFamily="49" charset="0"/>
              <a:buChar char="o"/>
            </a:pPr>
            <a:r>
              <a:rPr lang="en-US" dirty="0">
                <a:solidFill>
                  <a:srgbClr val="18537D"/>
                </a:solidFill>
              </a:rPr>
              <a:t>DAX reduces operational and application complexity by providing a managed service that is API-compatible with Amazon DynamoDB, and thus requires only minimal functional changes to use with an existing application.</a:t>
            </a:r>
          </a:p>
          <a:p>
            <a:pPr marL="742950" lvl="1" indent="-285750" algn="just">
              <a:lnSpc>
                <a:spcPct val="150000"/>
              </a:lnSpc>
              <a:buFont typeface="Courier New" panose="02070309020205020404" pitchFamily="49" charset="0"/>
              <a:buChar char="o"/>
            </a:pPr>
            <a:r>
              <a:rPr lang="en-US" dirty="0">
                <a:solidFill>
                  <a:srgbClr val="18537D"/>
                </a:solidFill>
              </a:rPr>
              <a:t>For read-heavy or </a:t>
            </a:r>
            <a:r>
              <a:rPr lang="en-US" dirty="0" err="1">
                <a:solidFill>
                  <a:srgbClr val="18537D"/>
                </a:solidFill>
              </a:rPr>
              <a:t>bursty</a:t>
            </a:r>
            <a:r>
              <a:rPr lang="en-US" dirty="0">
                <a:solidFill>
                  <a:srgbClr val="18537D"/>
                </a:solidFill>
              </a:rPr>
              <a:t> workloads, DAX provides increased throughput and potential operational cost savings by reducing the need to over-provision read capacity units. This is especially beneficial for applications that require repeated reads for individual keys.</a:t>
            </a:r>
          </a:p>
          <a:p>
            <a:pPr marL="228600" indent="-228600">
              <a:buFont typeface="+mj-lt"/>
              <a:buAutoNum type="arabicPeriod"/>
            </a:pPr>
            <a:endParaRPr lang="en-US" dirty="0"/>
          </a:p>
        </p:txBody>
      </p:sp>
    </p:spTree>
    <p:extLst>
      <p:ext uri="{BB962C8B-B14F-4D97-AF65-F5344CB8AC3E}">
        <p14:creationId xmlns:p14="http://schemas.microsoft.com/office/powerpoint/2010/main" val="2701813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6A0E08-8C6D-4EFA-B834-E0ACA37A074F}"/>
              </a:ext>
            </a:extLst>
          </p:cNvPr>
          <p:cNvSpPr>
            <a:spLocks noGrp="1"/>
          </p:cNvSpPr>
          <p:nvPr>
            <p:ph type="sldNum" sz="quarter" idx="17"/>
          </p:nvPr>
        </p:nvSpPr>
        <p:spPr/>
        <p:txBody>
          <a:bodyPr/>
          <a:lstStyle/>
          <a:p>
            <a:fld id="{4F9AC08D-23A9-440E-BCB9-AA1E9877CC38}" type="slidenum">
              <a:rPr lang="en-US" smtClean="0"/>
              <a:pPr/>
              <a:t>28</a:t>
            </a:fld>
            <a:endParaRPr lang="en-US" dirty="0"/>
          </a:p>
        </p:txBody>
      </p:sp>
      <p:sp>
        <p:nvSpPr>
          <p:cNvPr id="3" name="Title 2">
            <a:extLst>
              <a:ext uri="{FF2B5EF4-FFF2-40B4-BE49-F238E27FC236}">
                <a16:creationId xmlns:a16="http://schemas.microsoft.com/office/drawing/2014/main" id="{03629075-BA85-4807-9C99-88F12EE89C1A}"/>
              </a:ext>
            </a:extLst>
          </p:cNvPr>
          <p:cNvSpPr>
            <a:spLocks noGrp="1"/>
          </p:cNvSpPr>
          <p:nvPr>
            <p:ph type="title"/>
          </p:nvPr>
        </p:nvSpPr>
        <p:spPr>
          <a:xfrm>
            <a:off x="450010" y="331140"/>
            <a:ext cx="13500200" cy="1359871"/>
          </a:xfrm>
        </p:spPr>
        <p:txBody>
          <a:bodyPr/>
          <a:lstStyle/>
          <a:p>
            <a:r>
              <a:rPr lang="en-US" dirty="0">
                <a:solidFill>
                  <a:schemeClr val="bg1"/>
                </a:solidFill>
              </a:rPr>
              <a:t>CloudFront</a:t>
            </a:r>
          </a:p>
        </p:txBody>
      </p:sp>
      <p:sp>
        <p:nvSpPr>
          <p:cNvPr id="4" name="Footer Placeholder 3">
            <a:extLst>
              <a:ext uri="{FF2B5EF4-FFF2-40B4-BE49-F238E27FC236}">
                <a16:creationId xmlns:a16="http://schemas.microsoft.com/office/drawing/2014/main" id="{7C63BE87-934A-488C-A413-C7B2BD91265D}"/>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D84DF747-0896-4F01-8511-93282DA1C31A}"/>
              </a:ext>
            </a:extLst>
          </p:cNvPr>
          <p:cNvSpPr/>
          <p:nvPr/>
        </p:nvSpPr>
        <p:spPr>
          <a:xfrm>
            <a:off x="611444" y="1394346"/>
            <a:ext cx="12605136" cy="1701813"/>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Amazon CloudFront is a web service that speeds the distribution of static and dynamic web content, such as .html, .</a:t>
            </a:r>
            <a:r>
              <a:rPr lang="en-US" dirty="0" err="1">
                <a:solidFill>
                  <a:srgbClr val="18537D"/>
                </a:solidFill>
              </a:rPr>
              <a:t>css</a:t>
            </a:r>
            <a:r>
              <a:rPr lang="en-US" dirty="0">
                <a:solidFill>
                  <a:srgbClr val="18537D"/>
                </a:solidFill>
              </a:rPr>
              <a:t>, .</a:t>
            </a:r>
            <a:r>
              <a:rPr lang="en-US" dirty="0" err="1">
                <a:solidFill>
                  <a:srgbClr val="18537D"/>
                </a:solidFill>
              </a:rPr>
              <a:t>js</a:t>
            </a:r>
            <a:r>
              <a:rPr lang="en-US" dirty="0">
                <a:solidFill>
                  <a:srgbClr val="18537D"/>
                </a:solidFill>
              </a:rPr>
              <a:t>, and image files, to your users. </a:t>
            </a:r>
          </a:p>
          <a:p>
            <a:pPr marL="285750" indent="-285750">
              <a:lnSpc>
                <a:spcPct val="150000"/>
              </a:lnSpc>
              <a:buFont typeface="Arial" panose="020B0604020202020204" pitchFamily="34" charset="0"/>
              <a:buChar char="•"/>
            </a:pPr>
            <a:r>
              <a:rPr lang="en-US" dirty="0">
                <a:solidFill>
                  <a:srgbClr val="18537D"/>
                </a:solidFill>
              </a:rPr>
              <a:t>CloudFront delivers your content through a worldwide network of data centers called edge locations, where it caches the content closer to your users.</a:t>
            </a:r>
          </a:p>
        </p:txBody>
      </p:sp>
      <p:sp>
        <p:nvSpPr>
          <p:cNvPr id="6" name="Rectangle 5">
            <a:extLst>
              <a:ext uri="{FF2B5EF4-FFF2-40B4-BE49-F238E27FC236}">
                <a16:creationId xmlns:a16="http://schemas.microsoft.com/office/drawing/2014/main" id="{AC972FD5-4E31-412F-92EA-AFC8AD814686}"/>
              </a:ext>
            </a:extLst>
          </p:cNvPr>
          <p:cNvSpPr/>
          <p:nvPr/>
        </p:nvSpPr>
        <p:spPr>
          <a:xfrm>
            <a:off x="611444" y="3096159"/>
            <a:ext cx="9459901" cy="2948308"/>
          </a:xfrm>
          <a:prstGeom prst="rect">
            <a:avLst/>
          </a:prstGeom>
        </p:spPr>
        <p:txBody>
          <a:bodyPr wrap="square">
            <a:spAutoFit/>
          </a:bodyPr>
          <a:lstStyle/>
          <a:p>
            <a:pPr>
              <a:lnSpc>
                <a:spcPct val="150000"/>
              </a:lnSpc>
            </a:pPr>
            <a:r>
              <a:rPr lang="en-US" dirty="0">
                <a:solidFill>
                  <a:srgbClr val="18537D"/>
                </a:solidFill>
              </a:rPr>
              <a:t>Key Features:</a:t>
            </a:r>
          </a:p>
          <a:p>
            <a:pPr marL="742950" lvl="1" indent="-285750">
              <a:lnSpc>
                <a:spcPct val="150000"/>
              </a:lnSpc>
              <a:buFont typeface="Arial" panose="020B0604020202020204" pitchFamily="34" charset="0"/>
              <a:buChar char="•"/>
            </a:pPr>
            <a:r>
              <a:rPr lang="en-US" dirty="0">
                <a:solidFill>
                  <a:srgbClr val="18537D"/>
                </a:solidFill>
              </a:rPr>
              <a:t>HTTP/</a:t>
            </a:r>
            <a:r>
              <a:rPr lang="en-US" dirty="0" err="1">
                <a:solidFill>
                  <a:srgbClr val="18537D"/>
                </a:solidFill>
              </a:rPr>
              <a:t>HTTPS'File'Delivery</a:t>
            </a:r>
            <a:r>
              <a:rPr lang="en-US" dirty="0">
                <a:solidFill>
                  <a:srgbClr val="18537D"/>
                </a:solidFill>
              </a:rPr>
              <a:t>'</a:t>
            </a:r>
          </a:p>
          <a:p>
            <a:pPr marL="742950" lvl="1" indent="-285750">
              <a:lnSpc>
                <a:spcPct val="150000"/>
              </a:lnSpc>
              <a:buFont typeface="Arial" panose="020B0604020202020204" pitchFamily="34" charset="0"/>
              <a:buChar char="•"/>
            </a:pPr>
            <a:r>
              <a:rPr lang="en-US" dirty="0" err="1">
                <a:solidFill>
                  <a:srgbClr val="18537D"/>
                </a:solidFill>
              </a:rPr>
              <a:t>Private'Content</a:t>
            </a:r>
            <a:r>
              <a:rPr lang="en-US" dirty="0">
                <a:solidFill>
                  <a:srgbClr val="18537D"/>
                </a:solidFill>
              </a:rPr>
              <a:t>'</a:t>
            </a:r>
          </a:p>
          <a:p>
            <a:pPr marL="742950" lvl="1" indent="-285750">
              <a:lnSpc>
                <a:spcPct val="150000"/>
              </a:lnSpc>
              <a:buFont typeface="Arial" panose="020B0604020202020204" pitchFamily="34" charset="0"/>
              <a:buChar char="•"/>
            </a:pPr>
            <a:r>
              <a:rPr lang="en-US" dirty="0">
                <a:solidFill>
                  <a:srgbClr val="18537D"/>
                </a:solidFill>
              </a:rPr>
              <a:t>Programma2c'Invalida2on'</a:t>
            </a:r>
          </a:p>
          <a:p>
            <a:pPr marL="742950" lvl="1" indent="-285750">
              <a:lnSpc>
                <a:spcPct val="150000"/>
              </a:lnSpc>
              <a:buFont typeface="Arial" panose="020B0604020202020204" pitchFamily="34" charset="0"/>
              <a:buChar char="•"/>
            </a:pPr>
            <a:r>
              <a:rPr lang="en-US" dirty="0" err="1">
                <a:solidFill>
                  <a:srgbClr val="18537D"/>
                </a:solidFill>
              </a:rPr>
              <a:t>Industrydcompliant</a:t>
            </a:r>
            <a:r>
              <a:rPr lang="en-US" dirty="0">
                <a:solidFill>
                  <a:srgbClr val="18537D"/>
                </a:solidFill>
              </a:rPr>
              <a:t>,'</a:t>
            </a:r>
            <a:r>
              <a:rPr lang="en-US" dirty="0" err="1">
                <a:solidFill>
                  <a:srgbClr val="18537D"/>
                </a:solidFill>
              </a:rPr>
              <a:t>detailed'Access'Logs</a:t>
            </a:r>
            <a:r>
              <a:rPr lang="en-US" dirty="0">
                <a:solidFill>
                  <a:srgbClr val="18537D"/>
                </a:solidFill>
              </a:rPr>
              <a:t>'</a:t>
            </a:r>
          </a:p>
          <a:p>
            <a:pPr marL="742950" lvl="1" indent="-285750">
              <a:lnSpc>
                <a:spcPct val="150000"/>
              </a:lnSpc>
              <a:buFont typeface="Arial" panose="020B0604020202020204" pitchFamily="34" charset="0"/>
              <a:buChar char="•"/>
            </a:pPr>
            <a:r>
              <a:rPr lang="en-US" dirty="0" err="1">
                <a:solidFill>
                  <a:srgbClr val="18537D"/>
                </a:solidFill>
              </a:rPr>
              <a:t>AWS'Management'Console</a:t>
            </a:r>
            <a:r>
              <a:rPr lang="en-US" dirty="0">
                <a:solidFill>
                  <a:srgbClr val="18537D"/>
                </a:solidFill>
              </a:rPr>
              <a:t>'</a:t>
            </a:r>
          </a:p>
          <a:p>
            <a:pPr marL="742950" lvl="1" indent="-285750">
              <a:lnSpc>
                <a:spcPct val="150000"/>
              </a:lnSpc>
              <a:buFont typeface="Arial" panose="020B0604020202020204" pitchFamily="34" charset="0"/>
              <a:buChar char="•"/>
            </a:pPr>
            <a:r>
              <a:rPr lang="en-US" dirty="0" err="1">
                <a:solidFill>
                  <a:srgbClr val="18537D"/>
                </a:solidFill>
              </a:rPr>
              <a:t>Full'control'via'APIs</a:t>
            </a:r>
            <a:endParaRPr lang="en-US" dirty="0">
              <a:solidFill>
                <a:srgbClr val="18537D"/>
              </a:solidFill>
            </a:endParaRPr>
          </a:p>
        </p:txBody>
      </p:sp>
      <p:pic>
        <p:nvPicPr>
          <p:cNvPr id="1026" name="Picture 2">
            <a:extLst>
              <a:ext uri="{FF2B5EF4-FFF2-40B4-BE49-F238E27FC236}">
                <a16:creationId xmlns:a16="http://schemas.microsoft.com/office/drawing/2014/main" id="{07197A45-EC0B-44C0-9C97-5C7DDB37C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8020" y="3298785"/>
            <a:ext cx="6230586" cy="274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018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D275C4A2-6E65-4C02-97C8-7DA63F683117}"/>
              </a:ext>
            </a:extLst>
          </p:cNvPr>
          <p:cNvSpPr/>
          <p:nvPr/>
        </p:nvSpPr>
        <p:spPr>
          <a:xfrm>
            <a:off x="9501717" y="2212258"/>
            <a:ext cx="1426104" cy="3578932"/>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rgbClr val="18537D"/>
              </a:solidFill>
            </a:endParaRPr>
          </a:p>
        </p:txBody>
      </p:sp>
      <p:sp>
        <p:nvSpPr>
          <p:cNvPr id="2" name="Slide Number Placeholder 1">
            <a:extLst>
              <a:ext uri="{FF2B5EF4-FFF2-40B4-BE49-F238E27FC236}">
                <a16:creationId xmlns:a16="http://schemas.microsoft.com/office/drawing/2014/main" id="{CDDD1251-5895-4CC5-8C09-320067FD719B}"/>
              </a:ext>
            </a:extLst>
          </p:cNvPr>
          <p:cNvSpPr>
            <a:spLocks noGrp="1"/>
          </p:cNvSpPr>
          <p:nvPr>
            <p:ph type="sldNum" sz="quarter" idx="17"/>
          </p:nvPr>
        </p:nvSpPr>
        <p:spPr/>
        <p:txBody>
          <a:bodyPr/>
          <a:lstStyle/>
          <a:p>
            <a:fld id="{4F9AC08D-23A9-440E-BCB9-AA1E9877CC38}" type="slidenum">
              <a:rPr lang="en-US" smtClean="0"/>
              <a:pPr/>
              <a:t>29</a:t>
            </a:fld>
            <a:endParaRPr lang="en-US" dirty="0"/>
          </a:p>
        </p:txBody>
      </p:sp>
      <p:sp>
        <p:nvSpPr>
          <p:cNvPr id="3" name="Title 2">
            <a:extLst>
              <a:ext uri="{FF2B5EF4-FFF2-40B4-BE49-F238E27FC236}">
                <a16:creationId xmlns:a16="http://schemas.microsoft.com/office/drawing/2014/main" id="{591F0C38-B869-4689-BF68-BC3C8FC08B69}"/>
              </a:ext>
            </a:extLst>
          </p:cNvPr>
          <p:cNvSpPr>
            <a:spLocks noGrp="1"/>
          </p:cNvSpPr>
          <p:nvPr>
            <p:ph type="title"/>
          </p:nvPr>
        </p:nvSpPr>
        <p:spPr/>
        <p:txBody>
          <a:bodyPr/>
          <a:lstStyle/>
          <a:p>
            <a:r>
              <a:rPr lang="en-US" dirty="0">
                <a:solidFill>
                  <a:schemeClr val="bg1"/>
                </a:solidFill>
              </a:rPr>
              <a:t>Amazon </a:t>
            </a:r>
            <a:r>
              <a:rPr lang="en-US" dirty="0" err="1">
                <a:solidFill>
                  <a:schemeClr val="bg1"/>
                </a:solidFill>
              </a:rPr>
              <a:t>ElastiCache</a:t>
            </a:r>
            <a:r>
              <a:rPr lang="en-US" dirty="0">
                <a:solidFill>
                  <a:schemeClr val="bg1"/>
                </a:solidFill>
              </a:rPr>
              <a:t> </a:t>
            </a:r>
            <a:br>
              <a:rPr lang="en-US" dirty="0">
                <a:solidFill>
                  <a:schemeClr val="bg1"/>
                </a:solidFill>
              </a:rPr>
            </a:br>
            <a:endParaRPr lang="en-US" dirty="0">
              <a:solidFill>
                <a:schemeClr val="bg1"/>
              </a:solidFill>
            </a:endParaRPr>
          </a:p>
        </p:txBody>
      </p:sp>
      <p:sp>
        <p:nvSpPr>
          <p:cNvPr id="4" name="Footer Placeholder 3">
            <a:extLst>
              <a:ext uri="{FF2B5EF4-FFF2-40B4-BE49-F238E27FC236}">
                <a16:creationId xmlns:a16="http://schemas.microsoft.com/office/drawing/2014/main" id="{9DDAEEC5-1055-4BC1-A589-0AB1E5C050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B3F138E2-78AC-4809-B00B-C07436B41F12}"/>
              </a:ext>
            </a:extLst>
          </p:cNvPr>
          <p:cNvSpPr/>
          <p:nvPr/>
        </p:nvSpPr>
        <p:spPr>
          <a:xfrm>
            <a:off x="3089173" y="1015182"/>
            <a:ext cx="7863962" cy="646331"/>
          </a:xfrm>
          <a:prstGeom prst="rect">
            <a:avLst/>
          </a:prstGeom>
        </p:spPr>
        <p:txBody>
          <a:bodyPr wrap="square">
            <a:spAutoFit/>
          </a:bodyPr>
          <a:lstStyle/>
          <a:p>
            <a:pPr algn="ctr"/>
            <a:r>
              <a:rPr lang="en-US" b="1" dirty="0">
                <a:solidFill>
                  <a:srgbClr val="18537D"/>
                </a:solidFill>
              </a:rPr>
              <a:t>Easy to deploy, operate, and scale an in-memory cache in the cloud and support Memcached and Redis opensource in memory engine</a:t>
            </a:r>
          </a:p>
        </p:txBody>
      </p:sp>
      <p:sp>
        <p:nvSpPr>
          <p:cNvPr id="6" name="Rectangle 5">
            <a:extLst>
              <a:ext uri="{FF2B5EF4-FFF2-40B4-BE49-F238E27FC236}">
                <a16:creationId xmlns:a16="http://schemas.microsoft.com/office/drawing/2014/main" id="{BA184C30-8DA9-48C6-B13B-971E878A1B08}"/>
              </a:ext>
            </a:extLst>
          </p:cNvPr>
          <p:cNvSpPr/>
          <p:nvPr/>
        </p:nvSpPr>
        <p:spPr>
          <a:xfrm>
            <a:off x="6721276" y="3094131"/>
            <a:ext cx="1311785" cy="20313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dirty="0">
                <a:solidFill>
                  <a:schemeClr val="bg1"/>
                </a:solidFill>
              </a:rPr>
              <a:t>APPs</a:t>
            </a:r>
          </a:p>
          <a:p>
            <a:pPr algn="ctr"/>
            <a:endParaRPr lang="en-US" dirty="0">
              <a:solidFill>
                <a:schemeClr val="bg1"/>
              </a:solidFill>
            </a:endParaRPr>
          </a:p>
          <a:p>
            <a:pPr algn="ctr"/>
            <a:endParaRPr lang="en-US" dirty="0">
              <a:solidFill>
                <a:schemeClr val="bg1"/>
              </a:solidFill>
            </a:endParaRPr>
          </a:p>
          <a:p>
            <a:pPr algn="ctr"/>
            <a:r>
              <a:rPr lang="en-US" dirty="0">
                <a:solidFill>
                  <a:schemeClr val="bg1"/>
                </a:solidFill>
              </a:rPr>
              <a:t>EC2 Instances</a:t>
            </a:r>
          </a:p>
          <a:p>
            <a:pPr algn="ctr"/>
            <a:endParaRPr lang="en-US" dirty="0">
              <a:solidFill>
                <a:srgbClr val="18537D"/>
              </a:solidFill>
            </a:endParaRPr>
          </a:p>
          <a:p>
            <a:pPr algn="ctr"/>
            <a:endParaRPr lang="en-US" dirty="0">
              <a:solidFill>
                <a:srgbClr val="18537D"/>
              </a:solidFill>
            </a:endParaRPr>
          </a:p>
        </p:txBody>
      </p:sp>
      <p:sp>
        <p:nvSpPr>
          <p:cNvPr id="7" name="TextBox 6">
            <a:extLst>
              <a:ext uri="{FF2B5EF4-FFF2-40B4-BE49-F238E27FC236}">
                <a16:creationId xmlns:a16="http://schemas.microsoft.com/office/drawing/2014/main" id="{913F8B85-1547-4E29-8BFD-7128574E18ED}"/>
              </a:ext>
            </a:extLst>
          </p:cNvPr>
          <p:cNvSpPr txBox="1"/>
          <p:nvPr/>
        </p:nvSpPr>
        <p:spPr>
          <a:xfrm>
            <a:off x="9493219" y="2963390"/>
            <a:ext cx="1426104" cy="205121"/>
          </a:xfrm>
          <a:prstGeom prst="rect">
            <a:avLst/>
          </a:prstGeom>
          <a:noFill/>
        </p:spPr>
        <p:txBody>
          <a:bodyPr wrap="square" lIns="0" tIns="0" rIns="0" bIns="0" rtlCol="0">
            <a:spAutoFit/>
          </a:bodyPr>
          <a:lstStyle/>
          <a:p>
            <a:pPr algn="ctr" defTabSz="914377"/>
            <a:r>
              <a:rPr lang="en-US" sz="1333" dirty="0">
                <a:solidFill>
                  <a:srgbClr val="18537D"/>
                </a:solidFill>
                <a:latin typeface="Amazon Ember" panose="020B0603020204020204" pitchFamily="34" charset="0"/>
                <a:ea typeface="Amazon Ember" panose="020B0603020204020204" pitchFamily="34" charset="0"/>
                <a:cs typeface="Amazon Ember" panose="020B0603020204020204" pitchFamily="34" charset="0"/>
              </a:rPr>
              <a:t>ElastiCache</a:t>
            </a:r>
          </a:p>
        </p:txBody>
      </p:sp>
      <p:pic>
        <p:nvPicPr>
          <p:cNvPr id="9" name="Graphic 8" descr="Database">
            <a:extLst>
              <a:ext uri="{FF2B5EF4-FFF2-40B4-BE49-F238E27FC236}">
                <a16:creationId xmlns:a16="http://schemas.microsoft.com/office/drawing/2014/main" id="{944AC88E-C2BD-4E6A-A745-8DFB591B68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79958" y="3574057"/>
            <a:ext cx="914400" cy="914400"/>
          </a:xfrm>
          <a:prstGeom prst="rect">
            <a:avLst/>
          </a:prstGeom>
        </p:spPr>
      </p:pic>
      <p:sp>
        <p:nvSpPr>
          <p:cNvPr id="10" name="TextBox 9">
            <a:extLst>
              <a:ext uri="{FF2B5EF4-FFF2-40B4-BE49-F238E27FC236}">
                <a16:creationId xmlns:a16="http://schemas.microsoft.com/office/drawing/2014/main" id="{89CF64C4-FEC5-45C1-BC18-F2CD8364CF0D}"/>
              </a:ext>
            </a:extLst>
          </p:cNvPr>
          <p:cNvSpPr txBox="1"/>
          <p:nvPr/>
        </p:nvSpPr>
        <p:spPr>
          <a:xfrm>
            <a:off x="12524106" y="4488457"/>
            <a:ext cx="1426104" cy="205121"/>
          </a:xfrm>
          <a:prstGeom prst="rect">
            <a:avLst/>
          </a:prstGeom>
          <a:noFill/>
        </p:spPr>
        <p:txBody>
          <a:bodyPr wrap="square" lIns="0" tIns="0" rIns="0" bIns="0" rtlCol="0">
            <a:spAutoFit/>
          </a:bodyPr>
          <a:lstStyle/>
          <a:p>
            <a:pPr algn="ctr" defTabSz="914377"/>
            <a:r>
              <a:rPr lang="en-US" sz="1333" dirty="0">
                <a:solidFill>
                  <a:srgbClr val="18537D"/>
                </a:solidFill>
                <a:latin typeface="Amazon Ember" panose="020B0603020204020204" pitchFamily="34" charset="0"/>
                <a:ea typeface="Amazon Ember" panose="020B0603020204020204" pitchFamily="34" charset="0"/>
                <a:cs typeface="Amazon Ember" panose="020B0603020204020204" pitchFamily="34" charset="0"/>
              </a:rPr>
              <a:t>Database</a:t>
            </a:r>
          </a:p>
        </p:txBody>
      </p:sp>
      <p:pic>
        <p:nvPicPr>
          <p:cNvPr id="12" name="Graphic 11" descr="Document">
            <a:extLst>
              <a:ext uri="{FF2B5EF4-FFF2-40B4-BE49-F238E27FC236}">
                <a16:creationId xmlns:a16="http://schemas.microsoft.com/office/drawing/2014/main" id="{2FA5F07F-9751-4C4F-AC6C-3067B87DC2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83105" y="2317059"/>
            <a:ext cx="646331" cy="646331"/>
          </a:xfrm>
          <a:prstGeom prst="rect">
            <a:avLst/>
          </a:prstGeom>
        </p:spPr>
      </p:pic>
      <p:cxnSp>
        <p:nvCxnSpPr>
          <p:cNvPr id="13" name="Straight Arrow Connector 12">
            <a:extLst>
              <a:ext uri="{FF2B5EF4-FFF2-40B4-BE49-F238E27FC236}">
                <a16:creationId xmlns:a16="http://schemas.microsoft.com/office/drawing/2014/main" id="{D2CBF0A0-EEA9-4521-8546-35AC3335D195}"/>
              </a:ext>
            </a:extLst>
          </p:cNvPr>
          <p:cNvCxnSpPr>
            <a:cxnSpLocks/>
          </p:cNvCxnSpPr>
          <p:nvPr/>
        </p:nvCxnSpPr>
        <p:spPr>
          <a:xfrm flipV="1">
            <a:off x="8117792" y="4245216"/>
            <a:ext cx="4657793" cy="6412"/>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D277C457-A677-42AA-826D-93E4A0FFDF1C}"/>
              </a:ext>
            </a:extLst>
          </p:cNvPr>
          <p:cNvSpPr txBox="1"/>
          <p:nvPr/>
        </p:nvSpPr>
        <p:spPr>
          <a:xfrm>
            <a:off x="11068239" y="4265121"/>
            <a:ext cx="1707346" cy="584775"/>
          </a:xfrm>
          <a:prstGeom prst="rect">
            <a:avLst/>
          </a:prstGeom>
          <a:noFill/>
        </p:spPr>
        <p:txBody>
          <a:bodyPr wrap="square" rtlCol="0">
            <a:spAutoFit/>
          </a:bodyPr>
          <a:lstStyle/>
          <a:p>
            <a:pPr algn="ctr" defTabSz="914377"/>
            <a:r>
              <a:rPr lang="en-US" sz="1600" dirty="0">
                <a:solidFill>
                  <a:srgbClr val="18537D"/>
                </a:solidFill>
                <a:latin typeface="+mj-lt"/>
                <a:ea typeface="Amazon Ember" panose="020B0603020204020204" pitchFamily="34" charset="0"/>
                <a:cs typeface="Amazon Ember" panose="020B0603020204020204" pitchFamily="34" charset="0"/>
              </a:rPr>
              <a:t>Database Writes</a:t>
            </a:r>
          </a:p>
        </p:txBody>
      </p:sp>
      <p:sp>
        <p:nvSpPr>
          <p:cNvPr id="15" name="TextBox 14">
            <a:extLst>
              <a:ext uri="{FF2B5EF4-FFF2-40B4-BE49-F238E27FC236}">
                <a16:creationId xmlns:a16="http://schemas.microsoft.com/office/drawing/2014/main" id="{93831FFF-526A-4BD9-9DFC-EFC26C304796}"/>
              </a:ext>
            </a:extLst>
          </p:cNvPr>
          <p:cNvSpPr txBox="1"/>
          <p:nvPr/>
        </p:nvSpPr>
        <p:spPr>
          <a:xfrm>
            <a:off x="11068239" y="3446482"/>
            <a:ext cx="1707346" cy="584775"/>
          </a:xfrm>
          <a:prstGeom prst="rect">
            <a:avLst/>
          </a:prstGeom>
          <a:noFill/>
        </p:spPr>
        <p:txBody>
          <a:bodyPr wrap="square" rtlCol="0">
            <a:spAutoFit/>
          </a:bodyPr>
          <a:lstStyle/>
          <a:p>
            <a:pPr algn="ctr" defTabSz="914377"/>
            <a:r>
              <a:rPr lang="en-US" sz="1600" dirty="0">
                <a:solidFill>
                  <a:srgbClr val="18537D"/>
                </a:solidFill>
                <a:latin typeface="+mj-lt"/>
                <a:ea typeface="Amazon Ember" panose="020B0603020204020204" pitchFamily="34" charset="0"/>
                <a:cs typeface="Amazon Ember" panose="020B0603020204020204" pitchFamily="34" charset="0"/>
              </a:rPr>
              <a:t>Database Reads</a:t>
            </a:r>
          </a:p>
        </p:txBody>
      </p:sp>
      <p:cxnSp>
        <p:nvCxnSpPr>
          <p:cNvPr id="16" name="Straight Arrow Connector 15">
            <a:extLst>
              <a:ext uri="{FF2B5EF4-FFF2-40B4-BE49-F238E27FC236}">
                <a16:creationId xmlns:a16="http://schemas.microsoft.com/office/drawing/2014/main" id="{D1EF0F60-AB23-4246-98A4-7D652A862E2C}"/>
              </a:ext>
            </a:extLst>
          </p:cNvPr>
          <p:cNvCxnSpPr>
            <a:cxnSpLocks/>
          </p:cNvCxnSpPr>
          <p:nvPr/>
        </p:nvCxnSpPr>
        <p:spPr>
          <a:xfrm flipH="1" flipV="1">
            <a:off x="8117792" y="3990583"/>
            <a:ext cx="4645172" cy="15177"/>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a:extLst>
              <a:ext uri="{FF2B5EF4-FFF2-40B4-BE49-F238E27FC236}">
                <a16:creationId xmlns:a16="http://schemas.microsoft.com/office/drawing/2014/main" id="{24E19F5C-2B70-4A1E-8AC8-FB5AD5B24F23}"/>
              </a:ext>
            </a:extLst>
          </p:cNvPr>
          <p:cNvCxnSpPr>
            <a:cxnSpLocks/>
          </p:cNvCxnSpPr>
          <p:nvPr/>
        </p:nvCxnSpPr>
        <p:spPr>
          <a:xfrm flipH="1">
            <a:off x="8117792" y="2809570"/>
            <a:ext cx="1375427" cy="44198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9C2F6866-E8F1-4D87-BC45-E8EFCB06B3C4}"/>
              </a:ext>
            </a:extLst>
          </p:cNvPr>
          <p:cNvCxnSpPr/>
          <p:nvPr/>
        </p:nvCxnSpPr>
        <p:spPr>
          <a:xfrm flipV="1">
            <a:off x="8193701" y="3038882"/>
            <a:ext cx="1341697" cy="440624"/>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23" name="TextBox 22">
            <a:extLst>
              <a:ext uri="{FF2B5EF4-FFF2-40B4-BE49-F238E27FC236}">
                <a16:creationId xmlns:a16="http://schemas.microsoft.com/office/drawing/2014/main" id="{931E7AAF-E948-431B-BFB8-D0F98F756B2C}"/>
              </a:ext>
            </a:extLst>
          </p:cNvPr>
          <p:cNvSpPr txBox="1"/>
          <p:nvPr/>
        </p:nvSpPr>
        <p:spPr>
          <a:xfrm>
            <a:off x="8275026" y="2282131"/>
            <a:ext cx="836851" cy="584775"/>
          </a:xfrm>
          <a:prstGeom prst="rect">
            <a:avLst/>
          </a:prstGeom>
          <a:noFill/>
        </p:spPr>
        <p:txBody>
          <a:bodyPr wrap="square" rtlCol="0">
            <a:spAutoFit/>
          </a:bodyPr>
          <a:lstStyle/>
          <a:p>
            <a:pPr algn="ctr" defTabSz="914377"/>
            <a:r>
              <a:rPr lang="en-US" sz="1600" dirty="0">
                <a:solidFill>
                  <a:srgbClr val="18537D"/>
                </a:solidFill>
                <a:latin typeface="+mj-lt"/>
                <a:ea typeface="Amazon Ember" panose="020B0603020204020204" pitchFamily="34" charset="0"/>
                <a:cs typeface="Amazon Ember" panose="020B0603020204020204" pitchFamily="34" charset="0"/>
              </a:rPr>
              <a:t>App Reads</a:t>
            </a:r>
          </a:p>
        </p:txBody>
      </p:sp>
      <p:sp>
        <p:nvSpPr>
          <p:cNvPr id="24" name="TextBox 23">
            <a:extLst>
              <a:ext uri="{FF2B5EF4-FFF2-40B4-BE49-F238E27FC236}">
                <a16:creationId xmlns:a16="http://schemas.microsoft.com/office/drawing/2014/main" id="{FD20C57F-1973-4402-A2AA-3AFBD414BCA2}"/>
              </a:ext>
            </a:extLst>
          </p:cNvPr>
          <p:cNvSpPr txBox="1"/>
          <p:nvPr/>
        </p:nvSpPr>
        <p:spPr>
          <a:xfrm>
            <a:off x="8493451" y="3328679"/>
            <a:ext cx="1025720" cy="584775"/>
          </a:xfrm>
          <a:prstGeom prst="rect">
            <a:avLst/>
          </a:prstGeom>
          <a:noFill/>
        </p:spPr>
        <p:txBody>
          <a:bodyPr wrap="square" rtlCol="0">
            <a:spAutoFit/>
          </a:bodyPr>
          <a:lstStyle/>
          <a:p>
            <a:pPr defTabSz="914377"/>
            <a:r>
              <a:rPr lang="en-US" sz="1600" dirty="0">
                <a:solidFill>
                  <a:srgbClr val="18537D"/>
                </a:solidFill>
                <a:latin typeface="+mj-lt"/>
                <a:ea typeface="Amazon Ember" panose="020B0603020204020204" pitchFamily="34" charset="0"/>
                <a:cs typeface="Amazon Ember" panose="020B0603020204020204" pitchFamily="34" charset="0"/>
              </a:rPr>
              <a:t>Cache</a:t>
            </a:r>
          </a:p>
          <a:p>
            <a:pPr defTabSz="914377"/>
            <a:r>
              <a:rPr lang="en-US" sz="1600" dirty="0">
                <a:solidFill>
                  <a:srgbClr val="18537D"/>
                </a:solidFill>
                <a:latin typeface="+mj-lt"/>
                <a:ea typeface="Amazon Ember" panose="020B0603020204020204" pitchFamily="34" charset="0"/>
                <a:cs typeface="Amazon Ember" panose="020B0603020204020204" pitchFamily="34" charset="0"/>
              </a:rPr>
              <a:t>Updates</a:t>
            </a:r>
          </a:p>
        </p:txBody>
      </p:sp>
      <p:pic>
        <p:nvPicPr>
          <p:cNvPr id="29" name="Picture 28" descr="Internet.png">
            <a:extLst>
              <a:ext uri="{FF2B5EF4-FFF2-40B4-BE49-F238E27FC236}">
                <a16:creationId xmlns:a16="http://schemas.microsoft.com/office/drawing/2014/main" id="{022FA46F-7788-4FA8-AFCC-4815C601A7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0607" y="3409576"/>
            <a:ext cx="999106" cy="1243362"/>
          </a:xfrm>
          <a:prstGeom prst="rect">
            <a:avLst/>
          </a:prstGeom>
        </p:spPr>
      </p:pic>
      <p:cxnSp>
        <p:nvCxnSpPr>
          <p:cNvPr id="30" name="Straight Arrow Connector 29">
            <a:extLst>
              <a:ext uri="{FF2B5EF4-FFF2-40B4-BE49-F238E27FC236}">
                <a16:creationId xmlns:a16="http://schemas.microsoft.com/office/drawing/2014/main" id="{382C21CE-80B7-4F76-A21B-8F77CF882761}"/>
              </a:ext>
            </a:extLst>
          </p:cNvPr>
          <p:cNvCxnSpPr>
            <a:cxnSpLocks/>
          </p:cNvCxnSpPr>
          <p:nvPr/>
        </p:nvCxnSpPr>
        <p:spPr>
          <a:xfrm>
            <a:off x="5188710" y="4218403"/>
            <a:ext cx="1470837" cy="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AF24E6F5-D507-4D84-A1D9-57D95FA30894}"/>
              </a:ext>
            </a:extLst>
          </p:cNvPr>
          <p:cNvCxnSpPr>
            <a:cxnSpLocks/>
          </p:cNvCxnSpPr>
          <p:nvPr/>
        </p:nvCxnSpPr>
        <p:spPr>
          <a:xfrm flipH="1">
            <a:off x="5188710" y="3957358"/>
            <a:ext cx="1486288" cy="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38" name="TextBox 37">
            <a:extLst>
              <a:ext uri="{FF2B5EF4-FFF2-40B4-BE49-F238E27FC236}">
                <a16:creationId xmlns:a16="http://schemas.microsoft.com/office/drawing/2014/main" id="{3A3B6E71-323D-486B-AB3B-116475CB08A5}"/>
              </a:ext>
            </a:extLst>
          </p:cNvPr>
          <p:cNvSpPr txBox="1"/>
          <p:nvPr/>
        </p:nvSpPr>
        <p:spPr>
          <a:xfrm>
            <a:off x="5207798" y="3281669"/>
            <a:ext cx="1421688" cy="584775"/>
          </a:xfrm>
          <a:prstGeom prst="rect">
            <a:avLst/>
          </a:prstGeom>
          <a:noFill/>
        </p:spPr>
        <p:txBody>
          <a:bodyPr wrap="square" rtlCol="0">
            <a:spAutoFit/>
          </a:bodyPr>
          <a:lstStyle/>
          <a:p>
            <a:pPr algn="ctr" defTabSz="914377"/>
            <a:r>
              <a:rPr lang="en-US" sz="1600" dirty="0">
                <a:solidFill>
                  <a:srgbClr val="18537D"/>
                </a:solidFill>
                <a:latin typeface="+mj-lt"/>
                <a:ea typeface="Amazon Ember" panose="020B0603020204020204" pitchFamily="34" charset="0"/>
                <a:cs typeface="Amazon Ember" panose="020B0603020204020204" pitchFamily="34" charset="0"/>
              </a:rPr>
              <a:t>HTTP/HTTPS Request</a:t>
            </a:r>
          </a:p>
        </p:txBody>
      </p:sp>
      <p:sp>
        <p:nvSpPr>
          <p:cNvPr id="39" name="TextBox 38">
            <a:extLst>
              <a:ext uri="{FF2B5EF4-FFF2-40B4-BE49-F238E27FC236}">
                <a16:creationId xmlns:a16="http://schemas.microsoft.com/office/drawing/2014/main" id="{1E7CFD74-2F29-4BA2-BCA6-825A3B82CD79}"/>
              </a:ext>
            </a:extLst>
          </p:cNvPr>
          <p:cNvSpPr txBox="1"/>
          <p:nvPr/>
        </p:nvSpPr>
        <p:spPr>
          <a:xfrm>
            <a:off x="5282499" y="4250408"/>
            <a:ext cx="1421688" cy="584775"/>
          </a:xfrm>
          <a:prstGeom prst="rect">
            <a:avLst/>
          </a:prstGeom>
          <a:noFill/>
        </p:spPr>
        <p:txBody>
          <a:bodyPr wrap="square" rtlCol="0">
            <a:spAutoFit/>
          </a:bodyPr>
          <a:lstStyle/>
          <a:p>
            <a:pPr algn="ctr" defTabSz="914377"/>
            <a:r>
              <a:rPr lang="en-US" sz="1600" dirty="0">
                <a:solidFill>
                  <a:srgbClr val="18537D"/>
                </a:solidFill>
                <a:latin typeface="+mj-lt"/>
                <a:ea typeface="Amazon Ember" panose="020B0603020204020204" pitchFamily="34" charset="0"/>
                <a:cs typeface="Amazon Ember" panose="020B0603020204020204" pitchFamily="34" charset="0"/>
              </a:rPr>
              <a:t>HTTP/HTTPS Response</a:t>
            </a:r>
          </a:p>
        </p:txBody>
      </p:sp>
      <p:sp>
        <p:nvSpPr>
          <p:cNvPr id="41" name="Rectangle 40">
            <a:extLst>
              <a:ext uri="{FF2B5EF4-FFF2-40B4-BE49-F238E27FC236}">
                <a16:creationId xmlns:a16="http://schemas.microsoft.com/office/drawing/2014/main" id="{5CE4FA33-8486-4C4F-AC05-6B7031074922}"/>
              </a:ext>
            </a:extLst>
          </p:cNvPr>
          <p:cNvSpPr/>
          <p:nvPr/>
        </p:nvSpPr>
        <p:spPr>
          <a:xfrm>
            <a:off x="215937" y="2773837"/>
            <a:ext cx="3934670" cy="2539157"/>
          </a:xfrm>
          <a:prstGeom prst="rect">
            <a:avLst/>
          </a:prstGeom>
        </p:spPr>
        <p:txBody>
          <a:bodyPr wrap="square">
            <a:spAutoFit/>
          </a:bodyPr>
          <a:lstStyle/>
          <a:p>
            <a:pPr>
              <a:spcBef>
                <a:spcPts val="600"/>
              </a:spcBef>
            </a:pPr>
            <a:r>
              <a:rPr lang="en-US" b="1" dirty="0">
                <a:latin typeface="+mj-lt"/>
                <a:ea typeface="Amazon Ember" panose="020B0603020204020204" pitchFamily="34" charset="0"/>
                <a:cs typeface="Amazon Ember" panose="020B0603020204020204" pitchFamily="34" charset="0"/>
              </a:rPr>
              <a:t>Lazy Loading</a:t>
            </a:r>
            <a:r>
              <a:rPr lang="en-US" dirty="0">
                <a:latin typeface="+mj-lt"/>
                <a:ea typeface="Amazon Ember" panose="020B0603020204020204" pitchFamily="34" charset="0"/>
                <a:cs typeface="Amazon Ember" panose="020B0603020204020204" pitchFamily="34" charset="0"/>
              </a:rPr>
              <a:t>: Loads data into the cache only when necessary</a:t>
            </a:r>
          </a:p>
          <a:p>
            <a:pPr>
              <a:spcBef>
                <a:spcPts val="600"/>
              </a:spcBef>
            </a:pPr>
            <a:endParaRPr lang="en-US" dirty="0">
              <a:latin typeface="+mj-lt"/>
              <a:ea typeface="Amazon Ember" panose="020B0603020204020204" pitchFamily="34" charset="0"/>
              <a:cs typeface="Amazon Ember" panose="020B0603020204020204" pitchFamily="34" charset="0"/>
            </a:endParaRPr>
          </a:p>
          <a:p>
            <a:pPr>
              <a:spcBef>
                <a:spcPts val="600"/>
              </a:spcBef>
            </a:pPr>
            <a:r>
              <a:rPr lang="en-US" b="1" dirty="0">
                <a:latin typeface="+mj-lt"/>
                <a:ea typeface="Amazon Ember" panose="020B0603020204020204" pitchFamily="34" charset="0"/>
                <a:cs typeface="Amazon Ember" panose="020B0603020204020204" pitchFamily="34" charset="0"/>
              </a:rPr>
              <a:t>Write Through</a:t>
            </a:r>
            <a:r>
              <a:rPr lang="en-US" dirty="0">
                <a:latin typeface="+mj-lt"/>
                <a:ea typeface="Amazon Ember" panose="020B0603020204020204" pitchFamily="34" charset="0"/>
                <a:cs typeface="Amazon Ember" panose="020B0603020204020204" pitchFamily="34" charset="0"/>
              </a:rPr>
              <a:t>: Adds data or updates data in the cache whenever data is written to the database</a:t>
            </a:r>
          </a:p>
          <a:p>
            <a:pPr>
              <a:spcBef>
                <a:spcPts val="600"/>
              </a:spcBef>
            </a:pPr>
            <a:endParaRPr lang="en-US" dirty="0">
              <a:latin typeface="+mj-lt"/>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373147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AD687F-2135-4681-8E3D-BE1E2A5959E6}"/>
              </a:ext>
            </a:extLst>
          </p:cNvPr>
          <p:cNvSpPr>
            <a:spLocks noGrp="1"/>
          </p:cNvSpPr>
          <p:nvPr>
            <p:ph type="sldNum" sz="quarter" idx="17"/>
          </p:nvPr>
        </p:nvSpPr>
        <p:spPr/>
        <p:txBody>
          <a:bodyPr/>
          <a:lstStyle/>
          <a:p>
            <a:fld id="{4F9AC08D-23A9-440E-BCB9-AA1E9877CC38}" type="slidenum">
              <a:rPr lang="en-US" smtClean="0"/>
              <a:pPr/>
              <a:t>30</a:t>
            </a:fld>
            <a:endParaRPr lang="en-US" dirty="0"/>
          </a:p>
        </p:txBody>
      </p:sp>
      <p:sp>
        <p:nvSpPr>
          <p:cNvPr id="3" name="Title 2">
            <a:extLst>
              <a:ext uri="{FF2B5EF4-FFF2-40B4-BE49-F238E27FC236}">
                <a16:creationId xmlns:a16="http://schemas.microsoft.com/office/drawing/2014/main" id="{C3FC2401-D6CC-4907-8AB2-145EA2ADF0D7}"/>
              </a:ext>
            </a:extLst>
          </p:cNvPr>
          <p:cNvSpPr>
            <a:spLocks noGrp="1"/>
          </p:cNvSpPr>
          <p:nvPr>
            <p:ph type="title"/>
          </p:nvPr>
        </p:nvSpPr>
        <p:spPr/>
        <p:txBody>
          <a:bodyPr/>
          <a:lstStyle/>
          <a:p>
            <a:r>
              <a:rPr lang="en-US" dirty="0">
                <a:solidFill>
                  <a:schemeClr val="bg1"/>
                </a:solidFill>
                <a:ea typeface="Amazon Ember" panose="020B0603020204020204" pitchFamily="34" charset="0"/>
                <a:cs typeface="Amazon Ember" panose="020B0603020204020204" pitchFamily="34" charset="0"/>
              </a:rPr>
              <a:t>Amazon API Gateway</a:t>
            </a:r>
            <a:endParaRPr lang="en-US" dirty="0">
              <a:solidFill>
                <a:schemeClr val="bg1"/>
              </a:solidFill>
            </a:endParaRPr>
          </a:p>
        </p:txBody>
      </p:sp>
      <p:sp>
        <p:nvSpPr>
          <p:cNvPr id="4" name="Footer Placeholder 3">
            <a:extLst>
              <a:ext uri="{FF2B5EF4-FFF2-40B4-BE49-F238E27FC236}">
                <a16:creationId xmlns:a16="http://schemas.microsoft.com/office/drawing/2014/main" id="{715DBDAB-F6EC-438C-88D6-E80D07E7484D}"/>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4FC5276D-4262-498A-B25E-8D2A0438CC45}"/>
              </a:ext>
            </a:extLst>
          </p:cNvPr>
          <p:cNvSpPr/>
          <p:nvPr/>
        </p:nvSpPr>
        <p:spPr>
          <a:xfrm>
            <a:off x="365637" y="1197887"/>
            <a:ext cx="12013176" cy="3363806"/>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Allows you to create APIs that act as front doors for your applications to access data, business logic, or functionality from your backend services.</a:t>
            </a:r>
          </a:p>
          <a:p>
            <a:pPr marL="285750" indent="-285750">
              <a:lnSpc>
                <a:spcPct val="150000"/>
              </a:lnSpc>
              <a:buFont typeface="Arial" panose="020B0604020202020204" pitchFamily="34" charset="0"/>
              <a:buChar char="•"/>
            </a:pPr>
            <a:r>
              <a:rPr lang="en-US" dirty="0">
                <a:solidFill>
                  <a:srgbClr val="18537D"/>
                </a:solidFill>
              </a:rPr>
              <a:t>Fully manages and handles all tasks involved in accepting and processing up to hundreds of thousands of concurrent API calls.</a:t>
            </a:r>
          </a:p>
          <a:p>
            <a:pPr marL="285750" indent="-285750">
              <a:lnSpc>
                <a:spcPct val="150000"/>
              </a:lnSpc>
              <a:buFont typeface="Arial" panose="020B0604020202020204" pitchFamily="34" charset="0"/>
              <a:buChar char="•"/>
            </a:pPr>
            <a:r>
              <a:rPr lang="en-US" dirty="0">
                <a:solidFill>
                  <a:srgbClr val="18537D"/>
                </a:solidFill>
              </a:rPr>
              <a:t>Can handle workloads running on:</a:t>
            </a:r>
          </a:p>
          <a:p>
            <a:pPr marL="742950" lvl="1" indent="-285750">
              <a:lnSpc>
                <a:spcPct val="150000"/>
              </a:lnSpc>
              <a:buFont typeface="Arial" panose="020B0604020202020204" pitchFamily="34" charset="0"/>
              <a:buChar char="•"/>
            </a:pPr>
            <a:r>
              <a:rPr lang="en-US" dirty="0">
                <a:solidFill>
                  <a:srgbClr val="18537D"/>
                </a:solidFill>
              </a:rPr>
              <a:t>Amazon EC2</a:t>
            </a:r>
          </a:p>
          <a:p>
            <a:pPr marL="742950" lvl="1" indent="-285750">
              <a:lnSpc>
                <a:spcPct val="150000"/>
              </a:lnSpc>
              <a:buFont typeface="Arial" panose="020B0604020202020204" pitchFamily="34" charset="0"/>
              <a:buChar char="•"/>
            </a:pPr>
            <a:r>
              <a:rPr lang="en-US" dirty="0">
                <a:solidFill>
                  <a:srgbClr val="18537D"/>
                </a:solidFill>
              </a:rPr>
              <a:t>AWS Lambda</a:t>
            </a:r>
          </a:p>
          <a:p>
            <a:pPr marL="742950" lvl="1" indent="-285750">
              <a:lnSpc>
                <a:spcPct val="150000"/>
              </a:lnSpc>
              <a:buFont typeface="Arial" panose="020B0604020202020204" pitchFamily="34" charset="0"/>
              <a:buChar char="•"/>
            </a:pPr>
            <a:r>
              <a:rPr lang="en-US" dirty="0">
                <a:solidFill>
                  <a:srgbClr val="18537D"/>
                </a:solidFill>
              </a:rPr>
              <a:t>Any web application</a:t>
            </a:r>
          </a:p>
        </p:txBody>
      </p:sp>
      <p:cxnSp>
        <p:nvCxnSpPr>
          <p:cNvPr id="7" name="Straight Arrow Connector 6">
            <a:extLst>
              <a:ext uri="{FF2B5EF4-FFF2-40B4-BE49-F238E27FC236}">
                <a16:creationId xmlns:a16="http://schemas.microsoft.com/office/drawing/2014/main" id="{B0D1E94C-EE61-4CCC-A4A7-E31196E2D59E}"/>
              </a:ext>
            </a:extLst>
          </p:cNvPr>
          <p:cNvCxnSpPr>
            <a:cxnSpLocks/>
          </p:cNvCxnSpPr>
          <p:nvPr/>
        </p:nvCxnSpPr>
        <p:spPr>
          <a:xfrm>
            <a:off x="5198542" y="4542007"/>
            <a:ext cx="1470837" cy="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8" name="Straight Arrow Connector 7">
            <a:extLst>
              <a:ext uri="{FF2B5EF4-FFF2-40B4-BE49-F238E27FC236}">
                <a16:creationId xmlns:a16="http://schemas.microsoft.com/office/drawing/2014/main" id="{B46B46F8-5274-4AD8-9C4C-E28EDF3AE0C9}"/>
              </a:ext>
            </a:extLst>
          </p:cNvPr>
          <p:cNvCxnSpPr>
            <a:cxnSpLocks/>
          </p:cNvCxnSpPr>
          <p:nvPr/>
        </p:nvCxnSpPr>
        <p:spPr>
          <a:xfrm flipH="1">
            <a:off x="5198542" y="4731947"/>
            <a:ext cx="1486288" cy="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A958E673-A019-4BF7-AE08-FB569CE5C314}"/>
              </a:ext>
            </a:extLst>
          </p:cNvPr>
          <p:cNvSpPr txBox="1"/>
          <p:nvPr/>
        </p:nvSpPr>
        <p:spPr>
          <a:xfrm>
            <a:off x="5259656" y="4167187"/>
            <a:ext cx="1421688" cy="338554"/>
          </a:xfrm>
          <a:prstGeom prst="rect">
            <a:avLst/>
          </a:prstGeom>
          <a:noFill/>
        </p:spPr>
        <p:txBody>
          <a:bodyPr wrap="square" rtlCol="0">
            <a:spAutoFit/>
          </a:bodyPr>
          <a:lstStyle/>
          <a:p>
            <a:pPr algn="ctr" defTabSz="914377"/>
            <a:r>
              <a:rPr lang="en-US" sz="1600" dirty="0">
                <a:solidFill>
                  <a:srgbClr val="18537D"/>
                </a:solidFill>
                <a:latin typeface="+mj-lt"/>
                <a:ea typeface="Amazon Ember" panose="020B0603020204020204" pitchFamily="34" charset="0"/>
                <a:cs typeface="Amazon Ember" panose="020B0603020204020204" pitchFamily="34" charset="0"/>
              </a:rPr>
              <a:t>REST</a:t>
            </a:r>
          </a:p>
        </p:txBody>
      </p:sp>
      <p:pic>
        <p:nvPicPr>
          <p:cNvPr id="11" name="Picture 10" descr="Internet.png">
            <a:extLst>
              <a:ext uri="{FF2B5EF4-FFF2-40B4-BE49-F238E27FC236}">
                <a16:creationId xmlns:a16="http://schemas.microsoft.com/office/drawing/2014/main" id="{DBEC498B-AC68-4430-AEB1-C9770561B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0441" y="3837530"/>
            <a:ext cx="999106" cy="1243362"/>
          </a:xfrm>
          <a:prstGeom prst="rect">
            <a:avLst/>
          </a:prstGeom>
        </p:spPr>
      </p:pic>
      <p:sp>
        <p:nvSpPr>
          <p:cNvPr id="12" name="Rectangle: Rounded Corners 11">
            <a:extLst>
              <a:ext uri="{FF2B5EF4-FFF2-40B4-BE49-F238E27FC236}">
                <a16:creationId xmlns:a16="http://schemas.microsoft.com/office/drawing/2014/main" id="{6C85FE5D-343B-4CEE-AAEF-0A6F58EB452B}"/>
              </a:ext>
            </a:extLst>
          </p:cNvPr>
          <p:cNvSpPr/>
          <p:nvPr/>
        </p:nvSpPr>
        <p:spPr>
          <a:xfrm>
            <a:off x="7515204" y="2879790"/>
            <a:ext cx="6075001" cy="3578932"/>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dirty="0">
                <a:solidFill>
                  <a:srgbClr val="18537D"/>
                </a:solidFill>
              </a:rPr>
              <a:t>AWS Resources</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rgbClr val="18537D"/>
              </a:solidFill>
            </a:endParaRPr>
          </a:p>
        </p:txBody>
      </p:sp>
      <p:sp>
        <p:nvSpPr>
          <p:cNvPr id="6" name="Rectangle 5">
            <a:extLst>
              <a:ext uri="{FF2B5EF4-FFF2-40B4-BE49-F238E27FC236}">
                <a16:creationId xmlns:a16="http://schemas.microsoft.com/office/drawing/2014/main" id="{9865E8F7-23BE-4A97-9F20-2AF9D95E4DA2}"/>
              </a:ext>
            </a:extLst>
          </p:cNvPr>
          <p:cNvSpPr/>
          <p:nvPr/>
        </p:nvSpPr>
        <p:spPr>
          <a:xfrm>
            <a:off x="6843825" y="4238527"/>
            <a:ext cx="1311785"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dirty="0">
                <a:solidFill>
                  <a:schemeClr val="bg1"/>
                </a:solidFill>
              </a:rPr>
              <a:t>API Gateway</a:t>
            </a:r>
            <a:endParaRPr lang="en-US" dirty="0">
              <a:solidFill>
                <a:srgbClr val="18537D"/>
              </a:solidFill>
            </a:endParaRPr>
          </a:p>
        </p:txBody>
      </p:sp>
      <p:sp>
        <p:nvSpPr>
          <p:cNvPr id="14" name="Rectangle 13">
            <a:extLst>
              <a:ext uri="{FF2B5EF4-FFF2-40B4-BE49-F238E27FC236}">
                <a16:creationId xmlns:a16="http://schemas.microsoft.com/office/drawing/2014/main" id="{C2929B09-F700-4E66-B1CE-FFEC6467ECA5}"/>
              </a:ext>
            </a:extLst>
          </p:cNvPr>
          <p:cNvSpPr/>
          <p:nvPr/>
        </p:nvSpPr>
        <p:spPr>
          <a:xfrm>
            <a:off x="9420887" y="4238527"/>
            <a:ext cx="1692648" cy="120032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dirty="0">
                <a:solidFill>
                  <a:schemeClr val="bg1"/>
                </a:solidFill>
              </a:rPr>
              <a:t>Compute Resources (EC2 or Lambda) </a:t>
            </a:r>
            <a:endParaRPr lang="en-US" dirty="0">
              <a:solidFill>
                <a:srgbClr val="18537D"/>
              </a:solidFill>
            </a:endParaRPr>
          </a:p>
        </p:txBody>
      </p:sp>
      <p:sp>
        <p:nvSpPr>
          <p:cNvPr id="15" name="Rectangle 14">
            <a:extLst>
              <a:ext uri="{FF2B5EF4-FFF2-40B4-BE49-F238E27FC236}">
                <a16:creationId xmlns:a16="http://schemas.microsoft.com/office/drawing/2014/main" id="{01087EF8-0172-475A-89F9-11B8B86CB485}"/>
              </a:ext>
            </a:extLst>
          </p:cNvPr>
          <p:cNvSpPr/>
          <p:nvPr/>
        </p:nvSpPr>
        <p:spPr>
          <a:xfrm>
            <a:off x="12059723" y="3599656"/>
            <a:ext cx="861775"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dirty="0">
                <a:solidFill>
                  <a:schemeClr val="bg1"/>
                </a:solidFill>
              </a:rPr>
              <a:t>S3</a:t>
            </a:r>
            <a:endParaRPr lang="en-US" dirty="0">
              <a:solidFill>
                <a:srgbClr val="18537D"/>
              </a:solidFill>
            </a:endParaRPr>
          </a:p>
        </p:txBody>
      </p:sp>
      <p:sp>
        <p:nvSpPr>
          <p:cNvPr id="16" name="Rectangle 15">
            <a:extLst>
              <a:ext uri="{FF2B5EF4-FFF2-40B4-BE49-F238E27FC236}">
                <a16:creationId xmlns:a16="http://schemas.microsoft.com/office/drawing/2014/main" id="{95E388FE-8C30-4F19-AB80-022D91C8D137}"/>
              </a:ext>
            </a:extLst>
          </p:cNvPr>
          <p:cNvSpPr/>
          <p:nvPr/>
        </p:nvSpPr>
        <p:spPr>
          <a:xfrm>
            <a:off x="12003539" y="4554321"/>
            <a:ext cx="974143"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dirty="0">
                <a:solidFill>
                  <a:schemeClr val="bg1"/>
                </a:solidFill>
              </a:rPr>
              <a:t>RDS</a:t>
            </a:r>
            <a:endParaRPr lang="en-US" dirty="0">
              <a:solidFill>
                <a:srgbClr val="18537D"/>
              </a:solidFill>
            </a:endParaRPr>
          </a:p>
        </p:txBody>
      </p:sp>
      <p:sp>
        <p:nvSpPr>
          <p:cNvPr id="17" name="Rectangle 16">
            <a:extLst>
              <a:ext uri="{FF2B5EF4-FFF2-40B4-BE49-F238E27FC236}">
                <a16:creationId xmlns:a16="http://schemas.microsoft.com/office/drawing/2014/main" id="{D9C0B344-C94E-4E3D-979D-67E3F7B23582}"/>
              </a:ext>
            </a:extLst>
          </p:cNvPr>
          <p:cNvSpPr/>
          <p:nvPr/>
        </p:nvSpPr>
        <p:spPr>
          <a:xfrm>
            <a:off x="11798709" y="5457938"/>
            <a:ext cx="1426427" cy="3693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dirty="0" err="1">
                <a:solidFill>
                  <a:schemeClr val="bg1"/>
                </a:solidFill>
              </a:rPr>
              <a:t>DyanmoDB</a:t>
            </a:r>
            <a:endParaRPr lang="en-US" dirty="0">
              <a:solidFill>
                <a:srgbClr val="18537D"/>
              </a:solidFill>
            </a:endParaRPr>
          </a:p>
        </p:txBody>
      </p:sp>
      <p:cxnSp>
        <p:nvCxnSpPr>
          <p:cNvPr id="18" name="Straight Arrow Connector 17">
            <a:extLst>
              <a:ext uri="{FF2B5EF4-FFF2-40B4-BE49-F238E27FC236}">
                <a16:creationId xmlns:a16="http://schemas.microsoft.com/office/drawing/2014/main" id="{972D0A44-494E-42BA-A4A3-43A9B81A218B}"/>
              </a:ext>
            </a:extLst>
          </p:cNvPr>
          <p:cNvCxnSpPr>
            <a:cxnSpLocks/>
          </p:cNvCxnSpPr>
          <p:nvPr/>
        </p:nvCxnSpPr>
        <p:spPr>
          <a:xfrm flipV="1">
            <a:off x="11285784" y="3968988"/>
            <a:ext cx="611248" cy="477609"/>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6AE0EC49-5A1B-4420-8803-D0D7A23712B1}"/>
              </a:ext>
            </a:extLst>
          </p:cNvPr>
          <p:cNvCxnSpPr>
            <a:cxnSpLocks/>
          </p:cNvCxnSpPr>
          <p:nvPr/>
        </p:nvCxnSpPr>
        <p:spPr>
          <a:xfrm flipH="1">
            <a:off x="8318091" y="4670668"/>
            <a:ext cx="934064" cy="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28" name="TextBox 27">
            <a:extLst>
              <a:ext uri="{FF2B5EF4-FFF2-40B4-BE49-F238E27FC236}">
                <a16:creationId xmlns:a16="http://schemas.microsoft.com/office/drawing/2014/main" id="{6EDF25D1-57C9-4AA8-87AC-F88E74B6D8D1}"/>
              </a:ext>
            </a:extLst>
          </p:cNvPr>
          <p:cNvSpPr txBox="1"/>
          <p:nvPr/>
        </p:nvSpPr>
        <p:spPr>
          <a:xfrm>
            <a:off x="8077405" y="3895953"/>
            <a:ext cx="1421688" cy="523220"/>
          </a:xfrm>
          <a:prstGeom prst="rect">
            <a:avLst/>
          </a:prstGeom>
          <a:noFill/>
        </p:spPr>
        <p:txBody>
          <a:bodyPr wrap="square" rtlCol="0">
            <a:spAutoFit/>
          </a:bodyPr>
          <a:lstStyle/>
          <a:p>
            <a:pPr algn="ctr" defTabSz="914377"/>
            <a:r>
              <a:rPr lang="en-US" sz="1400" dirty="0">
                <a:solidFill>
                  <a:srgbClr val="18537D"/>
                </a:solidFill>
                <a:latin typeface="+mj-lt"/>
                <a:ea typeface="Amazon Ember" panose="020B0603020204020204" pitchFamily="34" charset="0"/>
                <a:cs typeface="Amazon Ember" panose="020B0603020204020204" pitchFamily="34" charset="0"/>
              </a:rPr>
              <a:t>HTTP</a:t>
            </a:r>
          </a:p>
          <a:p>
            <a:pPr algn="ctr" defTabSz="914377"/>
            <a:r>
              <a:rPr lang="en-US" sz="1400" dirty="0">
                <a:solidFill>
                  <a:srgbClr val="18537D"/>
                </a:solidFill>
                <a:latin typeface="+mj-lt"/>
                <a:ea typeface="Amazon Ember" panose="020B0603020204020204" pitchFamily="34" charset="0"/>
                <a:cs typeface="Amazon Ember" panose="020B0603020204020204" pitchFamily="34" charset="0"/>
              </a:rPr>
              <a:t>methods</a:t>
            </a:r>
          </a:p>
        </p:txBody>
      </p:sp>
      <p:cxnSp>
        <p:nvCxnSpPr>
          <p:cNvPr id="30" name="Straight Arrow Connector 29">
            <a:extLst>
              <a:ext uri="{FF2B5EF4-FFF2-40B4-BE49-F238E27FC236}">
                <a16:creationId xmlns:a16="http://schemas.microsoft.com/office/drawing/2014/main" id="{4F97DC11-D9E9-4467-8DB8-4EAAB2BC4AFE}"/>
              </a:ext>
            </a:extLst>
          </p:cNvPr>
          <p:cNvCxnSpPr>
            <a:cxnSpLocks/>
          </p:cNvCxnSpPr>
          <p:nvPr/>
        </p:nvCxnSpPr>
        <p:spPr>
          <a:xfrm>
            <a:off x="11280347" y="4558007"/>
            <a:ext cx="694403" cy="17394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34" name="Straight Arrow Connector 33">
            <a:extLst>
              <a:ext uri="{FF2B5EF4-FFF2-40B4-BE49-F238E27FC236}">
                <a16:creationId xmlns:a16="http://schemas.microsoft.com/office/drawing/2014/main" id="{7F3946DE-C228-44CC-A97B-1B264E7803C9}"/>
              </a:ext>
            </a:extLst>
          </p:cNvPr>
          <p:cNvCxnSpPr>
            <a:cxnSpLocks/>
          </p:cNvCxnSpPr>
          <p:nvPr/>
        </p:nvCxnSpPr>
        <p:spPr>
          <a:xfrm>
            <a:off x="11252992" y="4761830"/>
            <a:ext cx="545717" cy="57628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36" name="Straight Arrow Connector 35">
            <a:extLst>
              <a:ext uri="{FF2B5EF4-FFF2-40B4-BE49-F238E27FC236}">
                <a16:creationId xmlns:a16="http://schemas.microsoft.com/office/drawing/2014/main" id="{A86A3AB2-B6ED-477D-AE71-D49BD7CD2EE3}"/>
              </a:ext>
            </a:extLst>
          </p:cNvPr>
          <p:cNvCxnSpPr>
            <a:cxnSpLocks/>
          </p:cNvCxnSpPr>
          <p:nvPr/>
        </p:nvCxnSpPr>
        <p:spPr>
          <a:xfrm>
            <a:off x="8318091" y="4487503"/>
            <a:ext cx="955480" cy="0"/>
          </a:xfrm>
          <a:prstGeom prst="straightConnector1">
            <a:avLst/>
          </a:prstGeom>
          <a:ln w="12700">
            <a:solidFill>
              <a:schemeClr val="tx1"/>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6264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800" b="0" i="0" u="none" strike="noStrike" kern="1200" cap="none" spc="0" normalizeH="0" baseline="0" noProof="0" smtClean="0">
                <a:ln>
                  <a:noFill/>
                </a:ln>
                <a:solidFill>
                  <a:prstClr val="black"/>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50008" y="399965"/>
            <a:ext cx="13500200" cy="1359871"/>
          </a:xfrm>
        </p:spPr>
        <p:txBody>
          <a:bodyPr/>
          <a:lstStyle/>
          <a:p>
            <a:r>
              <a:rPr lang="en-IN" sz="3307" dirty="0">
                <a:solidFill>
                  <a:schemeClr val="bg1"/>
                </a:solidFill>
                <a:latin typeface="Graphik Black" panose="020B0A03030202060203" pitchFamily="34" charset="0"/>
                <a:ea typeface="+mn-ea"/>
                <a:cs typeface="+mn-cs"/>
              </a:rPr>
              <a:t>SIMPLE NOTIFICATION SERVICE </a:t>
            </a:r>
          </a:p>
        </p:txBody>
      </p:sp>
      <p:sp>
        <p:nvSpPr>
          <p:cNvPr id="8" name="TextBox 7">
            <a:extLst>
              <a:ext uri="{FF2B5EF4-FFF2-40B4-BE49-F238E27FC236}">
                <a16:creationId xmlns:a16="http://schemas.microsoft.com/office/drawing/2014/main" id="{2E26210D-6753-494D-BCB7-473DB5481624}"/>
              </a:ext>
            </a:extLst>
          </p:cNvPr>
          <p:cNvSpPr txBox="1"/>
          <p:nvPr/>
        </p:nvSpPr>
        <p:spPr>
          <a:xfrm>
            <a:off x="267629" y="1159728"/>
            <a:ext cx="13171309" cy="1831271"/>
          </a:xfrm>
          <a:prstGeom prst="rect">
            <a:avLst/>
          </a:prstGeom>
          <a:noFill/>
        </p:spPr>
        <p:txBody>
          <a:bodyPr wrap="square" lIns="0" tIns="0" rIns="0" bIns="45720"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Graphik"/>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dirty="0">
                <a:solidFill>
                  <a:srgbClr val="18537D"/>
                </a:solidFill>
              </a:rPr>
              <a:t>Producer and consumer interacts asynchronously with subscribers by producing and sending a message to a topic.</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dirty="0">
              <a:solidFill>
                <a:srgbClr val="18537D"/>
              </a:solidFil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dirty="0">
                <a:solidFill>
                  <a:srgbClr val="18537D"/>
                </a:solidFill>
              </a:rPr>
              <a:t>SNS can be easily managed from AWS CLI, Console ,AWS SDK libraries tools, and AWS tools for Windows PowerShell .</a:t>
            </a:r>
          </a:p>
          <a:p>
            <a:pPr marR="0" lvl="0" algn="l" defTabSz="914400" rtl="0" eaLnBrk="1" fontAlgn="auto" latinLnBrk="0" hangingPunct="1">
              <a:lnSpc>
                <a:spcPct val="100000"/>
              </a:lnSpc>
              <a:spcBef>
                <a:spcPts val="0"/>
              </a:spcBef>
              <a:spcAft>
                <a:spcPts val="0"/>
              </a:spcAft>
              <a:buClrTx/>
              <a:buSzTx/>
              <a:tabLst/>
              <a:defRPr/>
            </a:pPr>
            <a:endParaRPr kumimoji="0" lang="en-IN" sz="2400" b="0" i="0" u="none" strike="noStrike" kern="1200" cap="none" spc="0" normalizeH="0" baseline="0" noProof="0" dirty="0">
              <a:ln>
                <a:noFill/>
              </a:ln>
              <a:solidFill>
                <a:prstClr val="black"/>
              </a:solidFill>
              <a:effectLst/>
              <a:uLnTx/>
              <a:uFillTx/>
              <a:latin typeface="Graphik"/>
              <a:ea typeface="+mn-ea"/>
              <a:cs typeface="+mn-cs"/>
            </a:endParaRPr>
          </a:p>
        </p:txBody>
      </p:sp>
      <p:sp>
        <p:nvSpPr>
          <p:cNvPr id="2" name="Rectangle 1">
            <a:extLst>
              <a:ext uri="{FF2B5EF4-FFF2-40B4-BE49-F238E27FC236}">
                <a16:creationId xmlns:a16="http://schemas.microsoft.com/office/drawing/2014/main" id="{0A22E503-1A0E-4F89-BE5F-DBAC680C6E04}"/>
              </a:ext>
            </a:extLst>
          </p:cNvPr>
          <p:cNvSpPr/>
          <p:nvPr/>
        </p:nvSpPr>
        <p:spPr>
          <a:xfrm>
            <a:off x="671828" y="4241400"/>
            <a:ext cx="2291379" cy="13598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Publisher</a:t>
            </a:r>
          </a:p>
        </p:txBody>
      </p:sp>
      <p:sp>
        <p:nvSpPr>
          <p:cNvPr id="4" name="Arrow: Right 3">
            <a:extLst>
              <a:ext uri="{FF2B5EF4-FFF2-40B4-BE49-F238E27FC236}">
                <a16:creationId xmlns:a16="http://schemas.microsoft.com/office/drawing/2014/main" id="{D8CC7FC7-8D79-4237-B76F-6FEA61489749}"/>
              </a:ext>
            </a:extLst>
          </p:cNvPr>
          <p:cNvSpPr/>
          <p:nvPr/>
        </p:nvSpPr>
        <p:spPr>
          <a:xfrm>
            <a:off x="2942411" y="4606682"/>
            <a:ext cx="1681732" cy="3765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17629BC-49B5-464C-96AC-CD3B003B6A3E}"/>
              </a:ext>
            </a:extLst>
          </p:cNvPr>
          <p:cNvSpPr/>
          <p:nvPr/>
        </p:nvSpPr>
        <p:spPr>
          <a:xfrm>
            <a:off x="4661145" y="4267160"/>
            <a:ext cx="1183341" cy="3119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35C24CD2-864C-471A-8140-A5E3AFC05886}"/>
              </a:ext>
            </a:extLst>
          </p:cNvPr>
          <p:cNvPicPr>
            <a:picLocks noChangeAspect="1"/>
          </p:cNvPicPr>
          <p:nvPr/>
        </p:nvPicPr>
        <p:blipFill>
          <a:blip r:embed="rId2"/>
          <a:stretch>
            <a:fillRect/>
          </a:stretch>
        </p:blipFill>
        <p:spPr>
          <a:xfrm>
            <a:off x="4661145" y="4656472"/>
            <a:ext cx="1201016" cy="323116"/>
          </a:xfrm>
          <a:prstGeom prst="rect">
            <a:avLst/>
          </a:prstGeom>
        </p:spPr>
      </p:pic>
      <p:pic>
        <p:nvPicPr>
          <p:cNvPr id="15" name="Picture 14">
            <a:extLst>
              <a:ext uri="{FF2B5EF4-FFF2-40B4-BE49-F238E27FC236}">
                <a16:creationId xmlns:a16="http://schemas.microsoft.com/office/drawing/2014/main" id="{DB83F206-5BC8-4A29-9FD7-8E68247147F4}"/>
              </a:ext>
            </a:extLst>
          </p:cNvPr>
          <p:cNvPicPr>
            <a:picLocks noChangeAspect="1"/>
          </p:cNvPicPr>
          <p:nvPr/>
        </p:nvPicPr>
        <p:blipFill>
          <a:blip r:embed="rId2"/>
          <a:stretch>
            <a:fillRect/>
          </a:stretch>
        </p:blipFill>
        <p:spPr>
          <a:xfrm>
            <a:off x="4661145" y="5060526"/>
            <a:ext cx="1201016" cy="323116"/>
          </a:xfrm>
          <a:prstGeom prst="rect">
            <a:avLst/>
          </a:prstGeom>
        </p:spPr>
      </p:pic>
      <p:pic>
        <p:nvPicPr>
          <p:cNvPr id="16" name="Picture 15">
            <a:extLst>
              <a:ext uri="{FF2B5EF4-FFF2-40B4-BE49-F238E27FC236}">
                <a16:creationId xmlns:a16="http://schemas.microsoft.com/office/drawing/2014/main" id="{7133239F-2C03-4570-A80C-5E23DFE0EBBA}"/>
              </a:ext>
            </a:extLst>
          </p:cNvPr>
          <p:cNvPicPr>
            <a:picLocks noChangeAspect="1"/>
          </p:cNvPicPr>
          <p:nvPr/>
        </p:nvPicPr>
        <p:blipFill>
          <a:blip r:embed="rId3"/>
          <a:stretch>
            <a:fillRect/>
          </a:stretch>
        </p:blipFill>
        <p:spPr>
          <a:xfrm>
            <a:off x="5844486" y="4611590"/>
            <a:ext cx="1694835" cy="408467"/>
          </a:xfrm>
          <a:prstGeom prst="rect">
            <a:avLst/>
          </a:prstGeom>
        </p:spPr>
      </p:pic>
      <p:sp>
        <p:nvSpPr>
          <p:cNvPr id="17" name="TextBox 16">
            <a:extLst>
              <a:ext uri="{FF2B5EF4-FFF2-40B4-BE49-F238E27FC236}">
                <a16:creationId xmlns:a16="http://schemas.microsoft.com/office/drawing/2014/main" id="{8B01BABF-2F68-4476-9254-1E4908B04924}"/>
              </a:ext>
            </a:extLst>
          </p:cNvPr>
          <p:cNvSpPr txBox="1"/>
          <p:nvPr/>
        </p:nvSpPr>
        <p:spPr>
          <a:xfrm>
            <a:off x="4363537" y="5588498"/>
            <a:ext cx="1963679" cy="292388"/>
          </a:xfrm>
          <a:prstGeom prst="rect">
            <a:avLst/>
          </a:prstGeom>
          <a:noFill/>
        </p:spPr>
        <p:txBody>
          <a:bodyPr wrap="none" lIns="0" tIns="0" rIns="0" bIns="45720" rtlCol="0">
            <a:spAutoFit/>
          </a:bodyPr>
          <a:lstStyle/>
          <a:p>
            <a:r>
              <a:rPr lang="en-US" sz="1600" dirty="0"/>
              <a:t>Multiple SNS Topics</a:t>
            </a:r>
          </a:p>
        </p:txBody>
      </p:sp>
      <p:graphicFrame>
        <p:nvGraphicFramePr>
          <p:cNvPr id="18" name="Table 18">
            <a:extLst>
              <a:ext uri="{FF2B5EF4-FFF2-40B4-BE49-F238E27FC236}">
                <a16:creationId xmlns:a16="http://schemas.microsoft.com/office/drawing/2014/main" id="{0B3E9AEF-4104-40A5-8493-B08D9DF9AAEF}"/>
              </a:ext>
            </a:extLst>
          </p:cNvPr>
          <p:cNvGraphicFramePr>
            <a:graphicFrameLocks noGrp="1"/>
          </p:cNvGraphicFramePr>
          <p:nvPr/>
        </p:nvGraphicFramePr>
        <p:xfrm>
          <a:off x="7560099" y="3309879"/>
          <a:ext cx="3981413" cy="2477600"/>
        </p:xfrm>
        <a:graphic>
          <a:graphicData uri="http://schemas.openxmlformats.org/drawingml/2006/table">
            <a:tbl>
              <a:tblPr firstRow="1" bandRow="1">
                <a:tableStyleId>{5C22544A-7EE6-4342-B048-85BDC9FD1C3A}</a:tableStyleId>
              </a:tblPr>
              <a:tblGrid>
                <a:gridCol w="3981413">
                  <a:extLst>
                    <a:ext uri="{9D8B030D-6E8A-4147-A177-3AD203B41FA5}">
                      <a16:colId xmlns:a16="http://schemas.microsoft.com/office/drawing/2014/main" val="2577737319"/>
                    </a:ext>
                  </a:extLst>
                </a:gridCol>
              </a:tblGrid>
              <a:tr h="495520">
                <a:tc>
                  <a:txBody>
                    <a:bodyPr/>
                    <a:lstStyle/>
                    <a:p>
                      <a:r>
                        <a:rPr lang="en-US" dirty="0"/>
                        <a:t>Lambda</a:t>
                      </a:r>
                    </a:p>
                  </a:txBody>
                  <a:tcPr/>
                </a:tc>
                <a:extLst>
                  <a:ext uri="{0D108BD9-81ED-4DB2-BD59-A6C34878D82A}">
                    <a16:rowId xmlns:a16="http://schemas.microsoft.com/office/drawing/2014/main" val="2478701376"/>
                  </a:ext>
                </a:extLst>
              </a:tr>
              <a:tr h="495520">
                <a:tc>
                  <a:txBody>
                    <a:bodyPr/>
                    <a:lstStyle/>
                    <a:p>
                      <a:r>
                        <a:rPr lang="en-US" dirty="0"/>
                        <a:t>SQS</a:t>
                      </a:r>
                    </a:p>
                  </a:txBody>
                  <a:tcPr/>
                </a:tc>
                <a:extLst>
                  <a:ext uri="{0D108BD9-81ED-4DB2-BD59-A6C34878D82A}">
                    <a16:rowId xmlns:a16="http://schemas.microsoft.com/office/drawing/2014/main" val="2145480889"/>
                  </a:ext>
                </a:extLst>
              </a:tr>
              <a:tr h="495520">
                <a:tc>
                  <a:txBody>
                    <a:bodyPr/>
                    <a:lstStyle/>
                    <a:p>
                      <a:r>
                        <a:rPr lang="en-US" dirty="0"/>
                        <a:t>HTTP/S</a:t>
                      </a:r>
                    </a:p>
                  </a:txBody>
                  <a:tcPr/>
                </a:tc>
                <a:extLst>
                  <a:ext uri="{0D108BD9-81ED-4DB2-BD59-A6C34878D82A}">
                    <a16:rowId xmlns:a16="http://schemas.microsoft.com/office/drawing/2014/main" val="2582385133"/>
                  </a:ext>
                </a:extLst>
              </a:tr>
              <a:tr h="495520">
                <a:tc>
                  <a:txBody>
                    <a:bodyPr/>
                    <a:lstStyle/>
                    <a:p>
                      <a:r>
                        <a:rPr lang="en-US" dirty="0"/>
                        <a:t>Email</a:t>
                      </a:r>
                    </a:p>
                  </a:txBody>
                  <a:tcPr/>
                </a:tc>
                <a:extLst>
                  <a:ext uri="{0D108BD9-81ED-4DB2-BD59-A6C34878D82A}">
                    <a16:rowId xmlns:a16="http://schemas.microsoft.com/office/drawing/2014/main" val="3264848068"/>
                  </a:ext>
                </a:extLst>
              </a:tr>
              <a:tr h="495520">
                <a:tc>
                  <a:txBody>
                    <a:bodyPr/>
                    <a:lstStyle/>
                    <a:p>
                      <a:r>
                        <a:rPr lang="en-US" dirty="0"/>
                        <a:t>SMS</a:t>
                      </a:r>
                    </a:p>
                  </a:txBody>
                  <a:tcPr/>
                </a:tc>
                <a:extLst>
                  <a:ext uri="{0D108BD9-81ED-4DB2-BD59-A6C34878D82A}">
                    <a16:rowId xmlns:a16="http://schemas.microsoft.com/office/drawing/2014/main" val="2272642092"/>
                  </a:ext>
                </a:extLst>
              </a:tr>
            </a:tbl>
          </a:graphicData>
        </a:graphic>
      </p:graphicFrame>
      <p:sp>
        <p:nvSpPr>
          <p:cNvPr id="22" name="Rectangle 21">
            <a:extLst>
              <a:ext uri="{FF2B5EF4-FFF2-40B4-BE49-F238E27FC236}">
                <a16:creationId xmlns:a16="http://schemas.microsoft.com/office/drawing/2014/main" id="{93C67027-8D1A-42D3-8568-FD307BF98255}"/>
              </a:ext>
            </a:extLst>
          </p:cNvPr>
          <p:cNvSpPr/>
          <p:nvPr/>
        </p:nvSpPr>
        <p:spPr>
          <a:xfrm>
            <a:off x="7965059" y="6001785"/>
            <a:ext cx="2907229" cy="369332"/>
          </a:xfrm>
          <a:prstGeom prst="rect">
            <a:avLst/>
          </a:prstGeom>
        </p:spPr>
        <p:txBody>
          <a:bodyPr wrap="square">
            <a:spAutoFit/>
          </a:bodyPr>
          <a:lstStyle/>
          <a:p>
            <a:r>
              <a:rPr lang="en-US" dirty="0"/>
              <a:t>Subscriber</a:t>
            </a:r>
          </a:p>
        </p:txBody>
      </p:sp>
    </p:spTree>
    <p:extLst>
      <p:ext uri="{BB962C8B-B14F-4D97-AF65-F5344CB8AC3E}">
        <p14:creationId xmlns:p14="http://schemas.microsoft.com/office/powerpoint/2010/main" val="1841168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800" b="0" i="0" u="none" strike="noStrike" kern="1200" cap="none" spc="0" normalizeH="0" baseline="0" noProof="0" smtClean="0">
                <a:ln>
                  <a:noFill/>
                </a:ln>
                <a:solidFill>
                  <a:prstClr val="black"/>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50008" y="399965"/>
            <a:ext cx="13500200" cy="1359871"/>
          </a:xfrm>
        </p:spPr>
        <p:txBody>
          <a:bodyPr/>
          <a:lstStyle/>
          <a:p>
            <a:r>
              <a:rPr lang="en-IN" sz="3307" dirty="0">
                <a:solidFill>
                  <a:schemeClr val="bg1"/>
                </a:solidFill>
                <a:latin typeface="Graphik Black" panose="020B0A03030202060203" pitchFamily="34" charset="0"/>
                <a:ea typeface="+mn-ea"/>
                <a:cs typeface="+mn-cs"/>
              </a:rPr>
              <a:t>SIMPLE NOTIFICATION SERVICE </a:t>
            </a:r>
          </a:p>
        </p:txBody>
      </p:sp>
      <p:sp>
        <p:nvSpPr>
          <p:cNvPr id="8" name="TextBox 7">
            <a:extLst>
              <a:ext uri="{FF2B5EF4-FFF2-40B4-BE49-F238E27FC236}">
                <a16:creationId xmlns:a16="http://schemas.microsoft.com/office/drawing/2014/main" id="{2E26210D-6753-494D-BCB7-473DB5481624}"/>
              </a:ext>
            </a:extLst>
          </p:cNvPr>
          <p:cNvSpPr txBox="1"/>
          <p:nvPr/>
        </p:nvSpPr>
        <p:spPr>
          <a:xfrm>
            <a:off x="450005" y="1367421"/>
            <a:ext cx="12756706" cy="7340471"/>
          </a:xfrm>
          <a:prstGeom prst="rect">
            <a:avLst/>
          </a:prstGeom>
          <a:noFill/>
        </p:spPr>
        <p:txBody>
          <a:bodyPr wrap="square" lIns="0" tIns="0" rIns="0" bIns="45720"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200" b="0" i="0" u="none" strike="noStrike" kern="1200" cap="none" spc="0" normalizeH="0" baseline="0" noProof="0" dirty="0">
              <a:ln>
                <a:noFill/>
              </a:ln>
              <a:solidFill>
                <a:prstClr val="black"/>
              </a:solidFill>
              <a:effectLst/>
              <a:uLnTx/>
              <a:uFillTx/>
              <a:latin typeface="Graphik"/>
            </a:endParaRPr>
          </a:p>
          <a:p>
            <a:pPr marL="342900" indent="-342900" algn="just">
              <a:buFont typeface="Arial" panose="020B0604020202020204" pitchFamily="34" charset="0"/>
              <a:buChar char="•"/>
            </a:pPr>
            <a:r>
              <a:rPr lang="en-US" dirty="0">
                <a:solidFill>
                  <a:srgbClr val="18537D"/>
                </a:solidFill>
              </a:rPr>
              <a:t>Amazon Simple Notification Service (SNS) is an easily accessible, reliable , secure pub /sub messaging service that enables you to decouple microservices, distributed systems and serverless applications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dirty="0">
              <a:solidFill>
                <a:srgbClr val="18537D"/>
              </a:solidFill>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dirty="0">
                <a:solidFill>
                  <a:srgbClr val="18537D"/>
                </a:solidFill>
              </a:rPr>
              <a:t>By using SNS it is easy to send notifications from the cloud.</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dirty="0">
              <a:solidFill>
                <a:srgbClr val="18537D"/>
              </a:solidFill>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dirty="0">
                <a:solidFill>
                  <a:srgbClr val="18537D"/>
                </a:solidFill>
              </a:rPr>
              <a:t>Developers can easily publish message from an application and get it immediately deliver to subscribers or other applications.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dirty="0">
              <a:solidFill>
                <a:srgbClr val="18537D"/>
              </a:solidFill>
            </a:endParaRPr>
          </a:p>
          <a:p>
            <a:pPr marL="342900" indent="-342900" algn="just">
              <a:buFont typeface="Arial" panose="020B0604020202020204" pitchFamily="34" charset="0"/>
              <a:buChar char="•"/>
            </a:pPr>
            <a:r>
              <a:rPr lang="en-US" dirty="0">
                <a:solidFill>
                  <a:srgbClr val="18537D"/>
                </a:solidFill>
              </a:rPr>
              <a:t>SNS is a web service which coordinates and manages the delivery or sending of messages to endpoints or subscribers.</a:t>
            </a:r>
          </a:p>
          <a:p>
            <a:pPr marL="342900" indent="-342900" algn="just">
              <a:buFont typeface="Arial" panose="020B0604020202020204" pitchFamily="34" charset="0"/>
              <a:buChar char="•"/>
            </a:pPr>
            <a:endParaRPr lang="en-US" dirty="0">
              <a:solidFill>
                <a:srgbClr val="18537D"/>
              </a:solidFill>
            </a:endParaRPr>
          </a:p>
          <a:p>
            <a:pPr marL="342900" indent="-342900" algn="just">
              <a:buFont typeface="Arial" panose="020B0604020202020204" pitchFamily="34" charset="0"/>
              <a:buChar char="•"/>
            </a:pPr>
            <a:r>
              <a:rPr lang="en-US" dirty="0">
                <a:solidFill>
                  <a:srgbClr val="18537D"/>
                </a:solidFill>
              </a:rPr>
              <a:t>SNS is a push based service which provides the ability to create topic which is a logical access point and a platform for communication.</a:t>
            </a:r>
          </a:p>
          <a:p>
            <a:pPr marL="342900" indent="-342900" algn="just">
              <a:buFont typeface="Arial" panose="020B0604020202020204" pitchFamily="34" charset="0"/>
              <a:buChar char="•"/>
            </a:pPr>
            <a:endParaRPr lang="en-US" sz="2000" dirty="0">
              <a:solidFill>
                <a:srgbClr val="252525"/>
              </a:solidFill>
            </a:endParaRPr>
          </a:p>
          <a:p>
            <a:endParaRPr lang="en-US" sz="2000" dirty="0">
              <a:solidFill>
                <a:srgbClr val="252525"/>
              </a:solidFill>
            </a:endParaRPr>
          </a:p>
          <a:p>
            <a:endParaRPr lang="en-IN" sz="2000" noProof="0" dirty="0">
              <a:solidFill>
                <a:prstClr val="black"/>
              </a:solidFill>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2000" dirty="0">
              <a:solidFill>
                <a:prstClr val="black"/>
              </a:solidFill>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2000" noProof="0" dirty="0">
              <a:solidFill>
                <a:prstClr val="black"/>
              </a:solidFill>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2200" noProof="0" dirty="0">
              <a:solidFill>
                <a:prstClr val="black"/>
              </a:solidFill>
              <a:latin typeface="Graphik"/>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dirty="0">
              <a:ln>
                <a:noFill/>
              </a:ln>
              <a:solidFill>
                <a:prstClr val="black"/>
              </a:solidFill>
              <a:effectLst/>
              <a:uLnTx/>
              <a:uFillTx/>
              <a:latin typeface="Graphi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Graphik"/>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Graphik"/>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830995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800" b="0" i="0" u="none" strike="noStrike" kern="1200" cap="none" spc="0" normalizeH="0" baseline="0" noProof="0" smtClean="0">
                <a:ln>
                  <a:noFill/>
                </a:ln>
                <a:solidFill>
                  <a:prstClr val="black"/>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dirty="0">
              <a:ln>
                <a:noFill/>
              </a:ln>
              <a:solidFill>
                <a:prstClr val="black"/>
              </a:solidFill>
              <a:effectLst/>
              <a:uLnTx/>
              <a:uFillTx/>
              <a:latin typeface="Graphik"/>
              <a:ea typeface="+mn-ea"/>
              <a:cs typeface="+mn-cs"/>
            </a:endParaRPr>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50008" y="399965"/>
            <a:ext cx="13500200" cy="1359871"/>
          </a:xfrm>
        </p:spPr>
        <p:txBody>
          <a:bodyPr/>
          <a:lstStyle/>
          <a:p>
            <a:r>
              <a:rPr lang="en-IN" sz="3307" dirty="0" err="1">
                <a:solidFill>
                  <a:schemeClr val="bg1"/>
                </a:solidFill>
                <a:latin typeface="Graphik Black" panose="020B0A03030202060203" pitchFamily="34" charset="0"/>
                <a:ea typeface="+mn-ea"/>
                <a:cs typeface="+mn-cs"/>
              </a:rPr>
              <a:t>SnS</a:t>
            </a:r>
            <a:r>
              <a:rPr lang="en-IN" sz="3307" dirty="0">
                <a:solidFill>
                  <a:schemeClr val="bg1"/>
                </a:solidFill>
                <a:latin typeface="Graphik Black" panose="020B0A03030202060203" pitchFamily="34" charset="0"/>
                <a:ea typeface="+mn-ea"/>
                <a:cs typeface="+mn-cs"/>
              </a:rPr>
              <a:t> TRANSPORT PROTOCOLS</a:t>
            </a:r>
          </a:p>
        </p:txBody>
      </p:sp>
      <p:sp>
        <p:nvSpPr>
          <p:cNvPr id="8" name="TextBox 7">
            <a:extLst>
              <a:ext uri="{FF2B5EF4-FFF2-40B4-BE49-F238E27FC236}">
                <a16:creationId xmlns:a16="http://schemas.microsoft.com/office/drawing/2014/main" id="{2E26210D-6753-494D-BCB7-473DB5481624}"/>
              </a:ext>
            </a:extLst>
          </p:cNvPr>
          <p:cNvSpPr txBox="1"/>
          <p:nvPr/>
        </p:nvSpPr>
        <p:spPr>
          <a:xfrm>
            <a:off x="450004" y="1367421"/>
            <a:ext cx="13413479" cy="6463308"/>
          </a:xfrm>
          <a:prstGeom prst="rect">
            <a:avLst/>
          </a:prstGeom>
          <a:noFill/>
        </p:spPr>
        <p:txBody>
          <a:bodyPr wrap="square" lIns="0" tIns="0" rIns="0" bIns="45720" rtlCol="0">
            <a:spAutoFit/>
          </a:bodyPr>
          <a:lstStyle/>
          <a:p>
            <a:pPr marL="342900" marR="0" lvl="0" indent="-34290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dirty="0">
                <a:solidFill>
                  <a:srgbClr val="18537D"/>
                </a:solidFill>
              </a:rPr>
              <a:t>HTTP/HTTPS: </a:t>
            </a:r>
          </a:p>
          <a:p>
            <a:pPr marL="800100" lvl="1" indent="-342900">
              <a:lnSpc>
                <a:spcPct val="150000"/>
              </a:lnSpc>
              <a:buFont typeface="Arial" panose="020B0604020202020204" pitchFamily="34" charset="0"/>
              <a:buChar char="•"/>
              <a:defRPr/>
            </a:pPr>
            <a:r>
              <a:rPr lang="en-US" dirty="0">
                <a:solidFill>
                  <a:srgbClr val="18537D"/>
                </a:solidFill>
              </a:rPr>
              <a:t>Subscribers specify URL and messages or notifications will be delivered through an HTTP POST to specified URL.</a:t>
            </a:r>
          </a:p>
          <a:p>
            <a:pPr marL="342900" marR="0" lvl="0" indent="-34290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dirty="0">
                <a:solidFill>
                  <a:srgbClr val="18537D"/>
                </a:solidFill>
              </a:rPr>
              <a:t>Email, Email-JSON: </a:t>
            </a:r>
          </a:p>
          <a:p>
            <a:pPr marL="800100" lvl="1" indent="-342900">
              <a:lnSpc>
                <a:spcPct val="150000"/>
              </a:lnSpc>
              <a:buFont typeface="Arial" panose="020B0604020202020204" pitchFamily="34" charset="0"/>
              <a:buChar char="•"/>
              <a:defRPr/>
            </a:pPr>
            <a:r>
              <a:rPr lang="en-US" dirty="0">
                <a:solidFill>
                  <a:srgbClr val="18537D"/>
                </a:solidFill>
              </a:rPr>
              <a:t>Messages are sent via email to registered addresses in text format. Email-JSON sends notifications as a JSON object.</a:t>
            </a:r>
          </a:p>
          <a:p>
            <a:pPr marL="342900" indent="-342900">
              <a:lnSpc>
                <a:spcPct val="150000"/>
              </a:lnSpc>
              <a:buFont typeface="Arial" panose="020B0604020202020204" pitchFamily="34" charset="0"/>
              <a:buChar char="•"/>
            </a:pPr>
            <a:r>
              <a:rPr lang="en-US" dirty="0">
                <a:solidFill>
                  <a:srgbClr val="18537D"/>
                </a:solidFill>
              </a:rPr>
              <a:t>SQS: </a:t>
            </a:r>
          </a:p>
          <a:p>
            <a:pPr marL="800100" lvl="1" indent="-342900">
              <a:lnSpc>
                <a:spcPct val="150000"/>
              </a:lnSpc>
              <a:buFont typeface="Arial" panose="020B0604020202020204" pitchFamily="34" charset="0"/>
              <a:buChar char="•"/>
            </a:pPr>
            <a:r>
              <a:rPr lang="en-US" dirty="0">
                <a:solidFill>
                  <a:srgbClr val="18537D"/>
                </a:solidFill>
              </a:rPr>
              <a:t>Users can specify a SQS queue as the endpoint; SNS will ask the specified queue to receive a notification message (which subscribers can then process using SQS APIs such as     </a:t>
            </a:r>
            <a:r>
              <a:rPr lang="en-US" dirty="0" err="1">
                <a:solidFill>
                  <a:srgbClr val="18537D"/>
                </a:solidFill>
              </a:rPr>
              <a:t>ReceiveMessage</a:t>
            </a:r>
            <a:r>
              <a:rPr lang="en-US" dirty="0">
                <a:solidFill>
                  <a:srgbClr val="18537D"/>
                </a:solidFill>
              </a:rPr>
              <a:t>, </a:t>
            </a:r>
            <a:r>
              <a:rPr lang="en-US" dirty="0" err="1">
                <a:solidFill>
                  <a:srgbClr val="18537D"/>
                </a:solidFill>
              </a:rPr>
              <a:t>DeleteMessage</a:t>
            </a:r>
            <a:r>
              <a:rPr lang="en-US" dirty="0">
                <a:solidFill>
                  <a:srgbClr val="18537D"/>
                </a:solidFill>
              </a:rPr>
              <a:t>, etc.)</a:t>
            </a:r>
          </a:p>
          <a:p>
            <a:pPr marL="342900" indent="-342900">
              <a:lnSpc>
                <a:spcPct val="150000"/>
              </a:lnSpc>
              <a:buFont typeface="Arial" panose="020B0604020202020204" pitchFamily="34" charset="0"/>
              <a:buChar char="•"/>
            </a:pPr>
            <a:r>
              <a:rPr lang="en-US" dirty="0">
                <a:solidFill>
                  <a:srgbClr val="18537D"/>
                </a:solidFill>
              </a:rPr>
              <a:t>SMS: </a:t>
            </a:r>
          </a:p>
          <a:p>
            <a:pPr marL="800100" lvl="1" indent="-342900">
              <a:lnSpc>
                <a:spcPct val="150000"/>
              </a:lnSpc>
              <a:buFont typeface="Arial" panose="020B0604020202020204" pitchFamily="34" charset="0"/>
              <a:buChar char="•"/>
            </a:pPr>
            <a:r>
              <a:rPr lang="en-US" dirty="0">
                <a:solidFill>
                  <a:srgbClr val="18537D"/>
                </a:solidFill>
              </a:rPr>
              <a:t>Messages will be sent to registered telephone numbers as SMS text messages.</a:t>
            </a:r>
          </a:p>
          <a:p>
            <a:pPr algn="just"/>
            <a:endParaRPr lang="en-US" sz="2000" dirty="0">
              <a:latin typeface="+mj-lt"/>
            </a:endParaRPr>
          </a:p>
          <a:p>
            <a:pPr algn="just"/>
            <a:endParaRPr lang="en-US" sz="2000" dirty="0">
              <a:latin typeface="+mj-lt"/>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solidFill>
                <a:srgbClr val="252525"/>
              </a:solidFill>
              <a:latin typeface="+mj-lt"/>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solidFill>
                <a:srgbClr val="252525"/>
              </a:solidFill>
              <a:latin typeface="Graphik"/>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solidFill>
                <a:srgbClr val="252525"/>
              </a:solidFill>
              <a:latin typeface="Graphik"/>
            </a:endParaRPr>
          </a:p>
          <a:p>
            <a:pPr marR="0" lvl="0" algn="just" defTabSz="914400" rtl="0" eaLnBrk="1" fontAlgn="auto" latinLnBrk="0" hangingPunct="1">
              <a:lnSpc>
                <a:spcPct val="100000"/>
              </a:lnSpc>
              <a:spcBef>
                <a:spcPts val="0"/>
              </a:spcBef>
              <a:spcAft>
                <a:spcPts val="0"/>
              </a:spcAft>
              <a:buClrTx/>
              <a:buSzTx/>
              <a:tabLst/>
              <a:defRPr/>
            </a:pPr>
            <a:r>
              <a:rPr lang="en-US" sz="2000" dirty="0">
                <a:solidFill>
                  <a:srgbClr val="252525"/>
                </a:solidFill>
                <a:latin typeface="Graphik"/>
              </a:rPr>
              <a:t>     </a:t>
            </a:r>
          </a:p>
        </p:txBody>
      </p:sp>
    </p:spTree>
    <p:extLst>
      <p:ext uri="{BB962C8B-B14F-4D97-AF65-F5344CB8AC3E}">
        <p14:creationId xmlns:p14="http://schemas.microsoft.com/office/powerpoint/2010/main" val="2584821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p:txBody>
          <a:bodyPr/>
          <a:lstStyle/>
          <a:p>
            <a:fld id="{4F9AC08D-23A9-440E-BCB9-AA1E9877CC38}" type="slidenum">
              <a:rPr lang="en-US" smtClean="0"/>
              <a:pPr/>
              <a:t>34</a:t>
            </a:fld>
            <a:endParaRPr lang="en-US"/>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50008" y="399965"/>
            <a:ext cx="13500200" cy="1359871"/>
          </a:xfrm>
        </p:spPr>
        <p:txBody>
          <a:bodyPr/>
          <a:lstStyle/>
          <a:p>
            <a:r>
              <a:rPr lang="en-IN" sz="3307" dirty="0">
                <a:solidFill>
                  <a:schemeClr val="bg1"/>
                </a:solidFill>
                <a:latin typeface="Graphik Black" panose="020B0A03030202060203" pitchFamily="34" charset="0"/>
                <a:ea typeface="+mn-ea"/>
                <a:cs typeface="+mn-cs"/>
              </a:rPr>
              <a:t>SIMPLE QUEUE SERVICE(SQS)</a:t>
            </a:r>
          </a:p>
        </p:txBody>
      </p:sp>
      <p:sp>
        <p:nvSpPr>
          <p:cNvPr id="8" name="TextBox 7">
            <a:extLst>
              <a:ext uri="{FF2B5EF4-FFF2-40B4-BE49-F238E27FC236}">
                <a16:creationId xmlns:a16="http://schemas.microsoft.com/office/drawing/2014/main" id="{2E26210D-6753-494D-BCB7-473DB5481624}"/>
              </a:ext>
            </a:extLst>
          </p:cNvPr>
          <p:cNvSpPr txBox="1"/>
          <p:nvPr/>
        </p:nvSpPr>
        <p:spPr>
          <a:xfrm>
            <a:off x="450005" y="1367421"/>
            <a:ext cx="12756706" cy="9833461"/>
          </a:xfrm>
          <a:prstGeom prst="rect">
            <a:avLst/>
          </a:prstGeom>
          <a:noFill/>
        </p:spPr>
        <p:txBody>
          <a:bodyPr wrap="square" lIns="0" tIns="0" rIns="0" bIns="45720" rtlCol="0">
            <a:spAutoFit/>
          </a:bodyPr>
          <a:lstStyle/>
          <a:p>
            <a:pPr marL="285750" indent="-285750" algn="just">
              <a:buFont typeface="Arial" panose="020B0604020202020204" pitchFamily="34" charset="0"/>
              <a:buChar char="•"/>
            </a:pPr>
            <a:r>
              <a:rPr lang="en-IN" dirty="0">
                <a:solidFill>
                  <a:srgbClr val="18537D"/>
                </a:solidFill>
              </a:rPr>
              <a:t>SQS is a web service that lets you access a message queue which can be used to store message while waiting for a computer to process them</a:t>
            </a:r>
          </a:p>
          <a:p>
            <a:pPr marL="285750" indent="-285750" algn="just">
              <a:buFont typeface="Arial" panose="020B0604020202020204" pitchFamily="34" charset="0"/>
              <a:buChar char="•"/>
            </a:pPr>
            <a:endParaRPr lang="en-IN" dirty="0">
              <a:solidFill>
                <a:srgbClr val="18537D"/>
              </a:solidFill>
            </a:endParaRPr>
          </a:p>
          <a:p>
            <a:pPr marL="285750" indent="-285750" algn="just">
              <a:buFont typeface="Arial" panose="020B0604020202020204" pitchFamily="34" charset="0"/>
              <a:buChar char="•"/>
            </a:pPr>
            <a:r>
              <a:rPr lang="en-IN" dirty="0">
                <a:solidFill>
                  <a:srgbClr val="18537D"/>
                </a:solidFill>
              </a:rPr>
              <a:t>SQS offers a highly scalable ,reliable queue for storing messages in transit between computers.</a:t>
            </a:r>
          </a:p>
          <a:p>
            <a:pPr marL="285750" indent="-285750" algn="just">
              <a:buFont typeface="Arial" panose="020B0604020202020204" pitchFamily="34" charset="0"/>
              <a:buChar char="•"/>
            </a:pPr>
            <a:endParaRPr lang="en-IN" dirty="0">
              <a:solidFill>
                <a:srgbClr val="18537D"/>
              </a:solidFill>
            </a:endParaRPr>
          </a:p>
          <a:p>
            <a:pPr marL="285750" indent="-285750" algn="just">
              <a:buFont typeface="Arial" panose="020B0604020202020204" pitchFamily="34" charset="0"/>
              <a:buChar char="•"/>
            </a:pPr>
            <a:r>
              <a:rPr lang="en-IN" dirty="0">
                <a:solidFill>
                  <a:srgbClr val="18537D"/>
                </a:solidFill>
              </a:rPr>
              <a:t>It needs  very little configuration and no administrative overhead.</a:t>
            </a:r>
          </a:p>
          <a:p>
            <a:pPr marL="285750" indent="-285750" algn="just">
              <a:buFont typeface="Arial" panose="020B0604020202020204" pitchFamily="34" charset="0"/>
              <a:buChar char="•"/>
            </a:pPr>
            <a:endParaRPr lang="en-IN" dirty="0">
              <a:solidFill>
                <a:srgbClr val="18537D"/>
              </a:solidFill>
            </a:endParaRPr>
          </a:p>
          <a:p>
            <a:pPr marL="285750" indent="-285750" algn="just">
              <a:buFont typeface="Arial" panose="020B0604020202020204" pitchFamily="34" charset="0"/>
              <a:buChar char="•"/>
            </a:pPr>
            <a:r>
              <a:rPr lang="en-IN" dirty="0">
                <a:solidFill>
                  <a:srgbClr val="18537D"/>
                </a:solidFill>
              </a:rPr>
              <a:t>Messages are of 256KB of text in any format either JSON, XML or plain text.</a:t>
            </a:r>
          </a:p>
          <a:p>
            <a:pPr marL="285750" indent="-285750" algn="just">
              <a:buFont typeface="Arial" panose="020B0604020202020204" pitchFamily="34" charset="0"/>
              <a:buChar char="•"/>
            </a:pPr>
            <a:endParaRPr lang="en-IN" dirty="0">
              <a:solidFill>
                <a:srgbClr val="18537D"/>
              </a:solidFill>
            </a:endParaRPr>
          </a:p>
          <a:p>
            <a:pPr marL="285750" indent="-285750" algn="just">
              <a:buFont typeface="Arial" panose="020B0604020202020204" pitchFamily="34" charset="0"/>
              <a:buChar char="•"/>
            </a:pPr>
            <a:r>
              <a:rPr lang="en-IN" dirty="0">
                <a:solidFill>
                  <a:srgbClr val="18537D"/>
                </a:solidFill>
              </a:rPr>
              <a:t>Also provides Dead Letter Queue(A queue for messages which can not be processed after a maximum number of attempts)</a:t>
            </a:r>
          </a:p>
          <a:p>
            <a:pPr marL="285750" indent="-285750" algn="just">
              <a:buFont typeface="Arial" panose="020B0604020202020204" pitchFamily="34" charset="0"/>
              <a:buChar char="•"/>
            </a:pPr>
            <a:endParaRPr lang="en-IN" dirty="0">
              <a:solidFill>
                <a:srgbClr val="18537D"/>
              </a:solidFill>
            </a:endParaRPr>
          </a:p>
          <a:p>
            <a:pPr marL="342900" lvl="0" indent="-342900">
              <a:buFont typeface="Arial" panose="020B0604020202020204" pitchFamily="34" charset="0"/>
              <a:buChar char="•"/>
              <a:defRPr/>
            </a:pPr>
            <a:r>
              <a:rPr lang="en-US" dirty="0">
                <a:solidFill>
                  <a:srgbClr val="18537D"/>
                </a:solidFill>
              </a:rPr>
              <a:t>SQS offers 2 types of queues:</a:t>
            </a:r>
          </a:p>
          <a:p>
            <a:pPr marL="342900" lvl="0" indent="-342900">
              <a:buFont typeface="Arial" panose="020B0604020202020204" pitchFamily="34" charset="0"/>
              <a:buChar char="•"/>
              <a:defRPr/>
            </a:pPr>
            <a:endParaRPr lang="en-US" dirty="0">
              <a:solidFill>
                <a:srgbClr val="18537D"/>
              </a:solidFill>
            </a:endParaRPr>
          </a:p>
          <a:p>
            <a:pPr marL="800100" lvl="1" indent="-342900">
              <a:lnSpc>
                <a:spcPct val="150000"/>
              </a:lnSpc>
              <a:buFont typeface="Arial" panose="020B0604020202020204" pitchFamily="34" charset="0"/>
              <a:buChar char="•"/>
              <a:defRPr/>
            </a:pPr>
            <a:r>
              <a:rPr lang="en-US" dirty="0">
                <a:solidFill>
                  <a:srgbClr val="18537D"/>
                </a:solidFill>
              </a:rPr>
              <a:t>Standard: SQS Standard queue ensures delivery of message at least once. </a:t>
            </a:r>
          </a:p>
          <a:p>
            <a:pPr marL="800100" lvl="1" indent="-342900">
              <a:lnSpc>
                <a:spcPct val="150000"/>
              </a:lnSpc>
              <a:buFont typeface="Arial" panose="020B0604020202020204" pitchFamily="34" charset="0"/>
              <a:buChar char="•"/>
              <a:defRPr/>
            </a:pPr>
            <a:r>
              <a:rPr lang="en-US" dirty="0">
                <a:solidFill>
                  <a:srgbClr val="18537D"/>
                </a:solidFill>
              </a:rPr>
              <a:t>FIFO: SQS First In First Out queue ensures delivery of message exactly once hence removing duplicates</a:t>
            </a:r>
            <a:endParaRPr lang="en-US" sz="2000" dirty="0">
              <a:solidFill>
                <a:srgbClr val="252525"/>
              </a:solidFill>
            </a:endParaRPr>
          </a:p>
          <a:p>
            <a:pPr marL="285750" indent="-285750" algn="just">
              <a:buFont typeface="Arial" panose="020B0604020202020204" pitchFamily="34" charset="0"/>
              <a:buChar char="•"/>
            </a:pPr>
            <a:endParaRPr lang="en-IN" dirty="0">
              <a:solidFill>
                <a:srgbClr val="18537D"/>
              </a:solidFill>
            </a:endParaRP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400" dirty="0"/>
          </a:p>
          <a:p>
            <a:pPr algn="just"/>
            <a:endParaRPr lang="en-IN" sz="2400" dirty="0"/>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endParaRPr lang="en-IN" sz="2400" dirty="0"/>
          </a:p>
          <a:p>
            <a:endParaRPr lang="en-IN" sz="2400" dirty="0"/>
          </a:p>
          <a:p>
            <a:endParaRPr lang="en-IN" sz="2400" dirty="0"/>
          </a:p>
        </p:txBody>
      </p:sp>
    </p:spTree>
    <p:extLst>
      <p:ext uri="{BB962C8B-B14F-4D97-AF65-F5344CB8AC3E}">
        <p14:creationId xmlns:p14="http://schemas.microsoft.com/office/powerpoint/2010/main" val="283626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animEffect transition="in" filter="fade">
                                      <p:cBhvr>
                                        <p:cTn id="27" dur="500"/>
                                        <p:tgtEl>
                                          <p:spTgt spid="8">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10" end="10"/>
                                            </p:txEl>
                                          </p:spTgt>
                                        </p:tgtEl>
                                        <p:attrNameLst>
                                          <p:attrName>style.visibility</p:attrName>
                                        </p:attrNameLst>
                                      </p:cBhvr>
                                      <p:to>
                                        <p:strVal val="visible"/>
                                      </p:to>
                                    </p:set>
                                    <p:animEffect transition="in" filter="fade">
                                      <p:cBhvr>
                                        <p:cTn id="32" dur="500"/>
                                        <p:tgtEl>
                                          <p:spTgt spid="8">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12" end="12"/>
                                            </p:txEl>
                                          </p:spTgt>
                                        </p:tgtEl>
                                        <p:attrNameLst>
                                          <p:attrName>style.visibility</p:attrName>
                                        </p:attrNameLst>
                                      </p:cBhvr>
                                      <p:to>
                                        <p:strVal val="visible"/>
                                      </p:to>
                                    </p:set>
                                    <p:animEffect transition="in" filter="fade">
                                      <p:cBhvr>
                                        <p:cTn id="37" dur="500"/>
                                        <p:tgtEl>
                                          <p:spTgt spid="8">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13" end="13"/>
                                            </p:txEl>
                                          </p:spTgt>
                                        </p:tgtEl>
                                        <p:attrNameLst>
                                          <p:attrName>style.visibility</p:attrName>
                                        </p:attrNameLst>
                                      </p:cBhvr>
                                      <p:to>
                                        <p:strVal val="visible"/>
                                      </p:to>
                                    </p:set>
                                    <p:animEffect transition="in" filter="fade">
                                      <p:cBhvr>
                                        <p:cTn id="42"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1805327-A8C1-46E8-83D4-25FCF739D47A}"/>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AD9FC298-0B87-4E7A-B3CA-2A24C9B36BAB}"/>
              </a:ext>
            </a:extLst>
          </p:cNvPr>
          <p:cNvSpPr>
            <a:spLocks noGrp="1"/>
          </p:cNvSpPr>
          <p:nvPr>
            <p:ph type="sldNum" sz="quarter" idx="17"/>
          </p:nvPr>
        </p:nvSpPr>
        <p:spPr/>
        <p:txBody>
          <a:bodyPr/>
          <a:lstStyle/>
          <a:p>
            <a:fld id="{4F9AC08D-23A9-440E-BCB9-AA1E9877CC38}" type="slidenum">
              <a:rPr lang="en-US" smtClean="0"/>
              <a:pPr/>
              <a:t>35</a:t>
            </a:fld>
            <a:endParaRPr lang="en-US" dirty="0"/>
          </a:p>
        </p:txBody>
      </p:sp>
      <p:sp>
        <p:nvSpPr>
          <p:cNvPr id="4" name="Title 3">
            <a:extLst>
              <a:ext uri="{FF2B5EF4-FFF2-40B4-BE49-F238E27FC236}">
                <a16:creationId xmlns:a16="http://schemas.microsoft.com/office/drawing/2014/main" id="{4ABF0CD4-37E9-49D3-B747-78EF4F76AE5E}"/>
              </a:ext>
            </a:extLst>
          </p:cNvPr>
          <p:cNvSpPr>
            <a:spLocks noGrp="1"/>
          </p:cNvSpPr>
          <p:nvPr>
            <p:ph type="title"/>
          </p:nvPr>
        </p:nvSpPr>
        <p:spPr/>
        <p:txBody>
          <a:bodyPr>
            <a:normAutofit/>
          </a:bodyPr>
          <a:lstStyle/>
          <a:p>
            <a:r>
              <a:rPr lang="en-US" dirty="0">
                <a:solidFill>
                  <a:schemeClr val="bg1"/>
                </a:solidFill>
              </a:rPr>
              <a:t>Command Line tools</a:t>
            </a:r>
          </a:p>
        </p:txBody>
      </p:sp>
      <p:pic>
        <p:nvPicPr>
          <p:cNvPr id="35" name="Picture 34">
            <a:extLst>
              <a:ext uri="{FF2B5EF4-FFF2-40B4-BE49-F238E27FC236}">
                <a16:creationId xmlns:a16="http://schemas.microsoft.com/office/drawing/2014/main" id="{0BBCC499-D1D9-4F04-82E6-EC27CD2F3820}"/>
              </a:ext>
            </a:extLst>
          </p:cNvPr>
          <p:cNvPicPr>
            <a:picLocks noChangeAspect="1"/>
          </p:cNvPicPr>
          <p:nvPr/>
        </p:nvPicPr>
        <p:blipFill>
          <a:blip r:embed="rId2"/>
          <a:stretch>
            <a:fillRect/>
          </a:stretch>
        </p:blipFill>
        <p:spPr>
          <a:xfrm>
            <a:off x="979932" y="2296642"/>
            <a:ext cx="12239625" cy="3086100"/>
          </a:xfrm>
          <a:prstGeom prst="rect">
            <a:avLst/>
          </a:prstGeom>
        </p:spPr>
      </p:pic>
      <p:sp>
        <p:nvSpPr>
          <p:cNvPr id="36" name="Rectangle 35">
            <a:extLst>
              <a:ext uri="{FF2B5EF4-FFF2-40B4-BE49-F238E27FC236}">
                <a16:creationId xmlns:a16="http://schemas.microsoft.com/office/drawing/2014/main" id="{11BB256B-7B9B-4AD6-B348-9E29B0C2A7D9}"/>
              </a:ext>
            </a:extLst>
          </p:cNvPr>
          <p:cNvSpPr/>
          <p:nvPr/>
        </p:nvSpPr>
        <p:spPr>
          <a:xfrm>
            <a:off x="1326995" y="1196954"/>
            <a:ext cx="11329639" cy="369332"/>
          </a:xfrm>
          <a:prstGeom prst="rect">
            <a:avLst/>
          </a:prstGeom>
        </p:spPr>
        <p:txBody>
          <a:bodyPr wrap="square">
            <a:spAutoFit/>
          </a:bodyPr>
          <a:lstStyle/>
          <a:p>
            <a:r>
              <a:rPr lang="en-US" b="1" dirty="0">
                <a:solidFill>
                  <a:srgbClr val="18537D"/>
                </a:solidFill>
              </a:rPr>
              <a:t>Control your AWS services from the command line and automate service management with scripts</a:t>
            </a:r>
          </a:p>
        </p:txBody>
      </p:sp>
    </p:spTree>
    <p:extLst>
      <p:ext uri="{BB962C8B-B14F-4D97-AF65-F5344CB8AC3E}">
        <p14:creationId xmlns:p14="http://schemas.microsoft.com/office/powerpoint/2010/main" val="897771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1805327-A8C1-46E8-83D4-25FCF739D47A}"/>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AD9FC298-0B87-4E7A-B3CA-2A24C9B36BAB}"/>
              </a:ext>
            </a:extLst>
          </p:cNvPr>
          <p:cNvSpPr>
            <a:spLocks noGrp="1"/>
          </p:cNvSpPr>
          <p:nvPr>
            <p:ph type="sldNum" sz="quarter" idx="17"/>
          </p:nvPr>
        </p:nvSpPr>
        <p:spPr/>
        <p:txBody>
          <a:bodyPr/>
          <a:lstStyle/>
          <a:p>
            <a:fld id="{4F9AC08D-23A9-440E-BCB9-AA1E9877CC38}" type="slidenum">
              <a:rPr lang="en-US" smtClean="0"/>
              <a:pPr/>
              <a:t>36</a:t>
            </a:fld>
            <a:endParaRPr lang="en-US" dirty="0"/>
          </a:p>
        </p:txBody>
      </p:sp>
      <p:sp>
        <p:nvSpPr>
          <p:cNvPr id="4" name="Title 3">
            <a:extLst>
              <a:ext uri="{FF2B5EF4-FFF2-40B4-BE49-F238E27FC236}">
                <a16:creationId xmlns:a16="http://schemas.microsoft.com/office/drawing/2014/main" id="{4ABF0CD4-37E9-49D3-B747-78EF4F76AE5E}"/>
              </a:ext>
            </a:extLst>
          </p:cNvPr>
          <p:cNvSpPr>
            <a:spLocks noGrp="1"/>
          </p:cNvSpPr>
          <p:nvPr>
            <p:ph type="title"/>
          </p:nvPr>
        </p:nvSpPr>
        <p:spPr/>
        <p:txBody>
          <a:bodyPr>
            <a:normAutofit/>
          </a:bodyPr>
          <a:lstStyle/>
          <a:p>
            <a:r>
              <a:rPr lang="en-US" dirty="0">
                <a:solidFill>
                  <a:schemeClr val="bg1"/>
                </a:solidFill>
              </a:rPr>
              <a:t>Command Line tools</a:t>
            </a:r>
          </a:p>
        </p:txBody>
      </p:sp>
      <p:pic>
        <p:nvPicPr>
          <p:cNvPr id="35" name="Picture 34">
            <a:extLst>
              <a:ext uri="{FF2B5EF4-FFF2-40B4-BE49-F238E27FC236}">
                <a16:creationId xmlns:a16="http://schemas.microsoft.com/office/drawing/2014/main" id="{0BBCC499-D1D9-4F04-82E6-EC27CD2F3820}"/>
              </a:ext>
            </a:extLst>
          </p:cNvPr>
          <p:cNvPicPr>
            <a:picLocks noChangeAspect="1"/>
          </p:cNvPicPr>
          <p:nvPr/>
        </p:nvPicPr>
        <p:blipFill>
          <a:blip r:embed="rId2"/>
          <a:stretch>
            <a:fillRect/>
          </a:stretch>
        </p:blipFill>
        <p:spPr>
          <a:xfrm>
            <a:off x="979932" y="2296642"/>
            <a:ext cx="12239625" cy="3086100"/>
          </a:xfrm>
          <a:prstGeom prst="rect">
            <a:avLst/>
          </a:prstGeom>
        </p:spPr>
      </p:pic>
      <p:sp>
        <p:nvSpPr>
          <p:cNvPr id="36" name="Rectangle 35">
            <a:extLst>
              <a:ext uri="{FF2B5EF4-FFF2-40B4-BE49-F238E27FC236}">
                <a16:creationId xmlns:a16="http://schemas.microsoft.com/office/drawing/2014/main" id="{11BB256B-7B9B-4AD6-B348-9E29B0C2A7D9}"/>
              </a:ext>
            </a:extLst>
          </p:cNvPr>
          <p:cNvSpPr/>
          <p:nvPr/>
        </p:nvSpPr>
        <p:spPr>
          <a:xfrm>
            <a:off x="1326995" y="1196954"/>
            <a:ext cx="11329639" cy="369332"/>
          </a:xfrm>
          <a:prstGeom prst="rect">
            <a:avLst/>
          </a:prstGeom>
        </p:spPr>
        <p:txBody>
          <a:bodyPr wrap="square">
            <a:spAutoFit/>
          </a:bodyPr>
          <a:lstStyle/>
          <a:p>
            <a:r>
              <a:rPr lang="en-US" b="1" dirty="0">
                <a:solidFill>
                  <a:srgbClr val="18537D"/>
                </a:solidFill>
              </a:rPr>
              <a:t>Control your AWS services from the command line and automate service management with scripts</a:t>
            </a:r>
          </a:p>
        </p:txBody>
      </p:sp>
    </p:spTree>
    <p:extLst>
      <p:ext uri="{BB962C8B-B14F-4D97-AF65-F5344CB8AC3E}">
        <p14:creationId xmlns:p14="http://schemas.microsoft.com/office/powerpoint/2010/main" val="3180942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DC7312-0EFE-4019-B0EC-8C922C8C779E}"/>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F2CC5848-0448-435D-87D5-1E0AC812BB86}"/>
              </a:ext>
            </a:extLst>
          </p:cNvPr>
          <p:cNvSpPr>
            <a:spLocks noGrp="1"/>
          </p:cNvSpPr>
          <p:nvPr>
            <p:ph type="sldNum" sz="quarter" idx="17"/>
          </p:nvPr>
        </p:nvSpPr>
        <p:spPr/>
        <p:txBody>
          <a:bodyPr/>
          <a:lstStyle/>
          <a:p>
            <a:fld id="{4F9AC08D-23A9-440E-BCB9-AA1E9877CC38}" type="slidenum">
              <a:rPr lang="en-US" smtClean="0"/>
              <a:pPr/>
              <a:t>37</a:t>
            </a:fld>
            <a:endParaRPr lang="en-US" dirty="0"/>
          </a:p>
        </p:txBody>
      </p:sp>
      <p:sp>
        <p:nvSpPr>
          <p:cNvPr id="4" name="Title 3">
            <a:extLst>
              <a:ext uri="{FF2B5EF4-FFF2-40B4-BE49-F238E27FC236}">
                <a16:creationId xmlns:a16="http://schemas.microsoft.com/office/drawing/2014/main" id="{E35D11EB-42DD-45AE-ACD9-9CEAC8C475CF}"/>
              </a:ext>
            </a:extLst>
          </p:cNvPr>
          <p:cNvSpPr>
            <a:spLocks noGrp="1"/>
          </p:cNvSpPr>
          <p:nvPr>
            <p:ph type="title"/>
          </p:nvPr>
        </p:nvSpPr>
        <p:spPr>
          <a:xfrm>
            <a:off x="450010" y="262931"/>
            <a:ext cx="13500200" cy="1359871"/>
          </a:xfrm>
        </p:spPr>
        <p:txBody>
          <a:bodyPr/>
          <a:lstStyle/>
          <a:p>
            <a:r>
              <a:rPr lang="en-US" dirty="0" err="1">
                <a:solidFill>
                  <a:schemeClr val="bg1"/>
                </a:solidFill>
              </a:rPr>
              <a:t>clI</a:t>
            </a:r>
            <a:endParaRPr lang="en-US" dirty="0">
              <a:solidFill>
                <a:schemeClr val="bg1"/>
              </a:solidFill>
            </a:endParaRPr>
          </a:p>
        </p:txBody>
      </p:sp>
      <p:sp>
        <p:nvSpPr>
          <p:cNvPr id="5" name="TextBox 4">
            <a:extLst>
              <a:ext uri="{FF2B5EF4-FFF2-40B4-BE49-F238E27FC236}">
                <a16:creationId xmlns:a16="http://schemas.microsoft.com/office/drawing/2014/main" id="{5C462FA2-5E48-41B5-86C1-F06767FB5D86}"/>
              </a:ext>
            </a:extLst>
          </p:cNvPr>
          <p:cNvSpPr txBox="1"/>
          <p:nvPr/>
        </p:nvSpPr>
        <p:spPr>
          <a:xfrm>
            <a:off x="1874504" y="3564486"/>
            <a:ext cx="11494132" cy="420564"/>
          </a:xfrm>
          <a:prstGeom prst="rect">
            <a:avLst/>
          </a:prstGeom>
          <a:noFill/>
          <a:ln>
            <a:solidFill>
              <a:schemeClr val="tx1"/>
            </a:solidFill>
          </a:ln>
        </p:spPr>
        <p:txBody>
          <a:bodyPr wrap="square" rtlCol="0">
            <a:spAutoFit/>
          </a:bodyPr>
          <a:lstStyle/>
          <a:p>
            <a:pPr defTabSz="1219170">
              <a:defRPr/>
            </a:pPr>
            <a:r>
              <a:rPr lang="en-US" sz="2133" b="1" kern="0" dirty="0">
                <a:latin typeface="Courier"/>
              </a:rPr>
              <a:t>$ </a:t>
            </a:r>
            <a:r>
              <a:rPr lang="en-US" sz="2133" b="1" kern="0" dirty="0" err="1">
                <a:solidFill>
                  <a:srgbClr val="7F7F7F"/>
                </a:solidFill>
                <a:latin typeface="Courier"/>
              </a:rPr>
              <a:t>aws</a:t>
            </a:r>
            <a:r>
              <a:rPr lang="en-US" sz="2133" b="1" kern="0" dirty="0">
                <a:solidFill>
                  <a:srgbClr val="7F7F7F"/>
                </a:solidFill>
                <a:latin typeface="Courier"/>
              </a:rPr>
              <a:t> ec2</a:t>
            </a:r>
            <a:r>
              <a:rPr lang="en-US" sz="2133" b="1" kern="0" dirty="0">
                <a:solidFill>
                  <a:schemeClr val="tx1">
                    <a:lumMod val="50000"/>
                    <a:lumOff val="50000"/>
                  </a:schemeClr>
                </a:solidFill>
                <a:latin typeface="Courier"/>
              </a:rPr>
              <a:t> run-instances –-</a:t>
            </a:r>
            <a:r>
              <a:rPr lang="en-US" sz="2133" b="1" kern="0" dirty="0">
                <a:solidFill>
                  <a:srgbClr val="7F7F7F"/>
                </a:solidFill>
                <a:latin typeface="Courier"/>
              </a:rPr>
              <a:t>cli-input-json</a:t>
            </a:r>
            <a:r>
              <a:rPr lang="en-US" sz="2133" b="1" kern="0" dirty="0">
                <a:solidFill>
                  <a:schemeClr val="tx1">
                    <a:lumMod val="50000"/>
                    <a:lumOff val="50000"/>
                  </a:schemeClr>
                </a:solidFill>
                <a:latin typeface="Courier"/>
              </a:rPr>
              <a:t> file://./lcf/webserver.json </a:t>
            </a:r>
          </a:p>
        </p:txBody>
      </p:sp>
      <p:sp>
        <p:nvSpPr>
          <p:cNvPr id="6" name="TextBox 5">
            <a:extLst>
              <a:ext uri="{FF2B5EF4-FFF2-40B4-BE49-F238E27FC236}">
                <a16:creationId xmlns:a16="http://schemas.microsoft.com/office/drawing/2014/main" id="{2BE39DC4-7A88-4CC0-B93F-E6BFC54A411E}"/>
              </a:ext>
            </a:extLst>
          </p:cNvPr>
          <p:cNvSpPr txBox="1"/>
          <p:nvPr/>
        </p:nvSpPr>
        <p:spPr>
          <a:xfrm>
            <a:off x="1964560" y="1922282"/>
            <a:ext cx="1854613" cy="584775"/>
          </a:xfrm>
          <a:prstGeom prst="rect">
            <a:avLst/>
          </a:prstGeom>
          <a:noFill/>
        </p:spPr>
        <p:txBody>
          <a:bodyPr wrap="square" rtlCol="0" anchor="ctr">
            <a:spAutoFit/>
          </a:bodyPr>
          <a:lstStyle/>
          <a:p>
            <a:pPr algn="ctr" defTabSz="1219170">
              <a:defRPr/>
            </a:pPr>
            <a:r>
              <a:rPr lang="en-US" sz="1600" kern="0" dirty="0">
                <a:solidFill>
                  <a:sysClr val="windowText" lastClr="000000"/>
                </a:solidFill>
                <a:latin typeface="Amazon Ember Light" panose="020B0403020204020204" pitchFamily="34" charset="0"/>
                <a:ea typeface="Amazon Ember Light" panose="020B0403020204020204" pitchFamily="34" charset="0"/>
                <a:cs typeface="Amazon Ember Light" panose="020B0403020204020204" pitchFamily="34" charset="0"/>
              </a:rPr>
              <a:t>Service (command</a:t>
            </a:r>
            <a:r>
              <a:rPr lang="en-US" sz="1600" kern="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t>
            </a:r>
            <a:endParaRPr lang="en-US" sz="1600" kern="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p:txBody>
      </p:sp>
      <p:sp>
        <p:nvSpPr>
          <p:cNvPr id="7" name="TextBox 6">
            <a:extLst>
              <a:ext uri="{FF2B5EF4-FFF2-40B4-BE49-F238E27FC236}">
                <a16:creationId xmlns:a16="http://schemas.microsoft.com/office/drawing/2014/main" id="{2A9F031F-5FD2-4E5A-8AB4-F8F97A6558F6}"/>
              </a:ext>
            </a:extLst>
          </p:cNvPr>
          <p:cNvSpPr txBox="1"/>
          <p:nvPr/>
        </p:nvSpPr>
        <p:spPr>
          <a:xfrm>
            <a:off x="3579986" y="1925072"/>
            <a:ext cx="1796668" cy="584775"/>
          </a:xfrm>
          <a:prstGeom prst="rect">
            <a:avLst/>
          </a:prstGeom>
          <a:noFill/>
        </p:spPr>
        <p:txBody>
          <a:bodyPr wrap="square" rtlCol="0" anchor="ctr">
            <a:spAutoFit/>
          </a:bodyPr>
          <a:lstStyle/>
          <a:p>
            <a:pPr algn="ctr" defTabSz="1219170">
              <a:defRPr/>
            </a:pPr>
            <a:r>
              <a:rPr lang="en-US" sz="1600" kern="0" dirty="0">
                <a:solidFill>
                  <a:sysClr val="windowText" lastClr="000000"/>
                </a:solidFill>
                <a:latin typeface="Amazon Ember Light" panose="020B0403020204020204" pitchFamily="34" charset="0"/>
                <a:ea typeface="Amazon Ember Light" panose="020B0403020204020204" pitchFamily="34" charset="0"/>
                <a:cs typeface="Amazon Ember Light" panose="020B0403020204020204" pitchFamily="34" charset="0"/>
              </a:rPr>
              <a:t>Operation</a:t>
            </a:r>
          </a:p>
          <a:p>
            <a:pPr algn="ctr" defTabSz="1219170">
              <a:defRPr/>
            </a:pPr>
            <a:r>
              <a:rPr lang="en-US" sz="1600" kern="0" dirty="0">
                <a:solidFill>
                  <a:sysClr val="windowText" lastClr="000000"/>
                </a:solidFill>
                <a:latin typeface="Amazon Ember Light" panose="020B0403020204020204" pitchFamily="34" charset="0"/>
                <a:ea typeface="Amazon Ember Light" panose="020B0403020204020204" pitchFamily="34" charset="0"/>
                <a:cs typeface="Amazon Ember Light" panose="020B0403020204020204" pitchFamily="34" charset="0"/>
              </a:rPr>
              <a:t>(</a:t>
            </a:r>
            <a:r>
              <a:rPr lang="en-US" sz="1600" kern="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sub-command</a:t>
            </a:r>
            <a:r>
              <a:rPr lang="en-US" sz="1600" kern="0" dirty="0">
                <a:solidFill>
                  <a:sysClr val="windowText" lastClr="000000"/>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8" name="TextBox 7">
            <a:extLst>
              <a:ext uri="{FF2B5EF4-FFF2-40B4-BE49-F238E27FC236}">
                <a16:creationId xmlns:a16="http://schemas.microsoft.com/office/drawing/2014/main" id="{836C67F8-45C9-4BD0-9FE8-3BC764A0F798}"/>
              </a:ext>
            </a:extLst>
          </p:cNvPr>
          <p:cNvSpPr txBox="1"/>
          <p:nvPr/>
        </p:nvSpPr>
        <p:spPr>
          <a:xfrm>
            <a:off x="9178260" y="2040229"/>
            <a:ext cx="1392023" cy="338554"/>
          </a:xfrm>
          <a:prstGeom prst="rect">
            <a:avLst/>
          </a:prstGeom>
          <a:noFill/>
        </p:spPr>
        <p:txBody>
          <a:bodyPr wrap="square" rtlCol="0" anchor="ctr">
            <a:spAutoFit/>
          </a:bodyPr>
          <a:lstStyle/>
          <a:p>
            <a:pPr defTabSz="1219170">
              <a:defRPr/>
            </a:pPr>
            <a:r>
              <a:rPr lang="en-US" sz="1600" kern="0" dirty="0">
                <a:solidFill>
                  <a:sysClr val="windowText" lastClr="000000"/>
                </a:solidFill>
                <a:latin typeface="Amazon Ember Light" panose="020B0403020204020204" pitchFamily="34" charset="0"/>
                <a:ea typeface="Amazon Ember Light" panose="020B0403020204020204" pitchFamily="34" charset="0"/>
                <a:cs typeface="Amazon Ember Light" panose="020B0403020204020204" pitchFamily="34" charset="0"/>
              </a:rPr>
              <a:t>Parameters</a:t>
            </a:r>
          </a:p>
        </p:txBody>
      </p:sp>
      <p:sp>
        <p:nvSpPr>
          <p:cNvPr id="9" name="TextBox 8">
            <a:extLst>
              <a:ext uri="{FF2B5EF4-FFF2-40B4-BE49-F238E27FC236}">
                <a16:creationId xmlns:a16="http://schemas.microsoft.com/office/drawing/2014/main" id="{7A7D20D1-AC7F-4329-811F-F209018330BA}"/>
              </a:ext>
            </a:extLst>
          </p:cNvPr>
          <p:cNvSpPr txBox="1"/>
          <p:nvPr/>
        </p:nvSpPr>
        <p:spPr>
          <a:xfrm>
            <a:off x="1876406" y="4271775"/>
            <a:ext cx="11494132" cy="1077026"/>
          </a:xfrm>
          <a:prstGeom prst="rect">
            <a:avLst/>
          </a:prstGeom>
          <a:noFill/>
          <a:ln>
            <a:solidFill>
              <a:schemeClr val="tx1"/>
            </a:solidFill>
          </a:ln>
        </p:spPr>
        <p:txBody>
          <a:bodyPr wrap="square" rtlCol="0">
            <a:spAutoFit/>
          </a:bodyPr>
          <a:lstStyle/>
          <a:p>
            <a:pPr defTabSz="1219170">
              <a:defRPr/>
            </a:pPr>
            <a:r>
              <a:rPr lang="en-US" sz="2133" b="1" kern="0">
                <a:latin typeface="Courier"/>
              </a:rPr>
              <a:t>$ </a:t>
            </a:r>
            <a:r>
              <a:rPr lang="en-US" sz="2133" b="1" kern="0">
                <a:solidFill>
                  <a:srgbClr val="7F7F7F"/>
                </a:solidFill>
                <a:latin typeface="Courier"/>
              </a:rPr>
              <a:t>aws</a:t>
            </a:r>
            <a:r>
              <a:rPr lang="en-US" sz="2133" b="1" kern="0">
                <a:solidFill>
                  <a:schemeClr val="tx1">
                    <a:lumMod val="50000"/>
                    <a:lumOff val="50000"/>
                  </a:schemeClr>
                </a:solidFill>
                <a:latin typeface="Courier"/>
              </a:rPr>
              <a:t> </a:t>
            </a:r>
            <a:r>
              <a:rPr lang="en-US" sz="2133" b="1" kern="0">
                <a:solidFill>
                  <a:srgbClr val="7F7F7F"/>
                </a:solidFill>
                <a:latin typeface="Courier"/>
              </a:rPr>
              <a:t>help</a:t>
            </a:r>
            <a:endParaRPr lang="en-US" sz="2133" b="1" kern="0" dirty="0">
              <a:solidFill>
                <a:srgbClr val="7F7F7F"/>
              </a:solidFill>
              <a:latin typeface="Courier"/>
            </a:endParaRPr>
          </a:p>
          <a:p>
            <a:pPr defTabSz="1219170">
              <a:defRPr/>
            </a:pPr>
            <a:r>
              <a:rPr lang="en-US" sz="2133" b="1" kern="0">
                <a:latin typeface="Courier"/>
              </a:rPr>
              <a:t>$ </a:t>
            </a:r>
            <a:r>
              <a:rPr lang="en-US" sz="2133" b="1" kern="0">
                <a:solidFill>
                  <a:srgbClr val="7F7F7F"/>
                </a:solidFill>
                <a:latin typeface="Courier"/>
              </a:rPr>
              <a:t>aws ec2</a:t>
            </a:r>
            <a:r>
              <a:rPr lang="en-US" sz="2133" b="1" kern="0">
                <a:solidFill>
                  <a:schemeClr val="tx1">
                    <a:lumMod val="50000"/>
                    <a:lumOff val="50000"/>
                  </a:schemeClr>
                </a:solidFill>
                <a:latin typeface="Courier"/>
              </a:rPr>
              <a:t> </a:t>
            </a:r>
            <a:r>
              <a:rPr lang="en-US" sz="2133" b="1" kern="0">
                <a:solidFill>
                  <a:srgbClr val="7F7F7F"/>
                </a:solidFill>
                <a:latin typeface="Courier"/>
              </a:rPr>
              <a:t>help</a:t>
            </a:r>
            <a:endParaRPr lang="en-US" sz="2133" b="1" kern="0" dirty="0">
              <a:solidFill>
                <a:srgbClr val="7F7F7F"/>
              </a:solidFill>
              <a:latin typeface="Courier"/>
            </a:endParaRPr>
          </a:p>
          <a:p>
            <a:pPr defTabSz="1219170">
              <a:defRPr/>
            </a:pPr>
            <a:r>
              <a:rPr lang="en-US" sz="2133" b="1" kern="0">
                <a:latin typeface="Courier"/>
              </a:rPr>
              <a:t>$ </a:t>
            </a:r>
            <a:r>
              <a:rPr lang="en-US" sz="2133" b="1" kern="0">
                <a:solidFill>
                  <a:srgbClr val="7F7F7F"/>
                </a:solidFill>
                <a:latin typeface="Courier"/>
              </a:rPr>
              <a:t>aws ec2</a:t>
            </a:r>
            <a:r>
              <a:rPr lang="en-US" sz="2133" b="1" kern="0">
                <a:solidFill>
                  <a:schemeClr val="tx1">
                    <a:lumMod val="50000"/>
                    <a:lumOff val="50000"/>
                  </a:schemeClr>
                </a:solidFill>
                <a:latin typeface="Courier"/>
              </a:rPr>
              <a:t> describe-instances </a:t>
            </a:r>
            <a:r>
              <a:rPr lang="en-US" sz="2133" b="1" kern="0">
                <a:solidFill>
                  <a:srgbClr val="7F7F7F"/>
                </a:solidFill>
                <a:latin typeface="Courier"/>
              </a:rPr>
              <a:t>help</a:t>
            </a:r>
            <a:endParaRPr lang="en-US" sz="2133" b="1" kern="0" dirty="0">
              <a:solidFill>
                <a:srgbClr val="7F7F7F"/>
              </a:solidFill>
              <a:latin typeface="Courier"/>
            </a:endParaRPr>
          </a:p>
        </p:txBody>
      </p:sp>
      <p:sp>
        <p:nvSpPr>
          <p:cNvPr id="10" name="TextBox 9">
            <a:extLst>
              <a:ext uri="{FF2B5EF4-FFF2-40B4-BE49-F238E27FC236}">
                <a16:creationId xmlns:a16="http://schemas.microsoft.com/office/drawing/2014/main" id="{63801147-B526-4BAD-A1DE-940A760ECE5E}"/>
              </a:ext>
            </a:extLst>
          </p:cNvPr>
          <p:cNvSpPr txBox="1"/>
          <p:nvPr/>
        </p:nvSpPr>
        <p:spPr>
          <a:xfrm>
            <a:off x="1874506" y="2838944"/>
            <a:ext cx="11496032" cy="420564"/>
          </a:xfrm>
          <a:prstGeom prst="rect">
            <a:avLst/>
          </a:prstGeom>
          <a:noFill/>
          <a:ln>
            <a:solidFill>
              <a:schemeClr val="tx1"/>
            </a:solidFill>
          </a:ln>
        </p:spPr>
        <p:txBody>
          <a:bodyPr wrap="square" rtlCol="0">
            <a:spAutoFit/>
          </a:bodyPr>
          <a:lstStyle/>
          <a:p>
            <a:pPr defTabSz="1219170">
              <a:defRPr/>
            </a:pPr>
            <a:r>
              <a:rPr lang="en-US" sz="2133" b="1" kern="0">
                <a:latin typeface="Courier"/>
              </a:rPr>
              <a:t>$ </a:t>
            </a:r>
            <a:r>
              <a:rPr lang="en-US" sz="2133" b="1" kern="0">
                <a:solidFill>
                  <a:srgbClr val="7F7F7F"/>
                </a:solidFill>
                <a:latin typeface="Courier"/>
              </a:rPr>
              <a:t>aws ec2</a:t>
            </a:r>
            <a:r>
              <a:rPr lang="en-US" sz="2133" b="1" kern="0">
                <a:solidFill>
                  <a:schemeClr val="tx1">
                    <a:lumMod val="50000"/>
                    <a:lumOff val="50000"/>
                  </a:schemeClr>
                </a:solidFill>
                <a:latin typeface="Courier"/>
              </a:rPr>
              <a:t> </a:t>
            </a:r>
            <a:r>
              <a:rPr lang="en-US" sz="2133" b="1" kern="0" dirty="0">
                <a:solidFill>
                  <a:schemeClr val="tx1">
                    <a:lumMod val="50000"/>
                    <a:lumOff val="50000"/>
                  </a:schemeClr>
                </a:solidFill>
                <a:latin typeface="Courier"/>
              </a:rPr>
              <a:t>stop-instances -–instance-id i-1234567890abcdef0</a:t>
            </a:r>
          </a:p>
        </p:txBody>
      </p:sp>
      <p:cxnSp>
        <p:nvCxnSpPr>
          <p:cNvPr id="11" name="Straight Arrow Connector 10">
            <a:extLst>
              <a:ext uri="{FF2B5EF4-FFF2-40B4-BE49-F238E27FC236}">
                <a16:creationId xmlns:a16="http://schemas.microsoft.com/office/drawing/2014/main" id="{3AF4A900-19F1-41BD-B2F7-402D0A1644A7}"/>
              </a:ext>
            </a:extLst>
          </p:cNvPr>
          <p:cNvCxnSpPr/>
          <p:nvPr/>
        </p:nvCxnSpPr>
        <p:spPr>
          <a:xfrm>
            <a:off x="2871591" y="2454405"/>
            <a:ext cx="948" cy="3712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C9ADA8F0-93F2-443C-90FB-18E29FC2ADE7}"/>
              </a:ext>
            </a:extLst>
          </p:cNvPr>
          <p:cNvCxnSpPr/>
          <p:nvPr/>
        </p:nvCxnSpPr>
        <p:spPr>
          <a:xfrm>
            <a:off x="4463000" y="2439217"/>
            <a:ext cx="948" cy="3712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ight Brace 12">
            <a:extLst>
              <a:ext uri="{FF2B5EF4-FFF2-40B4-BE49-F238E27FC236}">
                <a16:creationId xmlns:a16="http://schemas.microsoft.com/office/drawing/2014/main" id="{DD9767FB-024D-499F-937E-DA18DCE16BAD}"/>
              </a:ext>
            </a:extLst>
          </p:cNvPr>
          <p:cNvSpPr/>
          <p:nvPr/>
        </p:nvSpPr>
        <p:spPr>
          <a:xfrm rot="16200000">
            <a:off x="9449043" y="-1056466"/>
            <a:ext cx="491031" cy="7348155"/>
          </a:xfrm>
          <a:prstGeom prst="rightBrace">
            <a:avLst>
              <a:gd name="adj1" fmla="val 61491"/>
              <a:gd name="adj2" fmla="val 50808"/>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0192D7F-681F-49C1-877C-73C23C612FCD}"/>
              </a:ext>
            </a:extLst>
          </p:cNvPr>
          <p:cNvSpPr/>
          <p:nvPr/>
        </p:nvSpPr>
        <p:spPr>
          <a:xfrm>
            <a:off x="6309404" y="1403803"/>
            <a:ext cx="2624331" cy="369332"/>
          </a:xfrm>
          <a:prstGeom prst="rect">
            <a:avLst/>
          </a:prstGeom>
        </p:spPr>
        <p:txBody>
          <a:bodyPr wrap="square">
            <a:spAutoFit/>
          </a:bodyPr>
          <a:lstStyle/>
          <a:p>
            <a:pPr algn="ctr"/>
            <a:r>
              <a:rPr lang="en-US" b="1" dirty="0">
                <a:solidFill>
                  <a:srgbClr val="18537D"/>
                </a:solidFill>
              </a:rPr>
              <a:t>Example - EC2 CLI</a:t>
            </a:r>
          </a:p>
        </p:txBody>
      </p:sp>
    </p:spTree>
    <p:extLst>
      <p:ext uri="{BB962C8B-B14F-4D97-AF65-F5344CB8AC3E}">
        <p14:creationId xmlns:p14="http://schemas.microsoft.com/office/powerpoint/2010/main" val="836826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4F436E-DC69-41FF-BB5F-66DD06AC1C7D}"/>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C2EFC573-28AE-4E27-808F-40D2D3D4B83A}"/>
              </a:ext>
            </a:extLst>
          </p:cNvPr>
          <p:cNvSpPr>
            <a:spLocks noGrp="1"/>
          </p:cNvSpPr>
          <p:nvPr>
            <p:ph type="sldNum" sz="quarter" idx="17"/>
          </p:nvPr>
        </p:nvSpPr>
        <p:spPr/>
        <p:txBody>
          <a:bodyPr/>
          <a:lstStyle/>
          <a:p>
            <a:fld id="{4F9AC08D-23A9-440E-BCB9-AA1E9877CC38}" type="slidenum">
              <a:rPr lang="en-US" smtClean="0"/>
              <a:pPr/>
              <a:t>38</a:t>
            </a:fld>
            <a:endParaRPr lang="en-US" dirty="0"/>
          </a:p>
        </p:txBody>
      </p:sp>
      <p:sp>
        <p:nvSpPr>
          <p:cNvPr id="4" name="Title 3">
            <a:extLst>
              <a:ext uri="{FF2B5EF4-FFF2-40B4-BE49-F238E27FC236}">
                <a16:creationId xmlns:a16="http://schemas.microsoft.com/office/drawing/2014/main" id="{2DB4E2D9-9251-48CB-810B-CA1BDC049F17}"/>
              </a:ext>
            </a:extLst>
          </p:cNvPr>
          <p:cNvSpPr>
            <a:spLocks noGrp="1"/>
          </p:cNvSpPr>
          <p:nvPr>
            <p:ph type="title"/>
          </p:nvPr>
        </p:nvSpPr>
        <p:spPr/>
        <p:txBody>
          <a:bodyPr/>
          <a:lstStyle/>
          <a:p>
            <a:r>
              <a:rPr lang="en-US" dirty="0" err="1">
                <a:solidFill>
                  <a:schemeClr val="bg1"/>
                </a:solidFill>
              </a:rPr>
              <a:t>sdk</a:t>
            </a:r>
            <a:endParaRPr lang="en-US" dirty="0">
              <a:solidFill>
                <a:schemeClr val="bg1"/>
              </a:solidFill>
            </a:endParaRPr>
          </a:p>
        </p:txBody>
      </p:sp>
      <p:sp>
        <p:nvSpPr>
          <p:cNvPr id="5" name="Rectangle 4">
            <a:extLst>
              <a:ext uri="{FF2B5EF4-FFF2-40B4-BE49-F238E27FC236}">
                <a16:creationId xmlns:a16="http://schemas.microsoft.com/office/drawing/2014/main" id="{C85B8593-1EB1-46B8-B4B3-5533ECC054A6}"/>
              </a:ext>
            </a:extLst>
          </p:cNvPr>
          <p:cNvSpPr/>
          <p:nvPr/>
        </p:nvSpPr>
        <p:spPr>
          <a:xfrm>
            <a:off x="1427356" y="1212722"/>
            <a:ext cx="11151219" cy="369332"/>
          </a:xfrm>
          <a:prstGeom prst="rect">
            <a:avLst/>
          </a:prstGeom>
        </p:spPr>
        <p:txBody>
          <a:bodyPr wrap="square">
            <a:spAutoFit/>
          </a:bodyPr>
          <a:lstStyle/>
          <a:p>
            <a:r>
              <a:rPr lang="en-US" b="1" dirty="0">
                <a:solidFill>
                  <a:srgbClr val="18537D"/>
                </a:solidFill>
              </a:rPr>
              <a:t>SDKs take the complexity out of coding by providing language-specific APIs for AWS services</a:t>
            </a:r>
          </a:p>
        </p:txBody>
      </p:sp>
      <p:pic>
        <p:nvPicPr>
          <p:cNvPr id="6" name="Picture 5">
            <a:extLst>
              <a:ext uri="{FF2B5EF4-FFF2-40B4-BE49-F238E27FC236}">
                <a16:creationId xmlns:a16="http://schemas.microsoft.com/office/drawing/2014/main" id="{62759F18-2EB6-4CDB-9376-659CB7DC562C}"/>
              </a:ext>
            </a:extLst>
          </p:cNvPr>
          <p:cNvPicPr>
            <a:picLocks noChangeAspect="1"/>
          </p:cNvPicPr>
          <p:nvPr/>
        </p:nvPicPr>
        <p:blipFill>
          <a:blip r:embed="rId2"/>
          <a:stretch>
            <a:fillRect/>
          </a:stretch>
        </p:blipFill>
        <p:spPr>
          <a:xfrm>
            <a:off x="980712" y="2189956"/>
            <a:ext cx="12258244" cy="2861546"/>
          </a:xfrm>
          <a:prstGeom prst="rect">
            <a:avLst/>
          </a:prstGeom>
        </p:spPr>
      </p:pic>
    </p:spTree>
    <p:extLst>
      <p:ext uri="{BB962C8B-B14F-4D97-AF65-F5344CB8AC3E}">
        <p14:creationId xmlns:p14="http://schemas.microsoft.com/office/powerpoint/2010/main" val="7037961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499C3E5-3838-47D6-BE9C-2E4FED67D835}"/>
              </a:ext>
            </a:extLst>
          </p:cNvPr>
          <p:cNvSpPr>
            <a:spLocks noGrp="1"/>
          </p:cNvSpPr>
          <p:nvPr>
            <p:ph type="ftr" sz="quarter" idx="16"/>
          </p:nvPr>
        </p:nvSpPr>
        <p:spPr>
          <a:xfrm>
            <a:off x="450010" y="6843454"/>
            <a:ext cx="6750098" cy="216646"/>
          </a:xfrm>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28AD270F-124D-44E8-A91D-E876222A10E3}"/>
              </a:ext>
            </a:extLst>
          </p:cNvPr>
          <p:cNvSpPr>
            <a:spLocks noGrp="1"/>
          </p:cNvSpPr>
          <p:nvPr>
            <p:ph type="sldNum" sz="quarter" idx="17"/>
          </p:nvPr>
        </p:nvSpPr>
        <p:spPr>
          <a:xfrm>
            <a:off x="13590205" y="6843454"/>
            <a:ext cx="360005" cy="216646"/>
          </a:xfrm>
        </p:spPr>
        <p:txBody>
          <a:bodyPr/>
          <a:lstStyle/>
          <a:p>
            <a:fld id="{4F9AC08D-23A9-440E-BCB9-AA1E9877CC38}" type="slidenum">
              <a:rPr lang="en-US" smtClean="0"/>
              <a:pPr/>
              <a:t>39</a:t>
            </a:fld>
            <a:endParaRPr lang="en-US" dirty="0"/>
          </a:p>
        </p:txBody>
      </p:sp>
      <p:sp>
        <p:nvSpPr>
          <p:cNvPr id="4" name="Title 3">
            <a:extLst>
              <a:ext uri="{FF2B5EF4-FFF2-40B4-BE49-F238E27FC236}">
                <a16:creationId xmlns:a16="http://schemas.microsoft.com/office/drawing/2014/main" id="{C1DE5A10-DFD7-454D-BB73-03A2E96BAC0A}"/>
              </a:ext>
            </a:extLst>
          </p:cNvPr>
          <p:cNvSpPr>
            <a:spLocks noGrp="1"/>
          </p:cNvSpPr>
          <p:nvPr>
            <p:ph type="title"/>
          </p:nvPr>
        </p:nvSpPr>
        <p:spPr>
          <a:xfrm>
            <a:off x="450007" y="366360"/>
            <a:ext cx="13500200" cy="1359871"/>
          </a:xfrm>
        </p:spPr>
        <p:txBody>
          <a:bodyPr/>
          <a:lstStyle/>
          <a:p>
            <a:r>
              <a:rPr lang="en-US" dirty="0">
                <a:solidFill>
                  <a:schemeClr val="bg1"/>
                </a:solidFill>
              </a:rPr>
              <a:t>Python SDK – Boto3 </a:t>
            </a:r>
          </a:p>
        </p:txBody>
      </p:sp>
      <p:sp>
        <p:nvSpPr>
          <p:cNvPr id="5" name="Rectangle 4">
            <a:extLst>
              <a:ext uri="{FF2B5EF4-FFF2-40B4-BE49-F238E27FC236}">
                <a16:creationId xmlns:a16="http://schemas.microsoft.com/office/drawing/2014/main" id="{B5428E52-52BA-42BE-B389-3262FC9385B2}"/>
              </a:ext>
            </a:extLst>
          </p:cNvPr>
          <p:cNvSpPr/>
          <p:nvPr/>
        </p:nvSpPr>
        <p:spPr>
          <a:xfrm>
            <a:off x="991065" y="1079900"/>
            <a:ext cx="12078164" cy="646331"/>
          </a:xfrm>
          <a:prstGeom prst="rect">
            <a:avLst/>
          </a:prstGeom>
        </p:spPr>
        <p:txBody>
          <a:bodyPr wrap="square">
            <a:spAutoFit/>
          </a:bodyPr>
          <a:lstStyle/>
          <a:p>
            <a:pPr algn="ctr"/>
            <a:r>
              <a:rPr lang="en-US" b="1" dirty="0">
                <a:solidFill>
                  <a:srgbClr val="18537D"/>
                </a:solidFill>
              </a:rPr>
              <a:t>Boto3 makes it easy to integrate your Python application, library, or script with AWS services including Amazon S3, Amazon EC2, Amazon DynamoDB, and more.</a:t>
            </a:r>
          </a:p>
        </p:txBody>
      </p:sp>
      <p:sp>
        <p:nvSpPr>
          <p:cNvPr id="7" name="Rectangle 6">
            <a:extLst>
              <a:ext uri="{FF2B5EF4-FFF2-40B4-BE49-F238E27FC236}">
                <a16:creationId xmlns:a16="http://schemas.microsoft.com/office/drawing/2014/main" id="{166C2292-83F0-41CC-BBD3-F101E71198AB}"/>
              </a:ext>
            </a:extLst>
          </p:cNvPr>
          <p:cNvSpPr/>
          <p:nvPr/>
        </p:nvSpPr>
        <p:spPr>
          <a:xfrm>
            <a:off x="450007" y="2070439"/>
            <a:ext cx="13140197" cy="3329181"/>
          </a:xfrm>
          <a:prstGeom prst="rect">
            <a:avLst/>
          </a:prstGeom>
        </p:spPr>
        <p:txBody>
          <a:bodyPr wrap="square">
            <a:spAutoFit/>
          </a:bodyPr>
          <a:lstStyle/>
          <a:p>
            <a:pPr>
              <a:lnSpc>
                <a:spcPct val="200000"/>
              </a:lnSpc>
            </a:pPr>
            <a:r>
              <a:rPr lang="en-US" b="1" dirty="0">
                <a:solidFill>
                  <a:srgbClr val="18537D"/>
                </a:solidFill>
              </a:rPr>
              <a:t>Key Features</a:t>
            </a:r>
          </a:p>
          <a:p>
            <a:pPr marL="742950" lvl="1" indent="-285750">
              <a:lnSpc>
                <a:spcPct val="200000"/>
              </a:lnSpc>
              <a:buFont typeface="Arial" panose="020B0604020202020204" pitchFamily="34" charset="0"/>
              <a:buChar char="•"/>
            </a:pPr>
            <a:r>
              <a:rPr lang="en-US" dirty="0">
                <a:solidFill>
                  <a:srgbClr val="18537D"/>
                </a:solidFill>
              </a:rPr>
              <a:t>Client and Resource API</a:t>
            </a:r>
          </a:p>
          <a:p>
            <a:pPr marL="742950" lvl="1" indent="-285750">
              <a:lnSpc>
                <a:spcPct val="200000"/>
              </a:lnSpc>
              <a:buFont typeface="Arial" panose="020B0604020202020204" pitchFamily="34" charset="0"/>
              <a:buChar char="•"/>
            </a:pPr>
            <a:r>
              <a:rPr lang="en-US" dirty="0">
                <a:solidFill>
                  <a:srgbClr val="18537D"/>
                </a:solidFill>
              </a:rPr>
              <a:t>Up-to-date and Consistent Interface</a:t>
            </a:r>
          </a:p>
          <a:p>
            <a:pPr marL="742950" lvl="1" indent="-285750">
              <a:lnSpc>
                <a:spcPct val="200000"/>
              </a:lnSpc>
              <a:buFont typeface="Arial" panose="020B0604020202020204" pitchFamily="34" charset="0"/>
              <a:buChar char="•"/>
            </a:pPr>
            <a:r>
              <a:rPr lang="en-US" dirty="0">
                <a:solidFill>
                  <a:srgbClr val="18537D"/>
                </a:solidFill>
              </a:rPr>
              <a:t>Support for Python 2 and 3</a:t>
            </a:r>
          </a:p>
          <a:p>
            <a:pPr marL="742950" lvl="1" indent="-285750">
              <a:lnSpc>
                <a:spcPct val="200000"/>
              </a:lnSpc>
              <a:buFont typeface="Arial" panose="020B0604020202020204" pitchFamily="34" charset="0"/>
              <a:buChar char="•"/>
            </a:pPr>
            <a:r>
              <a:rPr lang="en-US" dirty="0">
                <a:solidFill>
                  <a:srgbClr val="18537D"/>
                </a:solidFill>
              </a:rPr>
              <a:t>Waiters</a:t>
            </a:r>
          </a:p>
          <a:p>
            <a:pPr marL="742950" lvl="1" indent="-285750">
              <a:lnSpc>
                <a:spcPct val="200000"/>
              </a:lnSpc>
              <a:buFont typeface="Arial" panose="020B0604020202020204" pitchFamily="34" charset="0"/>
              <a:buChar char="•"/>
            </a:pPr>
            <a:r>
              <a:rPr lang="en-US" dirty="0">
                <a:solidFill>
                  <a:srgbClr val="18537D"/>
                </a:solidFill>
              </a:rPr>
              <a:t>Service-specific High-level Features</a:t>
            </a:r>
          </a:p>
        </p:txBody>
      </p:sp>
    </p:spTree>
    <p:extLst>
      <p:ext uri="{BB962C8B-B14F-4D97-AF65-F5344CB8AC3E}">
        <p14:creationId xmlns:p14="http://schemas.microsoft.com/office/powerpoint/2010/main" val="2550146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E577CF-7763-4F71-B2D5-C88174DA75F2}"/>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F49D3B84-234A-484C-B25F-A0E1E5F445F3}"/>
              </a:ext>
            </a:extLst>
          </p:cNvPr>
          <p:cNvSpPr>
            <a:spLocks noGrp="1"/>
          </p:cNvSpPr>
          <p:nvPr>
            <p:ph type="sldNum" sz="quarter" idx="17"/>
          </p:nvPr>
        </p:nvSpPr>
        <p:spPr/>
        <p:txBody>
          <a:bodyPr/>
          <a:lstStyle/>
          <a:p>
            <a:fld id="{4F9AC08D-23A9-440E-BCB9-AA1E9877CC38}" type="slidenum">
              <a:rPr lang="en-US" smtClean="0"/>
              <a:pPr/>
              <a:t>40</a:t>
            </a:fld>
            <a:endParaRPr lang="en-US" dirty="0"/>
          </a:p>
        </p:txBody>
      </p:sp>
      <p:sp>
        <p:nvSpPr>
          <p:cNvPr id="4" name="Title 3">
            <a:extLst>
              <a:ext uri="{FF2B5EF4-FFF2-40B4-BE49-F238E27FC236}">
                <a16:creationId xmlns:a16="http://schemas.microsoft.com/office/drawing/2014/main" id="{89FFDC4E-6E5C-439D-8DA7-4A02B76DD517}"/>
              </a:ext>
            </a:extLst>
          </p:cNvPr>
          <p:cNvSpPr>
            <a:spLocks noGrp="1"/>
          </p:cNvSpPr>
          <p:nvPr>
            <p:ph type="title"/>
          </p:nvPr>
        </p:nvSpPr>
        <p:spPr/>
        <p:txBody>
          <a:bodyPr/>
          <a:lstStyle/>
          <a:p>
            <a:r>
              <a:rPr lang="en-US" dirty="0">
                <a:solidFill>
                  <a:schemeClr val="bg1"/>
                </a:solidFill>
              </a:rPr>
              <a:t>Ide AND ide TOOLKITS	</a:t>
            </a:r>
          </a:p>
        </p:txBody>
      </p:sp>
      <p:sp>
        <p:nvSpPr>
          <p:cNvPr id="5" name="Rectangle 4">
            <a:extLst>
              <a:ext uri="{FF2B5EF4-FFF2-40B4-BE49-F238E27FC236}">
                <a16:creationId xmlns:a16="http://schemas.microsoft.com/office/drawing/2014/main" id="{E91D2DED-8FC4-4486-8EF8-BB764352945B}"/>
              </a:ext>
            </a:extLst>
          </p:cNvPr>
          <p:cNvSpPr/>
          <p:nvPr/>
        </p:nvSpPr>
        <p:spPr>
          <a:xfrm>
            <a:off x="2443414" y="1113505"/>
            <a:ext cx="9513384" cy="646331"/>
          </a:xfrm>
          <a:prstGeom prst="rect">
            <a:avLst/>
          </a:prstGeom>
        </p:spPr>
        <p:txBody>
          <a:bodyPr wrap="square">
            <a:spAutoFit/>
          </a:bodyPr>
          <a:lstStyle/>
          <a:p>
            <a:pPr algn="ctr"/>
            <a:r>
              <a:rPr lang="en-US" b="1" dirty="0">
                <a:solidFill>
                  <a:srgbClr val="18537D"/>
                </a:solidFill>
              </a:rPr>
              <a:t>Write, run, debug, and deploy applications on Amazon Web Services using language-specific Integrated Development Environments (IDE)</a:t>
            </a:r>
          </a:p>
        </p:txBody>
      </p:sp>
      <p:pic>
        <p:nvPicPr>
          <p:cNvPr id="6" name="Picture 5">
            <a:extLst>
              <a:ext uri="{FF2B5EF4-FFF2-40B4-BE49-F238E27FC236}">
                <a16:creationId xmlns:a16="http://schemas.microsoft.com/office/drawing/2014/main" id="{BFF4005D-804A-49BD-A21F-B00642ADF2E4}"/>
              </a:ext>
            </a:extLst>
          </p:cNvPr>
          <p:cNvPicPr>
            <a:picLocks noChangeAspect="1"/>
          </p:cNvPicPr>
          <p:nvPr/>
        </p:nvPicPr>
        <p:blipFill>
          <a:blip r:embed="rId2"/>
          <a:stretch>
            <a:fillRect/>
          </a:stretch>
        </p:blipFill>
        <p:spPr>
          <a:xfrm>
            <a:off x="1035282" y="2274520"/>
            <a:ext cx="12734925" cy="2895600"/>
          </a:xfrm>
          <a:prstGeom prst="rect">
            <a:avLst/>
          </a:prstGeom>
        </p:spPr>
      </p:pic>
    </p:spTree>
    <p:extLst>
      <p:ext uri="{BB962C8B-B14F-4D97-AF65-F5344CB8AC3E}">
        <p14:creationId xmlns:p14="http://schemas.microsoft.com/office/powerpoint/2010/main" val="4234355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An administrator is getting an error while trying to create a new bucket in S3? You feel that bucket limit has been crossed. What is the bucket limit per account in </a:t>
            </a:r>
            <a:r>
              <a:rPr lang="en-US" dirty="0" err="1">
                <a:solidFill>
                  <a:srgbClr val="18537D"/>
                </a:solidFill>
              </a:rPr>
              <a:t>AWS?Choose</a:t>
            </a:r>
            <a:r>
              <a:rPr lang="en-US" dirty="0">
                <a:solidFill>
                  <a:srgbClr val="18537D"/>
                </a:solidFill>
              </a:rPr>
              <a:t>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50</a:t>
            </a:r>
          </a:p>
          <a:p>
            <a:pPr>
              <a:lnSpc>
                <a:spcPct val="150000"/>
              </a:lnSpc>
            </a:pPr>
            <a:r>
              <a:rPr lang="en-US" dirty="0">
                <a:solidFill>
                  <a:srgbClr val="18537D"/>
                </a:solidFill>
              </a:rPr>
              <a:t>b. 1000</a:t>
            </a:r>
          </a:p>
          <a:p>
            <a:pPr>
              <a:lnSpc>
                <a:spcPct val="150000"/>
              </a:lnSpc>
            </a:pPr>
            <a:r>
              <a:rPr lang="en-US" dirty="0">
                <a:solidFill>
                  <a:srgbClr val="18537D"/>
                </a:solidFill>
              </a:rPr>
              <a:t>c. 150</a:t>
            </a:r>
          </a:p>
          <a:p>
            <a:pPr>
              <a:lnSpc>
                <a:spcPct val="150000"/>
              </a:lnSpc>
            </a:pPr>
            <a:r>
              <a:rPr lang="en-US" dirty="0">
                <a:solidFill>
                  <a:srgbClr val="18537D"/>
                </a:solidFill>
              </a:rPr>
              <a:t>d. 100</a:t>
            </a:r>
          </a:p>
        </p:txBody>
      </p:sp>
    </p:spTree>
    <p:extLst>
      <p:ext uri="{BB962C8B-B14F-4D97-AF65-F5344CB8AC3E}">
        <p14:creationId xmlns:p14="http://schemas.microsoft.com/office/powerpoint/2010/main" val="1185873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An administrator is getting an error while trying to create a new bucket in S3? You feel that </a:t>
            </a:r>
            <a:r>
              <a:rPr lang="en-US" b="1" dirty="0">
                <a:solidFill>
                  <a:srgbClr val="18537D"/>
                </a:solidFill>
              </a:rPr>
              <a:t>bucket limit has been crossed</a:t>
            </a:r>
            <a:r>
              <a:rPr lang="en-US" dirty="0">
                <a:solidFill>
                  <a:srgbClr val="18537D"/>
                </a:solidFill>
              </a:rPr>
              <a:t>. What is the </a:t>
            </a:r>
            <a:r>
              <a:rPr lang="en-US" b="1" dirty="0">
                <a:solidFill>
                  <a:srgbClr val="18537D"/>
                </a:solidFill>
              </a:rPr>
              <a:t>bucket limit per account</a:t>
            </a:r>
            <a:r>
              <a:rPr lang="en-US" dirty="0">
                <a:solidFill>
                  <a:srgbClr val="18537D"/>
                </a:solidFill>
              </a:rPr>
              <a:t> in </a:t>
            </a:r>
            <a:r>
              <a:rPr lang="en-US" dirty="0" err="1">
                <a:solidFill>
                  <a:srgbClr val="18537D"/>
                </a:solidFill>
              </a:rPr>
              <a:t>AWS?Choose</a:t>
            </a:r>
            <a:r>
              <a:rPr lang="en-US" dirty="0">
                <a:solidFill>
                  <a:srgbClr val="18537D"/>
                </a:solidFill>
              </a:rPr>
              <a:t>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50</a:t>
            </a:r>
          </a:p>
          <a:p>
            <a:pPr>
              <a:lnSpc>
                <a:spcPct val="150000"/>
              </a:lnSpc>
            </a:pPr>
            <a:r>
              <a:rPr lang="en-US" dirty="0">
                <a:solidFill>
                  <a:srgbClr val="18537D"/>
                </a:solidFill>
              </a:rPr>
              <a:t>b. 1000</a:t>
            </a:r>
          </a:p>
          <a:p>
            <a:pPr>
              <a:lnSpc>
                <a:spcPct val="150000"/>
              </a:lnSpc>
            </a:pPr>
            <a:r>
              <a:rPr lang="en-US" dirty="0">
                <a:solidFill>
                  <a:srgbClr val="18537D"/>
                </a:solidFill>
              </a:rPr>
              <a:t>c. 150</a:t>
            </a:r>
          </a:p>
          <a:p>
            <a:pPr>
              <a:lnSpc>
                <a:spcPct val="150000"/>
              </a:lnSpc>
            </a:pPr>
            <a:r>
              <a:rPr lang="en-US" dirty="0">
                <a:solidFill>
                  <a:srgbClr val="18537D"/>
                </a:solidFill>
              </a:rPr>
              <a:t>d</a:t>
            </a:r>
            <a:r>
              <a:rPr lang="en-US" b="1" dirty="0">
                <a:solidFill>
                  <a:srgbClr val="18537D"/>
                </a:solidFill>
              </a:rPr>
              <a:t>. 100</a:t>
            </a:r>
          </a:p>
        </p:txBody>
      </p:sp>
    </p:spTree>
    <p:extLst>
      <p:ext uri="{BB962C8B-B14F-4D97-AF65-F5344CB8AC3E}">
        <p14:creationId xmlns:p14="http://schemas.microsoft.com/office/powerpoint/2010/main" val="3597326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7474"/>
          </a:xfrm>
          <a:prstGeom prst="rect">
            <a:avLst/>
          </a:prstGeom>
        </p:spPr>
        <p:txBody>
          <a:bodyPr wrap="square">
            <a:spAutoFit/>
          </a:bodyPr>
          <a:lstStyle/>
          <a:p>
            <a:pPr>
              <a:lnSpc>
                <a:spcPct val="150000"/>
              </a:lnSpc>
            </a:pPr>
            <a:r>
              <a:rPr lang="en-US" dirty="0">
                <a:solidFill>
                  <a:srgbClr val="18537D"/>
                </a:solidFill>
              </a:rPr>
              <a:t>A company will be uploading several terabytes of data to Amazon S3. What is the </a:t>
            </a:r>
            <a:r>
              <a:rPr lang="en-US" b="1" dirty="0">
                <a:solidFill>
                  <a:srgbClr val="18537D"/>
                </a:solidFill>
              </a:rPr>
              <a:t>SIMPLEST solution to</a:t>
            </a:r>
          </a:p>
          <a:p>
            <a:pPr>
              <a:lnSpc>
                <a:spcPct val="150000"/>
              </a:lnSpc>
            </a:pPr>
            <a:r>
              <a:rPr lang="en-US" b="1" dirty="0">
                <a:solidFill>
                  <a:srgbClr val="18537D"/>
                </a:solidFill>
              </a:rPr>
              <a:t>ensure that the data is encrypted before it is sent to S3 </a:t>
            </a:r>
            <a:r>
              <a:rPr lang="en-US" dirty="0">
                <a:solidFill>
                  <a:srgbClr val="18537D"/>
                </a:solidFill>
              </a:rPr>
              <a:t>and whilst in transit?</a:t>
            </a:r>
          </a:p>
          <a:p>
            <a:pPr>
              <a:lnSpc>
                <a:spcPct val="150000"/>
              </a:lnSpc>
            </a:pPr>
            <a:endParaRPr lang="en-US" dirty="0">
              <a:solidFill>
                <a:srgbClr val="18537D"/>
              </a:solidFill>
            </a:endParaRPr>
          </a:p>
          <a:p>
            <a:pPr>
              <a:lnSpc>
                <a:spcPct val="150000"/>
              </a:lnSpc>
            </a:pPr>
            <a:r>
              <a:rPr lang="en-US" dirty="0">
                <a:solidFill>
                  <a:srgbClr val="18537D"/>
                </a:solidFill>
              </a:rPr>
              <a:t>a. Use client-side encryption with a KMS managed CMK and SSL</a:t>
            </a:r>
          </a:p>
          <a:p>
            <a:pPr>
              <a:lnSpc>
                <a:spcPct val="150000"/>
              </a:lnSpc>
            </a:pPr>
            <a:r>
              <a:rPr lang="en-US" dirty="0">
                <a:solidFill>
                  <a:srgbClr val="18537D"/>
                </a:solidFill>
              </a:rPr>
              <a:t>b. Use server-side encryption with client provided keys</a:t>
            </a:r>
          </a:p>
          <a:p>
            <a:pPr>
              <a:lnSpc>
                <a:spcPct val="150000"/>
              </a:lnSpc>
            </a:pPr>
            <a:r>
              <a:rPr lang="en-US" dirty="0">
                <a:solidFill>
                  <a:srgbClr val="18537D"/>
                </a:solidFill>
              </a:rPr>
              <a:t>c. Use client-side encryption and a hardware VPN to a VPC and an S3 endpoint</a:t>
            </a:r>
          </a:p>
          <a:p>
            <a:pPr>
              <a:lnSpc>
                <a:spcPct val="150000"/>
              </a:lnSpc>
            </a:pPr>
            <a:r>
              <a:rPr lang="en-US" dirty="0">
                <a:solidFill>
                  <a:srgbClr val="18537D"/>
                </a:solidFill>
              </a:rPr>
              <a:t>d. Use server-side encryption with S3 managed keys and SSL</a:t>
            </a:r>
            <a:endParaRPr lang="en-US" b="1" dirty="0">
              <a:solidFill>
                <a:srgbClr val="18537D"/>
              </a:solidFill>
            </a:endParaRPr>
          </a:p>
        </p:txBody>
      </p:sp>
    </p:spTree>
    <p:extLst>
      <p:ext uri="{BB962C8B-B14F-4D97-AF65-F5344CB8AC3E}">
        <p14:creationId xmlns:p14="http://schemas.microsoft.com/office/powerpoint/2010/main" val="36163036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7474"/>
          </a:xfrm>
          <a:prstGeom prst="rect">
            <a:avLst/>
          </a:prstGeom>
        </p:spPr>
        <p:txBody>
          <a:bodyPr wrap="square">
            <a:spAutoFit/>
          </a:bodyPr>
          <a:lstStyle/>
          <a:p>
            <a:pPr>
              <a:lnSpc>
                <a:spcPct val="150000"/>
              </a:lnSpc>
            </a:pPr>
            <a:r>
              <a:rPr lang="en-US" dirty="0">
                <a:solidFill>
                  <a:srgbClr val="18537D"/>
                </a:solidFill>
              </a:rPr>
              <a:t>A company will be uploading several terabytes of data to Amazon S3. What is the </a:t>
            </a:r>
            <a:r>
              <a:rPr lang="en-US" b="1" dirty="0">
                <a:solidFill>
                  <a:srgbClr val="18537D"/>
                </a:solidFill>
              </a:rPr>
              <a:t>SIMPLEST solution to</a:t>
            </a:r>
          </a:p>
          <a:p>
            <a:pPr>
              <a:lnSpc>
                <a:spcPct val="150000"/>
              </a:lnSpc>
            </a:pPr>
            <a:r>
              <a:rPr lang="en-US" b="1" dirty="0">
                <a:solidFill>
                  <a:srgbClr val="18537D"/>
                </a:solidFill>
              </a:rPr>
              <a:t>ensure that the data is encrypted before it is sent to S3 </a:t>
            </a:r>
            <a:r>
              <a:rPr lang="en-US" dirty="0">
                <a:solidFill>
                  <a:srgbClr val="18537D"/>
                </a:solidFill>
              </a:rPr>
              <a:t>and whilst in transit?</a:t>
            </a:r>
          </a:p>
          <a:p>
            <a:pPr>
              <a:lnSpc>
                <a:spcPct val="150000"/>
              </a:lnSpc>
            </a:pPr>
            <a:endParaRPr lang="en-US" dirty="0">
              <a:solidFill>
                <a:srgbClr val="18537D"/>
              </a:solidFill>
            </a:endParaRPr>
          </a:p>
          <a:p>
            <a:pPr>
              <a:lnSpc>
                <a:spcPct val="150000"/>
              </a:lnSpc>
            </a:pPr>
            <a:r>
              <a:rPr lang="en-US" b="1" dirty="0">
                <a:solidFill>
                  <a:srgbClr val="18537D"/>
                </a:solidFill>
              </a:rPr>
              <a:t>a. Use client-side encryption with a KMS managed CMK and SSL</a:t>
            </a:r>
          </a:p>
          <a:p>
            <a:pPr>
              <a:lnSpc>
                <a:spcPct val="150000"/>
              </a:lnSpc>
            </a:pPr>
            <a:r>
              <a:rPr lang="en-US" dirty="0">
                <a:solidFill>
                  <a:srgbClr val="18537D"/>
                </a:solidFill>
              </a:rPr>
              <a:t>b. Use server-side encryption with client provided keys</a:t>
            </a:r>
          </a:p>
          <a:p>
            <a:pPr>
              <a:lnSpc>
                <a:spcPct val="150000"/>
              </a:lnSpc>
            </a:pPr>
            <a:r>
              <a:rPr lang="en-US" dirty="0">
                <a:solidFill>
                  <a:srgbClr val="18537D"/>
                </a:solidFill>
              </a:rPr>
              <a:t>c. Use client-side encryption and a hardware VPN to a VPC and an S3 endpoint</a:t>
            </a:r>
          </a:p>
          <a:p>
            <a:pPr>
              <a:lnSpc>
                <a:spcPct val="150000"/>
              </a:lnSpc>
            </a:pPr>
            <a:r>
              <a:rPr lang="en-US" dirty="0">
                <a:solidFill>
                  <a:srgbClr val="18537D"/>
                </a:solidFill>
              </a:rPr>
              <a:t>d. Use server-side encryption with S3 managed keys and SSL</a:t>
            </a:r>
            <a:endParaRPr lang="en-US" b="1" dirty="0">
              <a:solidFill>
                <a:srgbClr val="18537D"/>
              </a:solidFill>
            </a:endParaRPr>
          </a:p>
        </p:txBody>
      </p:sp>
    </p:spTree>
    <p:extLst>
      <p:ext uri="{BB962C8B-B14F-4D97-AF65-F5344CB8AC3E}">
        <p14:creationId xmlns:p14="http://schemas.microsoft.com/office/powerpoint/2010/main" val="814380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developer has deployed an application on an Amazon </a:t>
            </a:r>
            <a:r>
              <a:rPr lang="en-US" b="1" dirty="0">
                <a:solidFill>
                  <a:srgbClr val="18537D"/>
                </a:solidFill>
              </a:rPr>
              <a:t>EC2 instance in a private subnet within a VPC</a:t>
            </a:r>
            <a:r>
              <a:rPr lang="en-US" dirty="0">
                <a:solidFill>
                  <a:srgbClr val="18537D"/>
                </a:solidFill>
              </a:rPr>
              <a:t>. The</a:t>
            </a:r>
          </a:p>
          <a:p>
            <a:pPr>
              <a:lnSpc>
                <a:spcPct val="150000"/>
              </a:lnSpc>
            </a:pPr>
            <a:r>
              <a:rPr lang="en-US" dirty="0">
                <a:solidFill>
                  <a:srgbClr val="18537D"/>
                </a:solidFill>
              </a:rPr>
              <a:t>subnet does not have Internet connectivity. The developer would like to </a:t>
            </a:r>
            <a:r>
              <a:rPr lang="en-US" b="1" dirty="0">
                <a:solidFill>
                  <a:srgbClr val="18537D"/>
                </a:solidFill>
              </a:rPr>
              <a:t>write application logs to an</a:t>
            </a:r>
          </a:p>
          <a:p>
            <a:pPr>
              <a:lnSpc>
                <a:spcPct val="150000"/>
              </a:lnSpc>
            </a:pPr>
            <a:r>
              <a:rPr lang="en-US" b="1" dirty="0">
                <a:solidFill>
                  <a:srgbClr val="18537D"/>
                </a:solidFill>
              </a:rPr>
              <a:t>Amazon S3 bucket</a:t>
            </a:r>
            <a:r>
              <a:rPr lang="en-US" dirty="0">
                <a:solidFill>
                  <a:srgbClr val="18537D"/>
                </a:solidFill>
              </a:rPr>
              <a:t>. What MUST be configured to enable connectivity?</a:t>
            </a:r>
          </a:p>
          <a:p>
            <a:pPr>
              <a:lnSpc>
                <a:spcPct val="150000"/>
              </a:lnSpc>
            </a:pPr>
            <a:endParaRPr lang="en-US" dirty="0">
              <a:solidFill>
                <a:srgbClr val="18537D"/>
              </a:solidFill>
            </a:endParaRPr>
          </a:p>
          <a:p>
            <a:pPr>
              <a:lnSpc>
                <a:spcPct val="150000"/>
              </a:lnSpc>
            </a:pPr>
            <a:r>
              <a:rPr lang="en-US" dirty="0">
                <a:solidFill>
                  <a:srgbClr val="18537D"/>
                </a:solidFill>
              </a:rPr>
              <a:t>a. An IAM role must be added to the instance that has permissions to write to the S3 bucket</a:t>
            </a:r>
          </a:p>
          <a:p>
            <a:pPr>
              <a:lnSpc>
                <a:spcPct val="150000"/>
              </a:lnSpc>
            </a:pPr>
            <a:r>
              <a:rPr lang="en-US" dirty="0">
                <a:solidFill>
                  <a:srgbClr val="18537D"/>
                </a:solidFill>
              </a:rPr>
              <a:t>b. A bucket policy needs to be added specifying the principles that are allowed to write data to the bucket</a:t>
            </a:r>
          </a:p>
          <a:p>
            <a:pPr>
              <a:lnSpc>
                <a:spcPct val="150000"/>
              </a:lnSpc>
            </a:pPr>
            <a:r>
              <a:rPr lang="en-US" dirty="0">
                <a:solidFill>
                  <a:srgbClr val="18537D"/>
                </a:solidFill>
              </a:rPr>
              <a:t>c. A VPN should be established to enable private connectivity to S3</a:t>
            </a:r>
          </a:p>
          <a:p>
            <a:pPr>
              <a:lnSpc>
                <a:spcPct val="150000"/>
              </a:lnSpc>
            </a:pPr>
            <a:r>
              <a:rPr lang="en-US" dirty="0">
                <a:solidFill>
                  <a:srgbClr val="18537D"/>
                </a:solidFill>
              </a:rPr>
              <a:t>d. A VPC endpoint should be provisioned for S3</a:t>
            </a:r>
          </a:p>
        </p:txBody>
      </p:sp>
    </p:spTree>
    <p:extLst>
      <p:ext uri="{BB962C8B-B14F-4D97-AF65-F5344CB8AC3E}">
        <p14:creationId xmlns:p14="http://schemas.microsoft.com/office/powerpoint/2010/main" val="759274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developer has deployed an application on an Amazon </a:t>
            </a:r>
            <a:r>
              <a:rPr lang="en-US" b="1" dirty="0">
                <a:solidFill>
                  <a:srgbClr val="18537D"/>
                </a:solidFill>
              </a:rPr>
              <a:t>EC2 instance in a private subnet within a VPC</a:t>
            </a:r>
            <a:r>
              <a:rPr lang="en-US" dirty="0">
                <a:solidFill>
                  <a:srgbClr val="18537D"/>
                </a:solidFill>
              </a:rPr>
              <a:t>. The</a:t>
            </a:r>
          </a:p>
          <a:p>
            <a:pPr>
              <a:lnSpc>
                <a:spcPct val="150000"/>
              </a:lnSpc>
            </a:pPr>
            <a:r>
              <a:rPr lang="en-US" dirty="0">
                <a:solidFill>
                  <a:srgbClr val="18537D"/>
                </a:solidFill>
              </a:rPr>
              <a:t>subnet does not have Internet connectivity. The developer would like to </a:t>
            </a:r>
            <a:r>
              <a:rPr lang="en-US" b="1" dirty="0">
                <a:solidFill>
                  <a:srgbClr val="18537D"/>
                </a:solidFill>
              </a:rPr>
              <a:t>write application logs to an</a:t>
            </a:r>
          </a:p>
          <a:p>
            <a:pPr>
              <a:lnSpc>
                <a:spcPct val="150000"/>
              </a:lnSpc>
            </a:pPr>
            <a:r>
              <a:rPr lang="en-US" b="1" dirty="0">
                <a:solidFill>
                  <a:srgbClr val="18537D"/>
                </a:solidFill>
              </a:rPr>
              <a:t>Amazon S3 bucket</a:t>
            </a:r>
            <a:r>
              <a:rPr lang="en-US" dirty="0">
                <a:solidFill>
                  <a:srgbClr val="18537D"/>
                </a:solidFill>
              </a:rPr>
              <a:t>. What MUST be configured to enable connectivity?</a:t>
            </a:r>
          </a:p>
          <a:p>
            <a:pPr>
              <a:lnSpc>
                <a:spcPct val="150000"/>
              </a:lnSpc>
            </a:pPr>
            <a:endParaRPr lang="en-US" dirty="0">
              <a:solidFill>
                <a:srgbClr val="18537D"/>
              </a:solidFill>
            </a:endParaRPr>
          </a:p>
          <a:p>
            <a:pPr>
              <a:lnSpc>
                <a:spcPct val="150000"/>
              </a:lnSpc>
            </a:pPr>
            <a:r>
              <a:rPr lang="en-US" dirty="0">
                <a:solidFill>
                  <a:srgbClr val="18537D"/>
                </a:solidFill>
              </a:rPr>
              <a:t>a. An IAM role must be added to the instance that has permissions to write to the S3 bucket</a:t>
            </a:r>
          </a:p>
          <a:p>
            <a:pPr>
              <a:lnSpc>
                <a:spcPct val="150000"/>
              </a:lnSpc>
            </a:pPr>
            <a:r>
              <a:rPr lang="en-US" dirty="0">
                <a:solidFill>
                  <a:srgbClr val="18537D"/>
                </a:solidFill>
              </a:rPr>
              <a:t>b. A bucket policy needs to be added specifying the principles that are allowed to write data to the bucket</a:t>
            </a:r>
          </a:p>
          <a:p>
            <a:pPr>
              <a:lnSpc>
                <a:spcPct val="150000"/>
              </a:lnSpc>
            </a:pPr>
            <a:r>
              <a:rPr lang="en-US" dirty="0">
                <a:solidFill>
                  <a:srgbClr val="18537D"/>
                </a:solidFill>
              </a:rPr>
              <a:t>c. A VPN should be established to enable private connectivity to S3</a:t>
            </a:r>
          </a:p>
          <a:p>
            <a:pPr>
              <a:lnSpc>
                <a:spcPct val="150000"/>
              </a:lnSpc>
            </a:pPr>
            <a:r>
              <a:rPr lang="en-US" b="1" dirty="0">
                <a:solidFill>
                  <a:srgbClr val="18537D"/>
                </a:solidFill>
              </a:rPr>
              <a:t>d. A VPC endpoint should be provisioned for S3</a:t>
            </a:r>
          </a:p>
        </p:txBody>
      </p:sp>
    </p:spTree>
    <p:extLst>
      <p:ext uri="{BB962C8B-B14F-4D97-AF65-F5344CB8AC3E}">
        <p14:creationId xmlns:p14="http://schemas.microsoft.com/office/powerpoint/2010/main" val="329994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Developer wants to encrypt new objects that are being uploaded to an Amazon S3 bucket by an</a:t>
            </a:r>
          </a:p>
          <a:p>
            <a:pPr>
              <a:lnSpc>
                <a:spcPct val="150000"/>
              </a:lnSpc>
            </a:pPr>
            <a:r>
              <a:rPr lang="en-US" dirty="0">
                <a:solidFill>
                  <a:srgbClr val="18537D"/>
                </a:solidFill>
              </a:rPr>
              <a:t>application. There must be an </a:t>
            </a:r>
            <a:r>
              <a:rPr lang="en-US" b="1" dirty="0">
                <a:solidFill>
                  <a:srgbClr val="18537D"/>
                </a:solidFill>
              </a:rPr>
              <a:t>audit trail of who has used the key during this process. </a:t>
            </a:r>
            <a:r>
              <a:rPr lang="en-US" dirty="0">
                <a:solidFill>
                  <a:srgbClr val="18537D"/>
                </a:solidFill>
              </a:rPr>
              <a:t>There should be no</a:t>
            </a:r>
          </a:p>
          <a:p>
            <a:pPr>
              <a:lnSpc>
                <a:spcPct val="150000"/>
              </a:lnSpc>
            </a:pPr>
            <a:r>
              <a:rPr lang="en-US" dirty="0">
                <a:solidFill>
                  <a:srgbClr val="18537D"/>
                </a:solidFill>
              </a:rPr>
              <a:t>change to the performance of the application. Which type of encryption meets these requirements?</a:t>
            </a:r>
          </a:p>
          <a:p>
            <a:pPr>
              <a:lnSpc>
                <a:spcPct val="150000"/>
              </a:lnSpc>
            </a:pPr>
            <a:endParaRPr lang="en-US" dirty="0">
              <a:solidFill>
                <a:srgbClr val="18537D"/>
              </a:solidFill>
            </a:endParaRPr>
          </a:p>
          <a:p>
            <a:pPr>
              <a:lnSpc>
                <a:spcPct val="150000"/>
              </a:lnSpc>
            </a:pPr>
            <a:r>
              <a:rPr lang="en-US" dirty="0">
                <a:solidFill>
                  <a:srgbClr val="18537D"/>
                </a:solidFill>
              </a:rPr>
              <a:t>a. Server-side encryption using S3-managed keys</a:t>
            </a:r>
          </a:p>
          <a:p>
            <a:pPr>
              <a:lnSpc>
                <a:spcPct val="150000"/>
              </a:lnSpc>
            </a:pPr>
            <a:r>
              <a:rPr lang="en-US" dirty="0">
                <a:solidFill>
                  <a:srgbClr val="18537D"/>
                </a:solidFill>
              </a:rPr>
              <a:t>b. Server-side encryption with AWS KMS-managed keys</a:t>
            </a:r>
          </a:p>
          <a:p>
            <a:pPr>
              <a:lnSpc>
                <a:spcPct val="150000"/>
              </a:lnSpc>
            </a:pPr>
            <a:r>
              <a:rPr lang="en-US" dirty="0">
                <a:solidFill>
                  <a:srgbClr val="18537D"/>
                </a:solidFill>
              </a:rPr>
              <a:t>c. Client-side encryption with a client-side symmetric master key</a:t>
            </a:r>
          </a:p>
          <a:p>
            <a:pPr>
              <a:lnSpc>
                <a:spcPct val="150000"/>
              </a:lnSpc>
            </a:pPr>
            <a:r>
              <a:rPr lang="en-US" dirty="0">
                <a:solidFill>
                  <a:srgbClr val="18537D"/>
                </a:solidFill>
              </a:rPr>
              <a:t>d. Client-side encryption with AWS KMS-managed keys</a:t>
            </a:r>
          </a:p>
        </p:txBody>
      </p:sp>
    </p:spTree>
    <p:extLst>
      <p:ext uri="{BB962C8B-B14F-4D97-AF65-F5344CB8AC3E}">
        <p14:creationId xmlns:p14="http://schemas.microsoft.com/office/powerpoint/2010/main" val="10631803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Developer wants to encrypt new objects that are being uploaded to an Amazon S3 bucket by an</a:t>
            </a:r>
          </a:p>
          <a:p>
            <a:pPr>
              <a:lnSpc>
                <a:spcPct val="150000"/>
              </a:lnSpc>
            </a:pPr>
            <a:r>
              <a:rPr lang="en-US" dirty="0">
                <a:solidFill>
                  <a:srgbClr val="18537D"/>
                </a:solidFill>
              </a:rPr>
              <a:t>application. There must be an </a:t>
            </a:r>
            <a:r>
              <a:rPr lang="en-US" b="1" dirty="0">
                <a:solidFill>
                  <a:srgbClr val="18537D"/>
                </a:solidFill>
              </a:rPr>
              <a:t>audit trail of who has used the key during this process. </a:t>
            </a:r>
            <a:r>
              <a:rPr lang="en-US" dirty="0">
                <a:solidFill>
                  <a:srgbClr val="18537D"/>
                </a:solidFill>
              </a:rPr>
              <a:t>There should be no</a:t>
            </a:r>
          </a:p>
          <a:p>
            <a:pPr>
              <a:lnSpc>
                <a:spcPct val="150000"/>
              </a:lnSpc>
            </a:pPr>
            <a:r>
              <a:rPr lang="en-US" dirty="0">
                <a:solidFill>
                  <a:srgbClr val="18537D"/>
                </a:solidFill>
              </a:rPr>
              <a:t>change to the performance of the application. Which type of encryption meets these requirements?</a:t>
            </a:r>
          </a:p>
          <a:p>
            <a:pPr>
              <a:lnSpc>
                <a:spcPct val="150000"/>
              </a:lnSpc>
            </a:pPr>
            <a:endParaRPr lang="en-US" dirty="0">
              <a:solidFill>
                <a:srgbClr val="18537D"/>
              </a:solidFill>
            </a:endParaRPr>
          </a:p>
          <a:p>
            <a:pPr>
              <a:lnSpc>
                <a:spcPct val="150000"/>
              </a:lnSpc>
            </a:pPr>
            <a:r>
              <a:rPr lang="en-US" dirty="0">
                <a:solidFill>
                  <a:srgbClr val="18537D"/>
                </a:solidFill>
              </a:rPr>
              <a:t>a. Server-side encryption using S3-managed keys</a:t>
            </a:r>
          </a:p>
          <a:p>
            <a:pPr>
              <a:lnSpc>
                <a:spcPct val="150000"/>
              </a:lnSpc>
            </a:pPr>
            <a:r>
              <a:rPr lang="en-US" dirty="0">
                <a:solidFill>
                  <a:srgbClr val="18537D"/>
                </a:solidFill>
              </a:rPr>
              <a:t>b.</a:t>
            </a:r>
            <a:r>
              <a:rPr lang="en-US" b="1" dirty="0">
                <a:solidFill>
                  <a:srgbClr val="18537D"/>
                </a:solidFill>
              </a:rPr>
              <a:t> Server-side encryption with AWS KMS-managed keys</a:t>
            </a:r>
          </a:p>
          <a:p>
            <a:pPr>
              <a:lnSpc>
                <a:spcPct val="150000"/>
              </a:lnSpc>
            </a:pPr>
            <a:r>
              <a:rPr lang="en-US" dirty="0">
                <a:solidFill>
                  <a:srgbClr val="18537D"/>
                </a:solidFill>
              </a:rPr>
              <a:t>c. Client-side encryption with a client-side symmetric master key</a:t>
            </a:r>
          </a:p>
          <a:p>
            <a:pPr>
              <a:lnSpc>
                <a:spcPct val="150000"/>
              </a:lnSpc>
            </a:pPr>
            <a:r>
              <a:rPr lang="en-US" dirty="0">
                <a:solidFill>
                  <a:srgbClr val="18537D"/>
                </a:solidFill>
              </a:rPr>
              <a:t>d. Client-side encryption with AWS KMS-managed keys</a:t>
            </a:r>
          </a:p>
        </p:txBody>
      </p:sp>
    </p:spTree>
    <p:extLst>
      <p:ext uri="{BB962C8B-B14F-4D97-AF65-F5344CB8AC3E}">
        <p14:creationId xmlns:p14="http://schemas.microsoft.com/office/powerpoint/2010/main" val="939529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You decide to create a bucket on AWS S3 called ‘</a:t>
            </a:r>
            <a:r>
              <a:rPr lang="en-US" dirty="0" err="1">
                <a:solidFill>
                  <a:srgbClr val="18537D"/>
                </a:solidFill>
              </a:rPr>
              <a:t>newbucket</a:t>
            </a:r>
            <a:r>
              <a:rPr lang="en-US" dirty="0">
                <a:solidFill>
                  <a:srgbClr val="18537D"/>
                </a:solidFill>
              </a:rPr>
              <a:t>’ and then perform the following actions in the order that they are listed here.</a:t>
            </a:r>
          </a:p>
          <a:p>
            <a:pPr>
              <a:lnSpc>
                <a:spcPct val="150000"/>
              </a:lnSpc>
            </a:pPr>
            <a:r>
              <a:rPr lang="en-US" b="1" dirty="0">
                <a:solidFill>
                  <a:srgbClr val="18537D"/>
                </a:solidFill>
              </a:rPr>
              <a:t>- You upload a file to the bucket called 'file1'</a:t>
            </a:r>
          </a:p>
          <a:p>
            <a:pPr>
              <a:lnSpc>
                <a:spcPct val="150000"/>
              </a:lnSpc>
            </a:pPr>
            <a:r>
              <a:rPr lang="en-US" b="1" dirty="0">
                <a:solidFill>
                  <a:srgbClr val="18537D"/>
                </a:solidFill>
              </a:rPr>
              <a:t>- You upload a file called 'file2'</a:t>
            </a:r>
          </a:p>
          <a:p>
            <a:pPr>
              <a:lnSpc>
                <a:spcPct val="150000"/>
              </a:lnSpc>
            </a:pPr>
            <a:r>
              <a:rPr lang="en-US" b="1" dirty="0">
                <a:solidFill>
                  <a:srgbClr val="18537D"/>
                </a:solidFill>
              </a:rPr>
              <a:t>- You enable versioning on the bucket</a:t>
            </a:r>
          </a:p>
          <a:p>
            <a:pPr>
              <a:lnSpc>
                <a:spcPct val="150000"/>
              </a:lnSpc>
            </a:pPr>
            <a:r>
              <a:rPr lang="en-US" dirty="0">
                <a:solidFill>
                  <a:srgbClr val="18537D"/>
                </a:solidFill>
              </a:rPr>
              <a:t>Which of the following is true for your bucket '</a:t>
            </a:r>
            <a:r>
              <a:rPr lang="en-US" dirty="0" err="1">
                <a:solidFill>
                  <a:srgbClr val="18537D"/>
                </a:solidFill>
              </a:rPr>
              <a:t>newbucket</a:t>
            </a:r>
            <a:r>
              <a:rPr lang="en-US" dirty="0">
                <a:solidFill>
                  <a:srgbClr val="18537D"/>
                </a:solidFill>
              </a:rPr>
              <a:t>'?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There will be 1 version ID for file1 and null version ID for file2.</a:t>
            </a:r>
          </a:p>
          <a:p>
            <a:pPr>
              <a:lnSpc>
                <a:spcPct val="150000"/>
              </a:lnSpc>
            </a:pPr>
            <a:r>
              <a:rPr lang="en-US" dirty="0">
                <a:solidFill>
                  <a:srgbClr val="18537D"/>
                </a:solidFill>
              </a:rPr>
              <a:t>b. There will be 1 version ID for file2 and null version ID for file1.</a:t>
            </a:r>
          </a:p>
          <a:p>
            <a:pPr>
              <a:lnSpc>
                <a:spcPct val="150000"/>
              </a:lnSpc>
            </a:pPr>
            <a:r>
              <a:rPr lang="en-US" b="1" dirty="0">
                <a:solidFill>
                  <a:srgbClr val="18537D"/>
                </a:solidFill>
              </a:rPr>
              <a:t>c. The version ID will be null for both file1 and file2</a:t>
            </a:r>
          </a:p>
          <a:p>
            <a:pPr>
              <a:lnSpc>
                <a:spcPct val="150000"/>
              </a:lnSpc>
            </a:pPr>
            <a:r>
              <a:rPr lang="en-US" dirty="0">
                <a:solidFill>
                  <a:srgbClr val="18537D"/>
                </a:solidFill>
              </a:rPr>
              <a:t>d. There will be 1 version ID for file1 and file2.</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397978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serverless application uses an AWS Lambda function to process Amazon S3 events. The Lambda function</a:t>
            </a:r>
          </a:p>
          <a:p>
            <a:pPr>
              <a:lnSpc>
                <a:spcPct val="150000"/>
              </a:lnSpc>
            </a:pPr>
            <a:r>
              <a:rPr lang="en-US" dirty="0">
                <a:solidFill>
                  <a:srgbClr val="18537D"/>
                </a:solidFill>
              </a:rPr>
              <a:t>executes </a:t>
            </a:r>
            <a:r>
              <a:rPr lang="en-US" b="1" dirty="0">
                <a:solidFill>
                  <a:srgbClr val="18537D"/>
                </a:solidFill>
              </a:rPr>
              <a:t>20 times per second and takes 20 seconds to complete each execution</a:t>
            </a:r>
            <a:r>
              <a:rPr lang="en-US" dirty="0">
                <a:solidFill>
                  <a:srgbClr val="18537D"/>
                </a:solidFill>
              </a:rPr>
              <a:t>. How many concurrent</a:t>
            </a:r>
          </a:p>
          <a:p>
            <a:pPr>
              <a:lnSpc>
                <a:spcPct val="150000"/>
              </a:lnSpc>
            </a:pPr>
            <a:r>
              <a:rPr lang="en-US" dirty="0">
                <a:solidFill>
                  <a:srgbClr val="18537D"/>
                </a:solidFill>
              </a:rPr>
              <a:t>executions will the Lambda function require?</a:t>
            </a:r>
          </a:p>
          <a:p>
            <a:pPr>
              <a:lnSpc>
                <a:spcPct val="150000"/>
              </a:lnSpc>
            </a:pPr>
            <a:r>
              <a:rPr lang="en-US" dirty="0">
                <a:solidFill>
                  <a:srgbClr val="18537D"/>
                </a:solidFill>
              </a:rPr>
              <a:t>a. 5</a:t>
            </a:r>
          </a:p>
          <a:p>
            <a:pPr>
              <a:lnSpc>
                <a:spcPct val="150000"/>
              </a:lnSpc>
            </a:pPr>
            <a:r>
              <a:rPr lang="en-US" dirty="0">
                <a:solidFill>
                  <a:srgbClr val="18537D"/>
                </a:solidFill>
              </a:rPr>
              <a:t>b. 400</a:t>
            </a:r>
          </a:p>
          <a:p>
            <a:pPr>
              <a:lnSpc>
                <a:spcPct val="150000"/>
              </a:lnSpc>
            </a:pPr>
            <a:r>
              <a:rPr lang="en-US" dirty="0">
                <a:solidFill>
                  <a:srgbClr val="18537D"/>
                </a:solidFill>
              </a:rPr>
              <a:t>c. 40</a:t>
            </a:r>
          </a:p>
          <a:p>
            <a:pPr>
              <a:lnSpc>
                <a:spcPct val="150000"/>
              </a:lnSpc>
            </a:pPr>
            <a:r>
              <a:rPr lang="en-US" dirty="0">
                <a:solidFill>
                  <a:srgbClr val="18537D"/>
                </a:solidFill>
              </a:rPr>
              <a:t>d. 20</a:t>
            </a:r>
          </a:p>
        </p:txBody>
      </p:sp>
    </p:spTree>
    <p:extLst>
      <p:ext uri="{BB962C8B-B14F-4D97-AF65-F5344CB8AC3E}">
        <p14:creationId xmlns:p14="http://schemas.microsoft.com/office/powerpoint/2010/main" val="2644068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A serverless application uses an AWS Lambda function to process Amazon S3 events. The Lambda function</a:t>
            </a:r>
          </a:p>
          <a:p>
            <a:pPr>
              <a:lnSpc>
                <a:spcPct val="150000"/>
              </a:lnSpc>
            </a:pPr>
            <a:r>
              <a:rPr lang="en-US" dirty="0">
                <a:solidFill>
                  <a:srgbClr val="18537D"/>
                </a:solidFill>
              </a:rPr>
              <a:t>executes </a:t>
            </a:r>
            <a:r>
              <a:rPr lang="en-US" b="1" dirty="0">
                <a:solidFill>
                  <a:srgbClr val="18537D"/>
                </a:solidFill>
              </a:rPr>
              <a:t>20 times per second and takes 20 seconds to complete each execution</a:t>
            </a:r>
            <a:r>
              <a:rPr lang="en-US" dirty="0">
                <a:solidFill>
                  <a:srgbClr val="18537D"/>
                </a:solidFill>
              </a:rPr>
              <a:t>. How many concurrent</a:t>
            </a:r>
          </a:p>
          <a:p>
            <a:pPr>
              <a:lnSpc>
                <a:spcPct val="150000"/>
              </a:lnSpc>
            </a:pPr>
            <a:r>
              <a:rPr lang="en-US" dirty="0">
                <a:solidFill>
                  <a:srgbClr val="18537D"/>
                </a:solidFill>
              </a:rPr>
              <a:t>executions will the Lambda function require?</a:t>
            </a:r>
          </a:p>
          <a:p>
            <a:pPr>
              <a:lnSpc>
                <a:spcPct val="150000"/>
              </a:lnSpc>
            </a:pPr>
            <a:r>
              <a:rPr lang="en-US" dirty="0">
                <a:solidFill>
                  <a:srgbClr val="18537D"/>
                </a:solidFill>
              </a:rPr>
              <a:t>a. 5</a:t>
            </a:r>
          </a:p>
          <a:p>
            <a:pPr>
              <a:lnSpc>
                <a:spcPct val="150000"/>
              </a:lnSpc>
            </a:pPr>
            <a:r>
              <a:rPr lang="en-US" b="1" dirty="0">
                <a:solidFill>
                  <a:srgbClr val="18537D"/>
                </a:solidFill>
              </a:rPr>
              <a:t>b. 400</a:t>
            </a:r>
          </a:p>
          <a:p>
            <a:pPr>
              <a:lnSpc>
                <a:spcPct val="150000"/>
              </a:lnSpc>
            </a:pPr>
            <a:r>
              <a:rPr lang="en-US" dirty="0">
                <a:solidFill>
                  <a:srgbClr val="18537D"/>
                </a:solidFill>
              </a:rPr>
              <a:t>c. 40</a:t>
            </a:r>
          </a:p>
          <a:p>
            <a:pPr>
              <a:lnSpc>
                <a:spcPct val="150000"/>
              </a:lnSpc>
            </a:pPr>
            <a:r>
              <a:rPr lang="en-US" dirty="0">
                <a:solidFill>
                  <a:srgbClr val="18537D"/>
                </a:solidFill>
              </a:rPr>
              <a:t>d. 20</a:t>
            </a:r>
          </a:p>
        </p:txBody>
      </p:sp>
    </p:spTree>
    <p:extLst>
      <p:ext uri="{BB962C8B-B14F-4D97-AF65-F5344CB8AC3E}">
        <p14:creationId xmlns:p14="http://schemas.microsoft.com/office/powerpoint/2010/main" val="2281669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A Developer has been tasked by a client to create an application. The client has provided the following</a:t>
            </a:r>
          </a:p>
          <a:p>
            <a:pPr>
              <a:lnSpc>
                <a:spcPct val="150000"/>
              </a:lnSpc>
            </a:pPr>
            <a:r>
              <a:rPr lang="en-US" dirty="0">
                <a:solidFill>
                  <a:srgbClr val="18537D"/>
                </a:solidFill>
              </a:rPr>
              <a:t>requirements for the application:</a:t>
            </a:r>
          </a:p>
          <a:p>
            <a:pPr>
              <a:lnSpc>
                <a:spcPct val="150000"/>
              </a:lnSpc>
            </a:pPr>
            <a:r>
              <a:rPr lang="en-US" dirty="0">
                <a:solidFill>
                  <a:srgbClr val="18537D"/>
                </a:solidFill>
              </a:rPr>
              <a:t> </a:t>
            </a:r>
            <a:r>
              <a:rPr lang="en-US" b="1" dirty="0">
                <a:solidFill>
                  <a:srgbClr val="18537D"/>
                </a:solidFill>
              </a:rPr>
              <a:t>Performance efficiency of seconds with up to a minute of latency</a:t>
            </a:r>
          </a:p>
          <a:p>
            <a:pPr>
              <a:lnSpc>
                <a:spcPct val="150000"/>
              </a:lnSpc>
            </a:pPr>
            <a:r>
              <a:rPr lang="en-US" b="1" dirty="0">
                <a:solidFill>
                  <a:srgbClr val="18537D"/>
                </a:solidFill>
              </a:rPr>
              <a:t> Data storage requirements will be up to thousands of terabytes</a:t>
            </a:r>
          </a:p>
          <a:p>
            <a:pPr>
              <a:lnSpc>
                <a:spcPct val="150000"/>
              </a:lnSpc>
            </a:pPr>
            <a:r>
              <a:rPr lang="en-US" b="1" dirty="0">
                <a:solidFill>
                  <a:srgbClr val="18537D"/>
                </a:solidFill>
              </a:rPr>
              <a:t> Per-message sizes may vary between 100 KB and 100 MB</a:t>
            </a:r>
          </a:p>
          <a:p>
            <a:pPr>
              <a:lnSpc>
                <a:spcPct val="150000"/>
              </a:lnSpc>
            </a:pPr>
            <a:r>
              <a:rPr lang="en-US" b="1" dirty="0">
                <a:solidFill>
                  <a:srgbClr val="18537D"/>
                </a:solidFill>
              </a:rPr>
              <a:t> Data can be stored as key/value stores supporting eventual consistency</a:t>
            </a:r>
          </a:p>
          <a:p>
            <a:pPr>
              <a:lnSpc>
                <a:spcPct val="150000"/>
              </a:lnSpc>
            </a:pPr>
            <a:r>
              <a:rPr lang="en-US" dirty="0">
                <a:solidFill>
                  <a:srgbClr val="18537D"/>
                </a:solidFill>
              </a:rPr>
              <a:t>What is the MOST </a:t>
            </a:r>
            <a:r>
              <a:rPr lang="en-US" b="1" dirty="0">
                <a:solidFill>
                  <a:srgbClr val="18537D"/>
                </a:solidFill>
              </a:rPr>
              <a:t>cost-effective AWS </a:t>
            </a:r>
            <a:r>
              <a:rPr lang="en-US" dirty="0">
                <a:solidFill>
                  <a:srgbClr val="18537D"/>
                </a:solidFill>
              </a:rPr>
              <a:t>service to meet these requirements?</a:t>
            </a:r>
          </a:p>
          <a:p>
            <a:pPr>
              <a:lnSpc>
                <a:spcPct val="150000"/>
              </a:lnSpc>
            </a:pPr>
            <a:endParaRPr lang="en-US" dirty="0">
              <a:solidFill>
                <a:srgbClr val="18537D"/>
              </a:solidFill>
            </a:endParaRPr>
          </a:p>
          <a:p>
            <a:pPr>
              <a:lnSpc>
                <a:spcPct val="150000"/>
              </a:lnSpc>
            </a:pPr>
            <a:r>
              <a:rPr lang="en-US" dirty="0">
                <a:solidFill>
                  <a:srgbClr val="18537D"/>
                </a:solidFill>
              </a:rPr>
              <a:t>a. Amazon DynamoDB</a:t>
            </a:r>
          </a:p>
          <a:p>
            <a:pPr>
              <a:lnSpc>
                <a:spcPct val="150000"/>
              </a:lnSpc>
            </a:pPr>
            <a:r>
              <a:rPr lang="en-US" dirty="0">
                <a:solidFill>
                  <a:srgbClr val="18537D"/>
                </a:solidFill>
              </a:rPr>
              <a:t>c. Amazon S3</a:t>
            </a:r>
          </a:p>
          <a:p>
            <a:pPr>
              <a:lnSpc>
                <a:spcPct val="150000"/>
              </a:lnSpc>
            </a:pPr>
            <a:r>
              <a:rPr lang="en-US" dirty="0">
                <a:solidFill>
                  <a:srgbClr val="18537D"/>
                </a:solidFill>
              </a:rPr>
              <a:t>c. Amazon RDS (with a MySQL engine)</a:t>
            </a:r>
          </a:p>
          <a:p>
            <a:pPr>
              <a:lnSpc>
                <a:spcPct val="150000"/>
              </a:lnSpc>
            </a:pPr>
            <a:r>
              <a:rPr lang="en-US" dirty="0">
                <a:solidFill>
                  <a:srgbClr val="18537D"/>
                </a:solidFill>
              </a:rPr>
              <a:t>d. Amazon </a:t>
            </a:r>
            <a:r>
              <a:rPr lang="en-US" dirty="0" err="1">
                <a:solidFill>
                  <a:srgbClr val="18537D"/>
                </a:solidFill>
              </a:rPr>
              <a:t>ElastiCache</a:t>
            </a:r>
            <a:endParaRPr lang="en-US" dirty="0">
              <a:solidFill>
                <a:srgbClr val="18537D"/>
              </a:solidFill>
            </a:endParaRPr>
          </a:p>
        </p:txBody>
      </p:sp>
    </p:spTree>
    <p:extLst>
      <p:ext uri="{BB962C8B-B14F-4D97-AF65-F5344CB8AC3E}">
        <p14:creationId xmlns:p14="http://schemas.microsoft.com/office/powerpoint/2010/main" val="1727691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A Developer has been tasked by a client to create an application. The client has provided the following</a:t>
            </a:r>
          </a:p>
          <a:p>
            <a:pPr>
              <a:lnSpc>
                <a:spcPct val="150000"/>
              </a:lnSpc>
            </a:pPr>
            <a:r>
              <a:rPr lang="en-US" dirty="0">
                <a:solidFill>
                  <a:srgbClr val="18537D"/>
                </a:solidFill>
              </a:rPr>
              <a:t>requirements for the application:</a:t>
            </a:r>
          </a:p>
          <a:p>
            <a:pPr>
              <a:lnSpc>
                <a:spcPct val="150000"/>
              </a:lnSpc>
            </a:pPr>
            <a:r>
              <a:rPr lang="en-US" dirty="0">
                <a:solidFill>
                  <a:srgbClr val="18537D"/>
                </a:solidFill>
              </a:rPr>
              <a:t> </a:t>
            </a:r>
            <a:r>
              <a:rPr lang="en-US" b="1" dirty="0">
                <a:solidFill>
                  <a:srgbClr val="18537D"/>
                </a:solidFill>
              </a:rPr>
              <a:t>Performance efficiency of seconds with up to a minute of latency</a:t>
            </a:r>
          </a:p>
          <a:p>
            <a:pPr>
              <a:lnSpc>
                <a:spcPct val="150000"/>
              </a:lnSpc>
            </a:pPr>
            <a:r>
              <a:rPr lang="en-US" b="1" dirty="0">
                <a:solidFill>
                  <a:srgbClr val="18537D"/>
                </a:solidFill>
              </a:rPr>
              <a:t> Data storage requirements will be up to thousands of terabytes</a:t>
            </a:r>
          </a:p>
          <a:p>
            <a:pPr>
              <a:lnSpc>
                <a:spcPct val="150000"/>
              </a:lnSpc>
            </a:pPr>
            <a:r>
              <a:rPr lang="en-US" b="1" dirty="0">
                <a:solidFill>
                  <a:srgbClr val="18537D"/>
                </a:solidFill>
              </a:rPr>
              <a:t> Per-message sizes may vary between 100 KB and 100 MB</a:t>
            </a:r>
          </a:p>
          <a:p>
            <a:pPr>
              <a:lnSpc>
                <a:spcPct val="150000"/>
              </a:lnSpc>
            </a:pPr>
            <a:r>
              <a:rPr lang="en-US" b="1" dirty="0">
                <a:solidFill>
                  <a:srgbClr val="18537D"/>
                </a:solidFill>
              </a:rPr>
              <a:t> Data can be stored as key/value stores supporting eventual consistency</a:t>
            </a:r>
          </a:p>
          <a:p>
            <a:pPr>
              <a:lnSpc>
                <a:spcPct val="150000"/>
              </a:lnSpc>
            </a:pPr>
            <a:r>
              <a:rPr lang="en-US" dirty="0">
                <a:solidFill>
                  <a:srgbClr val="18537D"/>
                </a:solidFill>
              </a:rPr>
              <a:t>What is the MOST </a:t>
            </a:r>
            <a:r>
              <a:rPr lang="en-US" b="1" dirty="0">
                <a:solidFill>
                  <a:srgbClr val="18537D"/>
                </a:solidFill>
              </a:rPr>
              <a:t>cost-effective AWS </a:t>
            </a:r>
            <a:r>
              <a:rPr lang="en-US" dirty="0">
                <a:solidFill>
                  <a:srgbClr val="18537D"/>
                </a:solidFill>
              </a:rPr>
              <a:t>service to meet these requirements?</a:t>
            </a:r>
          </a:p>
          <a:p>
            <a:pPr>
              <a:lnSpc>
                <a:spcPct val="150000"/>
              </a:lnSpc>
            </a:pPr>
            <a:endParaRPr lang="en-US" dirty="0">
              <a:solidFill>
                <a:srgbClr val="18537D"/>
              </a:solidFill>
            </a:endParaRPr>
          </a:p>
          <a:p>
            <a:pPr>
              <a:lnSpc>
                <a:spcPct val="150000"/>
              </a:lnSpc>
            </a:pPr>
            <a:r>
              <a:rPr lang="en-US" dirty="0">
                <a:solidFill>
                  <a:srgbClr val="18537D"/>
                </a:solidFill>
              </a:rPr>
              <a:t>a. Amazon DynamoDB</a:t>
            </a:r>
          </a:p>
          <a:p>
            <a:pPr>
              <a:lnSpc>
                <a:spcPct val="150000"/>
              </a:lnSpc>
            </a:pPr>
            <a:r>
              <a:rPr lang="en-US" dirty="0">
                <a:solidFill>
                  <a:srgbClr val="18537D"/>
                </a:solidFill>
              </a:rPr>
              <a:t>c. </a:t>
            </a:r>
            <a:r>
              <a:rPr lang="en-US" b="1" dirty="0">
                <a:solidFill>
                  <a:srgbClr val="18537D"/>
                </a:solidFill>
              </a:rPr>
              <a:t>Amazon S3</a:t>
            </a:r>
          </a:p>
          <a:p>
            <a:pPr>
              <a:lnSpc>
                <a:spcPct val="150000"/>
              </a:lnSpc>
            </a:pPr>
            <a:r>
              <a:rPr lang="en-US" dirty="0">
                <a:solidFill>
                  <a:srgbClr val="18537D"/>
                </a:solidFill>
              </a:rPr>
              <a:t>c. Amazon RDS (with a MySQL engine)</a:t>
            </a:r>
          </a:p>
          <a:p>
            <a:pPr>
              <a:lnSpc>
                <a:spcPct val="150000"/>
              </a:lnSpc>
            </a:pPr>
            <a:r>
              <a:rPr lang="en-US" dirty="0">
                <a:solidFill>
                  <a:srgbClr val="18537D"/>
                </a:solidFill>
              </a:rPr>
              <a:t>d. Amazon </a:t>
            </a:r>
            <a:r>
              <a:rPr lang="en-US" dirty="0" err="1">
                <a:solidFill>
                  <a:srgbClr val="18537D"/>
                </a:solidFill>
              </a:rPr>
              <a:t>ElastiCache</a:t>
            </a:r>
            <a:endParaRPr lang="en-US" dirty="0">
              <a:solidFill>
                <a:srgbClr val="18537D"/>
              </a:solidFill>
            </a:endParaRPr>
          </a:p>
        </p:txBody>
      </p:sp>
    </p:spTree>
    <p:extLst>
      <p:ext uri="{BB962C8B-B14F-4D97-AF65-F5344CB8AC3E}">
        <p14:creationId xmlns:p14="http://schemas.microsoft.com/office/powerpoint/2010/main" val="3278259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DynamoDB table is being used to store session information for users of an online game. A developer has</a:t>
            </a:r>
          </a:p>
          <a:p>
            <a:pPr>
              <a:lnSpc>
                <a:spcPct val="150000"/>
              </a:lnSpc>
            </a:pPr>
            <a:r>
              <a:rPr lang="en-US" dirty="0">
                <a:solidFill>
                  <a:srgbClr val="18537D"/>
                </a:solidFill>
              </a:rPr>
              <a:t>noticed that the table size has increased considerably and much of the data is not required after a gaming</a:t>
            </a:r>
          </a:p>
          <a:p>
            <a:pPr>
              <a:lnSpc>
                <a:spcPct val="150000"/>
              </a:lnSpc>
            </a:pPr>
            <a:r>
              <a:rPr lang="en-US" dirty="0">
                <a:solidFill>
                  <a:srgbClr val="18537D"/>
                </a:solidFill>
              </a:rPr>
              <a:t>session is completed.</a:t>
            </a:r>
          </a:p>
          <a:p>
            <a:pPr>
              <a:lnSpc>
                <a:spcPct val="150000"/>
              </a:lnSpc>
            </a:pPr>
            <a:r>
              <a:rPr lang="en-US" dirty="0">
                <a:solidFill>
                  <a:srgbClr val="18537D"/>
                </a:solidFill>
              </a:rPr>
              <a:t>What is the </a:t>
            </a:r>
            <a:r>
              <a:rPr lang="en-US" b="1" dirty="0">
                <a:solidFill>
                  <a:srgbClr val="18537D"/>
                </a:solidFill>
              </a:rPr>
              <a:t>MOST cost-effective approach to reducing the size of the table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Use the batch-write-item API to delete the data</a:t>
            </a:r>
          </a:p>
          <a:p>
            <a:pPr>
              <a:lnSpc>
                <a:spcPct val="150000"/>
              </a:lnSpc>
            </a:pPr>
            <a:r>
              <a:rPr lang="en-US" dirty="0">
                <a:solidFill>
                  <a:srgbClr val="18537D"/>
                </a:solidFill>
              </a:rPr>
              <a:t>b. Create an AWS Lambda function that purges stale items from the table daily</a:t>
            </a:r>
          </a:p>
          <a:p>
            <a:pPr>
              <a:lnSpc>
                <a:spcPct val="150000"/>
              </a:lnSpc>
            </a:pPr>
            <a:r>
              <a:rPr lang="en-US" dirty="0">
                <a:solidFill>
                  <a:srgbClr val="18537D"/>
                </a:solidFill>
              </a:rPr>
              <a:t>c. Enable a Time To Live (TTL) on the table and add a timestamp attribute on new items</a:t>
            </a:r>
          </a:p>
          <a:p>
            <a:pPr>
              <a:lnSpc>
                <a:spcPct val="150000"/>
              </a:lnSpc>
            </a:pPr>
            <a:r>
              <a:rPr lang="en-US" dirty="0">
                <a:solidFill>
                  <a:srgbClr val="18537D"/>
                </a:solidFill>
              </a:rPr>
              <a:t>d. Use the delete-item API to delete the data</a:t>
            </a:r>
          </a:p>
        </p:txBody>
      </p:sp>
    </p:spTree>
    <p:extLst>
      <p:ext uri="{BB962C8B-B14F-4D97-AF65-F5344CB8AC3E}">
        <p14:creationId xmlns:p14="http://schemas.microsoft.com/office/powerpoint/2010/main" val="41064363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DynamoDB table is being used to store session information for users of an online game. A developer has</a:t>
            </a:r>
          </a:p>
          <a:p>
            <a:pPr>
              <a:lnSpc>
                <a:spcPct val="150000"/>
              </a:lnSpc>
            </a:pPr>
            <a:r>
              <a:rPr lang="en-US" dirty="0">
                <a:solidFill>
                  <a:srgbClr val="18537D"/>
                </a:solidFill>
              </a:rPr>
              <a:t>noticed that the table size has increased considerably and much of the data is not required after a gaming</a:t>
            </a:r>
          </a:p>
          <a:p>
            <a:pPr>
              <a:lnSpc>
                <a:spcPct val="150000"/>
              </a:lnSpc>
            </a:pPr>
            <a:r>
              <a:rPr lang="en-US" dirty="0">
                <a:solidFill>
                  <a:srgbClr val="18537D"/>
                </a:solidFill>
              </a:rPr>
              <a:t>session is completed.</a:t>
            </a:r>
          </a:p>
          <a:p>
            <a:pPr>
              <a:lnSpc>
                <a:spcPct val="150000"/>
              </a:lnSpc>
            </a:pPr>
            <a:r>
              <a:rPr lang="en-US" dirty="0">
                <a:solidFill>
                  <a:srgbClr val="18537D"/>
                </a:solidFill>
              </a:rPr>
              <a:t>What is the </a:t>
            </a:r>
            <a:r>
              <a:rPr lang="en-US" b="1" dirty="0">
                <a:solidFill>
                  <a:srgbClr val="18537D"/>
                </a:solidFill>
              </a:rPr>
              <a:t>MOST cost-effective approach to reducing the size of the table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Use the batch-write-item API to delete the data</a:t>
            </a:r>
          </a:p>
          <a:p>
            <a:pPr>
              <a:lnSpc>
                <a:spcPct val="150000"/>
              </a:lnSpc>
            </a:pPr>
            <a:r>
              <a:rPr lang="en-US" dirty="0">
                <a:solidFill>
                  <a:srgbClr val="18537D"/>
                </a:solidFill>
              </a:rPr>
              <a:t>b. Create an AWS Lambda function that purges stale items from the table daily</a:t>
            </a:r>
          </a:p>
          <a:p>
            <a:pPr>
              <a:lnSpc>
                <a:spcPct val="150000"/>
              </a:lnSpc>
            </a:pPr>
            <a:r>
              <a:rPr lang="en-US" b="1" dirty="0">
                <a:solidFill>
                  <a:srgbClr val="18537D"/>
                </a:solidFill>
              </a:rPr>
              <a:t>c. Enable a Time To Live (TTL) on the table and add a timestamp attribute on new items</a:t>
            </a:r>
          </a:p>
          <a:p>
            <a:pPr>
              <a:lnSpc>
                <a:spcPct val="150000"/>
              </a:lnSpc>
            </a:pPr>
            <a:r>
              <a:rPr lang="en-US" dirty="0">
                <a:solidFill>
                  <a:srgbClr val="18537D"/>
                </a:solidFill>
              </a:rPr>
              <a:t>d. Use the delete-item API to delete the data</a:t>
            </a:r>
          </a:p>
        </p:txBody>
      </p:sp>
    </p:spTree>
    <p:extLst>
      <p:ext uri="{BB962C8B-B14F-4D97-AF65-F5344CB8AC3E}">
        <p14:creationId xmlns:p14="http://schemas.microsoft.com/office/powerpoint/2010/main" val="33870494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company recently migrated a multi-tier application to AWS. The web tier runs on an Auto Scaling group of</a:t>
            </a:r>
          </a:p>
          <a:p>
            <a:pPr>
              <a:lnSpc>
                <a:spcPct val="150000"/>
              </a:lnSpc>
            </a:pPr>
            <a:r>
              <a:rPr lang="en-US" dirty="0">
                <a:solidFill>
                  <a:srgbClr val="18537D"/>
                </a:solidFill>
              </a:rPr>
              <a:t>Amazon </a:t>
            </a:r>
            <a:r>
              <a:rPr lang="en-US" b="1" dirty="0">
                <a:solidFill>
                  <a:srgbClr val="18537D"/>
                </a:solidFill>
              </a:rPr>
              <a:t>EC2 instances and the database tier uses Amazon DynamoDB</a:t>
            </a:r>
            <a:r>
              <a:rPr lang="en-US" dirty="0">
                <a:solidFill>
                  <a:srgbClr val="18537D"/>
                </a:solidFill>
              </a:rPr>
              <a:t>. The database tier requires extremely</a:t>
            </a:r>
          </a:p>
          <a:p>
            <a:pPr>
              <a:lnSpc>
                <a:spcPct val="150000"/>
              </a:lnSpc>
            </a:pPr>
            <a:r>
              <a:rPr lang="en-US" dirty="0">
                <a:solidFill>
                  <a:srgbClr val="18537D"/>
                </a:solidFill>
              </a:rPr>
              <a:t>high performance and most requests are repeated read requests.</a:t>
            </a:r>
          </a:p>
          <a:p>
            <a:pPr>
              <a:lnSpc>
                <a:spcPct val="150000"/>
              </a:lnSpc>
            </a:pPr>
            <a:r>
              <a:rPr lang="en-US" dirty="0">
                <a:solidFill>
                  <a:srgbClr val="18537D"/>
                </a:solidFill>
              </a:rPr>
              <a:t>What </a:t>
            </a:r>
            <a:r>
              <a:rPr lang="en-US" b="1" dirty="0">
                <a:solidFill>
                  <a:srgbClr val="18537D"/>
                </a:solidFill>
              </a:rPr>
              <a:t>service can be used to scale the database tier for BEST performance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Amazon CloudFront</a:t>
            </a:r>
          </a:p>
          <a:p>
            <a:pPr>
              <a:lnSpc>
                <a:spcPct val="150000"/>
              </a:lnSpc>
            </a:pPr>
            <a:r>
              <a:rPr lang="en-US" dirty="0">
                <a:solidFill>
                  <a:srgbClr val="18537D"/>
                </a:solidFill>
              </a:rPr>
              <a:t>b. Amazon </a:t>
            </a:r>
            <a:r>
              <a:rPr lang="en-US" dirty="0" err="1">
                <a:solidFill>
                  <a:srgbClr val="18537D"/>
                </a:solidFill>
              </a:rPr>
              <a:t>ElastiCache</a:t>
            </a:r>
            <a:endParaRPr lang="en-US" dirty="0">
              <a:solidFill>
                <a:srgbClr val="18537D"/>
              </a:solidFill>
            </a:endParaRPr>
          </a:p>
          <a:p>
            <a:pPr>
              <a:lnSpc>
                <a:spcPct val="150000"/>
              </a:lnSpc>
            </a:pPr>
            <a:r>
              <a:rPr lang="en-US" dirty="0">
                <a:solidFill>
                  <a:srgbClr val="18537D"/>
                </a:solidFill>
              </a:rPr>
              <a:t>c. Amazon DynamoDB Accelerator (DAX)</a:t>
            </a:r>
          </a:p>
          <a:p>
            <a:pPr>
              <a:lnSpc>
                <a:spcPct val="150000"/>
              </a:lnSpc>
            </a:pPr>
            <a:r>
              <a:rPr lang="en-US" dirty="0">
                <a:solidFill>
                  <a:srgbClr val="18537D"/>
                </a:solidFill>
              </a:rPr>
              <a:t>d. Amazon SQS</a:t>
            </a:r>
          </a:p>
        </p:txBody>
      </p:sp>
    </p:spTree>
    <p:extLst>
      <p:ext uri="{BB962C8B-B14F-4D97-AF65-F5344CB8AC3E}">
        <p14:creationId xmlns:p14="http://schemas.microsoft.com/office/powerpoint/2010/main" val="22133046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company recently migrated a multi-tier application to AWS. The web tier runs on an Auto Scaling group of</a:t>
            </a:r>
          </a:p>
          <a:p>
            <a:pPr>
              <a:lnSpc>
                <a:spcPct val="150000"/>
              </a:lnSpc>
            </a:pPr>
            <a:r>
              <a:rPr lang="en-US" dirty="0">
                <a:solidFill>
                  <a:srgbClr val="18537D"/>
                </a:solidFill>
              </a:rPr>
              <a:t>Amazon </a:t>
            </a:r>
            <a:r>
              <a:rPr lang="en-US" b="1" dirty="0">
                <a:solidFill>
                  <a:srgbClr val="18537D"/>
                </a:solidFill>
              </a:rPr>
              <a:t>EC2 instances and the database tier uses Amazon DynamoDB</a:t>
            </a:r>
            <a:r>
              <a:rPr lang="en-US" dirty="0">
                <a:solidFill>
                  <a:srgbClr val="18537D"/>
                </a:solidFill>
              </a:rPr>
              <a:t>. The database tier requires extremely</a:t>
            </a:r>
          </a:p>
          <a:p>
            <a:pPr>
              <a:lnSpc>
                <a:spcPct val="150000"/>
              </a:lnSpc>
            </a:pPr>
            <a:r>
              <a:rPr lang="en-US" dirty="0">
                <a:solidFill>
                  <a:srgbClr val="18537D"/>
                </a:solidFill>
              </a:rPr>
              <a:t>high performance and most requests are repeated read requests.</a:t>
            </a:r>
          </a:p>
          <a:p>
            <a:pPr>
              <a:lnSpc>
                <a:spcPct val="150000"/>
              </a:lnSpc>
            </a:pPr>
            <a:r>
              <a:rPr lang="en-US" dirty="0">
                <a:solidFill>
                  <a:srgbClr val="18537D"/>
                </a:solidFill>
              </a:rPr>
              <a:t>What </a:t>
            </a:r>
            <a:r>
              <a:rPr lang="en-US" b="1" dirty="0">
                <a:solidFill>
                  <a:srgbClr val="18537D"/>
                </a:solidFill>
              </a:rPr>
              <a:t>service can be used to scale the database tier for BEST performance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Amazon CloudFront</a:t>
            </a:r>
          </a:p>
          <a:p>
            <a:pPr>
              <a:lnSpc>
                <a:spcPct val="150000"/>
              </a:lnSpc>
            </a:pPr>
            <a:r>
              <a:rPr lang="en-US" dirty="0">
                <a:solidFill>
                  <a:srgbClr val="18537D"/>
                </a:solidFill>
              </a:rPr>
              <a:t>b. Amazon </a:t>
            </a:r>
            <a:r>
              <a:rPr lang="en-US" dirty="0" err="1">
                <a:solidFill>
                  <a:srgbClr val="18537D"/>
                </a:solidFill>
              </a:rPr>
              <a:t>ElastiCache</a:t>
            </a:r>
            <a:endParaRPr lang="en-US" dirty="0">
              <a:solidFill>
                <a:srgbClr val="18537D"/>
              </a:solidFill>
            </a:endParaRPr>
          </a:p>
          <a:p>
            <a:pPr>
              <a:lnSpc>
                <a:spcPct val="150000"/>
              </a:lnSpc>
            </a:pPr>
            <a:r>
              <a:rPr lang="en-US" dirty="0">
                <a:solidFill>
                  <a:srgbClr val="18537D"/>
                </a:solidFill>
              </a:rPr>
              <a:t>c.</a:t>
            </a:r>
            <a:r>
              <a:rPr lang="en-US" b="1" dirty="0">
                <a:solidFill>
                  <a:srgbClr val="18537D"/>
                </a:solidFill>
              </a:rPr>
              <a:t> Amazon DynamoDB Accelerator (DAX)</a:t>
            </a:r>
          </a:p>
          <a:p>
            <a:pPr>
              <a:lnSpc>
                <a:spcPct val="150000"/>
              </a:lnSpc>
            </a:pPr>
            <a:r>
              <a:rPr lang="en-US" dirty="0">
                <a:solidFill>
                  <a:srgbClr val="18537D"/>
                </a:solidFill>
              </a:rPr>
              <a:t>d. Amazon SQS</a:t>
            </a:r>
          </a:p>
        </p:txBody>
      </p:sp>
    </p:spTree>
    <p:extLst>
      <p:ext uri="{BB962C8B-B14F-4D97-AF65-F5344CB8AC3E}">
        <p14:creationId xmlns:p14="http://schemas.microsoft.com/office/powerpoint/2010/main" val="3133863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static website that serves a </a:t>
            </a:r>
            <a:r>
              <a:rPr lang="en-US" b="1" dirty="0">
                <a:solidFill>
                  <a:srgbClr val="18537D"/>
                </a:solidFill>
              </a:rPr>
              <a:t>collection of images runs from an Amazon S3 bucket </a:t>
            </a:r>
            <a:r>
              <a:rPr lang="en-US" dirty="0">
                <a:solidFill>
                  <a:srgbClr val="18537D"/>
                </a:solidFill>
              </a:rPr>
              <a:t>in the us-east-1 region.</a:t>
            </a:r>
          </a:p>
          <a:p>
            <a:pPr>
              <a:lnSpc>
                <a:spcPct val="150000"/>
              </a:lnSpc>
            </a:pPr>
            <a:r>
              <a:rPr lang="en-US" dirty="0">
                <a:solidFill>
                  <a:srgbClr val="18537D"/>
                </a:solidFill>
              </a:rPr>
              <a:t>The website is gaining in popularity and a is now being viewed around the world. How can a Developer</a:t>
            </a:r>
          </a:p>
          <a:p>
            <a:pPr>
              <a:lnSpc>
                <a:spcPct val="150000"/>
              </a:lnSpc>
            </a:pPr>
            <a:r>
              <a:rPr lang="en-US" b="1" dirty="0">
                <a:solidFill>
                  <a:srgbClr val="18537D"/>
                </a:solidFill>
              </a:rPr>
              <a:t>improve the performance of the website for global users</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Use cross region replication to replicate the bucket to several global regions</a:t>
            </a:r>
          </a:p>
          <a:p>
            <a:pPr>
              <a:lnSpc>
                <a:spcPct val="150000"/>
              </a:lnSpc>
            </a:pPr>
            <a:r>
              <a:rPr lang="en-US" dirty="0">
                <a:solidFill>
                  <a:srgbClr val="18537D"/>
                </a:solidFill>
              </a:rPr>
              <a:t>b. Use Amazon S3 Transfer Acceleration to improve the performance of the website</a:t>
            </a:r>
          </a:p>
          <a:p>
            <a:pPr>
              <a:lnSpc>
                <a:spcPct val="150000"/>
              </a:lnSpc>
            </a:pPr>
            <a:r>
              <a:rPr lang="en-US" dirty="0">
                <a:solidFill>
                  <a:srgbClr val="18537D"/>
                </a:solidFill>
              </a:rPr>
              <a:t>c. Use Amazon </a:t>
            </a:r>
            <a:r>
              <a:rPr lang="en-US" dirty="0" err="1">
                <a:solidFill>
                  <a:srgbClr val="18537D"/>
                </a:solidFill>
              </a:rPr>
              <a:t>ElastiCache</a:t>
            </a:r>
            <a:r>
              <a:rPr lang="en-US" dirty="0">
                <a:solidFill>
                  <a:srgbClr val="18537D"/>
                </a:solidFill>
              </a:rPr>
              <a:t> to cache the website content</a:t>
            </a:r>
          </a:p>
          <a:p>
            <a:pPr>
              <a:lnSpc>
                <a:spcPct val="150000"/>
              </a:lnSpc>
            </a:pPr>
            <a:r>
              <a:rPr lang="en-US" dirty="0">
                <a:solidFill>
                  <a:srgbClr val="18537D"/>
                </a:solidFill>
              </a:rPr>
              <a:t>d. Use Amazon CloudFront to cache the website content</a:t>
            </a:r>
          </a:p>
        </p:txBody>
      </p:sp>
    </p:spTree>
    <p:extLst>
      <p:ext uri="{BB962C8B-B14F-4D97-AF65-F5344CB8AC3E}">
        <p14:creationId xmlns:p14="http://schemas.microsoft.com/office/powerpoint/2010/main" val="9638807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static website that serves a </a:t>
            </a:r>
            <a:r>
              <a:rPr lang="en-US" b="1" dirty="0">
                <a:solidFill>
                  <a:srgbClr val="18537D"/>
                </a:solidFill>
              </a:rPr>
              <a:t>collection of images runs from an Amazon S3 bucket </a:t>
            </a:r>
            <a:r>
              <a:rPr lang="en-US" dirty="0">
                <a:solidFill>
                  <a:srgbClr val="18537D"/>
                </a:solidFill>
              </a:rPr>
              <a:t>in the us-east-1 region.</a:t>
            </a:r>
          </a:p>
          <a:p>
            <a:pPr>
              <a:lnSpc>
                <a:spcPct val="150000"/>
              </a:lnSpc>
            </a:pPr>
            <a:r>
              <a:rPr lang="en-US" dirty="0">
                <a:solidFill>
                  <a:srgbClr val="18537D"/>
                </a:solidFill>
              </a:rPr>
              <a:t>The website is gaining in popularity and a is now being viewed around the world. How can a Developer</a:t>
            </a:r>
          </a:p>
          <a:p>
            <a:pPr>
              <a:lnSpc>
                <a:spcPct val="150000"/>
              </a:lnSpc>
            </a:pPr>
            <a:r>
              <a:rPr lang="en-US" b="1" dirty="0">
                <a:solidFill>
                  <a:srgbClr val="18537D"/>
                </a:solidFill>
              </a:rPr>
              <a:t>improve the performance of the website for global users</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Use cross region replication to replicate the bucket to several global regions</a:t>
            </a:r>
          </a:p>
          <a:p>
            <a:pPr>
              <a:lnSpc>
                <a:spcPct val="150000"/>
              </a:lnSpc>
            </a:pPr>
            <a:r>
              <a:rPr lang="en-US" dirty="0">
                <a:solidFill>
                  <a:srgbClr val="18537D"/>
                </a:solidFill>
              </a:rPr>
              <a:t>b. Use Amazon S3 Transfer Acceleration to improve the performance of the website</a:t>
            </a:r>
          </a:p>
          <a:p>
            <a:pPr>
              <a:lnSpc>
                <a:spcPct val="150000"/>
              </a:lnSpc>
            </a:pPr>
            <a:r>
              <a:rPr lang="en-US" dirty="0">
                <a:solidFill>
                  <a:srgbClr val="18537D"/>
                </a:solidFill>
              </a:rPr>
              <a:t>c. Use Amazon </a:t>
            </a:r>
            <a:r>
              <a:rPr lang="en-US" dirty="0" err="1">
                <a:solidFill>
                  <a:srgbClr val="18537D"/>
                </a:solidFill>
              </a:rPr>
              <a:t>ElastiCache</a:t>
            </a:r>
            <a:r>
              <a:rPr lang="en-US" dirty="0">
                <a:solidFill>
                  <a:srgbClr val="18537D"/>
                </a:solidFill>
              </a:rPr>
              <a:t> to cache the website content</a:t>
            </a:r>
          </a:p>
          <a:p>
            <a:pPr>
              <a:lnSpc>
                <a:spcPct val="150000"/>
              </a:lnSpc>
            </a:pPr>
            <a:r>
              <a:rPr lang="en-US" b="1" dirty="0">
                <a:solidFill>
                  <a:srgbClr val="18537D"/>
                </a:solidFill>
              </a:rPr>
              <a:t>d. Use Amazon CloudFront to cache the website content</a:t>
            </a:r>
          </a:p>
        </p:txBody>
      </p:sp>
    </p:spTree>
    <p:extLst>
      <p:ext uri="{BB962C8B-B14F-4D97-AF65-F5344CB8AC3E}">
        <p14:creationId xmlns:p14="http://schemas.microsoft.com/office/powerpoint/2010/main" val="2695750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An application uses an Auto Scaling group of Amazon EC2 instances, an Application Load Balancer (ALB), and</a:t>
            </a:r>
          </a:p>
          <a:p>
            <a:pPr>
              <a:lnSpc>
                <a:spcPct val="150000"/>
              </a:lnSpc>
            </a:pPr>
            <a:r>
              <a:rPr lang="en-US" dirty="0">
                <a:solidFill>
                  <a:srgbClr val="18537D"/>
                </a:solidFill>
              </a:rPr>
              <a:t>an Amazon Simple Queue Service (SQS) queue. </a:t>
            </a:r>
            <a:r>
              <a:rPr lang="en-US" b="1" dirty="0">
                <a:solidFill>
                  <a:srgbClr val="18537D"/>
                </a:solidFill>
              </a:rPr>
              <a:t>An Amazon CloudFront distribution caches content for global</a:t>
            </a:r>
          </a:p>
          <a:p>
            <a:pPr>
              <a:lnSpc>
                <a:spcPct val="150000"/>
              </a:lnSpc>
            </a:pPr>
            <a:r>
              <a:rPr lang="en-US" b="1" dirty="0">
                <a:solidFill>
                  <a:srgbClr val="18537D"/>
                </a:solidFill>
              </a:rPr>
              <a:t>users. A Developer needs to add in-transit encryption to the data by configuring end-to-end SSL between</a:t>
            </a:r>
          </a:p>
          <a:p>
            <a:pPr>
              <a:lnSpc>
                <a:spcPct val="150000"/>
              </a:lnSpc>
            </a:pPr>
            <a:r>
              <a:rPr lang="en-US" b="1" dirty="0">
                <a:solidFill>
                  <a:srgbClr val="18537D"/>
                </a:solidFill>
              </a:rPr>
              <a:t>the CloudFront Origin and the end users.</a:t>
            </a:r>
            <a:r>
              <a:rPr lang="en-US" dirty="0">
                <a:solidFill>
                  <a:srgbClr val="18537D"/>
                </a:solidFill>
              </a:rPr>
              <a:t> How can the Developer meet this requirement? (Select TWO)</a:t>
            </a:r>
          </a:p>
          <a:p>
            <a:pPr>
              <a:lnSpc>
                <a:spcPct val="150000"/>
              </a:lnSpc>
            </a:pPr>
            <a:endParaRPr lang="en-US" dirty="0">
              <a:solidFill>
                <a:srgbClr val="18537D"/>
              </a:solidFill>
            </a:endParaRPr>
          </a:p>
          <a:p>
            <a:pPr>
              <a:lnSpc>
                <a:spcPct val="150000"/>
              </a:lnSpc>
            </a:pPr>
            <a:r>
              <a:rPr lang="en-US" dirty="0">
                <a:solidFill>
                  <a:srgbClr val="18537D"/>
                </a:solidFill>
              </a:rPr>
              <a:t>a. Configure the Origin Protocol Policy</a:t>
            </a:r>
          </a:p>
          <a:p>
            <a:pPr>
              <a:lnSpc>
                <a:spcPct val="150000"/>
              </a:lnSpc>
            </a:pPr>
            <a:r>
              <a:rPr lang="en-US" dirty="0">
                <a:solidFill>
                  <a:srgbClr val="18537D"/>
                </a:solidFill>
              </a:rPr>
              <a:t>b. Create an Origin Access Identity (OAI)</a:t>
            </a:r>
          </a:p>
          <a:p>
            <a:pPr>
              <a:lnSpc>
                <a:spcPct val="150000"/>
              </a:lnSpc>
            </a:pPr>
            <a:r>
              <a:rPr lang="en-US" dirty="0">
                <a:solidFill>
                  <a:srgbClr val="18537D"/>
                </a:solidFill>
              </a:rPr>
              <a:t>c. Add a certificate to the Auto Scaling Group</a:t>
            </a:r>
          </a:p>
          <a:p>
            <a:pPr>
              <a:lnSpc>
                <a:spcPct val="150000"/>
              </a:lnSpc>
            </a:pPr>
            <a:r>
              <a:rPr lang="en-US" dirty="0">
                <a:solidFill>
                  <a:srgbClr val="18537D"/>
                </a:solidFill>
              </a:rPr>
              <a:t>d. Configure the Viewer Protocol Policy</a:t>
            </a:r>
          </a:p>
          <a:p>
            <a:pPr>
              <a:lnSpc>
                <a:spcPct val="150000"/>
              </a:lnSpc>
            </a:pPr>
            <a:r>
              <a:rPr lang="en-US" dirty="0">
                <a:solidFill>
                  <a:srgbClr val="18537D"/>
                </a:solidFill>
              </a:rPr>
              <a:t>e. Create an encrypted distribution</a:t>
            </a:r>
          </a:p>
        </p:txBody>
      </p:sp>
    </p:spTree>
    <p:extLst>
      <p:ext uri="{BB962C8B-B14F-4D97-AF65-F5344CB8AC3E}">
        <p14:creationId xmlns:p14="http://schemas.microsoft.com/office/powerpoint/2010/main" val="655538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An application uses an Auto Scaling group of Amazon EC2 instances, an Application Load Balancer (ALB), and</a:t>
            </a:r>
          </a:p>
          <a:p>
            <a:pPr>
              <a:lnSpc>
                <a:spcPct val="150000"/>
              </a:lnSpc>
            </a:pPr>
            <a:r>
              <a:rPr lang="en-US" dirty="0">
                <a:solidFill>
                  <a:srgbClr val="18537D"/>
                </a:solidFill>
              </a:rPr>
              <a:t>an Amazon Simple Queue Service (SQS) queue. </a:t>
            </a:r>
            <a:r>
              <a:rPr lang="en-US" b="1" dirty="0">
                <a:solidFill>
                  <a:srgbClr val="18537D"/>
                </a:solidFill>
              </a:rPr>
              <a:t>An Amazon CloudFront distribution caches content for global</a:t>
            </a:r>
          </a:p>
          <a:p>
            <a:pPr>
              <a:lnSpc>
                <a:spcPct val="150000"/>
              </a:lnSpc>
            </a:pPr>
            <a:r>
              <a:rPr lang="en-US" b="1" dirty="0">
                <a:solidFill>
                  <a:srgbClr val="18537D"/>
                </a:solidFill>
              </a:rPr>
              <a:t>users. A Developer needs to add in-transit encryption to the data by configuring end-to-end SSL between</a:t>
            </a:r>
          </a:p>
          <a:p>
            <a:pPr>
              <a:lnSpc>
                <a:spcPct val="150000"/>
              </a:lnSpc>
            </a:pPr>
            <a:r>
              <a:rPr lang="en-US" b="1" dirty="0">
                <a:solidFill>
                  <a:srgbClr val="18537D"/>
                </a:solidFill>
              </a:rPr>
              <a:t>the CloudFront Origin and the end users.</a:t>
            </a:r>
            <a:r>
              <a:rPr lang="en-US" dirty="0">
                <a:solidFill>
                  <a:srgbClr val="18537D"/>
                </a:solidFill>
              </a:rPr>
              <a:t> How can the Developer meet this requirement? (Select TWO)</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b="1" dirty="0">
                <a:solidFill>
                  <a:srgbClr val="18537D"/>
                </a:solidFill>
              </a:rPr>
              <a:t>Configure the Origin Protocol Policy</a:t>
            </a:r>
          </a:p>
          <a:p>
            <a:pPr>
              <a:lnSpc>
                <a:spcPct val="150000"/>
              </a:lnSpc>
            </a:pPr>
            <a:r>
              <a:rPr lang="en-US" dirty="0">
                <a:solidFill>
                  <a:srgbClr val="18537D"/>
                </a:solidFill>
              </a:rPr>
              <a:t>b. Create an Origin Access Identity (OAI)</a:t>
            </a:r>
          </a:p>
          <a:p>
            <a:pPr>
              <a:lnSpc>
                <a:spcPct val="150000"/>
              </a:lnSpc>
            </a:pPr>
            <a:r>
              <a:rPr lang="en-US" dirty="0">
                <a:solidFill>
                  <a:srgbClr val="18537D"/>
                </a:solidFill>
              </a:rPr>
              <a:t>c. Add a certificate to the Auto Scaling Group</a:t>
            </a:r>
          </a:p>
          <a:p>
            <a:pPr>
              <a:lnSpc>
                <a:spcPct val="150000"/>
              </a:lnSpc>
            </a:pPr>
            <a:r>
              <a:rPr lang="en-US" dirty="0">
                <a:solidFill>
                  <a:srgbClr val="18537D"/>
                </a:solidFill>
              </a:rPr>
              <a:t>d. </a:t>
            </a:r>
            <a:r>
              <a:rPr lang="en-US" b="1" dirty="0">
                <a:solidFill>
                  <a:srgbClr val="18537D"/>
                </a:solidFill>
              </a:rPr>
              <a:t>Configure the Viewer Protocol Policy</a:t>
            </a:r>
          </a:p>
          <a:p>
            <a:pPr>
              <a:lnSpc>
                <a:spcPct val="150000"/>
              </a:lnSpc>
            </a:pPr>
            <a:r>
              <a:rPr lang="en-US" dirty="0">
                <a:solidFill>
                  <a:srgbClr val="18537D"/>
                </a:solidFill>
              </a:rPr>
              <a:t>e. Create an encrypted distribution</a:t>
            </a:r>
          </a:p>
        </p:txBody>
      </p:sp>
    </p:spTree>
    <p:extLst>
      <p:ext uri="{BB962C8B-B14F-4D97-AF65-F5344CB8AC3E}">
        <p14:creationId xmlns:p14="http://schemas.microsoft.com/office/powerpoint/2010/main" val="18647669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An Amazon RDS database is experiencing a high volume of read requests that are slowing down the</a:t>
            </a:r>
          </a:p>
          <a:p>
            <a:pPr>
              <a:lnSpc>
                <a:spcPct val="150000"/>
              </a:lnSpc>
            </a:pPr>
            <a:r>
              <a:rPr lang="en-US" dirty="0">
                <a:solidFill>
                  <a:srgbClr val="18537D"/>
                </a:solidFill>
              </a:rPr>
              <a:t>database. Which fully managed, </a:t>
            </a:r>
            <a:r>
              <a:rPr lang="en-US" b="1" dirty="0">
                <a:solidFill>
                  <a:srgbClr val="18537D"/>
                </a:solidFill>
              </a:rPr>
              <a:t>in-memory AWS database service </a:t>
            </a:r>
            <a:r>
              <a:rPr lang="en-US" dirty="0">
                <a:solidFill>
                  <a:srgbClr val="18537D"/>
                </a:solidFill>
              </a:rPr>
              <a:t>can assist with offloading reads from the</a:t>
            </a:r>
          </a:p>
          <a:p>
            <a:pPr>
              <a:lnSpc>
                <a:spcPct val="150000"/>
              </a:lnSpc>
            </a:pPr>
            <a:r>
              <a:rPr lang="en-US" dirty="0">
                <a:solidFill>
                  <a:srgbClr val="18537D"/>
                </a:solidFill>
              </a:rPr>
              <a:t>RDS database?</a:t>
            </a:r>
          </a:p>
          <a:p>
            <a:pPr>
              <a:lnSpc>
                <a:spcPct val="150000"/>
              </a:lnSpc>
            </a:pPr>
            <a:endParaRPr lang="en-US" dirty="0">
              <a:solidFill>
                <a:srgbClr val="18537D"/>
              </a:solidFill>
            </a:endParaRPr>
          </a:p>
          <a:p>
            <a:pPr>
              <a:lnSpc>
                <a:spcPct val="150000"/>
              </a:lnSpc>
            </a:pPr>
            <a:r>
              <a:rPr lang="en-US" dirty="0">
                <a:solidFill>
                  <a:srgbClr val="18537D"/>
                </a:solidFill>
              </a:rPr>
              <a:t>a. Amazon RDS Read Replica</a:t>
            </a:r>
          </a:p>
          <a:p>
            <a:pPr>
              <a:lnSpc>
                <a:spcPct val="150000"/>
              </a:lnSpc>
            </a:pPr>
            <a:r>
              <a:rPr lang="en-US" dirty="0">
                <a:solidFill>
                  <a:srgbClr val="18537D"/>
                </a:solidFill>
              </a:rPr>
              <a:t>b. Amazon Aurora Serverless</a:t>
            </a:r>
          </a:p>
          <a:p>
            <a:pPr>
              <a:lnSpc>
                <a:spcPct val="150000"/>
              </a:lnSpc>
            </a:pPr>
            <a:r>
              <a:rPr lang="en-US" dirty="0">
                <a:solidFill>
                  <a:srgbClr val="18537D"/>
                </a:solidFill>
              </a:rPr>
              <a:t>c. Amazon </a:t>
            </a:r>
            <a:r>
              <a:rPr lang="en-US" dirty="0" err="1">
                <a:solidFill>
                  <a:srgbClr val="18537D"/>
                </a:solidFill>
              </a:rPr>
              <a:t>ElastiCache</a:t>
            </a:r>
            <a:r>
              <a:rPr lang="en-US" dirty="0">
                <a:solidFill>
                  <a:srgbClr val="18537D"/>
                </a:solidFill>
              </a:rPr>
              <a:t> Redis</a:t>
            </a:r>
          </a:p>
          <a:p>
            <a:pPr>
              <a:lnSpc>
                <a:spcPct val="150000"/>
              </a:lnSpc>
            </a:pPr>
            <a:r>
              <a:rPr lang="en-US" dirty="0">
                <a:solidFill>
                  <a:srgbClr val="18537D"/>
                </a:solidFill>
              </a:rPr>
              <a:t>d. Memcached on Amazon EC2</a:t>
            </a:r>
          </a:p>
        </p:txBody>
      </p:sp>
    </p:spTree>
    <p:extLst>
      <p:ext uri="{BB962C8B-B14F-4D97-AF65-F5344CB8AC3E}">
        <p14:creationId xmlns:p14="http://schemas.microsoft.com/office/powerpoint/2010/main" val="26925790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An Amazon RDS database is experiencing a high volume of read requests that are slowing down the</a:t>
            </a:r>
          </a:p>
          <a:p>
            <a:pPr>
              <a:lnSpc>
                <a:spcPct val="150000"/>
              </a:lnSpc>
            </a:pPr>
            <a:r>
              <a:rPr lang="en-US" dirty="0">
                <a:solidFill>
                  <a:srgbClr val="18537D"/>
                </a:solidFill>
              </a:rPr>
              <a:t>database. Which fully managed, </a:t>
            </a:r>
            <a:r>
              <a:rPr lang="en-US" b="1" dirty="0">
                <a:solidFill>
                  <a:srgbClr val="18537D"/>
                </a:solidFill>
              </a:rPr>
              <a:t>in-memory AWS database service </a:t>
            </a:r>
            <a:r>
              <a:rPr lang="en-US" dirty="0">
                <a:solidFill>
                  <a:srgbClr val="18537D"/>
                </a:solidFill>
              </a:rPr>
              <a:t>can assist with offloading reads from the</a:t>
            </a:r>
          </a:p>
          <a:p>
            <a:pPr>
              <a:lnSpc>
                <a:spcPct val="150000"/>
              </a:lnSpc>
            </a:pPr>
            <a:r>
              <a:rPr lang="en-US" dirty="0">
                <a:solidFill>
                  <a:srgbClr val="18537D"/>
                </a:solidFill>
              </a:rPr>
              <a:t>RDS database?</a:t>
            </a:r>
          </a:p>
          <a:p>
            <a:pPr>
              <a:lnSpc>
                <a:spcPct val="150000"/>
              </a:lnSpc>
            </a:pPr>
            <a:endParaRPr lang="en-US" dirty="0">
              <a:solidFill>
                <a:srgbClr val="18537D"/>
              </a:solidFill>
            </a:endParaRPr>
          </a:p>
          <a:p>
            <a:pPr>
              <a:lnSpc>
                <a:spcPct val="150000"/>
              </a:lnSpc>
            </a:pPr>
            <a:r>
              <a:rPr lang="en-US" dirty="0">
                <a:solidFill>
                  <a:srgbClr val="18537D"/>
                </a:solidFill>
              </a:rPr>
              <a:t>a. Amazon RDS Read Replica</a:t>
            </a:r>
          </a:p>
          <a:p>
            <a:pPr>
              <a:lnSpc>
                <a:spcPct val="150000"/>
              </a:lnSpc>
            </a:pPr>
            <a:r>
              <a:rPr lang="en-US" dirty="0">
                <a:solidFill>
                  <a:srgbClr val="18537D"/>
                </a:solidFill>
              </a:rPr>
              <a:t>b. Amazon Aurora Serverless</a:t>
            </a:r>
          </a:p>
          <a:p>
            <a:pPr>
              <a:lnSpc>
                <a:spcPct val="150000"/>
              </a:lnSpc>
            </a:pPr>
            <a:r>
              <a:rPr lang="en-US" dirty="0">
                <a:solidFill>
                  <a:srgbClr val="18537D"/>
                </a:solidFill>
              </a:rPr>
              <a:t>c. </a:t>
            </a:r>
            <a:r>
              <a:rPr lang="en-US" b="1" dirty="0">
                <a:solidFill>
                  <a:srgbClr val="18537D"/>
                </a:solidFill>
              </a:rPr>
              <a:t>Amazon </a:t>
            </a:r>
            <a:r>
              <a:rPr lang="en-US" b="1" dirty="0" err="1">
                <a:solidFill>
                  <a:srgbClr val="18537D"/>
                </a:solidFill>
              </a:rPr>
              <a:t>ElastiCache</a:t>
            </a:r>
            <a:r>
              <a:rPr lang="en-US" b="1" dirty="0">
                <a:solidFill>
                  <a:srgbClr val="18537D"/>
                </a:solidFill>
              </a:rPr>
              <a:t> Redis</a:t>
            </a:r>
          </a:p>
          <a:p>
            <a:pPr>
              <a:lnSpc>
                <a:spcPct val="150000"/>
              </a:lnSpc>
            </a:pPr>
            <a:r>
              <a:rPr lang="en-US" dirty="0">
                <a:solidFill>
                  <a:srgbClr val="18537D"/>
                </a:solidFill>
              </a:rPr>
              <a:t>d. Memcached on Amazon EC2</a:t>
            </a:r>
          </a:p>
        </p:txBody>
      </p:sp>
    </p:spTree>
    <p:extLst>
      <p:ext uri="{BB962C8B-B14F-4D97-AF65-F5344CB8AC3E}">
        <p14:creationId xmlns:p14="http://schemas.microsoft.com/office/powerpoint/2010/main" val="4895939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An Amazon </a:t>
            </a:r>
            <a:r>
              <a:rPr lang="en-US" dirty="0" err="1">
                <a:solidFill>
                  <a:srgbClr val="18537D"/>
                </a:solidFill>
              </a:rPr>
              <a:t>ElastiCache</a:t>
            </a:r>
            <a:r>
              <a:rPr lang="en-US" dirty="0">
                <a:solidFill>
                  <a:srgbClr val="18537D"/>
                </a:solidFill>
              </a:rPr>
              <a:t> cluster has been placed in front of a large Amazon RDS database. To reduce cost the</a:t>
            </a:r>
          </a:p>
          <a:p>
            <a:pPr>
              <a:lnSpc>
                <a:spcPct val="150000"/>
              </a:lnSpc>
            </a:pPr>
            <a:r>
              <a:rPr lang="en-US" dirty="0" err="1">
                <a:solidFill>
                  <a:srgbClr val="18537D"/>
                </a:solidFill>
              </a:rPr>
              <a:t>ElastiCache</a:t>
            </a:r>
            <a:r>
              <a:rPr lang="en-US" dirty="0">
                <a:solidFill>
                  <a:srgbClr val="18537D"/>
                </a:solidFill>
              </a:rPr>
              <a:t> cluster should </a:t>
            </a:r>
            <a:r>
              <a:rPr lang="en-US" b="1" dirty="0">
                <a:solidFill>
                  <a:srgbClr val="18537D"/>
                </a:solidFill>
              </a:rPr>
              <a:t>only cache items that are actually requested</a:t>
            </a:r>
            <a:r>
              <a:rPr lang="en-US" dirty="0">
                <a:solidFill>
                  <a:srgbClr val="18537D"/>
                </a:solidFill>
              </a:rPr>
              <a:t>. How should </a:t>
            </a:r>
            <a:r>
              <a:rPr lang="en-US" dirty="0" err="1">
                <a:solidFill>
                  <a:srgbClr val="18537D"/>
                </a:solidFill>
              </a:rPr>
              <a:t>ElastiCache</a:t>
            </a:r>
            <a:r>
              <a:rPr lang="en-US" dirty="0">
                <a:solidFill>
                  <a:srgbClr val="18537D"/>
                </a:solidFill>
              </a:rPr>
              <a:t> be</a:t>
            </a:r>
          </a:p>
          <a:p>
            <a:pPr>
              <a:lnSpc>
                <a:spcPct val="150000"/>
              </a:lnSpc>
            </a:pPr>
            <a:r>
              <a:rPr lang="en-US" dirty="0">
                <a:solidFill>
                  <a:srgbClr val="18537D"/>
                </a:solidFill>
              </a:rPr>
              <a:t>optimized?</a:t>
            </a:r>
          </a:p>
          <a:p>
            <a:pPr>
              <a:lnSpc>
                <a:spcPct val="150000"/>
              </a:lnSpc>
            </a:pPr>
            <a:endParaRPr lang="en-US" dirty="0">
              <a:solidFill>
                <a:srgbClr val="18537D"/>
              </a:solidFill>
            </a:endParaRPr>
          </a:p>
          <a:p>
            <a:pPr>
              <a:lnSpc>
                <a:spcPct val="150000"/>
              </a:lnSpc>
            </a:pPr>
            <a:r>
              <a:rPr lang="en-US" dirty="0">
                <a:solidFill>
                  <a:srgbClr val="18537D"/>
                </a:solidFill>
              </a:rPr>
              <a:t>a. Only cache database writes</a:t>
            </a:r>
          </a:p>
          <a:p>
            <a:pPr>
              <a:lnSpc>
                <a:spcPct val="150000"/>
              </a:lnSpc>
            </a:pPr>
            <a:r>
              <a:rPr lang="en-US" dirty="0">
                <a:solidFill>
                  <a:srgbClr val="18537D"/>
                </a:solidFill>
              </a:rPr>
              <a:t>b. Enable a TTL on cached data</a:t>
            </a:r>
          </a:p>
          <a:p>
            <a:pPr>
              <a:lnSpc>
                <a:spcPct val="150000"/>
              </a:lnSpc>
            </a:pPr>
            <a:r>
              <a:rPr lang="en-US" dirty="0">
                <a:solidFill>
                  <a:srgbClr val="18537D"/>
                </a:solidFill>
              </a:rPr>
              <a:t>c. Use a write-through caching strategy</a:t>
            </a:r>
          </a:p>
          <a:p>
            <a:pPr>
              <a:lnSpc>
                <a:spcPct val="150000"/>
              </a:lnSpc>
            </a:pPr>
            <a:r>
              <a:rPr lang="en-US" dirty="0">
                <a:solidFill>
                  <a:srgbClr val="18537D"/>
                </a:solidFill>
              </a:rPr>
              <a:t>d. Use a lazy loading caching strategy</a:t>
            </a:r>
          </a:p>
        </p:txBody>
      </p:sp>
    </p:spTree>
    <p:extLst>
      <p:ext uri="{BB962C8B-B14F-4D97-AF65-F5344CB8AC3E}">
        <p14:creationId xmlns:p14="http://schemas.microsoft.com/office/powerpoint/2010/main" val="32827460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An Amazon </a:t>
            </a:r>
            <a:r>
              <a:rPr lang="en-US" dirty="0" err="1">
                <a:solidFill>
                  <a:srgbClr val="18537D"/>
                </a:solidFill>
              </a:rPr>
              <a:t>ElastiCache</a:t>
            </a:r>
            <a:r>
              <a:rPr lang="en-US" dirty="0">
                <a:solidFill>
                  <a:srgbClr val="18537D"/>
                </a:solidFill>
              </a:rPr>
              <a:t> cluster has been placed in front of a large Amazon RDS database. To reduce cost the</a:t>
            </a:r>
          </a:p>
          <a:p>
            <a:pPr>
              <a:lnSpc>
                <a:spcPct val="150000"/>
              </a:lnSpc>
            </a:pPr>
            <a:r>
              <a:rPr lang="en-US" dirty="0" err="1">
                <a:solidFill>
                  <a:srgbClr val="18537D"/>
                </a:solidFill>
              </a:rPr>
              <a:t>ElastiCache</a:t>
            </a:r>
            <a:r>
              <a:rPr lang="en-US" dirty="0">
                <a:solidFill>
                  <a:srgbClr val="18537D"/>
                </a:solidFill>
              </a:rPr>
              <a:t> cluster should </a:t>
            </a:r>
            <a:r>
              <a:rPr lang="en-US" b="1" dirty="0">
                <a:solidFill>
                  <a:srgbClr val="18537D"/>
                </a:solidFill>
              </a:rPr>
              <a:t>only cache items that are actually requested</a:t>
            </a:r>
            <a:r>
              <a:rPr lang="en-US" dirty="0">
                <a:solidFill>
                  <a:srgbClr val="18537D"/>
                </a:solidFill>
              </a:rPr>
              <a:t>. How should </a:t>
            </a:r>
            <a:r>
              <a:rPr lang="en-US" dirty="0" err="1">
                <a:solidFill>
                  <a:srgbClr val="18537D"/>
                </a:solidFill>
              </a:rPr>
              <a:t>ElastiCache</a:t>
            </a:r>
            <a:r>
              <a:rPr lang="en-US" dirty="0">
                <a:solidFill>
                  <a:srgbClr val="18537D"/>
                </a:solidFill>
              </a:rPr>
              <a:t> be</a:t>
            </a:r>
          </a:p>
          <a:p>
            <a:pPr>
              <a:lnSpc>
                <a:spcPct val="150000"/>
              </a:lnSpc>
            </a:pPr>
            <a:r>
              <a:rPr lang="en-US" dirty="0">
                <a:solidFill>
                  <a:srgbClr val="18537D"/>
                </a:solidFill>
              </a:rPr>
              <a:t>optimized?</a:t>
            </a:r>
          </a:p>
          <a:p>
            <a:pPr>
              <a:lnSpc>
                <a:spcPct val="150000"/>
              </a:lnSpc>
            </a:pPr>
            <a:endParaRPr lang="en-US" dirty="0">
              <a:solidFill>
                <a:srgbClr val="18537D"/>
              </a:solidFill>
            </a:endParaRPr>
          </a:p>
          <a:p>
            <a:pPr>
              <a:lnSpc>
                <a:spcPct val="150000"/>
              </a:lnSpc>
            </a:pPr>
            <a:r>
              <a:rPr lang="en-US" dirty="0">
                <a:solidFill>
                  <a:srgbClr val="18537D"/>
                </a:solidFill>
              </a:rPr>
              <a:t>a. Only cache database writes</a:t>
            </a:r>
          </a:p>
          <a:p>
            <a:pPr>
              <a:lnSpc>
                <a:spcPct val="150000"/>
              </a:lnSpc>
            </a:pPr>
            <a:r>
              <a:rPr lang="en-US" dirty="0">
                <a:solidFill>
                  <a:srgbClr val="18537D"/>
                </a:solidFill>
              </a:rPr>
              <a:t>b. Enable a TTL on cached data</a:t>
            </a:r>
          </a:p>
          <a:p>
            <a:pPr>
              <a:lnSpc>
                <a:spcPct val="150000"/>
              </a:lnSpc>
            </a:pPr>
            <a:r>
              <a:rPr lang="en-US" dirty="0">
                <a:solidFill>
                  <a:srgbClr val="18537D"/>
                </a:solidFill>
              </a:rPr>
              <a:t>c. Use a write-through caching strategy</a:t>
            </a:r>
          </a:p>
          <a:p>
            <a:pPr>
              <a:lnSpc>
                <a:spcPct val="150000"/>
              </a:lnSpc>
            </a:pPr>
            <a:r>
              <a:rPr lang="en-US" dirty="0">
                <a:solidFill>
                  <a:srgbClr val="18537D"/>
                </a:solidFill>
              </a:rPr>
              <a:t>d. </a:t>
            </a:r>
            <a:r>
              <a:rPr lang="en-US" b="1" dirty="0">
                <a:solidFill>
                  <a:srgbClr val="18537D"/>
                </a:solidFill>
              </a:rPr>
              <a:t>Use a lazy loading caching strategy</a:t>
            </a:r>
          </a:p>
        </p:txBody>
      </p:sp>
    </p:spTree>
    <p:extLst>
      <p:ext uri="{BB962C8B-B14F-4D97-AF65-F5344CB8AC3E}">
        <p14:creationId xmlns:p14="http://schemas.microsoft.com/office/powerpoint/2010/main" val="38581158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610301"/>
          </a:xfrm>
          <a:prstGeom prst="rect">
            <a:avLst/>
          </a:prstGeom>
        </p:spPr>
        <p:txBody>
          <a:bodyPr wrap="square">
            <a:spAutoFit/>
          </a:bodyPr>
          <a:lstStyle/>
          <a:p>
            <a:pPr>
              <a:lnSpc>
                <a:spcPct val="150000"/>
              </a:lnSpc>
            </a:pPr>
            <a:r>
              <a:rPr lang="en-US" dirty="0">
                <a:solidFill>
                  <a:srgbClr val="18537D"/>
                </a:solidFill>
              </a:rPr>
              <a:t>A company is migrating an on-premises web application to AWS. The web application runs on a single server</a:t>
            </a:r>
          </a:p>
          <a:p>
            <a:pPr>
              <a:lnSpc>
                <a:spcPct val="150000"/>
              </a:lnSpc>
            </a:pPr>
            <a:r>
              <a:rPr lang="en-US" dirty="0">
                <a:solidFill>
                  <a:srgbClr val="18537D"/>
                </a:solidFill>
              </a:rPr>
              <a:t>and stores session data in memory. On AWS the company plan to implement multiple Amazon EC2 instances</a:t>
            </a:r>
          </a:p>
          <a:p>
            <a:pPr>
              <a:lnSpc>
                <a:spcPct val="150000"/>
              </a:lnSpc>
            </a:pPr>
            <a:r>
              <a:rPr lang="en-US" dirty="0">
                <a:solidFill>
                  <a:srgbClr val="18537D"/>
                </a:solidFill>
              </a:rPr>
              <a:t>behind an Elastic Load Balancer (ELB). The company want to refactor the application so that data is resilient</a:t>
            </a:r>
          </a:p>
          <a:p>
            <a:pPr>
              <a:lnSpc>
                <a:spcPct val="150000"/>
              </a:lnSpc>
            </a:pPr>
            <a:r>
              <a:rPr lang="en-US" dirty="0">
                <a:solidFill>
                  <a:srgbClr val="18537D"/>
                </a:solidFill>
              </a:rPr>
              <a:t>if an instance fails and user downtime is minimized. Where should the company move session data to </a:t>
            </a:r>
            <a:r>
              <a:rPr lang="en-US" b="1" dirty="0">
                <a:solidFill>
                  <a:srgbClr val="18537D"/>
                </a:solidFill>
              </a:rPr>
              <a:t>MOST</a:t>
            </a:r>
          </a:p>
          <a:p>
            <a:pPr>
              <a:lnSpc>
                <a:spcPct val="150000"/>
              </a:lnSpc>
            </a:pPr>
            <a:r>
              <a:rPr lang="en-US" b="1" dirty="0">
                <a:solidFill>
                  <a:srgbClr val="18537D"/>
                </a:solidFill>
              </a:rPr>
              <a:t>effectively reduce downtime and make users’ session data more fault tolerant</a:t>
            </a:r>
            <a:r>
              <a:rPr lang="en-US" dirty="0">
                <a:solidFill>
                  <a:srgbClr val="18537D"/>
                </a:solidFill>
              </a:rPr>
              <a:t>?</a:t>
            </a:r>
          </a:p>
          <a:p>
            <a:pPr>
              <a:lnSpc>
                <a:spcPct val="150000"/>
              </a:lnSpc>
            </a:pPr>
            <a:endParaRPr lang="en-US" dirty="0">
              <a:solidFill>
                <a:srgbClr val="18537D"/>
              </a:solidFill>
            </a:endParaRPr>
          </a:p>
          <a:p>
            <a:pPr>
              <a:lnSpc>
                <a:spcPct val="150000"/>
              </a:lnSpc>
            </a:pPr>
            <a:endParaRPr lang="en-US" dirty="0">
              <a:solidFill>
                <a:srgbClr val="18537D"/>
              </a:solidFill>
            </a:endParaRPr>
          </a:p>
          <a:p>
            <a:pPr>
              <a:lnSpc>
                <a:spcPct val="150000"/>
              </a:lnSpc>
            </a:pPr>
            <a:r>
              <a:rPr lang="en-US" dirty="0">
                <a:solidFill>
                  <a:srgbClr val="18537D"/>
                </a:solidFill>
              </a:rPr>
              <a:t>a. An Amazon </a:t>
            </a:r>
            <a:r>
              <a:rPr lang="en-US" dirty="0" err="1">
                <a:solidFill>
                  <a:srgbClr val="18537D"/>
                </a:solidFill>
              </a:rPr>
              <a:t>ElastiCache</a:t>
            </a:r>
            <a:r>
              <a:rPr lang="en-US" dirty="0">
                <a:solidFill>
                  <a:srgbClr val="18537D"/>
                </a:solidFill>
              </a:rPr>
              <a:t> for Redis cluster</a:t>
            </a:r>
          </a:p>
          <a:p>
            <a:pPr>
              <a:lnSpc>
                <a:spcPct val="150000"/>
              </a:lnSpc>
            </a:pPr>
            <a:r>
              <a:rPr lang="en-US" dirty="0">
                <a:solidFill>
                  <a:srgbClr val="18537D"/>
                </a:solidFill>
              </a:rPr>
              <a:t>b. A second Amazon EBS volume</a:t>
            </a:r>
          </a:p>
          <a:p>
            <a:pPr>
              <a:lnSpc>
                <a:spcPct val="150000"/>
              </a:lnSpc>
            </a:pPr>
            <a:r>
              <a:rPr lang="en-US" dirty="0">
                <a:solidFill>
                  <a:srgbClr val="18537D"/>
                </a:solidFill>
              </a:rPr>
              <a:t>c. The web server’s primary disk</a:t>
            </a:r>
          </a:p>
          <a:p>
            <a:pPr>
              <a:lnSpc>
                <a:spcPct val="150000"/>
              </a:lnSpc>
            </a:pPr>
            <a:r>
              <a:rPr lang="en-US" dirty="0">
                <a:solidFill>
                  <a:srgbClr val="18537D"/>
                </a:solidFill>
              </a:rPr>
              <a:t>d. An Amazon EC2 instance dedicated to session data</a:t>
            </a:r>
          </a:p>
        </p:txBody>
      </p:sp>
    </p:spTree>
    <p:extLst>
      <p:ext uri="{BB962C8B-B14F-4D97-AF65-F5344CB8AC3E}">
        <p14:creationId xmlns:p14="http://schemas.microsoft.com/office/powerpoint/2010/main" val="3019699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610301"/>
          </a:xfrm>
          <a:prstGeom prst="rect">
            <a:avLst/>
          </a:prstGeom>
        </p:spPr>
        <p:txBody>
          <a:bodyPr wrap="square">
            <a:spAutoFit/>
          </a:bodyPr>
          <a:lstStyle/>
          <a:p>
            <a:pPr>
              <a:lnSpc>
                <a:spcPct val="150000"/>
              </a:lnSpc>
            </a:pPr>
            <a:r>
              <a:rPr lang="en-US" dirty="0">
                <a:solidFill>
                  <a:srgbClr val="18537D"/>
                </a:solidFill>
              </a:rPr>
              <a:t>A company is migrating an on-premises web application to AWS. The web application runs on a single server</a:t>
            </a:r>
          </a:p>
          <a:p>
            <a:pPr>
              <a:lnSpc>
                <a:spcPct val="150000"/>
              </a:lnSpc>
            </a:pPr>
            <a:r>
              <a:rPr lang="en-US" dirty="0">
                <a:solidFill>
                  <a:srgbClr val="18537D"/>
                </a:solidFill>
              </a:rPr>
              <a:t>and stores session data in memory. On AWS the company plan to implement multiple Amazon EC2 instances</a:t>
            </a:r>
          </a:p>
          <a:p>
            <a:pPr>
              <a:lnSpc>
                <a:spcPct val="150000"/>
              </a:lnSpc>
            </a:pPr>
            <a:r>
              <a:rPr lang="en-US" dirty="0">
                <a:solidFill>
                  <a:srgbClr val="18537D"/>
                </a:solidFill>
              </a:rPr>
              <a:t>behind an Elastic Load Balancer (ELB). The company want to refactor the application so that data is resilient</a:t>
            </a:r>
          </a:p>
          <a:p>
            <a:pPr>
              <a:lnSpc>
                <a:spcPct val="150000"/>
              </a:lnSpc>
            </a:pPr>
            <a:r>
              <a:rPr lang="en-US" dirty="0">
                <a:solidFill>
                  <a:srgbClr val="18537D"/>
                </a:solidFill>
              </a:rPr>
              <a:t>if an instance fails and user downtime is minimized. Where should the company move session data to </a:t>
            </a:r>
            <a:r>
              <a:rPr lang="en-US" b="1" dirty="0">
                <a:solidFill>
                  <a:srgbClr val="18537D"/>
                </a:solidFill>
              </a:rPr>
              <a:t>MOST</a:t>
            </a:r>
          </a:p>
          <a:p>
            <a:pPr>
              <a:lnSpc>
                <a:spcPct val="150000"/>
              </a:lnSpc>
            </a:pPr>
            <a:r>
              <a:rPr lang="en-US" b="1" dirty="0">
                <a:solidFill>
                  <a:srgbClr val="18537D"/>
                </a:solidFill>
              </a:rPr>
              <a:t>effectively reduce downtime and make users’ session data more fault tolerant</a:t>
            </a:r>
            <a:r>
              <a:rPr lang="en-US" dirty="0">
                <a:solidFill>
                  <a:srgbClr val="18537D"/>
                </a:solidFill>
              </a:rPr>
              <a:t>?</a:t>
            </a:r>
          </a:p>
          <a:p>
            <a:pPr>
              <a:lnSpc>
                <a:spcPct val="150000"/>
              </a:lnSpc>
            </a:pPr>
            <a:endParaRPr lang="en-US" dirty="0">
              <a:solidFill>
                <a:srgbClr val="18537D"/>
              </a:solidFill>
            </a:endParaRPr>
          </a:p>
          <a:p>
            <a:pPr>
              <a:lnSpc>
                <a:spcPct val="150000"/>
              </a:lnSpc>
            </a:pPr>
            <a:endParaRPr lang="en-US" dirty="0">
              <a:solidFill>
                <a:srgbClr val="18537D"/>
              </a:solidFill>
            </a:endParaRPr>
          </a:p>
          <a:p>
            <a:pPr>
              <a:lnSpc>
                <a:spcPct val="150000"/>
              </a:lnSpc>
            </a:pPr>
            <a:r>
              <a:rPr lang="en-US" b="1" dirty="0">
                <a:solidFill>
                  <a:srgbClr val="18537D"/>
                </a:solidFill>
              </a:rPr>
              <a:t>a. An Amazon </a:t>
            </a:r>
            <a:r>
              <a:rPr lang="en-US" b="1" dirty="0" err="1">
                <a:solidFill>
                  <a:srgbClr val="18537D"/>
                </a:solidFill>
              </a:rPr>
              <a:t>ElastiCache</a:t>
            </a:r>
            <a:r>
              <a:rPr lang="en-US" b="1" dirty="0">
                <a:solidFill>
                  <a:srgbClr val="18537D"/>
                </a:solidFill>
              </a:rPr>
              <a:t> for Redis cluster</a:t>
            </a:r>
          </a:p>
          <a:p>
            <a:pPr>
              <a:lnSpc>
                <a:spcPct val="150000"/>
              </a:lnSpc>
            </a:pPr>
            <a:r>
              <a:rPr lang="en-US" dirty="0">
                <a:solidFill>
                  <a:srgbClr val="18537D"/>
                </a:solidFill>
              </a:rPr>
              <a:t>b. A second Amazon EBS volume</a:t>
            </a:r>
          </a:p>
          <a:p>
            <a:pPr>
              <a:lnSpc>
                <a:spcPct val="150000"/>
              </a:lnSpc>
            </a:pPr>
            <a:r>
              <a:rPr lang="en-US" dirty="0">
                <a:solidFill>
                  <a:srgbClr val="18537D"/>
                </a:solidFill>
              </a:rPr>
              <a:t>c. The web server’s primary disk</a:t>
            </a:r>
          </a:p>
          <a:p>
            <a:pPr>
              <a:lnSpc>
                <a:spcPct val="150000"/>
              </a:lnSpc>
            </a:pPr>
            <a:r>
              <a:rPr lang="en-US" dirty="0">
                <a:solidFill>
                  <a:srgbClr val="18537D"/>
                </a:solidFill>
              </a:rPr>
              <a:t>d. An Amazon EC2 instance dedicated to session data</a:t>
            </a:r>
          </a:p>
        </p:txBody>
      </p:sp>
    </p:spTree>
    <p:extLst>
      <p:ext uri="{BB962C8B-B14F-4D97-AF65-F5344CB8AC3E}">
        <p14:creationId xmlns:p14="http://schemas.microsoft.com/office/powerpoint/2010/main" val="10544297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of the following is the best way to update an S3 notification configuration, when a change in the lambda version needs to be referred by an S3 bucket after new objects are created in the bucket? </a:t>
            </a:r>
          </a:p>
          <a:p>
            <a:pPr>
              <a:lnSpc>
                <a:spcPct val="150000"/>
              </a:lnSpc>
            </a:pPr>
            <a:endParaRPr lang="en-US" dirty="0">
              <a:solidFill>
                <a:srgbClr val="18537D"/>
              </a:solidFill>
            </a:endParaRPr>
          </a:p>
          <a:p>
            <a:pPr>
              <a:lnSpc>
                <a:spcPct val="150000"/>
              </a:lnSpc>
            </a:pPr>
            <a:r>
              <a:rPr lang="en-US" dirty="0">
                <a:solidFill>
                  <a:srgbClr val="18537D"/>
                </a:solidFill>
              </a:rPr>
              <a:t>a. Specify Lambda Alias ARN in the notification configuration.</a:t>
            </a:r>
          </a:p>
          <a:p>
            <a:pPr>
              <a:lnSpc>
                <a:spcPct val="150000"/>
              </a:lnSpc>
            </a:pPr>
            <a:r>
              <a:rPr lang="en-US" dirty="0">
                <a:solidFill>
                  <a:srgbClr val="18537D"/>
                </a:solidFill>
              </a:rPr>
              <a:t>b. Specify Lambda Function ARN in the notification configuration.</a:t>
            </a:r>
          </a:p>
          <a:p>
            <a:pPr>
              <a:lnSpc>
                <a:spcPct val="150000"/>
              </a:lnSpc>
            </a:pPr>
            <a:r>
              <a:rPr lang="en-US" dirty="0">
                <a:solidFill>
                  <a:srgbClr val="18537D"/>
                </a:solidFill>
              </a:rPr>
              <a:t>c. Specify Lambda Qualified ARN in the notification configuration.</a:t>
            </a:r>
          </a:p>
          <a:p>
            <a:pPr>
              <a:lnSpc>
                <a:spcPct val="150000"/>
              </a:lnSpc>
            </a:pPr>
            <a:r>
              <a:rPr lang="en-US" dirty="0">
                <a:solidFill>
                  <a:srgbClr val="18537D"/>
                </a:solidFill>
              </a:rPr>
              <a:t>d. Specify Lambda $LATEST ARN in the notification configuration.</a:t>
            </a:r>
          </a:p>
        </p:txBody>
      </p:sp>
    </p:spTree>
    <p:extLst>
      <p:ext uri="{BB962C8B-B14F-4D97-AF65-F5344CB8AC3E}">
        <p14:creationId xmlns:p14="http://schemas.microsoft.com/office/powerpoint/2010/main" val="1597141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of the following is the best way to </a:t>
            </a:r>
            <a:r>
              <a:rPr lang="en-US" b="1" dirty="0">
                <a:solidFill>
                  <a:srgbClr val="18537D"/>
                </a:solidFill>
              </a:rPr>
              <a:t>update an S3 notification configuration</a:t>
            </a:r>
            <a:r>
              <a:rPr lang="en-US" dirty="0">
                <a:solidFill>
                  <a:srgbClr val="18537D"/>
                </a:solidFill>
              </a:rPr>
              <a:t>, when a change in the lambda version needs to be referred by </a:t>
            </a:r>
            <a:r>
              <a:rPr lang="en-US" b="1" dirty="0">
                <a:solidFill>
                  <a:srgbClr val="18537D"/>
                </a:solidFill>
              </a:rPr>
              <a:t>an S3 bucket after new objects are created in the bucket</a:t>
            </a:r>
            <a:r>
              <a:rPr lang="en-US" dirty="0">
                <a:solidFill>
                  <a:srgbClr val="18537D"/>
                </a:solidFill>
              </a:rPr>
              <a:t>? </a:t>
            </a:r>
          </a:p>
          <a:p>
            <a:pPr>
              <a:lnSpc>
                <a:spcPct val="150000"/>
              </a:lnSpc>
            </a:pPr>
            <a:endParaRPr lang="en-US" dirty="0">
              <a:solidFill>
                <a:srgbClr val="18537D"/>
              </a:solidFill>
            </a:endParaRPr>
          </a:p>
          <a:p>
            <a:pPr>
              <a:lnSpc>
                <a:spcPct val="150000"/>
              </a:lnSpc>
            </a:pPr>
            <a:r>
              <a:rPr lang="en-US" dirty="0">
                <a:solidFill>
                  <a:srgbClr val="18537D"/>
                </a:solidFill>
              </a:rPr>
              <a:t>a. Specify Lambda Alias ARN in the notification configuration.</a:t>
            </a:r>
          </a:p>
          <a:p>
            <a:pPr>
              <a:lnSpc>
                <a:spcPct val="150000"/>
              </a:lnSpc>
            </a:pPr>
            <a:r>
              <a:rPr lang="en-US" dirty="0">
                <a:solidFill>
                  <a:srgbClr val="18537D"/>
                </a:solidFill>
              </a:rPr>
              <a:t>b. Specify Lambda Function ARN in the notification configuration.</a:t>
            </a:r>
          </a:p>
          <a:p>
            <a:pPr>
              <a:lnSpc>
                <a:spcPct val="150000"/>
              </a:lnSpc>
            </a:pPr>
            <a:r>
              <a:rPr lang="en-US" dirty="0">
                <a:solidFill>
                  <a:srgbClr val="18537D"/>
                </a:solidFill>
              </a:rPr>
              <a:t>c. Specify Lambda Qualified ARN in the notification configuration.</a:t>
            </a:r>
          </a:p>
          <a:p>
            <a:pPr>
              <a:lnSpc>
                <a:spcPct val="150000"/>
              </a:lnSpc>
            </a:pPr>
            <a:r>
              <a:rPr lang="en-US" dirty="0">
                <a:solidFill>
                  <a:srgbClr val="18537D"/>
                </a:solidFill>
              </a:rPr>
              <a:t>d. Specify Lambda $LATEST ARN in the notification configuration.</a:t>
            </a:r>
          </a:p>
        </p:txBody>
      </p:sp>
    </p:spTree>
    <p:extLst>
      <p:ext uri="{BB962C8B-B14F-4D97-AF65-F5344CB8AC3E}">
        <p14:creationId xmlns:p14="http://schemas.microsoft.com/office/powerpoint/2010/main" val="35684404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of the following is the best way to </a:t>
            </a:r>
            <a:r>
              <a:rPr lang="en-US" b="1" dirty="0">
                <a:solidFill>
                  <a:srgbClr val="18537D"/>
                </a:solidFill>
              </a:rPr>
              <a:t>update an S3 notification configuration</a:t>
            </a:r>
            <a:r>
              <a:rPr lang="en-US" dirty="0">
                <a:solidFill>
                  <a:srgbClr val="18537D"/>
                </a:solidFill>
              </a:rPr>
              <a:t>, when a change in the lambda version needs to be referred by </a:t>
            </a:r>
            <a:r>
              <a:rPr lang="en-US" b="1" dirty="0">
                <a:solidFill>
                  <a:srgbClr val="18537D"/>
                </a:solidFill>
              </a:rPr>
              <a:t>an S3 bucket after new objects are created in the bucket</a:t>
            </a:r>
            <a:r>
              <a:rPr lang="en-US" dirty="0">
                <a:solidFill>
                  <a:srgbClr val="18537D"/>
                </a:solidFill>
              </a:rPr>
              <a:t>? </a:t>
            </a:r>
          </a:p>
          <a:p>
            <a:pPr>
              <a:lnSpc>
                <a:spcPct val="150000"/>
              </a:lnSpc>
            </a:pPr>
            <a:endParaRPr lang="en-US" dirty="0">
              <a:solidFill>
                <a:srgbClr val="18537D"/>
              </a:solidFill>
            </a:endParaRPr>
          </a:p>
          <a:p>
            <a:pPr>
              <a:lnSpc>
                <a:spcPct val="150000"/>
              </a:lnSpc>
            </a:pPr>
            <a:r>
              <a:rPr lang="en-US" b="1" dirty="0">
                <a:solidFill>
                  <a:srgbClr val="18537D"/>
                </a:solidFill>
              </a:rPr>
              <a:t>a. Specify Lambda Alias ARN in the notification configuration.</a:t>
            </a:r>
          </a:p>
          <a:p>
            <a:pPr>
              <a:lnSpc>
                <a:spcPct val="150000"/>
              </a:lnSpc>
            </a:pPr>
            <a:r>
              <a:rPr lang="en-US" dirty="0">
                <a:solidFill>
                  <a:srgbClr val="18537D"/>
                </a:solidFill>
              </a:rPr>
              <a:t>b. Specify Lambda Function ARN in the notification configuration.</a:t>
            </a:r>
          </a:p>
          <a:p>
            <a:pPr>
              <a:lnSpc>
                <a:spcPct val="150000"/>
              </a:lnSpc>
            </a:pPr>
            <a:r>
              <a:rPr lang="en-US" dirty="0">
                <a:solidFill>
                  <a:srgbClr val="18537D"/>
                </a:solidFill>
              </a:rPr>
              <a:t>c. Specify Lambda Qualified ARN in the notification configuration.</a:t>
            </a:r>
          </a:p>
          <a:p>
            <a:pPr>
              <a:lnSpc>
                <a:spcPct val="150000"/>
              </a:lnSpc>
            </a:pPr>
            <a:r>
              <a:rPr lang="en-US" dirty="0">
                <a:solidFill>
                  <a:srgbClr val="18537D"/>
                </a:solidFill>
              </a:rPr>
              <a:t>d. Specify Lambda $LATEST ARN in the notification configuration.</a:t>
            </a:r>
          </a:p>
        </p:txBody>
      </p:sp>
    </p:spTree>
    <p:extLst>
      <p:ext uri="{BB962C8B-B14F-4D97-AF65-F5344CB8AC3E}">
        <p14:creationId xmlns:p14="http://schemas.microsoft.com/office/powerpoint/2010/main" val="5487600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In DynamoDB, how many tables can an AWS account have per region?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256</a:t>
            </a:r>
          </a:p>
          <a:p>
            <a:pPr>
              <a:lnSpc>
                <a:spcPct val="150000"/>
              </a:lnSpc>
            </a:pPr>
            <a:r>
              <a:rPr lang="en-US" dirty="0">
                <a:solidFill>
                  <a:srgbClr val="18537D"/>
                </a:solidFill>
              </a:rPr>
              <a:t>b. 282</a:t>
            </a:r>
          </a:p>
          <a:p>
            <a:pPr>
              <a:lnSpc>
                <a:spcPct val="150000"/>
              </a:lnSpc>
            </a:pPr>
            <a:r>
              <a:rPr lang="en-US" dirty="0">
                <a:solidFill>
                  <a:srgbClr val="18537D"/>
                </a:solidFill>
              </a:rPr>
              <a:t>c. 255</a:t>
            </a:r>
          </a:p>
          <a:p>
            <a:pPr>
              <a:lnSpc>
                <a:spcPct val="150000"/>
              </a:lnSpc>
            </a:pPr>
            <a:r>
              <a:rPr lang="en-US" dirty="0">
                <a:solidFill>
                  <a:srgbClr val="18537D"/>
                </a:solidFill>
              </a:rPr>
              <a:t>d. 126</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36579114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In DynamoDB, how </a:t>
            </a:r>
            <a:r>
              <a:rPr lang="en-US" b="1" dirty="0">
                <a:solidFill>
                  <a:srgbClr val="18537D"/>
                </a:solidFill>
              </a:rPr>
              <a:t>many tables can an AWS account have per region</a:t>
            </a:r>
            <a:r>
              <a:rPr lang="en-US" dirty="0">
                <a:solidFill>
                  <a:srgbClr val="18537D"/>
                </a:solidFill>
              </a:rPr>
              <a:t>?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256</a:t>
            </a:r>
          </a:p>
          <a:p>
            <a:pPr>
              <a:lnSpc>
                <a:spcPct val="150000"/>
              </a:lnSpc>
            </a:pPr>
            <a:r>
              <a:rPr lang="en-US" dirty="0">
                <a:solidFill>
                  <a:srgbClr val="18537D"/>
                </a:solidFill>
              </a:rPr>
              <a:t>b. 282</a:t>
            </a:r>
          </a:p>
          <a:p>
            <a:pPr>
              <a:lnSpc>
                <a:spcPct val="150000"/>
              </a:lnSpc>
            </a:pPr>
            <a:r>
              <a:rPr lang="en-US" dirty="0">
                <a:solidFill>
                  <a:srgbClr val="18537D"/>
                </a:solidFill>
              </a:rPr>
              <a:t>c. 255</a:t>
            </a:r>
          </a:p>
          <a:p>
            <a:pPr>
              <a:lnSpc>
                <a:spcPct val="150000"/>
              </a:lnSpc>
            </a:pPr>
            <a:r>
              <a:rPr lang="en-US" dirty="0">
                <a:solidFill>
                  <a:srgbClr val="18537D"/>
                </a:solidFill>
              </a:rPr>
              <a:t>d. 126</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41156677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In DynamoDB, how </a:t>
            </a:r>
            <a:r>
              <a:rPr lang="en-US" b="1" dirty="0">
                <a:solidFill>
                  <a:srgbClr val="18537D"/>
                </a:solidFill>
              </a:rPr>
              <a:t>many tables can an AWS account have per region</a:t>
            </a:r>
            <a:r>
              <a:rPr lang="en-US" dirty="0">
                <a:solidFill>
                  <a:srgbClr val="18537D"/>
                </a:solidFill>
              </a:rPr>
              <a:t>? Choose the correct answer from the options below.</a:t>
            </a:r>
          </a:p>
          <a:p>
            <a:pPr>
              <a:lnSpc>
                <a:spcPct val="150000"/>
              </a:lnSpc>
            </a:pPr>
            <a:endParaRPr lang="en-US" dirty="0">
              <a:solidFill>
                <a:srgbClr val="18537D"/>
              </a:solidFill>
            </a:endParaRPr>
          </a:p>
          <a:p>
            <a:pPr>
              <a:lnSpc>
                <a:spcPct val="150000"/>
              </a:lnSpc>
            </a:pPr>
            <a:r>
              <a:rPr lang="en-US" b="1" dirty="0">
                <a:solidFill>
                  <a:srgbClr val="18537D"/>
                </a:solidFill>
              </a:rPr>
              <a:t>a. 256</a:t>
            </a:r>
          </a:p>
          <a:p>
            <a:pPr>
              <a:lnSpc>
                <a:spcPct val="150000"/>
              </a:lnSpc>
            </a:pPr>
            <a:r>
              <a:rPr lang="en-US" dirty="0">
                <a:solidFill>
                  <a:srgbClr val="18537D"/>
                </a:solidFill>
              </a:rPr>
              <a:t>b. 282</a:t>
            </a:r>
          </a:p>
          <a:p>
            <a:pPr>
              <a:lnSpc>
                <a:spcPct val="150000"/>
              </a:lnSpc>
            </a:pPr>
            <a:r>
              <a:rPr lang="en-US" dirty="0">
                <a:solidFill>
                  <a:srgbClr val="18537D"/>
                </a:solidFill>
              </a:rPr>
              <a:t>c. 255</a:t>
            </a:r>
          </a:p>
          <a:p>
            <a:pPr>
              <a:lnSpc>
                <a:spcPct val="150000"/>
              </a:lnSpc>
            </a:pPr>
            <a:r>
              <a:rPr lang="en-US" dirty="0">
                <a:solidFill>
                  <a:srgbClr val="18537D"/>
                </a:solidFill>
              </a:rPr>
              <a:t>d. 126</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38404351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API call can be used to retrieve up to 100 items at a time or 1MB of data from a DynamoDB table?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dirty="0" err="1">
                <a:solidFill>
                  <a:srgbClr val="18537D"/>
                </a:solidFill>
              </a:rPr>
              <a:t>GetItem</a:t>
            </a:r>
            <a:endParaRPr lang="en-US" dirty="0">
              <a:solidFill>
                <a:srgbClr val="18537D"/>
              </a:solidFill>
            </a:endParaRPr>
          </a:p>
          <a:p>
            <a:pPr>
              <a:lnSpc>
                <a:spcPct val="150000"/>
              </a:lnSpc>
            </a:pPr>
            <a:r>
              <a:rPr lang="en-US" dirty="0">
                <a:solidFill>
                  <a:srgbClr val="18537D"/>
                </a:solidFill>
              </a:rPr>
              <a:t>b. </a:t>
            </a:r>
            <a:r>
              <a:rPr lang="en-US" dirty="0" err="1">
                <a:solidFill>
                  <a:srgbClr val="18537D"/>
                </a:solidFill>
              </a:rPr>
              <a:t>BatchItem</a:t>
            </a:r>
            <a:endParaRPr lang="en-US" dirty="0">
              <a:solidFill>
                <a:srgbClr val="18537D"/>
              </a:solidFill>
            </a:endParaRPr>
          </a:p>
          <a:p>
            <a:pPr>
              <a:lnSpc>
                <a:spcPct val="150000"/>
              </a:lnSpc>
            </a:pPr>
            <a:r>
              <a:rPr lang="en-US" dirty="0">
                <a:solidFill>
                  <a:srgbClr val="18537D"/>
                </a:solidFill>
              </a:rPr>
              <a:t>c. </a:t>
            </a:r>
            <a:r>
              <a:rPr lang="en-US" dirty="0" err="1">
                <a:solidFill>
                  <a:srgbClr val="18537D"/>
                </a:solidFill>
              </a:rPr>
              <a:t>ChunkGetItem</a:t>
            </a:r>
            <a:endParaRPr lang="en-US" dirty="0">
              <a:solidFill>
                <a:srgbClr val="18537D"/>
              </a:solidFill>
            </a:endParaRPr>
          </a:p>
          <a:p>
            <a:pPr>
              <a:lnSpc>
                <a:spcPct val="150000"/>
              </a:lnSpc>
            </a:pPr>
            <a:r>
              <a:rPr lang="en-US" dirty="0">
                <a:solidFill>
                  <a:srgbClr val="18537D"/>
                </a:solidFill>
              </a:rPr>
              <a:t>d. </a:t>
            </a:r>
            <a:r>
              <a:rPr lang="en-US" dirty="0" err="1">
                <a:solidFill>
                  <a:srgbClr val="18537D"/>
                </a:solidFill>
              </a:rPr>
              <a:t>BatchGetItem</a:t>
            </a:r>
            <a:endParaRPr lang="en-US" dirty="0">
              <a:solidFill>
                <a:srgbClr val="18537D"/>
              </a:solidFill>
            </a:endParaRPr>
          </a:p>
        </p:txBody>
      </p:sp>
    </p:spTree>
    <p:extLst>
      <p:ext uri="{BB962C8B-B14F-4D97-AF65-F5344CB8AC3E}">
        <p14:creationId xmlns:p14="http://schemas.microsoft.com/office/powerpoint/2010/main" val="17608543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a:t>
            </a:r>
            <a:r>
              <a:rPr lang="en-US" b="1" dirty="0">
                <a:solidFill>
                  <a:srgbClr val="18537D"/>
                </a:solidFill>
              </a:rPr>
              <a:t>API call </a:t>
            </a:r>
            <a:r>
              <a:rPr lang="en-US" dirty="0">
                <a:solidFill>
                  <a:srgbClr val="18537D"/>
                </a:solidFill>
              </a:rPr>
              <a:t>can be used to retrieve </a:t>
            </a:r>
            <a:r>
              <a:rPr lang="en-US" b="1" dirty="0">
                <a:solidFill>
                  <a:srgbClr val="18537D"/>
                </a:solidFill>
              </a:rPr>
              <a:t>up to 100 items </a:t>
            </a:r>
            <a:r>
              <a:rPr lang="en-US" dirty="0">
                <a:solidFill>
                  <a:srgbClr val="18537D"/>
                </a:solidFill>
              </a:rPr>
              <a:t>at a time or 1MB of data from a DynamoDB table?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dirty="0" err="1">
                <a:solidFill>
                  <a:srgbClr val="18537D"/>
                </a:solidFill>
              </a:rPr>
              <a:t>GetItem</a:t>
            </a:r>
            <a:endParaRPr lang="en-US" dirty="0">
              <a:solidFill>
                <a:srgbClr val="18537D"/>
              </a:solidFill>
            </a:endParaRPr>
          </a:p>
          <a:p>
            <a:pPr>
              <a:lnSpc>
                <a:spcPct val="150000"/>
              </a:lnSpc>
            </a:pPr>
            <a:r>
              <a:rPr lang="en-US" dirty="0">
                <a:solidFill>
                  <a:srgbClr val="18537D"/>
                </a:solidFill>
              </a:rPr>
              <a:t>b. </a:t>
            </a:r>
            <a:r>
              <a:rPr lang="en-US" dirty="0" err="1">
                <a:solidFill>
                  <a:srgbClr val="18537D"/>
                </a:solidFill>
              </a:rPr>
              <a:t>BatchItem</a:t>
            </a:r>
            <a:endParaRPr lang="en-US" dirty="0">
              <a:solidFill>
                <a:srgbClr val="18537D"/>
              </a:solidFill>
            </a:endParaRPr>
          </a:p>
          <a:p>
            <a:pPr>
              <a:lnSpc>
                <a:spcPct val="150000"/>
              </a:lnSpc>
            </a:pPr>
            <a:r>
              <a:rPr lang="en-US" dirty="0">
                <a:solidFill>
                  <a:srgbClr val="18537D"/>
                </a:solidFill>
              </a:rPr>
              <a:t>c. </a:t>
            </a:r>
            <a:r>
              <a:rPr lang="en-US" dirty="0" err="1">
                <a:solidFill>
                  <a:srgbClr val="18537D"/>
                </a:solidFill>
              </a:rPr>
              <a:t>ChunkGetItem</a:t>
            </a:r>
            <a:endParaRPr lang="en-US" dirty="0">
              <a:solidFill>
                <a:srgbClr val="18537D"/>
              </a:solidFill>
            </a:endParaRPr>
          </a:p>
          <a:p>
            <a:pPr>
              <a:lnSpc>
                <a:spcPct val="150000"/>
              </a:lnSpc>
            </a:pPr>
            <a:r>
              <a:rPr lang="en-US" dirty="0">
                <a:solidFill>
                  <a:srgbClr val="18537D"/>
                </a:solidFill>
              </a:rPr>
              <a:t>d. </a:t>
            </a:r>
            <a:r>
              <a:rPr lang="en-US" dirty="0" err="1">
                <a:solidFill>
                  <a:srgbClr val="18537D"/>
                </a:solidFill>
              </a:rPr>
              <a:t>BatchGetItem</a:t>
            </a:r>
            <a:endParaRPr lang="en-US" dirty="0">
              <a:solidFill>
                <a:srgbClr val="18537D"/>
              </a:solidFill>
            </a:endParaRPr>
          </a:p>
        </p:txBody>
      </p:sp>
    </p:spTree>
    <p:extLst>
      <p:ext uri="{BB962C8B-B14F-4D97-AF65-F5344CB8AC3E}">
        <p14:creationId xmlns:p14="http://schemas.microsoft.com/office/powerpoint/2010/main" val="6740379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Which </a:t>
            </a:r>
            <a:r>
              <a:rPr lang="en-US" b="1" dirty="0">
                <a:solidFill>
                  <a:srgbClr val="18537D"/>
                </a:solidFill>
              </a:rPr>
              <a:t>API call </a:t>
            </a:r>
            <a:r>
              <a:rPr lang="en-US" dirty="0">
                <a:solidFill>
                  <a:srgbClr val="18537D"/>
                </a:solidFill>
              </a:rPr>
              <a:t>can be used to retrieve </a:t>
            </a:r>
            <a:r>
              <a:rPr lang="en-US" b="1" dirty="0">
                <a:solidFill>
                  <a:srgbClr val="18537D"/>
                </a:solidFill>
              </a:rPr>
              <a:t>up to 100 items </a:t>
            </a:r>
            <a:r>
              <a:rPr lang="en-US" dirty="0">
                <a:solidFill>
                  <a:srgbClr val="18537D"/>
                </a:solidFill>
              </a:rPr>
              <a:t>at a time or 1MB of data from a DynamoDB table?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t>
            </a:r>
            <a:r>
              <a:rPr lang="en-US" dirty="0" err="1">
                <a:solidFill>
                  <a:srgbClr val="18537D"/>
                </a:solidFill>
              </a:rPr>
              <a:t>GetItem</a:t>
            </a:r>
            <a:endParaRPr lang="en-US" dirty="0">
              <a:solidFill>
                <a:srgbClr val="18537D"/>
              </a:solidFill>
            </a:endParaRPr>
          </a:p>
          <a:p>
            <a:pPr>
              <a:lnSpc>
                <a:spcPct val="150000"/>
              </a:lnSpc>
            </a:pPr>
            <a:r>
              <a:rPr lang="en-US" dirty="0">
                <a:solidFill>
                  <a:srgbClr val="18537D"/>
                </a:solidFill>
              </a:rPr>
              <a:t>b. </a:t>
            </a:r>
            <a:r>
              <a:rPr lang="en-US" dirty="0" err="1">
                <a:solidFill>
                  <a:srgbClr val="18537D"/>
                </a:solidFill>
              </a:rPr>
              <a:t>BatchItem</a:t>
            </a:r>
            <a:endParaRPr lang="en-US" dirty="0">
              <a:solidFill>
                <a:srgbClr val="18537D"/>
              </a:solidFill>
            </a:endParaRPr>
          </a:p>
          <a:p>
            <a:pPr>
              <a:lnSpc>
                <a:spcPct val="150000"/>
              </a:lnSpc>
            </a:pPr>
            <a:r>
              <a:rPr lang="en-US" dirty="0">
                <a:solidFill>
                  <a:srgbClr val="18537D"/>
                </a:solidFill>
              </a:rPr>
              <a:t>c. </a:t>
            </a:r>
            <a:r>
              <a:rPr lang="en-US" dirty="0" err="1">
                <a:solidFill>
                  <a:srgbClr val="18537D"/>
                </a:solidFill>
              </a:rPr>
              <a:t>ChunkGetItem</a:t>
            </a:r>
            <a:endParaRPr lang="en-US" dirty="0">
              <a:solidFill>
                <a:srgbClr val="18537D"/>
              </a:solidFill>
            </a:endParaRPr>
          </a:p>
          <a:p>
            <a:pPr>
              <a:lnSpc>
                <a:spcPct val="150000"/>
              </a:lnSpc>
            </a:pPr>
            <a:r>
              <a:rPr lang="en-US" b="1" dirty="0">
                <a:solidFill>
                  <a:srgbClr val="18537D"/>
                </a:solidFill>
              </a:rPr>
              <a:t>d. </a:t>
            </a:r>
            <a:r>
              <a:rPr lang="en-US" b="1" dirty="0" err="1">
                <a:solidFill>
                  <a:srgbClr val="18537D"/>
                </a:solidFill>
              </a:rPr>
              <a:t>BatchGetItem</a:t>
            </a:r>
            <a:endParaRPr lang="en-US" b="1" dirty="0">
              <a:solidFill>
                <a:srgbClr val="18537D"/>
              </a:solidFill>
            </a:endParaRPr>
          </a:p>
        </p:txBody>
      </p:sp>
    </p:spTree>
    <p:extLst>
      <p:ext uri="{BB962C8B-B14F-4D97-AF65-F5344CB8AC3E}">
        <p14:creationId xmlns:p14="http://schemas.microsoft.com/office/powerpoint/2010/main" val="16989611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1. Your items are 12KB in size and you want to have 100 strongly consistent reads</a:t>
            </a:r>
          </a:p>
          <a:p>
            <a:pPr>
              <a:lnSpc>
                <a:spcPct val="150000"/>
              </a:lnSpc>
            </a:pPr>
            <a:r>
              <a:rPr lang="en-US" dirty="0">
                <a:solidFill>
                  <a:srgbClr val="18537D"/>
                </a:solidFill>
              </a:rPr>
              <a:t>per second. How many read capacity units do you need to provision?</a:t>
            </a:r>
          </a:p>
          <a:p>
            <a:pPr>
              <a:lnSpc>
                <a:spcPct val="150000"/>
              </a:lnSpc>
            </a:pPr>
            <a:r>
              <a:rPr lang="en-US" dirty="0">
                <a:solidFill>
                  <a:srgbClr val="18537D"/>
                </a:solidFill>
              </a:rPr>
              <a:t>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300</a:t>
            </a:r>
          </a:p>
          <a:p>
            <a:pPr>
              <a:lnSpc>
                <a:spcPct val="150000"/>
              </a:lnSpc>
            </a:pPr>
            <a:r>
              <a:rPr lang="en-US" dirty="0">
                <a:solidFill>
                  <a:srgbClr val="18537D"/>
                </a:solidFill>
              </a:rPr>
              <a:t>b. 80</a:t>
            </a:r>
          </a:p>
          <a:p>
            <a:pPr>
              <a:lnSpc>
                <a:spcPct val="150000"/>
              </a:lnSpc>
            </a:pPr>
            <a:r>
              <a:rPr lang="en-US" dirty="0">
                <a:solidFill>
                  <a:srgbClr val="18537D"/>
                </a:solidFill>
              </a:rPr>
              <a:t>c. 200</a:t>
            </a:r>
          </a:p>
          <a:p>
            <a:pPr>
              <a:lnSpc>
                <a:spcPct val="150000"/>
              </a:lnSpc>
            </a:pPr>
            <a:r>
              <a:rPr lang="en-US" dirty="0">
                <a:solidFill>
                  <a:srgbClr val="18537D"/>
                </a:solidFill>
              </a:rPr>
              <a:t>d. 50</a:t>
            </a:r>
          </a:p>
        </p:txBody>
      </p:sp>
    </p:spTree>
    <p:extLst>
      <p:ext uri="{BB962C8B-B14F-4D97-AF65-F5344CB8AC3E}">
        <p14:creationId xmlns:p14="http://schemas.microsoft.com/office/powerpoint/2010/main" val="6935824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1. Your items are </a:t>
            </a:r>
            <a:r>
              <a:rPr lang="en-US" b="1" dirty="0">
                <a:solidFill>
                  <a:srgbClr val="18537D"/>
                </a:solidFill>
              </a:rPr>
              <a:t>12KB in size and you want to have 100 strongly consistent </a:t>
            </a:r>
            <a:r>
              <a:rPr lang="en-US" dirty="0">
                <a:solidFill>
                  <a:srgbClr val="18537D"/>
                </a:solidFill>
              </a:rPr>
              <a:t>reads</a:t>
            </a:r>
          </a:p>
          <a:p>
            <a:pPr>
              <a:lnSpc>
                <a:spcPct val="150000"/>
              </a:lnSpc>
            </a:pPr>
            <a:r>
              <a:rPr lang="en-US" dirty="0">
                <a:solidFill>
                  <a:srgbClr val="18537D"/>
                </a:solidFill>
              </a:rPr>
              <a:t>per second. How many read capacity units do you need to provision?</a:t>
            </a:r>
          </a:p>
          <a:p>
            <a:pPr>
              <a:lnSpc>
                <a:spcPct val="150000"/>
              </a:lnSpc>
            </a:pPr>
            <a:r>
              <a:rPr lang="en-US" dirty="0">
                <a:solidFill>
                  <a:srgbClr val="18537D"/>
                </a:solidFill>
              </a:rPr>
              <a:t>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300</a:t>
            </a:r>
          </a:p>
          <a:p>
            <a:pPr>
              <a:lnSpc>
                <a:spcPct val="150000"/>
              </a:lnSpc>
            </a:pPr>
            <a:r>
              <a:rPr lang="en-US" dirty="0">
                <a:solidFill>
                  <a:srgbClr val="18537D"/>
                </a:solidFill>
              </a:rPr>
              <a:t>b. 80</a:t>
            </a:r>
          </a:p>
          <a:p>
            <a:pPr>
              <a:lnSpc>
                <a:spcPct val="150000"/>
              </a:lnSpc>
            </a:pPr>
            <a:r>
              <a:rPr lang="en-US" dirty="0">
                <a:solidFill>
                  <a:srgbClr val="18537D"/>
                </a:solidFill>
              </a:rPr>
              <a:t>c. 200</a:t>
            </a:r>
          </a:p>
          <a:p>
            <a:pPr>
              <a:lnSpc>
                <a:spcPct val="150000"/>
              </a:lnSpc>
            </a:pPr>
            <a:r>
              <a:rPr lang="en-US" dirty="0">
                <a:solidFill>
                  <a:srgbClr val="18537D"/>
                </a:solidFill>
              </a:rPr>
              <a:t>d. 50</a:t>
            </a:r>
          </a:p>
        </p:txBody>
      </p:sp>
    </p:spTree>
    <p:extLst>
      <p:ext uri="{BB962C8B-B14F-4D97-AF65-F5344CB8AC3E}">
        <p14:creationId xmlns:p14="http://schemas.microsoft.com/office/powerpoint/2010/main" val="10124936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79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1. Your items are </a:t>
            </a:r>
            <a:r>
              <a:rPr lang="en-US" b="1" dirty="0">
                <a:solidFill>
                  <a:srgbClr val="18537D"/>
                </a:solidFill>
              </a:rPr>
              <a:t>12KB in size and you want to have 100 strongly consistent </a:t>
            </a:r>
            <a:r>
              <a:rPr lang="en-US" dirty="0">
                <a:solidFill>
                  <a:srgbClr val="18537D"/>
                </a:solidFill>
              </a:rPr>
              <a:t>reads</a:t>
            </a:r>
          </a:p>
          <a:p>
            <a:pPr>
              <a:lnSpc>
                <a:spcPct val="150000"/>
              </a:lnSpc>
            </a:pPr>
            <a:r>
              <a:rPr lang="en-US" dirty="0">
                <a:solidFill>
                  <a:srgbClr val="18537D"/>
                </a:solidFill>
              </a:rPr>
              <a:t>per second. How many read capacity units do you need to provision?</a:t>
            </a:r>
          </a:p>
          <a:p>
            <a:pPr>
              <a:lnSpc>
                <a:spcPct val="150000"/>
              </a:lnSpc>
            </a:pPr>
            <a:r>
              <a:rPr lang="en-US" dirty="0">
                <a:solidFill>
                  <a:srgbClr val="18537D"/>
                </a:solidFill>
              </a:rPr>
              <a:t>Choose the correct answer from the options below</a:t>
            </a:r>
          </a:p>
          <a:p>
            <a:pPr>
              <a:lnSpc>
                <a:spcPct val="150000"/>
              </a:lnSpc>
            </a:pPr>
            <a:endParaRPr lang="en-US" dirty="0">
              <a:solidFill>
                <a:srgbClr val="18537D"/>
              </a:solidFill>
            </a:endParaRPr>
          </a:p>
          <a:p>
            <a:pPr>
              <a:lnSpc>
                <a:spcPct val="150000"/>
              </a:lnSpc>
            </a:pPr>
            <a:r>
              <a:rPr lang="en-US" b="1" dirty="0">
                <a:solidFill>
                  <a:srgbClr val="18537D"/>
                </a:solidFill>
              </a:rPr>
              <a:t>a. 300</a:t>
            </a:r>
          </a:p>
          <a:p>
            <a:pPr>
              <a:lnSpc>
                <a:spcPct val="150000"/>
              </a:lnSpc>
            </a:pPr>
            <a:r>
              <a:rPr lang="en-US" dirty="0">
                <a:solidFill>
                  <a:srgbClr val="18537D"/>
                </a:solidFill>
              </a:rPr>
              <a:t>b. 80</a:t>
            </a:r>
          </a:p>
          <a:p>
            <a:pPr>
              <a:lnSpc>
                <a:spcPct val="150000"/>
              </a:lnSpc>
            </a:pPr>
            <a:r>
              <a:rPr lang="en-US" dirty="0">
                <a:solidFill>
                  <a:srgbClr val="18537D"/>
                </a:solidFill>
              </a:rPr>
              <a:t>c. 200</a:t>
            </a:r>
          </a:p>
          <a:p>
            <a:pPr>
              <a:lnSpc>
                <a:spcPct val="150000"/>
              </a:lnSpc>
            </a:pPr>
            <a:r>
              <a:rPr lang="en-US" dirty="0">
                <a:solidFill>
                  <a:srgbClr val="18537D"/>
                </a:solidFill>
              </a:rPr>
              <a:t>d. 50</a:t>
            </a:r>
          </a:p>
        </p:txBody>
      </p:sp>
    </p:spTree>
    <p:extLst>
      <p:ext uri="{BB962C8B-B14F-4D97-AF65-F5344CB8AC3E}">
        <p14:creationId xmlns:p14="http://schemas.microsoft.com/office/powerpoint/2010/main" val="13280969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80</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A Start-up company is launching a new web application using AWS Cloud infrastructure. This is a three-tier application behind load balancers with content stored in Amazon S3 buckets within a region &amp; CloudFront for caching of data. Company plans to use its owned domain name. Web content should be delivered at lowest latency to global users. Which of the following is a cost-efficient solution while creating name records with Route 53?</a:t>
            </a:r>
          </a:p>
          <a:p>
            <a:pPr>
              <a:lnSpc>
                <a:spcPct val="150000"/>
              </a:lnSpc>
            </a:pPr>
            <a:endParaRPr lang="en-US" dirty="0">
              <a:solidFill>
                <a:srgbClr val="30658B"/>
              </a:solidFill>
            </a:endParaRPr>
          </a:p>
          <a:p>
            <a:pPr>
              <a:lnSpc>
                <a:spcPct val="150000"/>
              </a:lnSpc>
            </a:pPr>
            <a:r>
              <a:rPr lang="en-US" dirty="0">
                <a:solidFill>
                  <a:srgbClr val="30658B"/>
                </a:solidFill>
              </a:rPr>
              <a:t>a. Create a CNAME record for web application pointing to Amazon S3 bucket with the same name.</a:t>
            </a:r>
          </a:p>
          <a:p>
            <a:pPr>
              <a:lnSpc>
                <a:spcPct val="150000"/>
              </a:lnSpc>
            </a:pPr>
            <a:r>
              <a:rPr lang="en-US" dirty="0">
                <a:solidFill>
                  <a:srgbClr val="30658B"/>
                </a:solidFill>
              </a:rPr>
              <a:t>b. Create an Alias record for web application pointing to CloudFront distribution</a:t>
            </a:r>
          </a:p>
          <a:p>
            <a:pPr>
              <a:lnSpc>
                <a:spcPct val="150000"/>
              </a:lnSpc>
            </a:pPr>
            <a:r>
              <a:rPr lang="en-US" dirty="0">
                <a:solidFill>
                  <a:srgbClr val="30658B"/>
                </a:solidFill>
              </a:rPr>
              <a:t>c. Create an Alias record for web application pointing to Amazon S3 bucket with the same name.</a:t>
            </a:r>
          </a:p>
          <a:p>
            <a:pPr>
              <a:lnSpc>
                <a:spcPct val="150000"/>
              </a:lnSpc>
            </a:pPr>
            <a:r>
              <a:rPr lang="en-US" dirty="0">
                <a:solidFill>
                  <a:srgbClr val="30658B"/>
                </a:solidFill>
              </a:rPr>
              <a:t>d. Create a CNAME record for web application pointing to CloudFront distribution</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42094983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81</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A Start-up company is launching a new web application using AWS Cloud infrastructure. This is a three-tier application behind load balancers with content stored in </a:t>
            </a:r>
            <a:r>
              <a:rPr lang="en-US" b="1" dirty="0">
                <a:solidFill>
                  <a:srgbClr val="30658B"/>
                </a:solidFill>
              </a:rPr>
              <a:t>Amazon S3 buckets </a:t>
            </a:r>
            <a:r>
              <a:rPr lang="en-US" dirty="0">
                <a:solidFill>
                  <a:srgbClr val="30658B"/>
                </a:solidFill>
              </a:rPr>
              <a:t>within a region &amp; </a:t>
            </a:r>
            <a:r>
              <a:rPr lang="en-US" b="1" dirty="0">
                <a:solidFill>
                  <a:srgbClr val="30658B"/>
                </a:solidFill>
              </a:rPr>
              <a:t>CloudFront for caching </a:t>
            </a:r>
            <a:r>
              <a:rPr lang="en-US" dirty="0">
                <a:solidFill>
                  <a:srgbClr val="30658B"/>
                </a:solidFill>
              </a:rPr>
              <a:t>of data. Company plans to use its owned domain name. Web content should be delivered </a:t>
            </a:r>
            <a:r>
              <a:rPr lang="en-US" b="1" dirty="0">
                <a:solidFill>
                  <a:srgbClr val="30658B"/>
                </a:solidFill>
              </a:rPr>
              <a:t>at lowest latency to global users</a:t>
            </a:r>
            <a:r>
              <a:rPr lang="en-US" dirty="0">
                <a:solidFill>
                  <a:srgbClr val="30658B"/>
                </a:solidFill>
              </a:rPr>
              <a:t>. Which of the following is a </a:t>
            </a:r>
            <a:r>
              <a:rPr lang="en-US" b="1" dirty="0">
                <a:solidFill>
                  <a:srgbClr val="30658B"/>
                </a:solidFill>
              </a:rPr>
              <a:t>cost-efficient solution while creating name records with Route 53</a:t>
            </a:r>
            <a:r>
              <a:rPr lang="en-US" dirty="0">
                <a:solidFill>
                  <a:srgbClr val="30658B"/>
                </a:solidFill>
              </a:rPr>
              <a:t>?</a:t>
            </a:r>
          </a:p>
          <a:p>
            <a:pPr>
              <a:lnSpc>
                <a:spcPct val="150000"/>
              </a:lnSpc>
            </a:pPr>
            <a:endParaRPr lang="en-US" dirty="0">
              <a:solidFill>
                <a:srgbClr val="30658B"/>
              </a:solidFill>
            </a:endParaRPr>
          </a:p>
          <a:p>
            <a:pPr>
              <a:lnSpc>
                <a:spcPct val="150000"/>
              </a:lnSpc>
            </a:pPr>
            <a:r>
              <a:rPr lang="en-US" dirty="0">
                <a:solidFill>
                  <a:srgbClr val="30658B"/>
                </a:solidFill>
              </a:rPr>
              <a:t>a. Create a CNAME record for web application pointing to Amazon S3 bucket with the same name.</a:t>
            </a:r>
          </a:p>
          <a:p>
            <a:pPr>
              <a:lnSpc>
                <a:spcPct val="150000"/>
              </a:lnSpc>
            </a:pPr>
            <a:r>
              <a:rPr lang="en-US" dirty="0">
                <a:solidFill>
                  <a:srgbClr val="30658B"/>
                </a:solidFill>
              </a:rPr>
              <a:t>b. Create an Alias record for web application pointing to CloudFront distribution</a:t>
            </a:r>
          </a:p>
          <a:p>
            <a:pPr>
              <a:lnSpc>
                <a:spcPct val="150000"/>
              </a:lnSpc>
            </a:pPr>
            <a:r>
              <a:rPr lang="en-US" dirty="0">
                <a:solidFill>
                  <a:srgbClr val="30658B"/>
                </a:solidFill>
              </a:rPr>
              <a:t>c. Create an Alias record for web application pointing to Amazon S3 bucket with the same name.</a:t>
            </a:r>
          </a:p>
          <a:p>
            <a:pPr>
              <a:lnSpc>
                <a:spcPct val="150000"/>
              </a:lnSpc>
            </a:pPr>
            <a:r>
              <a:rPr lang="en-US" dirty="0">
                <a:solidFill>
                  <a:srgbClr val="30658B"/>
                </a:solidFill>
              </a:rPr>
              <a:t>d. Create a CNAME record for web application pointing to CloudFront distribution</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1560470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82</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A Start-up company is launching a new web application using AWS Cloud infrastructure. This is a three-tier application behind load balancers with content stored in </a:t>
            </a:r>
            <a:r>
              <a:rPr lang="en-US" b="1" dirty="0">
                <a:solidFill>
                  <a:srgbClr val="30658B"/>
                </a:solidFill>
              </a:rPr>
              <a:t>Amazon S3 buckets </a:t>
            </a:r>
            <a:r>
              <a:rPr lang="en-US" dirty="0">
                <a:solidFill>
                  <a:srgbClr val="30658B"/>
                </a:solidFill>
              </a:rPr>
              <a:t>within a region &amp; </a:t>
            </a:r>
            <a:r>
              <a:rPr lang="en-US" b="1" dirty="0">
                <a:solidFill>
                  <a:srgbClr val="30658B"/>
                </a:solidFill>
              </a:rPr>
              <a:t>CloudFront for caching </a:t>
            </a:r>
            <a:r>
              <a:rPr lang="en-US" dirty="0">
                <a:solidFill>
                  <a:srgbClr val="30658B"/>
                </a:solidFill>
              </a:rPr>
              <a:t>of data. Company plans to use its owned domain name. Web content should be delivered </a:t>
            </a:r>
            <a:r>
              <a:rPr lang="en-US" b="1" dirty="0">
                <a:solidFill>
                  <a:srgbClr val="30658B"/>
                </a:solidFill>
              </a:rPr>
              <a:t>at lowest latency to global users</a:t>
            </a:r>
            <a:r>
              <a:rPr lang="en-US" dirty="0">
                <a:solidFill>
                  <a:srgbClr val="30658B"/>
                </a:solidFill>
              </a:rPr>
              <a:t>. Which of the following is a </a:t>
            </a:r>
            <a:r>
              <a:rPr lang="en-US" b="1" dirty="0">
                <a:solidFill>
                  <a:srgbClr val="30658B"/>
                </a:solidFill>
              </a:rPr>
              <a:t>cost-efficient solution while creating name records with Route 53</a:t>
            </a:r>
            <a:r>
              <a:rPr lang="en-US" dirty="0">
                <a:solidFill>
                  <a:srgbClr val="30658B"/>
                </a:solidFill>
              </a:rPr>
              <a:t>?</a:t>
            </a:r>
          </a:p>
          <a:p>
            <a:pPr>
              <a:lnSpc>
                <a:spcPct val="150000"/>
              </a:lnSpc>
            </a:pPr>
            <a:endParaRPr lang="en-US" dirty="0">
              <a:solidFill>
                <a:srgbClr val="30658B"/>
              </a:solidFill>
            </a:endParaRPr>
          </a:p>
          <a:p>
            <a:pPr>
              <a:lnSpc>
                <a:spcPct val="150000"/>
              </a:lnSpc>
            </a:pPr>
            <a:r>
              <a:rPr lang="en-US" dirty="0">
                <a:solidFill>
                  <a:srgbClr val="30658B"/>
                </a:solidFill>
              </a:rPr>
              <a:t>a. Create a CNAME record for web application pointing to Amazon S3 bucket with the same name.</a:t>
            </a:r>
          </a:p>
          <a:p>
            <a:pPr>
              <a:lnSpc>
                <a:spcPct val="150000"/>
              </a:lnSpc>
            </a:pPr>
            <a:r>
              <a:rPr lang="en-US" b="1" dirty="0">
                <a:solidFill>
                  <a:srgbClr val="30658B"/>
                </a:solidFill>
              </a:rPr>
              <a:t>b. Create an Alias record for web application pointing to CloudFront distribution</a:t>
            </a:r>
          </a:p>
          <a:p>
            <a:pPr>
              <a:lnSpc>
                <a:spcPct val="150000"/>
              </a:lnSpc>
            </a:pPr>
            <a:r>
              <a:rPr lang="en-US" dirty="0">
                <a:solidFill>
                  <a:srgbClr val="30658B"/>
                </a:solidFill>
              </a:rPr>
              <a:t>c. Create an Alias record for web application pointing to Amazon S3 bucket with the same name.</a:t>
            </a:r>
          </a:p>
          <a:p>
            <a:pPr>
              <a:lnSpc>
                <a:spcPct val="150000"/>
              </a:lnSpc>
            </a:pPr>
            <a:r>
              <a:rPr lang="en-US" dirty="0">
                <a:solidFill>
                  <a:srgbClr val="30658B"/>
                </a:solidFill>
              </a:rPr>
              <a:t>d. Create a CNAME record for web application pointing to CloudFront distribution</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5920869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83</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5025799"/>
          </a:xfrm>
          <a:prstGeom prst="rect">
            <a:avLst/>
          </a:prstGeom>
        </p:spPr>
        <p:txBody>
          <a:bodyPr wrap="square">
            <a:spAutoFit/>
          </a:bodyPr>
          <a:lstStyle/>
          <a:p>
            <a:pPr>
              <a:lnSpc>
                <a:spcPct val="150000"/>
              </a:lnSpc>
            </a:pPr>
            <a:r>
              <a:rPr lang="en-US" dirty="0">
                <a:solidFill>
                  <a:srgbClr val="30658B"/>
                </a:solidFill>
              </a:rPr>
              <a:t>Your company currently has a set of Images that are placed in an S3 bucket. To give better user experience to users across the world, you have created a CloudFront distribution with the S3 bucket as the origin. But in your monitoring reports, you now see that a lot of users are bypassing the CloudFront URL and directly going to the S3 bucket and downloading the images. Which of the following steps can be performed to remediate this issue. Choose 2 answers from the options given below.</a:t>
            </a:r>
          </a:p>
          <a:p>
            <a:pPr>
              <a:lnSpc>
                <a:spcPct val="150000"/>
              </a:lnSpc>
            </a:pPr>
            <a:endParaRPr lang="en-US" dirty="0">
              <a:solidFill>
                <a:srgbClr val="30658B"/>
              </a:solidFill>
            </a:endParaRPr>
          </a:p>
          <a:p>
            <a:pPr>
              <a:lnSpc>
                <a:spcPct val="150000"/>
              </a:lnSpc>
            </a:pPr>
            <a:r>
              <a:rPr lang="en-US" dirty="0">
                <a:solidFill>
                  <a:srgbClr val="30658B"/>
                </a:solidFill>
              </a:rPr>
              <a:t>a. Create a </a:t>
            </a:r>
            <a:r>
              <a:rPr lang="en-US" dirty="0" err="1">
                <a:solidFill>
                  <a:srgbClr val="30658B"/>
                </a:solidFill>
              </a:rPr>
              <a:t>Cloudfront</a:t>
            </a:r>
            <a:r>
              <a:rPr lang="en-US" dirty="0">
                <a:solidFill>
                  <a:srgbClr val="30658B"/>
                </a:solidFill>
              </a:rPr>
              <a:t> origin access identity</a:t>
            </a:r>
          </a:p>
          <a:p>
            <a:pPr>
              <a:lnSpc>
                <a:spcPct val="150000"/>
              </a:lnSpc>
            </a:pPr>
            <a:r>
              <a:rPr lang="en-US" dirty="0">
                <a:solidFill>
                  <a:srgbClr val="30658B"/>
                </a:solidFill>
              </a:rPr>
              <a:t>b. Create a separate IAM user</a:t>
            </a:r>
          </a:p>
          <a:p>
            <a:pPr>
              <a:lnSpc>
                <a:spcPct val="150000"/>
              </a:lnSpc>
            </a:pPr>
            <a:r>
              <a:rPr lang="en-US" dirty="0">
                <a:solidFill>
                  <a:srgbClr val="30658B"/>
                </a:solidFill>
              </a:rPr>
              <a:t>c. Ensure that only the </a:t>
            </a:r>
            <a:r>
              <a:rPr lang="en-US" dirty="0" err="1">
                <a:solidFill>
                  <a:srgbClr val="30658B"/>
                </a:solidFill>
              </a:rPr>
              <a:t>Cloudfront</a:t>
            </a:r>
            <a:r>
              <a:rPr lang="en-US" dirty="0">
                <a:solidFill>
                  <a:srgbClr val="30658B"/>
                </a:solidFill>
              </a:rPr>
              <a:t> origin access identity has access to read objects from the S3 bucket.</a:t>
            </a:r>
          </a:p>
          <a:p>
            <a:pPr>
              <a:lnSpc>
                <a:spcPct val="150000"/>
              </a:lnSpc>
            </a:pPr>
            <a:r>
              <a:rPr lang="en-US" dirty="0">
                <a:solidFill>
                  <a:srgbClr val="30658B"/>
                </a:solidFill>
              </a:rPr>
              <a:t>d. Ensure that only the IAM user has access to read objects from the S3 bucket.</a:t>
            </a:r>
          </a:p>
          <a:p>
            <a:pPr>
              <a:lnSpc>
                <a:spcPct val="150000"/>
              </a:lnSpc>
            </a:pPr>
            <a:endParaRPr lang="en-US" dirty="0">
              <a:solidFill>
                <a:srgbClr val="30658B"/>
              </a:solidFill>
            </a:endParaRPr>
          </a:p>
          <a:p>
            <a:pPr>
              <a:lnSpc>
                <a:spcPct val="150000"/>
              </a:lnSpc>
            </a:pPr>
            <a:endParaRPr lang="en-US" dirty="0">
              <a:solidFill>
                <a:srgbClr val="30658B"/>
              </a:solidFill>
            </a:endParaRPr>
          </a:p>
        </p:txBody>
      </p:sp>
    </p:spTree>
    <p:extLst>
      <p:ext uri="{BB962C8B-B14F-4D97-AF65-F5344CB8AC3E}">
        <p14:creationId xmlns:p14="http://schemas.microsoft.com/office/powerpoint/2010/main" val="10509706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84</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5025799"/>
          </a:xfrm>
          <a:prstGeom prst="rect">
            <a:avLst/>
          </a:prstGeom>
        </p:spPr>
        <p:txBody>
          <a:bodyPr wrap="square">
            <a:spAutoFit/>
          </a:bodyPr>
          <a:lstStyle/>
          <a:p>
            <a:pPr>
              <a:lnSpc>
                <a:spcPct val="150000"/>
              </a:lnSpc>
            </a:pPr>
            <a:r>
              <a:rPr lang="en-US" dirty="0">
                <a:solidFill>
                  <a:srgbClr val="30658B"/>
                </a:solidFill>
              </a:rPr>
              <a:t>Your company currently has a set of Images that are placed in an </a:t>
            </a:r>
            <a:r>
              <a:rPr lang="en-US" b="1" dirty="0">
                <a:solidFill>
                  <a:srgbClr val="30658B"/>
                </a:solidFill>
              </a:rPr>
              <a:t>S3 bucket</a:t>
            </a:r>
            <a:r>
              <a:rPr lang="en-US" dirty="0">
                <a:solidFill>
                  <a:srgbClr val="30658B"/>
                </a:solidFill>
              </a:rPr>
              <a:t>. To give better user experience to users across the world, you have created a </a:t>
            </a:r>
            <a:r>
              <a:rPr lang="en-US" b="1" dirty="0">
                <a:solidFill>
                  <a:srgbClr val="30658B"/>
                </a:solidFill>
              </a:rPr>
              <a:t>CloudFront distribution with the S3 bucket as the origin</a:t>
            </a:r>
            <a:r>
              <a:rPr lang="en-US" dirty="0">
                <a:solidFill>
                  <a:srgbClr val="30658B"/>
                </a:solidFill>
              </a:rPr>
              <a:t>. But in your monitoring reports, you now see that a lot of users are </a:t>
            </a:r>
            <a:r>
              <a:rPr lang="en-US" b="1" dirty="0">
                <a:solidFill>
                  <a:srgbClr val="30658B"/>
                </a:solidFill>
              </a:rPr>
              <a:t>bypassing the CloudFront URL </a:t>
            </a:r>
            <a:r>
              <a:rPr lang="en-US" dirty="0">
                <a:solidFill>
                  <a:srgbClr val="30658B"/>
                </a:solidFill>
              </a:rPr>
              <a:t>and </a:t>
            </a:r>
            <a:r>
              <a:rPr lang="en-US" b="1" dirty="0">
                <a:solidFill>
                  <a:srgbClr val="30658B"/>
                </a:solidFill>
              </a:rPr>
              <a:t>directly going to the S3 bucket </a:t>
            </a:r>
            <a:r>
              <a:rPr lang="en-US" dirty="0">
                <a:solidFill>
                  <a:srgbClr val="30658B"/>
                </a:solidFill>
              </a:rPr>
              <a:t>and downloading the images. Which of the following steps can be performed to remediate this issue. Choose 2 answers from the options given below.</a:t>
            </a:r>
          </a:p>
          <a:p>
            <a:pPr>
              <a:lnSpc>
                <a:spcPct val="150000"/>
              </a:lnSpc>
            </a:pPr>
            <a:endParaRPr lang="en-US" dirty="0">
              <a:solidFill>
                <a:srgbClr val="30658B"/>
              </a:solidFill>
            </a:endParaRPr>
          </a:p>
          <a:p>
            <a:pPr>
              <a:lnSpc>
                <a:spcPct val="150000"/>
              </a:lnSpc>
            </a:pPr>
            <a:r>
              <a:rPr lang="en-US" dirty="0">
                <a:solidFill>
                  <a:srgbClr val="30658B"/>
                </a:solidFill>
              </a:rPr>
              <a:t>a. Create a </a:t>
            </a:r>
            <a:r>
              <a:rPr lang="en-US" dirty="0" err="1">
                <a:solidFill>
                  <a:srgbClr val="30658B"/>
                </a:solidFill>
              </a:rPr>
              <a:t>Cloudfront</a:t>
            </a:r>
            <a:r>
              <a:rPr lang="en-US" dirty="0">
                <a:solidFill>
                  <a:srgbClr val="30658B"/>
                </a:solidFill>
              </a:rPr>
              <a:t> origin access identity</a:t>
            </a:r>
          </a:p>
          <a:p>
            <a:pPr>
              <a:lnSpc>
                <a:spcPct val="150000"/>
              </a:lnSpc>
            </a:pPr>
            <a:r>
              <a:rPr lang="en-US" dirty="0">
                <a:solidFill>
                  <a:srgbClr val="30658B"/>
                </a:solidFill>
              </a:rPr>
              <a:t>b. Create a separate IAM user</a:t>
            </a:r>
          </a:p>
          <a:p>
            <a:pPr>
              <a:lnSpc>
                <a:spcPct val="150000"/>
              </a:lnSpc>
            </a:pPr>
            <a:r>
              <a:rPr lang="en-US" dirty="0">
                <a:solidFill>
                  <a:srgbClr val="30658B"/>
                </a:solidFill>
              </a:rPr>
              <a:t>c. Ensure that only the </a:t>
            </a:r>
            <a:r>
              <a:rPr lang="en-US" dirty="0" err="1">
                <a:solidFill>
                  <a:srgbClr val="30658B"/>
                </a:solidFill>
              </a:rPr>
              <a:t>Cloudfront</a:t>
            </a:r>
            <a:r>
              <a:rPr lang="en-US" dirty="0">
                <a:solidFill>
                  <a:srgbClr val="30658B"/>
                </a:solidFill>
              </a:rPr>
              <a:t> origin access identity has access to read objects from the S3 bucket.</a:t>
            </a:r>
          </a:p>
          <a:p>
            <a:pPr>
              <a:lnSpc>
                <a:spcPct val="150000"/>
              </a:lnSpc>
            </a:pPr>
            <a:r>
              <a:rPr lang="en-US" dirty="0">
                <a:solidFill>
                  <a:srgbClr val="30658B"/>
                </a:solidFill>
              </a:rPr>
              <a:t>d. Ensure that only the IAM user has access to read objects from the S3 bucket.</a:t>
            </a:r>
          </a:p>
          <a:p>
            <a:pPr>
              <a:lnSpc>
                <a:spcPct val="150000"/>
              </a:lnSpc>
            </a:pPr>
            <a:endParaRPr lang="en-US" dirty="0">
              <a:solidFill>
                <a:srgbClr val="30658B"/>
              </a:solidFill>
            </a:endParaRPr>
          </a:p>
          <a:p>
            <a:pPr>
              <a:lnSpc>
                <a:spcPct val="150000"/>
              </a:lnSpc>
            </a:pPr>
            <a:endParaRPr lang="en-US" dirty="0">
              <a:solidFill>
                <a:srgbClr val="30658B"/>
              </a:solidFill>
            </a:endParaRPr>
          </a:p>
        </p:txBody>
      </p:sp>
    </p:spTree>
    <p:extLst>
      <p:ext uri="{BB962C8B-B14F-4D97-AF65-F5344CB8AC3E}">
        <p14:creationId xmlns:p14="http://schemas.microsoft.com/office/powerpoint/2010/main" val="40982727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85</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5025799"/>
          </a:xfrm>
          <a:prstGeom prst="rect">
            <a:avLst/>
          </a:prstGeom>
        </p:spPr>
        <p:txBody>
          <a:bodyPr wrap="square">
            <a:spAutoFit/>
          </a:bodyPr>
          <a:lstStyle/>
          <a:p>
            <a:pPr>
              <a:lnSpc>
                <a:spcPct val="150000"/>
              </a:lnSpc>
            </a:pPr>
            <a:r>
              <a:rPr lang="en-US" dirty="0">
                <a:solidFill>
                  <a:srgbClr val="30658B"/>
                </a:solidFill>
              </a:rPr>
              <a:t>Your company currently has a set of Images that are placed in an </a:t>
            </a:r>
            <a:r>
              <a:rPr lang="en-US" b="1" dirty="0">
                <a:solidFill>
                  <a:srgbClr val="30658B"/>
                </a:solidFill>
              </a:rPr>
              <a:t>S3 bucket</a:t>
            </a:r>
            <a:r>
              <a:rPr lang="en-US" dirty="0">
                <a:solidFill>
                  <a:srgbClr val="30658B"/>
                </a:solidFill>
              </a:rPr>
              <a:t>. To give better user experience to users across the world, you have created a </a:t>
            </a:r>
            <a:r>
              <a:rPr lang="en-US" b="1" dirty="0">
                <a:solidFill>
                  <a:srgbClr val="30658B"/>
                </a:solidFill>
              </a:rPr>
              <a:t>CloudFront distribution with the S3 bucket as the origin</a:t>
            </a:r>
            <a:r>
              <a:rPr lang="en-US" dirty="0">
                <a:solidFill>
                  <a:srgbClr val="30658B"/>
                </a:solidFill>
              </a:rPr>
              <a:t>. But in your monitoring reports, you now see that a lot of users are </a:t>
            </a:r>
            <a:r>
              <a:rPr lang="en-US" b="1" dirty="0">
                <a:solidFill>
                  <a:srgbClr val="30658B"/>
                </a:solidFill>
              </a:rPr>
              <a:t>bypassing the CloudFront URL </a:t>
            </a:r>
            <a:r>
              <a:rPr lang="en-US" dirty="0">
                <a:solidFill>
                  <a:srgbClr val="30658B"/>
                </a:solidFill>
              </a:rPr>
              <a:t>and </a:t>
            </a:r>
            <a:r>
              <a:rPr lang="en-US" b="1" dirty="0">
                <a:solidFill>
                  <a:srgbClr val="30658B"/>
                </a:solidFill>
              </a:rPr>
              <a:t>directly going to the S3 bucket </a:t>
            </a:r>
            <a:r>
              <a:rPr lang="en-US" dirty="0">
                <a:solidFill>
                  <a:srgbClr val="30658B"/>
                </a:solidFill>
              </a:rPr>
              <a:t>and downloading the images. Which of the following steps can be performed to remediate this issue. Choose 2 answers from the options given below.</a:t>
            </a:r>
          </a:p>
          <a:p>
            <a:pPr>
              <a:lnSpc>
                <a:spcPct val="150000"/>
              </a:lnSpc>
            </a:pPr>
            <a:endParaRPr lang="en-US" dirty="0">
              <a:solidFill>
                <a:srgbClr val="30658B"/>
              </a:solidFill>
            </a:endParaRPr>
          </a:p>
          <a:p>
            <a:pPr>
              <a:lnSpc>
                <a:spcPct val="150000"/>
              </a:lnSpc>
            </a:pPr>
            <a:r>
              <a:rPr lang="en-US" b="1" dirty="0">
                <a:solidFill>
                  <a:srgbClr val="30658B"/>
                </a:solidFill>
              </a:rPr>
              <a:t>a. Create a </a:t>
            </a:r>
            <a:r>
              <a:rPr lang="en-US" b="1" dirty="0" err="1">
                <a:solidFill>
                  <a:srgbClr val="30658B"/>
                </a:solidFill>
              </a:rPr>
              <a:t>Cloudfront</a:t>
            </a:r>
            <a:r>
              <a:rPr lang="en-US" b="1" dirty="0">
                <a:solidFill>
                  <a:srgbClr val="30658B"/>
                </a:solidFill>
              </a:rPr>
              <a:t> origin access identity</a:t>
            </a:r>
          </a:p>
          <a:p>
            <a:pPr>
              <a:lnSpc>
                <a:spcPct val="150000"/>
              </a:lnSpc>
            </a:pPr>
            <a:r>
              <a:rPr lang="en-US" dirty="0">
                <a:solidFill>
                  <a:srgbClr val="30658B"/>
                </a:solidFill>
              </a:rPr>
              <a:t>b. Create a separate IAM user</a:t>
            </a:r>
          </a:p>
          <a:p>
            <a:pPr>
              <a:lnSpc>
                <a:spcPct val="150000"/>
              </a:lnSpc>
            </a:pPr>
            <a:r>
              <a:rPr lang="en-US" b="1" dirty="0">
                <a:solidFill>
                  <a:srgbClr val="30658B"/>
                </a:solidFill>
              </a:rPr>
              <a:t>c. Ensure that only the </a:t>
            </a:r>
            <a:r>
              <a:rPr lang="en-US" b="1" dirty="0" err="1">
                <a:solidFill>
                  <a:srgbClr val="30658B"/>
                </a:solidFill>
              </a:rPr>
              <a:t>Cloudfront</a:t>
            </a:r>
            <a:r>
              <a:rPr lang="en-US" b="1" dirty="0">
                <a:solidFill>
                  <a:srgbClr val="30658B"/>
                </a:solidFill>
              </a:rPr>
              <a:t> origin access identity has access to read objects from the S3 bucket.</a:t>
            </a:r>
          </a:p>
          <a:p>
            <a:pPr>
              <a:lnSpc>
                <a:spcPct val="150000"/>
              </a:lnSpc>
            </a:pPr>
            <a:r>
              <a:rPr lang="en-US" dirty="0">
                <a:solidFill>
                  <a:srgbClr val="30658B"/>
                </a:solidFill>
              </a:rPr>
              <a:t>d. Ensure that only the IAM user has access to read objects from the S3 bucket.</a:t>
            </a:r>
          </a:p>
          <a:p>
            <a:pPr>
              <a:lnSpc>
                <a:spcPct val="150000"/>
              </a:lnSpc>
            </a:pPr>
            <a:endParaRPr lang="en-US" dirty="0">
              <a:solidFill>
                <a:srgbClr val="30658B"/>
              </a:solidFill>
            </a:endParaRPr>
          </a:p>
          <a:p>
            <a:pPr>
              <a:lnSpc>
                <a:spcPct val="150000"/>
              </a:lnSpc>
            </a:pPr>
            <a:endParaRPr lang="en-US" dirty="0">
              <a:solidFill>
                <a:srgbClr val="30658B"/>
              </a:solidFill>
            </a:endParaRPr>
          </a:p>
        </p:txBody>
      </p:sp>
    </p:spTree>
    <p:extLst>
      <p:ext uri="{BB962C8B-B14F-4D97-AF65-F5344CB8AC3E}">
        <p14:creationId xmlns:p14="http://schemas.microsoft.com/office/powerpoint/2010/main" val="33377248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86</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Your development team is planning on using AWS </a:t>
            </a:r>
            <a:r>
              <a:rPr lang="en-US" dirty="0" err="1">
                <a:solidFill>
                  <a:srgbClr val="30658B"/>
                </a:solidFill>
              </a:rPr>
              <a:t>ElastiCache</a:t>
            </a:r>
            <a:r>
              <a:rPr lang="en-US" dirty="0">
                <a:solidFill>
                  <a:srgbClr val="30658B"/>
                </a:solidFill>
              </a:rPr>
              <a:t> – Redis for their caching implementation. It needs to be ensured that data is only filled in the cache when it is required. Which of the following cache strategy can be used for this purpose?</a:t>
            </a:r>
          </a:p>
          <a:p>
            <a:pPr>
              <a:lnSpc>
                <a:spcPct val="150000"/>
              </a:lnSpc>
            </a:pPr>
            <a:endParaRPr lang="en-US" dirty="0">
              <a:solidFill>
                <a:srgbClr val="30658B"/>
              </a:solidFill>
            </a:endParaRPr>
          </a:p>
          <a:p>
            <a:pPr>
              <a:lnSpc>
                <a:spcPct val="150000"/>
              </a:lnSpc>
            </a:pPr>
            <a:r>
              <a:rPr lang="en-US" dirty="0">
                <a:solidFill>
                  <a:srgbClr val="30658B"/>
                </a:solidFill>
              </a:rPr>
              <a:t>a. Lazy loading</a:t>
            </a:r>
          </a:p>
          <a:p>
            <a:pPr>
              <a:lnSpc>
                <a:spcPct val="150000"/>
              </a:lnSpc>
            </a:pPr>
            <a:r>
              <a:rPr lang="en-US" dirty="0">
                <a:solidFill>
                  <a:srgbClr val="30658B"/>
                </a:solidFill>
              </a:rPr>
              <a:t>b. Write through</a:t>
            </a:r>
          </a:p>
          <a:p>
            <a:pPr>
              <a:lnSpc>
                <a:spcPct val="150000"/>
              </a:lnSpc>
            </a:pPr>
            <a:r>
              <a:rPr lang="en-US" dirty="0">
                <a:solidFill>
                  <a:srgbClr val="30658B"/>
                </a:solidFill>
              </a:rPr>
              <a:t>c. Adding a TTL</a:t>
            </a:r>
          </a:p>
          <a:p>
            <a:pPr>
              <a:lnSpc>
                <a:spcPct val="150000"/>
              </a:lnSpc>
            </a:pPr>
            <a:r>
              <a:rPr lang="en-US" dirty="0">
                <a:solidFill>
                  <a:srgbClr val="30658B"/>
                </a:solidFill>
              </a:rPr>
              <a:t>d. Use Redis AOF</a:t>
            </a:r>
          </a:p>
        </p:txBody>
      </p:sp>
    </p:spTree>
    <p:extLst>
      <p:ext uri="{BB962C8B-B14F-4D97-AF65-F5344CB8AC3E}">
        <p14:creationId xmlns:p14="http://schemas.microsoft.com/office/powerpoint/2010/main" val="40041322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87</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Your development team is planning on </a:t>
            </a:r>
            <a:r>
              <a:rPr lang="en-US" b="1" dirty="0">
                <a:solidFill>
                  <a:srgbClr val="30658B"/>
                </a:solidFill>
              </a:rPr>
              <a:t>using AWS </a:t>
            </a:r>
            <a:r>
              <a:rPr lang="en-US" b="1" dirty="0" err="1">
                <a:solidFill>
                  <a:srgbClr val="30658B"/>
                </a:solidFill>
              </a:rPr>
              <a:t>ElastiCache</a:t>
            </a:r>
            <a:r>
              <a:rPr lang="en-US" b="1" dirty="0">
                <a:solidFill>
                  <a:srgbClr val="30658B"/>
                </a:solidFill>
              </a:rPr>
              <a:t> </a:t>
            </a:r>
            <a:r>
              <a:rPr lang="en-US" dirty="0">
                <a:solidFill>
                  <a:srgbClr val="30658B"/>
                </a:solidFill>
              </a:rPr>
              <a:t>– Redis for their caching implementation. It needs to be ensured that </a:t>
            </a:r>
            <a:r>
              <a:rPr lang="en-US" b="1" dirty="0">
                <a:solidFill>
                  <a:srgbClr val="30658B"/>
                </a:solidFill>
              </a:rPr>
              <a:t>data is only filled in the cache when it is required</a:t>
            </a:r>
            <a:r>
              <a:rPr lang="en-US" dirty="0">
                <a:solidFill>
                  <a:srgbClr val="30658B"/>
                </a:solidFill>
              </a:rPr>
              <a:t>. Which of the following cache strategy can be used for this purpose?</a:t>
            </a:r>
          </a:p>
          <a:p>
            <a:pPr>
              <a:lnSpc>
                <a:spcPct val="150000"/>
              </a:lnSpc>
            </a:pPr>
            <a:endParaRPr lang="en-US" dirty="0">
              <a:solidFill>
                <a:srgbClr val="30658B"/>
              </a:solidFill>
            </a:endParaRPr>
          </a:p>
          <a:p>
            <a:pPr>
              <a:lnSpc>
                <a:spcPct val="150000"/>
              </a:lnSpc>
            </a:pPr>
            <a:r>
              <a:rPr lang="en-US" dirty="0">
                <a:solidFill>
                  <a:srgbClr val="30658B"/>
                </a:solidFill>
              </a:rPr>
              <a:t>a. Lazy loading</a:t>
            </a:r>
          </a:p>
          <a:p>
            <a:pPr>
              <a:lnSpc>
                <a:spcPct val="150000"/>
              </a:lnSpc>
            </a:pPr>
            <a:r>
              <a:rPr lang="en-US" dirty="0">
                <a:solidFill>
                  <a:srgbClr val="30658B"/>
                </a:solidFill>
              </a:rPr>
              <a:t>b. Write through</a:t>
            </a:r>
          </a:p>
          <a:p>
            <a:pPr>
              <a:lnSpc>
                <a:spcPct val="150000"/>
              </a:lnSpc>
            </a:pPr>
            <a:r>
              <a:rPr lang="en-US" dirty="0">
                <a:solidFill>
                  <a:srgbClr val="30658B"/>
                </a:solidFill>
              </a:rPr>
              <a:t>c. Adding a TTL</a:t>
            </a:r>
          </a:p>
          <a:p>
            <a:pPr>
              <a:lnSpc>
                <a:spcPct val="150000"/>
              </a:lnSpc>
            </a:pPr>
            <a:r>
              <a:rPr lang="en-US" dirty="0">
                <a:solidFill>
                  <a:srgbClr val="30658B"/>
                </a:solidFill>
              </a:rPr>
              <a:t>d. Use Redis AOF</a:t>
            </a:r>
          </a:p>
        </p:txBody>
      </p:sp>
    </p:spTree>
    <p:extLst>
      <p:ext uri="{BB962C8B-B14F-4D97-AF65-F5344CB8AC3E}">
        <p14:creationId xmlns:p14="http://schemas.microsoft.com/office/powerpoint/2010/main" val="12078632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88</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Your development team is planning on </a:t>
            </a:r>
            <a:r>
              <a:rPr lang="en-US" b="1" dirty="0">
                <a:solidFill>
                  <a:srgbClr val="30658B"/>
                </a:solidFill>
              </a:rPr>
              <a:t>using AWS </a:t>
            </a:r>
            <a:r>
              <a:rPr lang="en-US" b="1" dirty="0" err="1">
                <a:solidFill>
                  <a:srgbClr val="30658B"/>
                </a:solidFill>
              </a:rPr>
              <a:t>ElastiCache</a:t>
            </a:r>
            <a:r>
              <a:rPr lang="en-US" b="1" dirty="0">
                <a:solidFill>
                  <a:srgbClr val="30658B"/>
                </a:solidFill>
              </a:rPr>
              <a:t> </a:t>
            </a:r>
            <a:r>
              <a:rPr lang="en-US" dirty="0">
                <a:solidFill>
                  <a:srgbClr val="30658B"/>
                </a:solidFill>
              </a:rPr>
              <a:t>– Redis for their caching implementation. It needs to be ensured that </a:t>
            </a:r>
            <a:r>
              <a:rPr lang="en-US" b="1" dirty="0">
                <a:solidFill>
                  <a:srgbClr val="30658B"/>
                </a:solidFill>
              </a:rPr>
              <a:t>data is only filled in the cache when it is required</a:t>
            </a:r>
            <a:r>
              <a:rPr lang="en-US" dirty="0">
                <a:solidFill>
                  <a:srgbClr val="30658B"/>
                </a:solidFill>
              </a:rPr>
              <a:t>. Which of the following cache strategy can be used for this purpose?</a:t>
            </a:r>
          </a:p>
          <a:p>
            <a:pPr>
              <a:lnSpc>
                <a:spcPct val="150000"/>
              </a:lnSpc>
            </a:pPr>
            <a:endParaRPr lang="en-US" dirty="0">
              <a:solidFill>
                <a:srgbClr val="30658B"/>
              </a:solidFill>
            </a:endParaRPr>
          </a:p>
          <a:p>
            <a:pPr>
              <a:lnSpc>
                <a:spcPct val="150000"/>
              </a:lnSpc>
            </a:pPr>
            <a:r>
              <a:rPr lang="en-US" b="1" dirty="0">
                <a:solidFill>
                  <a:srgbClr val="30658B"/>
                </a:solidFill>
              </a:rPr>
              <a:t>a. Lazy loading</a:t>
            </a:r>
          </a:p>
          <a:p>
            <a:pPr>
              <a:lnSpc>
                <a:spcPct val="150000"/>
              </a:lnSpc>
            </a:pPr>
            <a:r>
              <a:rPr lang="en-US" dirty="0">
                <a:solidFill>
                  <a:srgbClr val="30658B"/>
                </a:solidFill>
              </a:rPr>
              <a:t>b. Write through</a:t>
            </a:r>
          </a:p>
          <a:p>
            <a:pPr>
              <a:lnSpc>
                <a:spcPct val="150000"/>
              </a:lnSpc>
            </a:pPr>
            <a:r>
              <a:rPr lang="en-US" dirty="0">
                <a:solidFill>
                  <a:srgbClr val="30658B"/>
                </a:solidFill>
              </a:rPr>
              <a:t>c. Adding a TTL</a:t>
            </a:r>
          </a:p>
          <a:p>
            <a:pPr>
              <a:lnSpc>
                <a:spcPct val="150000"/>
              </a:lnSpc>
            </a:pPr>
            <a:r>
              <a:rPr lang="en-US" dirty="0">
                <a:solidFill>
                  <a:srgbClr val="30658B"/>
                </a:solidFill>
              </a:rPr>
              <a:t>d. Use Redis AOF</a:t>
            </a:r>
          </a:p>
        </p:txBody>
      </p:sp>
    </p:spTree>
    <p:extLst>
      <p:ext uri="{BB962C8B-B14F-4D97-AF65-F5344CB8AC3E}">
        <p14:creationId xmlns:p14="http://schemas.microsoft.com/office/powerpoint/2010/main" val="26647590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89</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 are currently developing an application that consists of a web layer hosted on an EC2 Instance. This is interacting with the database layer using the AWS RDS Instance. You are noticing that the same query reads are causing performance issues. Which of the following can be used to alleviate this issue?</a:t>
            </a:r>
          </a:p>
          <a:p>
            <a:pPr>
              <a:lnSpc>
                <a:spcPct val="150000"/>
              </a:lnSpc>
            </a:pPr>
            <a:endParaRPr lang="en-US" dirty="0">
              <a:solidFill>
                <a:srgbClr val="30658B"/>
              </a:solidFill>
            </a:endParaRPr>
          </a:p>
          <a:p>
            <a:pPr>
              <a:lnSpc>
                <a:spcPct val="150000"/>
              </a:lnSpc>
            </a:pPr>
            <a:r>
              <a:rPr lang="en-US" dirty="0">
                <a:solidFill>
                  <a:srgbClr val="30658B"/>
                </a:solidFill>
              </a:rPr>
              <a:t>a. Place an ELB in front of the web layer</a:t>
            </a:r>
          </a:p>
          <a:p>
            <a:pPr>
              <a:lnSpc>
                <a:spcPct val="150000"/>
              </a:lnSpc>
            </a:pPr>
            <a:r>
              <a:rPr lang="en-US" dirty="0">
                <a:solidFill>
                  <a:srgbClr val="30658B"/>
                </a:solidFill>
              </a:rPr>
              <a:t>b. Place an ELB in front of the database layer</a:t>
            </a:r>
          </a:p>
          <a:p>
            <a:pPr>
              <a:lnSpc>
                <a:spcPct val="150000"/>
              </a:lnSpc>
            </a:pPr>
            <a:r>
              <a:rPr lang="en-US" dirty="0">
                <a:solidFill>
                  <a:srgbClr val="30658B"/>
                </a:solidFill>
              </a:rPr>
              <a:t>c. Place an </a:t>
            </a:r>
            <a:r>
              <a:rPr lang="en-US" dirty="0" err="1">
                <a:solidFill>
                  <a:srgbClr val="30658B"/>
                </a:solidFill>
              </a:rPr>
              <a:t>ElastiCache</a:t>
            </a:r>
            <a:r>
              <a:rPr lang="en-US" dirty="0">
                <a:solidFill>
                  <a:srgbClr val="30658B"/>
                </a:solidFill>
              </a:rPr>
              <a:t> in front of the database layer</a:t>
            </a:r>
          </a:p>
          <a:p>
            <a:pPr>
              <a:lnSpc>
                <a:spcPct val="150000"/>
              </a:lnSpc>
            </a:pPr>
            <a:r>
              <a:rPr lang="en-US" dirty="0">
                <a:solidFill>
                  <a:srgbClr val="30658B"/>
                </a:solidFill>
              </a:rPr>
              <a:t>d. Place an </a:t>
            </a:r>
            <a:r>
              <a:rPr lang="en-US" dirty="0" err="1">
                <a:solidFill>
                  <a:srgbClr val="30658B"/>
                </a:solidFill>
              </a:rPr>
              <a:t>ElastiCache</a:t>
            </a:r>
            <a:r>
              <a:rPr lang="en-US" dirty="0">
                <a:solidFill>
                  <a:srgbClr val="30658B"/>
                </a:solidFill>
              </a:rPr>
              <a:t> in front of the web layer</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8902487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90</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 are currently developing an application that consists of a </a:t>
            </a:r>
            <a:r>
              <a:rPr lang="en-US" b="1" dirty="0">
                <a:solidFill>
                  <a:srgbClr val="30658B"/>
                </a:solidFill>
              </a:rPr>
              <a:t>web layer hosted on an EC2 Instance</a:t>
            </a:r>
            <a:r>
              <a:rPr lang="en-US" dirty="0">
                <a:solidFill>
                  <a:srgbClr val="30658B"/>
                </a:solidFill>
              </a:rPr>
              <a:t>. This is interacting with the </a:t>
            </a:r>
            <a:r>
              <a:rPr lang="en-US" b="1" dirty="0">
                <a:solidFill>
                  <a:srgbClr val="30658B"/>
                </a:solidFill>
              </a:rPr>
              <a:t>database layer using the AWS RDS Instance</a:t>
            </a:r>
            <a:r>
              <a:rPr lang="en-US" dirty="0">
                <a:solidFill>
                  <a:srgbClr val="30658B"/>
                </a:solidFill>
              </a:rPr>
              <a:t>. You are noticing that the </a:t>
            </a:r>
            <a:r>
              <a:rPr lang="en-US" b="1" dirty="0">
                <a:solidFill>
                  <a:srgbClr val="30658B"/>
                </a:solidFill>
              </a:rPr>
              <a:t>same query reads are causing performance issues</a:t>
            </a:r>
            <a:r>
              <a:rPr lang="en-US" dirty="0">
                <a:solidFill>
                  <a:srgbClr val="30658B"/>
                </a:solidFill>
              </a:rPr>
              <a:t>. Which of the following can be used to alleviate this issue?</a:t>
            </a:r>
          </a:p>
          <a:p>
            <a:pPr>
              <a:lnSpc>
                <a:spcPct val="150000"/>
              </a:lnSpc>
            </a:pPr>
            <a:endParaRPr lang="en-US" dirty="0">
              <a:solidFill>
                <a:srgbClr val="30658B"/>
              </a:solidFill>
            </a:endParaRPr>
          </a:p>
          <a:p>
            <a:pPr>
              <a:lnSpc>
                <a:spcPct val="150000"/>
              </a:lnSpc>
            </a:pPr>
            <a:r>
              <a:rPr lang="en-US" dirty="0">
                <a:solidFill>
                  <a:srgbClr val="30658B"/>
                </a:solidFill>
              </a:rPr>
              <a:t>a. Place an ELB in front of the web layer</a:t>
            </a:r>
          </a:p>
          <a:p>
            <a:pPr>
              <a:lnSpc>
                <a:spcPct val="150000"/>
              </a:lnSpc>
            </a:pPr>
            <a:r>
              <a:rPr lang="en-US" dirty="0">
                <a:solidFill>
                  <a:srgbClr val="30658B"/>
                </a:solidFill>
              </a:rPr>
              <a:t>b. Place an ELB in front of the database layer</a:t>
            </a:r>
          </a:p>
          <a:p>
            <a:pPr>
              <a:lnSpc>
                <a:spcPct val="150000"/>
              </a:lnSpc>
            </a:pPr>
            <a:r>
              <a:rPr lang="en-US" dirty="0">
                <a:solidFill>
                  <a:srgbClr val="30658B"/>
                </a:solidFill>
              </a:rPr>
              <a:t>c. Place an </a:t>
            </a:r>
            <a:r>
              <a:rPr lang="en-US" dirty="0" err="1">
                <a:solidFill>
                  <a:srgbClr val="30658B"/>
                </a:solidFill>
              </a:rPr>
              <a:t>ElastiCache</a:t>
            </a:r>
            <a:r>
              <a:rPr lang="en-US" dirty="0">
                <a:solidFill>
                  <a:srgbClr val="30658B"/>
                </a:solidFill>
              </a:rPr>
              <a:t> in front of the database layer</a:t>
            </a:r>
          </a:p>
          <a:p>
            <a:pPr>
              <a:lnSpc>
                <a:spcPct val="150000"/>
              </a:lnSpc>
            </a:pPr>
            <a:r>
              <a:rPr lang="en-US" dirty="0">
                <a:solidFill>
                  <a:srgbClr val="30658B"/>
                </a:solidFill>
              </a:rPr>
              <a:t>d. Place an </a:t>
            </a:r>
            <a:r>
              <a:rPr lang="en-US" dirty="0" err="1">
                <a:solidFill>
                  <a:srgbClr val="30658B"/>
                </a:solidFill>
              </a:rPr>
              <a:t>ElastiCache</a:t>
            </a:r>
            <a:r>
              <a:rPr lang="en-US" dirty="0">
                <a:solidFill>
                  <a:srgbClr val="30658B"/>
                </a:solidFill>
              </a:rPr>
              <a:t> in front of the web layer</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5725832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91</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 are currently developing an application that consists of a </a:t>
            </a:r>
            <a:r>
              <a:rPr lang="en-US" b="1" dirty="0">
                <a:solidFill>
                  <a:srgbClr val="30658B"/>
                </a:solidFill>
              </a:rPr>
              <a:t>web layer hosted on an EC2 Instance</a:t>
            </a:r>
            <a:r>
              <a:rPr lang="en-US" dirty="0">
                <a:solidFill>
                  <a:srgbClr val="30658B"/>
                </a:solidFill>
              </a:rPr>
              <a:t>. This is interacting with the </a:t>
            </a:r>
            <a:r>
              <a:rPr lang="en-US" b="1" dirty="0">
                <a:solidFill>
                  <a:srgbClr val="30658B"/>
                </a:solidFill>
              </a:rPr>
              <a:t>database layer using the AWS RDS Instance</a:t>
            </a:r>
            <a:r>
              <a:rPr lang="en-US" dirty="0">
                <a:solidFill>
                  <a:srgbClr val="30658B"/>
                </a:solidFill>
              </a:rPr>
              <a:t>. You are noticing that the </a:t>
            </a:r>
            <a:r>
              <a:rPr lang="en-US" b="1" dirty="0">
                <a:solidFill>
                  <a:srgbClr val="30658B"/>
                </a:solidFill>
              </a:rPr>
              <a:t>same query reads are causing performance issues</a:t>
            </a:r>
            <a:r>
              <a:rPr lang="en-US" dirty="0">
                <a:solidFill>
                  <a:srgbClr val="30658B"/>
                </a:solidFill>
              </a:rPr>
              <a:t>. Which of the following can be used to alleviate this issue?</a:t>
            </a:r>
          </a:p>
          <a:p>
            <a:pPr>
              <a:lnSpc>
                <a:spcPct val="150000"/>
              </a:lnSpc>
            </a:pPr>
            <a:endParaRPr lang="en-US" dirty="0">
              <a:solidFill>
                <a:srgbClr val="30658B"/>
              </a:solidFill>
            </a:endParaRPr>
          </a:p>
          <a:p>
            <a:pPr>
              <a:lnSpc>
                <a:spcPct val="150000"/>
              </a:lnSpc>
            </a:pPr>
            <a:r>
              <a:rPr lang="en-US" dirty="0">
                <a:solidFill>
                  <a:srgbClr val="30658B"/>
                </a:solidFill>
              </a:rPr>
              <a:t>a. Place an ELB in front of the web layer</a:t>
            </a:r>
          </a:p>
          <a:p>
            <a:pPr>
              <a:lnSpc>
                <a:spcPct val="150000"/>
              </a:lnSpc>
            </a:pPr>
            <a:r>
              <a:rPr lang="en-US" dirty="0">
                <a:solidFill>
                  <a:srgbClr val="30658B"/>
                </a:solidFill>
              </a:rPr>
              <a:t>b. Place an ELB in front of the database layer</a:t>
            </a:r>
          </a:p>
          <a:p>
            <a:pPr>
              <a:lnSpc>
                <a:spcPct val="150000"/>
              </a:lnSpc>
            </a:pPr>
            <a:r>
              <a:rPr lang="en-US" b="1" dirty="0">
                <a:solidFill>
                  <a:srgbClr val="30658B"/>
                </a:solidFill>
              </a:rPr>
              <a:t>c. Place an </a:t>
            </a:r>
            <a:r>
              <a:rPr lang="en-US" b="1" dirty="0" err="1">
                <a:solidFill>
                  <a:srgbClr val="30658B"/>
                </a:solidFill>
              </a:rPr>
              <a:t>ElastiCache</a:t>
            </a:r>
            <a:r>
              <a:rPr lang="en-US" b="1" dirty="0">
                <a:solidFill>
                  <a:srgbClr val="30658B"/>
                </a:solidFill>
              </a:rPr>
              <a:t> in front of the database layer</a:t>
            </a:r>
          </a:p>
          <a:p>
            <a:pPr>
              <a:lnSpc>
                <a:spcPct val="150000"/>
              </a:lnSpc>
            </a:pPr>
            <a:r>
              <a:rPr lang="en-US" dirty="0">
                <a:solidFill>
                  <a:srgbClr val="30658B"/>
                </a:solidFill>
              </a:rPr>
              <a:t>d. Place an </a:t>
            </a:r>
            <a:r>
              <a:rPr lang="en-US" dirty="0" err="1">
                <a:solidFill>
                  <a:srgbClr val="30658B"/>
                </a:solidFill>
              </a:rPr>
              <a:t>ElastiCache</a:t>
            </a:r>
            <a:r>
              <a:rPr lang="en-US" dirty="0">
                <a:solidFill>
                  <a:srgbClr val="30658B"/>
                </a:solidFill>
              </a:rPr>
              <a:t> in front of the web layer</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4617574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92</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 are an API developer that has been hired to work in a company. You have been asked to use the AWS services for development and deployment via the API gateway. You need to control the behavior of the API’s frontend interaction. Which of the following could be done to achieve this? Select 2 options. </a:t>
            </a:r>
          </a:p>
          <a:p>
            <a:pPr>
              <a:lnSpc>
                <a:spcPct val="150000"/>
              </a:lnSpc>
            </a:pPr>
            <a:endParaRPr lang="en-US" dirty="0">
              <a:solidFill>
                <a:srgbClr val="30658B"/>
              </a:solidFill>
            </a:endParaRPr>
          </a:p>
          <a:p>
            <a:pPr>
              <a:lnSpc>
                <a:spcPct val="150000"/>
              </a:lnSpc>
            </a:pPr>
            <a:r>
              <a:rPr lang="en-US" dirty="0">
                <a:solidFill>
                  <a:srgbClr val="30658B"/>
                </a:solidFill>
              </a:rPr>
              <a:t>a. Modify the configuration of the Method request</a:t>
            </a:r>
          </a:p>
          <a:p>
            <a:pPr>
              <a:lnSpc>
                <a:spcPct val="150000"/>
              </a:lnSpc>
            </a:pPr>
            <a:r>
              <a:rPr lang="en-US" dirty="0">
                <a:solidFill>
                  <a:srgbClr val="30658B"/>
                </a:solidFill>
              </a:rPr>
              <a:t>b. Modify the configuration of the Integration request</a:t>
            </a:r>
          </a:p>
          <a:p>
            <a:pPr>
              <a:lnSpc>
                <a:spcPct val="150000"/>
              </a:lnSpc>
            </a:pPr>
            <a:r>
              <a:rPr lang="en-US" dirty="0">
                <a:solidFill>
                  <a:srgbClr val="30658B"/>
                </a:solidFill>
              </a:rPr>
              <a:t>c. Modify the configuration of the Method response</a:t>
            </a:r>
          </a:p>
          <a:p>
            <a:pPr>
              <a:lnSpc>
                <a:spcPct val="150000"/>
              </a:lnSpc>
            </a:pPr>
            <a:r>
              <a:rPr lang="en-US" dirty="0">
                <a:solidFill>
                  <a:srgbClr val="30658B"/>
                </a:solidFill>
              </a:rPr>
              <a:t>d. Modify the configuration of the Integration response</a:t>
            </a:r>
          </a:p>
        </p:txBody>
      </p:sp>
    </p:spTree>
    <p:extLst>
      <p:ext uri="{BB962C8B-B14F-4D97-AF65-F5344CB8AC3E}">
        <p14:creationId xmlns:p14="http://schemas.microsoft.com/office/powerpoint/2010/main" val="11797722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93</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 are an API developer that has been hired to work in a company. You have been asked to use the AWS services for development and </a:t>
            </a:r>
            <a:r>
              <a:rPr lang="en-US" b="1" dirty="0">
                <a:solidFill>
                  <a:srgbClr val="30658B"/>
                </a:solidFill>
              </a:rPr>
              <a:t>deployment via the API gateway</a:t>
            </a:r>
            <a:r>
              <a:rPr lang="en-US" dirty="0">
                <a:solidFill>
                  <a:srgbClr val="30658B"/>
                </a:solidFill>
              </a:rPr>
              <a:t>. You need to control the </a:t>
            </a:r>
            <a:r>
              <a:rPr lang="en-US" b="1" dirty="0">
                <a:solidFill>
                  <a:srgbClr val="30658B"/>
                </a:solidFill>
              </a:rPr>
              <a:t>behavior of the API’s frontend interaction</a:t>
            </a:r>
            <a:r>
              <a:rPr lang="en-US" dirty="0">
                <a:solidFill>
                  <a:srgbClr val="30658B"/>
                </a:solidFill>
              </a:rPr>
              <a:t>. Which of the following could be done to achieve this? Select 2 options. </a:t>
            </a:r>
          </a:p>
          <a:p>
            <a:pPr>
              <a:lnSpc>
                <a:spcPct val="150000"/>
              </a:lnSpc>
            </a:pPr>
            <a:endParaRPr lang="en-US" dirty="0">
              <a:solidFill>
                <a:srgbClr val="30658B"/>
              </a:solidFill>
            </a:endParaRPr>
          </a:p>
          <a:p>
            <a:pPr>
              <a:lnSpc>
                <a:spcPct val="150000"/>
              </a:lnSpc>
            </a:pPr>
            <a:r>
              <a:rPr lang="en-US" dirty="0">
                <a:solidFill>
                  <a:srgbClr val="30658B"/>
                </a:solidFill>
              </a:rPr>
              <a:t>a. Modify the configuration of the Method request</a:t>
            </a:r>
          </a:p>
          <a:p>
            <a:pPr>
              <a:lnSpc>
                <a:spcPct val="150000"/>
              </a:lnSpc>
            </a:pPr>
            <a:r>
              <a:rPr lang="en-US" dirty="0">
                <a:solidFill>
                  <a:srgbClr val="30658B"/>
                </a:solidFill>
              </a:rPr>
              <a:t>b. Modify the configuration of the Integration request</a:t>
            </a:r>
          </a:p>
          <a:p>
            <a:pPr>
              <a:lnSpc>
                <a:spcPct val="150000"/>
              </a:lnSpc>
            </a:pPr>
            <a:r>
              <a:rPr lang="en-US" dirty="0">
                <a:solidFill>
                  <a:srgbClr val="30658B"/>
                </a:solidFill>
              </a:rPr>
              <a:t>c. Modify the configuration of the Method response</a:t>
            </a:r>
          </a:p>
          <a:p>
            <a:pPr>
              <a:lnSpc>
                <a:spcPct val="150000"/>
              </a:lnSpc>
            </a:pPr>
            <a:r>
              <a:rPr lang="en-US" dirty="0">
                <a:solidFill>
                  <a:srgbClr val="30658B"/>
                </a:solidFill>
              </a:rPr>
              <a:t>d. Modify the configuration of the Integration response</a:t>
            </a:r>
          </a:p>
        </p:txBody>
      </p:sp>
    </p:spTree>
    <p:extLst>
      <p:ext uri="{BB962C8B-B14F-4D97-AF65-F5344CB8AC3E}">
        <p14:creationId xmlns:p14="http://schemas.microsoft.com/office/powerpoint/2010/main" val="12016097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94</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 are an API developer that has been hired to work in a company. You have been asked to use the AWS services for development and </a:t>
            </a:r>
            <a:r>
              <a:rPr lang="en-US" b="1" dirty="0">
                <a:solidFill>
                  <a:srgbClr val="30658B"/>
                </a:solidFill>
              </a:rPr>
              <a:t>deployment via the API gateway</a:t>
            </a:r>
            <a:r>
              <a:rPr lang="en-US" dirty="0">
                <a:solidFill>
                  <a:srgbClr val="30658B"/>
                </a:solidFill>
              </a:rPr>
              <a:t>. You need to control the </a:t>
            </a:r>
            <a:r>
              <a:rPr lang="en-US" b="1" dirty="0">
                <a:solidFill>
                  <a:srgbClr val="30658B"/>
                </a:solidFill>
              </a:rPr>
              <a:t>behavior of the API’s frontend interaction</a:t>
            </a:r>
            <a:r>
              <a:rPr lang="en-US" dirty="0">
                <a:solidFill>
                  <a:srgbClr val="30658B"/>
                </a:solidFill>
              </a:rPr>
              <a:t>. Which of the following could be done to achieve this? Select 2 options. </a:t>
            </a:r>
          </a:p>
          <a:p>
            <a:pPr>
              <a:lnSpc>
                <a:spcPct val="150000"/>
              </a:lnSpc>
            </a:pPr>
            <a:endParaRPr lang="en-US" dirty="0">
              <a:solidFill>
                <a:srgbClr val="30658B"/>
              </a:solidFill>
            </a:endParaRPr>
          </a:p>
          <a:p>
            <a:pPr>
              <a:lnSpc>
                <a:spcPct val="150000"/>
              </a:lnSpc>
            </a:pPr>
            <a:r>
              <a:rPr lang="en-US" b="1" dirty="0">
                <a:solidFill>
                  <a:srgbClr val="30658B"/>
                </a:solidFill>
              </a:rPr>
              <a:t>a. Modify the configuration of the Method request</a:t>
            </a:r>
          </a:p>
          <a:p>
            <a:pPr>
              <a:lnSpc>
                <a:spcPct val="150000"/>
              </a:lnSpc>
            </a:pPr>
            <a:r>
              <a:rPr lang="en-US" dirty="0">
                <a:solidFill>
                  <a:srgbClr val="30658B"/>
                </a:solidFill>
              </a:rPr>
              <a:t>b. Modify the configuration of the Integration request</a:t>
            </a:r>
          </a:p>
          <a:p>
            <a:pPr>
              <a:lnSpc>
                <a:spcPct val="150000"/>
              </a:lnSpc>
            </a:pPr>
            <a:r>
              <a:rPr lang="en-US" b="1" dirty="0">
                <a:solidFill>
                  <a:srgbClr val="30658B"/>
                </a:solidFill>
              </a:rPr>
              <a:t>c. Modify the configuration of the Method response</a:t>
            </a:r>
          </a:p>
          <a:p>
            <a:pPr>
              <a:lnSpc>
                <a:spcPct val="150000"/>
              </a:lnSpc>
            </a:pPr>
            <a:r>
              <a:rPr lang="en-US" dirty="0">
                <a:solidFill>
                  <a:srgbClr val="30658B"/>
                </a:solidFill>
              </a:rPr>
              <a:t>d. Modify the configuration of the Integration response</a:t>
            </a:r>
          </a:p>
        </p:txBody>
      </p:sp>
    </p:spTree>
    <p:extLst>
      <p:ext uri="{BB962C8B-B14F-4D97-AF65-F5344CB8AC3E}">
        <p14:creationId xmlns:p14="http://schemas.microsoft.com/office/powerpoint/2010/main" val="14492908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95</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A developer is using Amazon API Gateway as an HTTP proxy to a backend endpoint. There are three separate environments: Development, Testing, Production and three corresponding stages in the API gateway. How should traffic be directed to different backend endpoints for each of these stages without creating a separate API for each?</a:t>
            </a:r>
          </a:p>
          <a:p>
            <a:pPr>
              <a:lnSpc>
                <a:spcPct val="150000"/>
              </a:lnSpc>
            </a:pPr>
            <a:endParaRPr lang="en-US" dirty="0">
              <a:solidFill>
                <a:srgbClr val="30658B"/>
              </a:solidFill>
            </a:endParaRPr>
          </a:p>
          <a:p>
            <a:pPr>
              <a:lnSpc>
                <a:spcPct val="150000"/>
              </a:lnSpc>
            </a:pPr>
            <a:r>
              <a:rPr lang="en-US" dirty="0">
                <a:solidFill>
                  <a:srgbClr val="30658B"/>
                </a:solidFill>
              </a:rPr>
              <a:t>a. Add a model to the API and add a schema to differentiate different backend endpoints.</a:t>
            </a:r>
          </a:p>
          <a:p>
            <a:pPr>
              <a:lnSpc>
                <a:spcPct val="150000"/>
              </a:lnSpc>
            </a:pPr>
            <a:r>
              <a:rPr lang="en-US" dirty="0">
                <a:solidFill>
                  <a:srgbClr val="30658B"/>
                </a:solidFill>
              </a:rPr>
              <a:t>b. Use stage variables and configure the stage variables in the HTTP integration Request of the API</a:t>
            </a:r>
          </a:p>
          <a:p>
            <a:pPr>
              <a:lnSpc>
                <a:spcPct val="150000"/>
              </a:lnSpc>
            </a:pPr>
            <a:r>
              <a:rPr lang="en-US" dirty="0">
                <a:solidFill>
                  <a:srgbClr val="30658B"/>
                </a:solidFill>
              </a:rPr>
              <a:t>c. Use API Custom Authorizers to create an authorizer for each of the different stages.</a:t>
            </a:r>
          </a:p>
          <a:p>
            <a:pPr>
              <a:lnSpc>
                <a:spcPct val="150000"/>
              </a:lnSpc>
            </a:pPr>
            <a:r>
              <a:rPr lang="en-US" dirty="0">
                <a:solidFill>
                  <a:srgbClr val="30658B"/>
                </a:solidFill>
              </a:rPr>
              <a:t>d. Update the Integration Response of the API to add different backend endpoints.</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37754633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96</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A developer is using Amazon </a:t>
            </a:r>
            <a:r>
              <a:rPr lang="en-US" b="1" dirty="0">
                <a:solidFill>
                  <a:srgbClr val="30658B"/>
                </a:solidFill>
              </a:rPr>
              <a:t>API Gateway as an HTTP proxy to a backend endpoint</a:t>
            </a:r>
            <a:r>
              <a:rPr lang="en-US" dirty="0">
                <a:solidFill>
                  <a:srgbClr val="30658B"/>
                </a:solidFill>
              </a:rPr>
              <a:t>. There are three separate environments: Development, Testing, Production and three </a:t>
            </a:r>
            <a:r>
              <a:rPr lang="en-US" b="1" dirty="0">
                <a:solidFill>
                  <a:srgbClr val="30658B"/>
                </a:solidFill>
              </a:rPr>
              <a:t>corresponding stages in the API gateway</a:t>
            </a:r>
            <a:r>
              <a:rPr lang="en-US" dirty="0">
                <a:solidFill>
                  <a:srgbClr val="30658B"/>
                </a:solidFill>
              </a:rPr>
              <a:t>. How should </a:t>
            </a:r>
            <a:r>
              <a:rPr lang="en-US" b="1" dirty="0">
                <a:solidFill>
                  <a:srgbClr val="30658B"/>
                </a:solidFill>
              </a:rPr>
              <a:t>traffic be directed to different backend endpoints for each of these stages without creating a separate API </a:t>
            </a:r>
            <a:r>
              <a:rPr lang="en-US" dirty="0">
                <a:solidFill>
                  <a:srgbClr val="30658B"/>
                </a:solidFill>
              </a:rPr>
              <a:t>for each?</a:t>
            </a:r>
          </a:p>
          <a:p>
            <a:pPr>
              <a:lnSpc>
                <a:spcPct val="150000"/>
              </a:lnSpc>
            </a:pPr>
            <a:endParaRPr lang="en-US" dirty="0">
              <a:solidFill>
                <a:srgbClr val="30658B"/>
              </a:solidFill>
            </a:endParaRPr>
          </a:p>
          <a:p>
            <a:pPr>
              <a:lnSpc>
                <a:spcPct val="150000"/>
              </a:lnSpc>
            </a:pPr>
            <a:r>
              <a:rPr lang="en-US" dirty="0">
                <a:solidFill>
                  <a:srgbClr val="30658B"/>
                </a:solidFill>
              </a:rPr>
              <a:t>a. Add a model to the API and add a schema to differentiate different backend endpoints.</a:t>
            </a:r>
          </a:p>
          <a:p>
            <a:pPr>
              <a:lnSpc>
                <a:spcPct val="150000"/>
              </a:lnSpc>
            </a:pPr>
            <a:r>
              <a:rPr lang="en-US" dirty="0">
                <a:solidFill>
                  <a:srgbClr val="30658B"/>
                </a:solidFill>
              </a:rPr>
              <a:t>b. Use stage variables and configure the stage variables in the HTTP integration Request of the API</a:t>
            </a:r>
          </a:p>
          <a:p>
            <a:pPr>
              <a:lnSpc>
                <a:spcPct val="150000"/>
              </a:lnSpc>
            </a:pPr>
            <a:r>
              <a:rPr lang="en-US" dirty="0">
                <a:solidFill>
                  <a:srgbClr val="30658B"/>
                </a:solidFill>
              </a:rPr>
              <a:t>c. Use API Custom Authorizers to create an authorizer for each of the different stages.</a:t>
            </a:r>
          </a:p>
          <a:p>
            <a:pPr>
              <a:lnSpc>
                <a:spcPct val="150000"/>
              </a:lnSpc>
            </a:pPr>
            <a:r>
              <a:rPr lang="en-US" dirty="0">
                <a:solidFill>
                  <a:srgbClr val="30658B"/>
                </a:solidFill>
              </a:rPr>
              <a:t>d. Update the Integration Response of the API to add different backend endpoints.</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3945833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97</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A developer is using Amazon </a:t>
            </a:r>
            <a:r>
              <a:rPr lang="en-US" b="1" dirty="0">
                <a:solidFill>
                  <a:srgbClr val="30658B"/>
                </a:solidFill>
              </a:rPr>
              <a:t>API Gateway as an HTTP proxy to a backend endpoint</a:t>
            </a:r>
            <a:r>
              <a:rPr lang="en-US" dirty="0">
                <a:solidFill>
                  <a:srgbClr val="30658B"/>
                </a:solidFill>
              </a:rPr>
              <a:t>. There are three separate environments: Development, Testing, Production and three </a:t>
            </a:r>
            <a:r>
              <a:rPr lang="en-US" b="1" dirty="0">
                <a:solidFill>
                  <a:srgbClr val="30658B"/>
                </a:solidFill>
              </a:rPr>
              <a:t>corresponding stages in the API gateway</a:t>
            </a:r>
            <a:r>
              <a:rPr lang="en-US" dirty="0">
                <a:solidFill>
                  <a:srgbClr val="30658B"/>
                </a:solidFill>
              </a:rPr>
              <a:t>. How should </a:t>
            </a:r>
            <a:r>
              <a:rPr lang="en-US" b="1" dirty="0">
                <a:solidFill>
                  <a:srgbClr val="30658B"/>
                </a:solidFill>
              </a:rPr>
              <a:t>traffic be directed to different backend endpoints for each of these stages without creating a separate API </a:t>
            </a:r>
            <a:r>
              <a:rPr lang="en-US" dirty="0">
                <a:solidFill>
                  <a:srgbClr val="30658B"/>
                </a:solidFill>
              </a:rPr>
              <a:t>for each?</a:t>
            </a:r>
          </a:p>
          <a:p>
            <a:pPr>
              <a:lnSpc>
                <a:spcPct val="150000"/>
              </a:lnSpc>
            </a:pPr>
            <a:endParaRPr lang="en-US" dirty="0">
              <a:solidFill>
                <a:srgbClr val="30658B"/>
              </a:solidFill>
            </a:endParaRPr>
          </a:p>
          <a:p>
            <a:pPr>
              <a:lnSpc>
                <a:spcPct val="150000"/>
              </a:lnSpc>
            </a:pPr>
            <a:r>
              <a:rPr lang="en-US" dirty="0">
                <a:solidFill>
                  <a:srgbClr val="30658B"/>
                </a:solidFill>
              </a:rPr>
              <a:t>a. Add a model to the API and add a schema to differentiate different backend endpoints.</a:t>
            </a:r>
          </a:p>
          <a:p>
            <a:pPr>
              <a:lnSpc>
                <a:spcPct val="150000"/>
              </a:lnSpc>
            </a:pPr>
            <a:r>
              <a:rPr lang="en-US" b="1" dirty="0">
                <a:solidFill>
                  <a:srgbClr val="30658B"/>
                </a:solidFill>
              </a:rPr>
              <a:t>b. Use stage variables and configure the stage variables in the HTTP integration Request of the API</a:t>
            </a:r>
          </a:p>
          <a:p>
            <a:pPr>
              <a:lnSpc>
                <a:spcPct val="150000"/>
              </a:lnSpc>
            </a:pPr>
            <a:r>
              <a:rPr lang="en-US" dirty="0">
                <a:solidFill>
                  <a:srgbClr val="30658B"/>
                </a:solidFill>
              </a:rPr>
              <a:t>c. Use API Custom Authorizers to create an authorizer for each of the different stages.</a:t>
            </a:r>
          </a:p>
          <a:p>
            <a:pPr>
              <a:lnSpc>
                <a:spcPct val="150000"/>
              </a:lnSpc>
            </a:pPr>
            <a:r>
              <a:rPr lang="en-US" dirty="0">
                <a:solidFill>
                  <a:srgbClr val="30658B"/>
                </a:solidFill>
              </a:rPr>
              <a:t>d. Update the Integration Response of the API to add different backend endpoints.</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38996921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F59EE6-B9B6-48CE-9CA8-D30322F35CA1}"/>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30A6112E-27B8-4913-86B6-23B2D49B1579}"/>
              </a:ext>
            </a:extLst>
          </p:cNvPr>
          <p:cNvSpPr>
            <a:spLocks noGrp="1"/>
          </p:cNvSpPr>
          <p:nvPr>
            <p:ph type="sldNum" sz="quarter" idx="17"/>
          </p:nvPr>
        </p:nvSpPr>
        <p:spPr>
          <a:xfrm>
            <a:off x="13590205" y="6843454"/>
            <a:ext cx="614893" cy="216646"/>
          </a:xfrm>
        </p:spPr>
        <p:txBody>
          <a:bodyPr/>
          <a:lstStyle/>
          <a:p>
            <a:fld id="{4F9AC08D-23A9-440E-BCB9-AA1E9877CC38}" type="slidenum">
              <a:rPr lang="en-US" smtClean="0"/>
              <a:pPr/>
              <a:t>98</a:t>
            </a:fld>
            <a:endParaRPr lang="en-US" dirty="0"/>
          </a:p>
        </p:txBody>
      </p:sp>
      <p:sp>
        <p:nvSpPr>
          <p:cNvPr id="7" name="Title 3">
            <a:extLst>
              <a:ext uri="{FF2B5EF4-FFF2-40B4-BE49-F238E27FC236}">
                <a16:creationId xmlns:a16="http://schemas.microsoft.com/office/drawing/2014/main" id="{E3570FD6-18E2-40FD-A0D1-E165E3D482A8}"/>
              </a:ext>
            </a:extLst>
          </p:cNvPr>
          <p:cNvSpPr>
            <a:spLocks noGrp="1"/>
          </p:cNvSpPr>
          <p:nvPr>
            <p:ph type="title"/>
          </p:nvPr>
        </p:nvSpPr>
        <p:spPr>
          <a:xfrm>
            <a:off x="447834" y="329626"/>
            <a:ext cx="13500200" cy="1359871"/>
          </a:xfrm>
        </p:spPr>
        <p:txBody>
          <a:bodyPr/>
          <a:lstStyle/>
          <a:p>
            <a:r>
              <a:rPr lang="en-IN" sz="3307" dirty="0">
                <a:solidFill>
                  <a:schemeClr val="bg1"/>
                </a:solidFill>
                <a:latin typeface="Graphik Black" panose="020B0A03030202060203" pitchFamily="34" charset="0"/>
                <a:ea typeface="+mn-ea"/>
                <a:cs typeface="+mn-cs"/>
              </a:rPr>
              <a:t>ECS (Elastic container service)</a:t>
            </a:r>
          </a:p>
        </p:txBody>
      </p:sp>
      <p:sp>
        <p:nvSpPr>
          <p:cNvPr id="8" name="TextBox 7">
            <a:extLst>
              <a:ext uri="{FF2B5EF4-FFF2-40B4-BE49-F238E27FC236}">
                <a16:creationId xmlns:a16="http://schemas.microsoft.com/office/drawing/2014/main" id="{2E26210D-6753-494D-BCB7-473DB5481624}"/>
              </a:ext>
            </a:extLst>
          </p:cNvPr>
          <p:cNvSpPr txBox="1"/>
          <p:nvPr/>
        </p:nvSpPr>
        <p:spPr>
          <a:xfrm>
            <a:off x="408323" y="969622"/>
            <a:ext cx="13539711" cy="4847481"/>
          </a:xfrm>
          <a:prstGeom prst="rect">
            <a:avLst/>
          </a:prstGeom>
          <a:noFill/>
        </p:spPr>
        <p:txBody>
          <a:bodyPr wrap="square" lIns="0" tIns="0" rIns="0" bIns="45720" rtlCol="0">
            <a:spAutoFit/>
          </a:bodyPr>
          <a:lstStyle/>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It is a highly scalable, fast, container management service.</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Run, stop and manage Docker containers on a cluster.</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Two ways to host a cluster</a:t>
            </a:r>
          </a:p>
          <a:p>
            <a:pPr marL="285750" indent="-285750" algn="just">
              <a:buFont typeface="Wingdings" panose="05000000000000000000" pitchFamily="2" charset="2"/>
              <a:buChar char="§"/>
            </a:pPr>
            <a:endParaRPr lang="en-IN" dirty="0">
              <a:solidFill>
                <a:srgbClr val="18537D"/>
              </a:solidFill>
            </a:endParaRPr>
          </a:p>
          <a:p>
            <a:pPr marL="742950" lvl="1" indent="-285750" algn="just">
              <a:buFont typeface="Wingdings" panose="05000000000000000000" pitchFamily="2" charset="2"/>
              <a:buChar char="§"/>
            </a:pPr>
            <a:r>
              <a:rPr lang="en-IN" dirty="0">
                <a:solidFill>
                  <a:srgbClr val="18537D"/>
                </a:solidFill>
              </a:rPr>
              <a:t>Using Fargate Launch Type (Serverless Infrastructure)</a:t>
            </a:r>
          </a:p>
          <a:p>
            <a:pPr marL="742950" lvl="1" indent="-285750" algn="just">
              <a:buFont typeface="Wingdings" panose="05000000000000000000" pitchFamily="2" charset="2"/>
              <a:buChar char="§"/>
            </a:pPr>
            <a:endParaRPr lang="en-IN" dirty="0">
              <a:solidFill>
                <a:srgbClr val="18537D"/>
              </a:solidFill>
            </a:endParaRPr>
          </a:p>
          <a:p>
            <a:pPr marL="742950" lvl="1" indent="-285750" algn="just">
              <a:buFont typeface="Wingdings" panose="05000000000000000000" pitchFamily="2" charset="2"/>
              <a:buChar char="§"/>
            </a:pPr>
            <a:r>
              <a:rPr lang="en-IN" dirty="0">
                <a:solidFill>
                  <a:srgbClr val="18537D"/>
                </a:solidFill>
              </a:rPr>
              <a:t>Using Elastic Compute Cloud (Amazon Ec2) Launch Type</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It is a regional service.</a:t>
            </a:r>
          </a:p>
          <a:p>
            <a:pPr marL="285750" indent="-285750" algn="just">
              <a:buFont typeface="Wingdings" panose="05000000000000000000" pitchFamily="2" charset="2"/>
              <a:buChar char="§"/>
            </a:pPr>
            <a:endParaRPr lang="en-IN" dirty="0">
              <a:solidFill>
                <a:srgbClr val="18537D"/>
              </a:solidFill>
            </a:endParaRPr>
          </a:p>
          <a:p>
            <a:pPr marL="285750" indent="-285750" algn="just">
              <a:buFont typeface="Wingdings" panose="05000000000000000000" pitchFamily="2" charset="2"/>
              <a:buChar char="§"/>
            </a:pPr>
            <a:r>
              <a:rPr lang="en-IN" dirty="0">
                <a:solidFill>
                  <a:srgbClr val="18537D"/>
                </a:solidFill>
              </a:rPr>
              <a:t>Once the cluster is up and running, you can define task definitions and services which specifies Docker container images to run across clusters.</a:t>
            </a:r>
          </a:p>
          <a:p>
            <a:pPr lvl="1" algn="just"/>
            <a:endParaRPr lang="en-IN" dirty="0">
              <a:solidFill>
                <a:srgbClr val="18537D"/>
              </a:solidFill>
            </a:endParaRPr>
          </a:p>
          <a:p>
            <a:pPr algn="just"/>
            <a:endParaRPr lang="en-IN" sz="2400" dirty="0"/>
          </a:p>
        </p:txBody>
      </p:sp>
    </p:spTree>
    <p:extLst>
      <p:ext uri="{BB962C8B-B14F-4D97-AF65-F5344CB8AC3E}">
        <p14:creationId xmlns:p14="http://schemas.microsoft.com/office/powerpoint/2010/main" val="52555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7" end="7"/>
                                            </p:txEl>
                                          </p:spTgt>
                                        </p:tgtEl>
                                        <p:attrNameLst>
                                          <p:attrName>style.visibility</p:attrName>
                                        </p:attrNameLst>
                                      </p:cBhvr>
                                      <p:to>
                                        <p:strVal val="visible"/>
                                      </p:to>
                                    </p:set>
                                    <p:animEffect transition="in" filter="fade">
                                      <p:cBhvr>
                                        <p:cTn id="22" dur="500"/>
                                        <p:tgtEl>
                                          <p:spTgt spid="8">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animEffect transition="in" filter="fade">
                                      <p:cBhvr>
                                        <p:cTn id="27" dur="500"/>
                                        <p:tgtEl>
                                          <p:spTgt spid="8">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11" end="11"/>
                                            </p:txEl>
                                          </p:spTgt>
                                        </p:tgtEl>
                                        <p:attrNameLst>
                                          <p:attrName>style.visibility</p:attrName>
                                        </p:attrNameLst>
                                      </p:cBhvr>
                                      <p:to>
                                        <p:strVal val="visible"/>
                                      </p:to>
                                    </p:set>
                                    <p:animEffect transition="in" filter="fade">
                                      <p:cBhvr>
                                        <p:cTn id="32" dur="500"/>
                                        <p:tgtEl>
                                          <p:spTgt spid="8">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13" end="13"/>
                                            </p:txEl>
                                          </p:spTgt>
                                        </p:tgtEl>
                                        <p:attrNameLst>
                                          <p:attrName>style.visibility</p:attrName>
                                        </p:attrNameLst>
                                      </p:cBhvr>
                                      <p:to>
                                        <p:strVal val="visible"/>
                                      </p:to>
                                    </p:set>
                                    <p:animEffect transition="in" filter="fade">
                                      <p:cBhvr>
                                        <p:cTn id="37"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99</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Your team has been instructed on deploying a Microservices and an ETL based application onto AWS on docker. There is a requirement to manage the orchestration of application. Which of the following would the ideal way to implement this with the least amount of administrative effort?</a:t>
            </a:r>
          </a:p>
          <a:p>
            <a:pPr>
              <a:lnSpc>
                <a:spcPct val="150000"/>
              </a:lnSpc>
            </a:pPr>
            <a:endParaRPr lang="en-US" dirty="0">
              <a:solidFill>
                <a:srgbClr val="30658B"/>
              </a:solidFill>
            </a:endParaRPr>
          </a:p>
          <a:p>
            <a:pPr>
              <a:lnSpc>
                <a:spcPct val="150000"/>
              </a:lnSpc>
            </a:pPr>
            <a:r>
              <a:rPr lang="en-US" dirty="0">
                <a:solidFill>
                  <a:srgbClr val="30658B"/>
                </a:solidFill>
              </a:rPr>
              <a:t>a. Use the Elastic Beanstalk Service</a:t>
            </a:r>
          </a:p>
          <a:p>
            <a:pPr>
              <a:lnSpc>
                <a:spcPct val="150000"/>
              </a:lnSpc>
            </a:pPr>
            <a:r>
              <a:rPr lang="en-US" dirty="0">
                <a:solidFill>
                  <a:srgbClr val="30658B"/>
                </a:solidFill>
              </a:rPr>
              <a:t>b. Use the Elastic Container Service</a:t>
            </a:r>
          </a:p>
          <a:p>
            <a:pPr>
              <a:lnSpc>
                <a:spcPct val="150000"/>
              </a:lnSpc>
            </a:pPr>
            <a:r>
              <a:rPr lang="en-US" dirty="0">
                <a:solidFill>
                  <a:srgbClr val="30658B"/>
                </a:solidFill>
              </a:rPr>
              <a:t>c. Deploy Kubernetes on EC2 Instances</a:t>
            </a:r>
          </a:p>
          <a:p>
            <a:pPr>
              <a:lnSpc>
                <a:spcPct val="150000"/>
              </a:lnSpc>
            </a:pPr>
            <a:r>
              <a:rPr lang="en-US" dirty="0">
                <a:solidFill>
                  <a:srgbClr val="30658B"/>
                </a:solidFill>
              </a:rPr>
              <a:t>d. Use the </a:t>
            </a:r>
            <a:r>
              <a:rPr lang="en-US" dirty="0" err="1">
                <a:solidFill>
                  <a:srgbClr val="30658B"/>
                </a:solidFill>
              </a:rPr>
              <a:t>Opswork</a:t>
            </a:r>
            <a:r>
              <a:rPr lang="en-US" dirty="0">
                <a:solidFill>
                  <a:srgbClr val="30658B"/>
                </a:solidFill>
              </a:rPr>
              <a:t> service</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8093774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100</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Your team has been instructed on deploying a </a:t>
            </a:r>
            <a:r>
              <a:rPr lang="en-US" b="1" dirty="0">
                <a:solidFill>
                  <a:srgbClr val="30658B"/>
                </a:solidFill>
              </a:rPr>
              <a:t>Microservices and an ETL based application onto AWS on docker</a:t>
            </a:r>
            <a:r>
              <a:rPr lang="en-US" dirty="0">
                <a:solidFill>
                  <a:srgbClr val="30658B"/>
                </a:solidFill>
              </a:rPr>
              <a:t>. There is a requirement </a:t>
            </a:r>
            <a:r>
              <a:rPr lang="en-US" b="1" dirty="0">
                <a:solidFill>
                  <a:srgbClr val="30658B"/>
                </a:solidFill>
              </a:rPr>
              <a:t>to manage the orchestration of application</a:t>
            </a:r>
            <a:r>
              <a:rPr lang="en-US" dirty="0">
                <a:solidFill>
                  <a:srgbClr val="30658B"/>
                </a:solidFill>
              </a:rPr>
              <a:t>. Which of the following would the ideal way to implement this with the least amount of administrative effort?</a:t>
            </a:r>
          </a:p>
          <a:p>
            <a:pPr>
              <a:lnSpc>
                <a:spcPct val="150000"/>
              </a:lnSpc>
            </a:pPr>
            <a:endParaRPr lang="en-US" dirty="0">
              <a:solidFill>
                <a:srgbClr val="30658B"/>
              </a:solidFill>
            </a:endParaRPr>
          </a:p>
          <a:p>
            <a:pPr>
              <a:lnSpc>
                <a:spcPct val="150000"/>
              </a:lnSpc>
            </a:pPr>
            <a:r>
              <a:rPr lang="en-US" dirty="0">
                <a:solidFill>
                  <a:srgbClr val="30658B"/>
                </a:solidFill>
              </a:rPr>
              <a:t>a. Use the Elastic Beanstalk Service</a:t>
            </a:r>
          </a:p>
          <a:p>
            <a:pPr>
              <a:lnSpc>
                <a:spcPct val="150000"/>
              </a:lnSpc>
            </a:pPr>
            <a:r>
              <a:rPr lang="en-US" dirty="0">
                <a:solidFill>
                  <a:srgbClr val="30658B"/>
                </a:solidFill>
              </a:rPr>
              <a:t>b. Use the Elastic Container Service</a:t>
            </a:r>
          </a:p>
          <a:p>
            <a:pPr>
              <a:lnSpc>
                <a:spcPct val="150000"/>
              </a:lnSpc>
            </a:pPr>
            <a:r>
              <a:rPr lang="en-US" dirty="0">
                <a:solidFill>
                  <a:srgbClr val="30658B"/>
                </a:solidFill>
              </a:rPr>
              <a:t>c. Deploy Kubernetes on EC2 Instances</a:t>
            </a:r>
          </a:p>
          <a:p>
            <a:pPr>
              <a:lnSpc>
                <a:spcPct val="150000"/>
              </a:lnSpc>
            </a:pPr>
            <a:r>
              <a:rPr lang="en-US" dirty="0">
                <a:solidFill>
                  <a:srgbClr val="30658B"/>
                </a:solidFill>
              </a:rPr>
              <a:t>d. Use the </a:t>
            </a:r>
            <a:r>
              <a:rPr lang="en-US" dirty="0" err="1">
                <a:solidFill>
                  <a:srgbClr val="30658B"/>
                </a:solidFill>
              </a:rPr>
              <a:t>Opswork</a:t>
            </a:r>
            <a:r>
              <a:rPr lang="en-US" dirty="0">
                <a:solidFill>
                  <a:srgbClr val="30658B"/>
                </a:solidFill>
              </a:rPr>
              <a:t> service</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8628839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101</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Your team has been instructed on deploying a </a:t>
            </a:r>
            <a:r>
              <a:rPr lang="en-US" b="1" dirty="0">
                <a:solidFill>
                  <a:srgbClr val="30658B"/>
                </a:solidFill>
              </a:rPr>
              <a:t>Microservices and an ETL based application onto AWS on docker</a:t>
            </a:r>
            <a:r>
              <a:rPr lang="en-US" dirty="0">
                <a:solidFill>
                  <a:srgbClr val="30658B"/>
                </a:solidFill>
              </a:rPr>
              <a:t>. There is a requirement </a:t>
            </a:r>
            <a:r>
              <a:rPr lang="en-US" b="1" dirty="0">
                <a:solidFill>
                  <a:srgbClr val="30658B"/>
                </a:solidFill>
              </a:rPr>
              <a:t>to manage the orchestration of application</a:t>
            </a:r>
            <a:r>
              <a:rPr lang="en-US" dirty="0">
                <a:solidFill>
                  <a:srgbClr val="30658B"/>
                </a:solidFill>
              </a:rPr>
              <a:t>. Which of the following would the ideal way to implement this with the least amount of administrative effort?</a:t>
            </a:r>
          </a:p>
          <a:p>
            <a:pPr>
              <a:lnSpc>
                <a:spcPct val="150000"/>
              </a:lnSpc>
            </a:pPr>
            <a:endParaRPr lang="en-US" dirty="0">
              <a:solidFill>
                <a:srgbClr val="30658B"/>
              </a:solidFill>
            </a:endParaRPr>
          </a:p>
          <a:p>
            <a:pPr>
              <a:lnSpc>
                <a:spcPct val="150000"/>
              </a:lnSpc>
            </a:pPr>
            <a:r>
              <a:rPr lang="en-US" dirty="0">
                <a:solidFill>
                  <a:srgbClr val="30658B"/>
                </a:solidFill>
              </a:rPr>
              <a:t>a. Use the Elastic Beanstalk Service</a:t>
            </a:r>
          </a:p>
          <a:p>
            <a:pPr>
              <a:lnSpc>
                <a:spcPct val="150000"/>
              </a:lnSpc>
            </a:pPr>
            <a:r>
              <a:rPr lang="en-US" b="1" dirty="0">
                <a:solidFill>
                  <a:srgbClr val="30658B"/>
                </a:solidFill>
              </a:rPr>
              <a:t>b. Use the Elastic Container Service</a:t>
            </a:r>
          </a:p>
          <a:p>
            <a:pPr>
              <a:lnSpc>
                <a:spcPct val="150000"/>
              </a:lnSpc>
            </a:pPr>
            <a:r>
              <a:rPr lang="en-US" dirty="0">
                <a:solidFill>
                  <a:srgbClr val="30658B"/>
                </a:solidFill>
              </a:rPr>
              <a:t>c. Deploy Kubernetes on EC2 Instances</a:t>
            </a:r>
          </a:p>
          <a:p>
            <a:pPr>
              <a:lnSpc>
                <a:spcPct val="150000"/>
              </a:lnSpc>
            </a:pPr>
            <a:r>
              <a:rPr lang="en-US" dirty="0">
                <a:solidFill>
                  <a:srgbClr val="30658B"/>
                </a:solidFill>
              </a:rPr>
              <a:t>d. Use the </a:t>
            </a:r>
            <a:r>
              <a:rPr lang="en-US" dirty="0" err="1">
                <a:solidFill>
                  <a:srgbClr val="30658B"/>
                </a:solidFill>
              </a:rPr>
              <a:t>Opswork</a:t>
            </a:r>
            <a:r>
              <a:rPr lang="en-US" dirty="0">
                <a:solidFill>
                  <a:srgbClr val="30658B"/>
                </a:solidFill>
              </a:rPr>
              <a:t> service</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42475781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61B486-3B1A-46E9-91FC-F577F3CFD3EA}"/>
              </a:ext>
            </a:extLst>
          </p:cNvPr>
          <p:cNvSpPr>
            <a:spLocks noGrp="1"/>
          </p:cNvSpPr>
          <p:nvPr>
            <p:ph type="sldNum" sz="quarter" idx="17"/>
          </p:nvPr>
        </p:nvSpPr>
        <p:spPr/>
        <p:txBody>
          <a:bodyPr/>
          <a:lstStyle/>
          <a:p>
            <a:fld id="{4F9AC08D-23A9-440E-BCB9-AA1E9877CC38}" type="slidenum">
              <a:rPr lang="en-US" smtClean="0"/>
              <a:pPr/>
              <a:t>102</a:t>
            </a:fld>
            <a:endParaRPr lang="en-US" dirty="0"/>
          </a:p>
        </p:txBody>
      </p:sp>
      <p:sp>
        <p:nvSpPr>
          <p:cNvPr id="3" name="Title 2">
            <a:extLst>
              <a:ext uri="{FF2B5EF4-FFF2-40B4-BE49-F238E27FC236}">
                <a16:creationId xmlns:a16="http://schemas.microsoft.com/office/drawing/2014/main" id="{46A67DAD-CDB2-4806-946F-B123F0F0BF94}"/>
              </a:ext>
            </a:extLst>
          </p:cNvPr>
          <p:cNvSpPr>
            <a:spLocks noGrp="1"/>
          </p:cNvSpPr>
          <p:nvPr>
            <p:ph type="title"/>
          </p:nvPr>
        </p:nvSpPr>
        <p:spPr>
          <a:xfrm>
            <a:off x="450006" y="237919"/>
            <a:ext cx="13500200" cy="1359871"/>
          </a:xfrm>
        </p:spPr>
        <p:txBody>
          <a:bodyPr/>
          <a:lstStyle/>
          <a:p>
            <a:r>
              <a:rPr lang="en-US" dirty="0">
                <a:solidFill>
                  <a:schemeClr val="bg1"/>
                </a:solidFill>
              </a:rPr>
              <a:t>AWS step Function</a:t>
            </a:r>
          </a:p>
        </p:txBody>
      </p:sp>
      <p:sp>
        <p:nvSpPr>
          <p:cNvPr id="4" name="Footer Placeholder 3">
            <a:extLst>
              <a:ext uri="{FF2B5EF4-FFF2-40B4-BE49-F238E27FC236}">
                <a16:creationId xmlns:a16="http://schemas.microsoft.com/office/drawing/2014/main" id="{07300E2C-C585-4D85-90AC-A14A411FE90F}"/>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A65C5E12-3334-4828-9F3F-10162881E096}"/>
              </a:ext>
            </a:extLst>
          </p:cNvPr>
          <p:cNvSpPr/>
          <p:nvPr/>
        </p:nvSpPr>
        <p:spPr>
          <a:xfrm>
            <a:off x="862315" y="1597790"/>
            <a:ext cx="12234440" cy="2948308"/>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Helps automate operational tasks. </a:t>
            </a:r>
          </a:p>
          <a:p>
            <a:pPr marL="285750" indent="-285750">
              <a:lnSpc>
                <a:spcPct val="150000"/>
              </a:lnSpc>
              <a:buFont typeface="Arial" panose="020B0604020202020204" pitchFamily="34" charset="0"/>
              <a:buChar char="•"/>
            </a:pPr>
            <a:r>
              <a:rPr lang="en-US" dirty="0">
                <a:solidFill>
                  <a:srgbClr val="18537D"/>
                </a:solidFill>
              </a:rPr>
              <a:t>It provides the auditable automation of routine deployments, upgrades, installations, and migrations. </a:t>
            </a:r>
          </a:p>
          <a:p>
            <a:pPr marL="285750" indent="-285750">
              <a:lnSpc>
                <a:spcPct val="150000"/>
              </a:lnSpc>
              <a:buFont typeface="Arial" panose="020B0604020202020204" pitchFamily="34" charset="0"/>
              <a:buChar char="•"/>
            </a:pPr>
            <a:r>
              <a:rPr lang="en-US" dirty="0">
                <a:solidFill>
                  <a:srgbClr val="18537D"/>
                </a:solidFill>
              </a:rPr>
              <a:t>Easily automate recurring tasks, such as patch management, infrastructure selection, and data synchronization. </a:t>
            </a:r>
          </a:p>
          <a:p>
            <a:pPr marL="285750" indent="-285750">
              <a:lnSpc>
                <a:spcPct val="150000"/>
              </a:lnSpc>
              <a:buFont typeface="Arial" panose="020B0604020202020204" pitchFamily="34" charset="0"/>
              <a:buChar char="•"/>
            </a:pPr>
            <a:r>
              <a:rPr lang="en-US" dirty="0">
                <a:solidFill>
                  <a:srgbClr val="18537D"/>
                </a:solidFill>
              </a:rPr>
              <a:t>Step Functions automatically scales, responds to timeouts, and retries failed tasks.</a:t>
            </a:r>
          </a:p>
          <a:p>
            <a:pPr marL="285750" indent="-285750">
              <a:lnSpc>
                <a:spcPct val="150000"/>
              </a:lnSpc>
              <a:buFont typeface="Arial" panose="020B0604020202020204" pitchFamily="34" charset="0"/>
              <a:buChar char="•"/>
            </a:pPr>
            <a:r>
              <a:rPr lang="en-US" dirty="0">
                <a:solidFill>
                  <a:srgbClr val="18537D"/>
                </a:solidFill>
              </a:rPr>
              <a:t>You can use Step Functions in combination with other services, such as AWS Lambda, to manage operational tasks in a workflow. </a:t>
            </a:r>
          </a:p>
        </p:txBody>
      </p:sp>
      <p:pic>
        <p:nvPicPr>
          <p:cNvPr id="6" name="Picture 5">
            <a:extLst>
              <a:ext uri="{FF2B5EF4-FFF2-40B4-BE49-F238E27FC236}">
                <a16:creationId xmlns:a16="http://schemas.microsoft.com/office/drawing/2014/main" id="{2F160267-3344-4BCC-9E40-79C2D9B60C79}"/>
              </a:ext>
            </a:extLst>
          </p:cNvPr>
          <p:cNvPicPr>
            <a:picLocks noChangeAspect="1"/>
          </p:cNvPicPr>
          <p:nvPr/>
        </p:nvPicPr>
        <p:blipFill rotWithShape="1">
          <a:blip r:embed="rId2"/>
          <a:srcRect l="1727" t="6903" r="68486" b="72831"/>
          <a:stretch/>
        </p:blipFill>
        <p:spPr>
          <a:xfrm>
            <a:off x="972273" y="4632239"/>
            <a:ext cx="3727049" cy="949124"/>
          </a:xfrm>
          <a:prstGeom prst="rect">
            <a:avLst/>
          </a:prstGeom>
        </p:spPr>
      </p:pic>
      <p:pic>
        <p:nvPicPr>
          <p:cNvPr id="7" name="Picture 6">
            <a:extLst>
              <a:ext uri="{FF2B5EF4-FFF2-40B4-BE49-F238E27FC236}">
                <a16:creationId xmlns:a16="http://schemas.microsoft.com/office/drawing/2014/main" id="{41142A63-119D-4C1A-98F9-41B530952220}"/>
              </a:ext>
            </a:extLst>
          </p:cNvPr>
          <p:cNvPicPr>
            <a:picLocks noChangeAspect="1"/>
          </p:cNvPicPr>
          <p:nvPr/>
        </p:nvPicPr>
        <p:blipFill rotWithShape="1">
          <a:blip r:embed="rId2"/>
          <a:srcRect l="34844" t="6903" r="35369" b="72831"/>
          <a:stretch/>
        </p:blipFill>
        <p:spPr>
          <a:xfrm>
            <a:off x="5116010" y="4632239"/>
            <a:ext cx="3727050" cy="949124"/>
          </a:xfrm>
          <a:prstGeom prst="rect">
            <a:avLst/>
          </a:prstGeom>
        </p:spPr>
      </p:pic>
      <p:pic>
        <p:nvPicPr>
          <p:cNvPr id="8" name="Picture 7">
            <a:extLst>
              <a:ext uri="{FF2B5EF4-FFF2-40B4-BE49-F238E27FC236}">
                <a16:creationId xmlns:a16="http://schemas.microsoft.com/office/drawing/2014/main" id="{9B2D2C1E-6780-4CEE-A0AF-329C33840237}"/>
              </a:ext>
            </a:extLst>
          </p:cNvPr>
          <p:cNvPicPr>
            <a:picLocks noChangeAspect="1"/>
          </p:cNvPicPr>
          <p:nvPr/>
        </p:nvPicPr>
        <p:blipFill rotWithShape="1">
          <a:blip r:embed="rId2"/>
          <a:srcRect l="67961" t="6903" r="957" b="72831"/>
          <a:stretch/>
        </p:blipFill>
        <p:spPr>
          <a:xfrm>
            <a:off x="9259749" y="4632239"/>
            <a:ext cx="3889092" cy="949124"/>
          </a:xfrm>
          <a:prstGeom prst="rect">
            <a:avLst/>
          </a:prstGeom>
        </p:spPr>
      </p:pic>
      <p:sp>
        <p:nvSpPr>
          <p:cNvPr id="9" name="Rectangle 8">
            <a:extLst>
              <a:ext uri="{FF2B5EF4-FFF2-40B4-BE49-F238E27FC236}">
                <a16:creationId xmlns:a16="http://schemas.microsoft.com/office/drawing/2014/main" id="{7B69BD45-34EE-4F58-BEB1-A932AD61C5FE}"/>
              </a:ext>
            </a:extLst>
          </p:cNvPr>
          <p:cNvSpPr/>
          <p:nvPr/>
        </p:nvSpPr>
        <p:spPr>
          <a:xfrm>
            <a:off x="2388137" y="994529"/>
            <a:ext cx="9623937" cy="646331"/>
          </a:xfrm>
          <a:prstGeom prst="rect">
            <a:avLst/>
          </a:prstGeom>
        </p:spPr>
        <p:txBody>
          <a:bodyPr wrap="square">
            <a:spAutoFit/>
          </a:bodyPr>
          <a:lstStyle/>
          <a:p>
            <a:pPr algn="ctr"/>
            <a:r>
              <a:rPr lang="en-US" b="1" dirty="0">
                <a:solidFill>
                  <a:srgbClr val="18537D"/>
                </a:solidFill>
              </a:rPr>
              <a:t>Enables you to coordinate the components of distributed applications and microservices using visual workflows</a:t>
            </a:r>
          </a:p>
        </p:txBody>
      </p:sp>
    </p:spTree>
    <p:extLst>
      <p:ext uri="{BB962C8B-B14F-4D97-AF65-F5344CB8AC3E}">
        <p14:creationId xmlns:p14="http://schemas.microsoft.com/office/powerpoint/2010/main" val="34110166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103</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610301"/>
          </a:xfrm>
          <a:prstGeom prst="rect">
            <a:avLst/>
          </a:prstGeom>
        </p:spPr>
        <p:txBody>
          <a:bodyPr wrap="square">
            <a:spAutoFit/>
          </a:bodyPr>
          <a:lstStyle/>
          <a:p>
            <a:pPr>
              <a:lnSpc>
                <a:spcPct val="150000"/>
              </a:lnSpc>
            </a:pPr>
            <a:r>
              <a:rPr lang="en-US" dirty="0">
                <a:solidFill>
                  <a:srgbClr val="30658B"/>
                </a:solidFill>
              </a:rPr>
              <a:t>You’re developing an application onto AWS which is based on the Microservices. These Microservices will be created based on AWS Lambda functions. Because of the complexity of the flow of these different components, you need some way to manage the workflow of execution of these various Lambda functions. How could you manage this effectively now and for the future addition of Lambda functions to the application?</a:t>
            </a:r>
          </a:p>
          <a:p>
            <a:pPr>
              <a:lnSpc>
                <a:spcPct val="150000"/>
              </a:lnSpc>
            </a:pPr>
            <a:endParaRPr lang="en-US" dirty="0">
              <a:solidFill>
                <a:srgbClr val="30658B"/>
              </a:solidFill>
            </a:endParaRPr>
          </a:p>
          <a:p>
            <a:pPr>
              <a:lnSpc>
                <a:spcPct val="150000"/>
              </a:lnSpc>
            </a:pPr>
            <a:r>
              <a:rPr lang="en-US" dirty="0">
                <a:solidFill>
                  <a:srgbClr val="30658B"/>
                </a:solidFill>
              </a:rPr>
              <a:t>a. Consider creating a master Lambda function that would coordinate the execution of the other Lambda functions.</a:t>
            </a:r>
          </a:p>
          <a:p>
            <a:pPr>
              <a:lnSpc>
                <a:spcPct val="150000"/>
              </a:lnSpc>
            </a:pPr>
            <a:r>
              <a:rPr lang="en-US" dirty="0">
                <a:solidFill>
                  <a:srgbClr val="30658B"/>
                </a:solidFill>
              </a:rPr>
              <a:t>b. Consider creating a separate application hosted on an EC2 Instance which would coordinate the execution of the other Lambda functions</a:t>
            </a:r>
          </a:p>
          <a:p>
            <a:pPr>
              <a:lnSpc>
                <a:spcPct val="150000"/>
              </a:lnSpc>
            </a:pPr>
            <a:r>
              <a:rPr lang="en-US" dirty="0">
                <a:solidFill>
                  <a:srgbClr val="30658B"/>
                </a:solidFill>
              </a:rPr>
              <a:t>c. Consider using Step Functions to coordinate the execution of the other Lambda functions</a:t>
            </a:r>
          </a:p>
          <a:p>
            <a:pPr>
              <a:lnSpc>
                <a:spcPct val="150000"/>
              </a:lnSpc>
            </a:pPr>
            <a:r>
              <a:rPr lang="en-US" dirty="0">
                <a:solidFill>
                  <a:srgbClr val="30658B"/>
                </a:solidFill>
              </a:rPr>
              <a:t>d. Consider using SQS queues to coordinate the execution of the other Lambda functions</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8732595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104</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610301"/>
          </a:xfrm>
          <a:prstGeom prst="rect">
            <a:avLst/>
          </a:prstGeom>
        </p:spPr>
        <p:txBody>
          <a:bodyPr wrap="square">
            <a:spAutoFit/>
          </a:bodyPr>
          <a:lstStyle/>
          <a:p>
            <a:pPr>
              <a:lnSpc>
                <a:spcPct val="150000"/>
              </a:lnSpc>
            </a:pPr>
            <a:r>
              <a:rPr lang="en-US" dirty="0">
                <a:solidFill>
                  <a:srgbClr val="30658B"/>
                </a:solidFill>
              </a:rPr>
              <a:t>You’re developing an application onto AWS which is </a:t>
            </a:r>
            <a:r>
              <a:rPr lang="en-US" b="1" dirty="0">
                <a:solidFill>
                  <a:srgbClr val="30658B"/>
                </a:solidFill>
              </a:rPr>
              <a:t>based on the Microservices</a:t>
            </a:r>
            <a:r>
              <a:rPr lang="en-US" dirty="0">
                <a:solidFill>
                  <a:srgbClr val="30658B"/>
                </a:solidFill>
              </a:rPr>
              <a:t>. These Microservices will be created based on </a:t>
            </a:r>
            <a:r>
              <a:rPr lang="en-US" b="1" dirty="0">
                <a:solidFill>
                  <a:srgbClr val="30658B"/>
                </a:solidFill>
              </a:rPr>
              <a:t>AWS Lambda functions</a:t>
            </a:r>
            <a:r>
              <a:rPr lang="en-US" dirty="0">
                <a:solidFill>
                  <a:srgbClr val="30658B"/>
                </a:solidFill>
              </a:rPr>
              <a:t>. Because of the complexity of the flow of these different components, you need some way to manage the </a:t>
            </a:r>
            <a:r>
              <a:rPr lang="en-US" b="1" dirty="0">
                <a:solidFill>
                  <a:srgbClr val="30658B"/>
                </a:solidFill>
              </a:rPr>
              <a:t>workflow of execution of these various Lambda functions</a:t>
            </a:r>
            <a:r>
              <a:rPr lang="en-US" dirty="0">
                <a:solidFill>
                  <a:srgbClr val="30658B"/>
                </a:solidFill>
              </a:rPr>
              <a:t>. How could you manage this effectively now and for the </a:t>
            </a:r>
            <a:r>
              <a:rPr lang="en-US" b="1" dirty="0">
                <a:solidFill>
                  <a:srgbClr val="30658B"/>
                </a:solidFill>
              </a:rPr>
              <a:t>future addition of Lambda functions </a:t>
            </a:r>
            <a:r>
              <a:rPr lang="en-US" dirty="0">
                <a:solidFill>
                  <a:srgbClr val="30658B"/>
                </a:solidFill>
              </a:rPr>
              <a:t>to the application?</a:t>
            </a:r>
          </a:p>
          <a:p>
            <a:pPr>
              <a:lnSpc>
                <a:spcPct val="150000"/>
              </a:lnSpc>
            </a:pPr>
            <a:endParaRPr lang="en-US" dirty="0">
              <a:solidFill>
                <a:srgbClr val="30658B"/>
              </a:solidFill>
            </a:endParaRPr>
          </a:p>
          <a:p>
            <a:pPr>
              <a:lnSpc>
                <a:spcPct val="150000"/>
              </a:lnSpc>
            </a:pPr>
            <a:r>
              <a:rPr lang="en-US" dirty="0">
                <a:solidFill>
                  <a:srgbClr val="30658B"/>
                </a:solidFill>
              </a:rPr>
              <a:t>a. Consider creating a master Lambda function that would coordinate the execution of the other Lambda functions.</a:t>
            </a:r>
          </a:p>
          <a:p>
            <a:pPr>
              <a:lnSpc>
                <a:spcPct val="150000"/>
              </a:lnSpc>
            </a:pPr>
            <a:r>
              <a:rPr lang="en-US" dirty="0">
                <a:solidFill>
                  <a:srgbClr val="30658B"/>
                </a:solidFill>
              </a:rPr>
              <a:t>b. Consider creating a separate application hosted on an EC2 Instance which would coordinate the execution of the other Lambda functions</a:t>
            </a:r>
          </a:p>
          <a:p>
            <a:pPr>
              <a:lnSpc>
                <a:spcPct val="150000"/>
              </a:lnSpc>
            </a:pPr>
            <a:r>
              <a:rPr lang="en-US" dirty="0">
                <a:solidFill>
                  <a:srgbClr val="30658B"/>
                </a:solidFill>
              </a:rPr>
              <a:t>c. Consider using Step Functions to coordinate the execution of the other Lambda functions</a:t>
            </a:r>
          </a:p>
          <a:p>
            <a:pPr>
              <a:lnSpc>
                <a:spcPct val="150000"/>
              </a:lnSpc>
            </a:pPr>
            <a:r>
              <a:rPr lang="en-US" dirty="0">
                <a:solidFill>
                  <a:srgbClr val="30658B"/>
                </a:solidFill>
              </a:rPr>
              <a:t>d. Consider using SQS queues to coordinate the execution of the other Lambda functions</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1290339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105</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610301"/>
          </a:xfrm>
          <a:prstGeom prst="rect">
            <a:avLst/>
          </a:prstGeom>
        </p:spPr>
        <p:txBody>
          <a:bodyPr wrap="square">
            <a:spAutoFit/>
          </a:bodyPr>
          <a:lstStyle/>
          <a:p>
            <a:pPr>
              <a:lnSpc>
                <a:spcPct val="150000"/>
              </a:lnSpc>
            </a:pPr>
            <a:r>
              <a:rPr lang="en-US" dirty="0">
                <a:solidFill>
                  <a:srgbClr val="30658B"/>
                </a:solidFill>
              </a:rPr>
              <a:t>You’re developing an application onto AWS which is </a:t>
            </a:r>
            <a:r>
              <a:rPr lang="en-US" b="1" dirty="0">
                <a:solidFill>
                  <a:srgbClr val="30658B"/>
                </a:solidFill>
              </a:rPr>
              <a:t>based on the Microservices</a:t>
            </a:r>
            <a:r>
              <a:rPr lang="en-US" dirty="0">
                <a:solidFill>
                  <a:srgbClr val="30658B"/>
                </a:solidFill>
              </a:rPr>
              <a:t>. These Microservices will be created based on </a:t>
            </a:r>
            <a:r>
              <a:rPr lang="en-US" b="1" dirty="0">
                <a:solidFill>
                  <a:srgbClr val="30658B"/>
                </a:solidFill>
              </a:rPr>
              <a:t>AWS Lambda functions</a:t>
            </a:r>
            <a:r>
              <a:rPr lang="en-US" dirty="0">
                <a:solidFill>
                  <a:srgbClr val="30658B"/>
                </a:solidFill>
              </a:rPr>
              <a:t>. Because of the complexity of the flow of these different components, you need some way to manage the </a:t>
            </a:r>
            <a:r>
              <a:rPr lang="en-US" b="1" dirty="0">
                <a:solidFill>
                  <a:srgbClr val="30658B"/>
                </a:solidFill>
              </a:rPr>
              <a:t>workflow of execution of these various Lambda functions</a:t>
            </a:r>
            <a:r>
              <a:rPr lang="en-US" dirty="0">
                <a:solidFill>
                  <a:srgbClr val="30658B"/>
                </a:solidFill>
              </a:rPr>
              <a:t>. How could you manage this effectively now and for the </a:t>
            </a:r>
            <a:r>
              <a:rPr lang="en-US" b="1" dirty="0">
                <a:solidFill>
                  <a:srgbClr val="30658B"/>
                </a:solidFill>
              </a:rPr>
              <a:t>future addition of Lambda functions </a:t>
            </a:r>
            <a:r>
              <a:rPr lang="en-US" dirty="0">
                <a:solidFill>
                  <a:srgbClr val="30658B"/>
                </a:solidFill>
              </a:rPr>
              <a:t>to the application?</a:t>
            </a:r>
          </a:p>
          <a:p>
            <a:pPr>
              <a:lnSpc>
                <a:spcPct val="150000"/>
              </a:lnSpc>
            </a:pPr>
            <a:endParaRPr lang="en-US" dirty="0">
              <a:solidFill>
                <a:srgbClr val="30658B"/>
              </a:solidFill>
            </a:endParaRPr>
          </a:p>
          <a:p>
            <a:pPr>
              <a:lnSpc>
                <a:spcPct val="150000"/>
              </a:lnSpc>
            </a:pPr>
            <a:r>
              <a:rPr lang="en-US" dirty="0">
                <a:solidFill>
                  <a:srgbClr val="30658B"/>
                </a:solidFill>
              </a:rPr>
              <a:t>a. Consider creating a master Lambda function that would coordinate the execution of the other Lambda functions.</a:t>
            </a:r>
          </a:p>
          <a:p>
            <a:pPr>
              <a:lnSpc>
                <a:spcPct val="150000"/>
              </a:lnSpc>
            </a:pPr>
            <a:r>
              <a:rPr lang="en-US" dirty="0">
                <a:solidFill>
                  <a:srgbClr val="30658B"/>
                </a:solidFill>
              </a:rPr>
              <a:t>b. Consider creating a separate application hosted on an EC2 Instance which would coordinate the execution of the other Lambda functions</a:t>
            </a:r>
          </a:p>
          <a:p>
            <a:pPr>
              <a:lnSpc>
                <a:spcPct val="150000"/>
              </a:lnSpc>
            </a:pPr>
            <a:r>
              <a:rPr lang="en-US" b="1" dirty="0">
                <a:solidFill>
                  <a:srgbClr val="30658B"/>
                </a:solidFill>
              </a:rPr>
              <a:t>c. Consider using Step Functions to coordinate the execution of the other Lambda functions</a:t>
            </a:r>
          </a:p>
          <a:p>
            <a:pPr>
              <a:lnSpc>
                <a:spcPct val="150000"/>
              </a:lnSpc>
            </a:pPr>
            <a:r>
              <a:rPr lang="en-US" dirty="0">
                <a:solidFill>
                  <a:srgbClr val="30658B"/>
                </a:solidFill>
              </a:rPr>
              <a:t>d. Consider using SQS queues to coordinate the execution of the other Lambda functions</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685048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106</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Your development team is planning on working with Amazon Step Functions. Which of the following is a recommended practice when working with activity workers and tasks in Step Functions? Choose 2 answers from the options given below.</a:t>
            </a:r>
          </a:p>
          <a:p>
            <a:pPr>
              <a:lnSpc>
                <a:spcPct val="150000"/>
              </a:lnSpc>
            </a:pPr>
            <a:endParaRPr lang="en-US" dirty="0">
              <a:solidFill>
                <a:srgbClr val="30658B"/>
              </a:solidFill>
            </a:endParaRPr>
          </a:p>
          <a:p>
            <a:pPr>
              <a:lnSpc>
                <a:spcPct val="150000"/>
              </a:lnSpc>
            </a:pPr>
            <a:r>
              <a:rPr lang="en-US" dirty="0">
                <a:solidFill>
                  <a:srgbClr val="30658B"/>
                </a:solidFill>
              </a:rPr>
              <a:t>a. Ensure to specify a timeout in state machine definitions</a:t>
            </a:r>
          </a:p>
          <a:p>
            <a:pPr>
              <a:lnSpc>
                <a:spcPct val="150000"/>
              </a:lnSpc>
            </a:pPr>
            <a:r>
              <a:rPr lang="en-US" dirty="0">
                <a:solidFill>
                  <a:srgbClr val="30658B"/>
                </a:solidFill>
              </a:rPr>
              <a:t>b. We can use only 1 transition per state.</a:t>
            </a:r>
          </a:p>
          <a:p>
            <a:pPr>
              <a:lnSpc>
                <a:spcPct val="150000"/>
              </a:lnSpc>
            </a:pPr>
            <a:r>
              <a:rPr lang="en-US" dirty="0">
                <a:solidFill>
                  <a:srgbClr val="30658B"/>
                </a:solidFill>
              </a:rPr>
              <a:t>c. If you are passing larger payloads between states, consider using the Simple Storage Service</a:t>
            </a:r>
          </a:p>
          <a:p>
            <a:pPr>
              <a:lnSpc>
                <a:spcPct val="150000"/>
              </a:lnSpc>
            </a:pPr>
            <a:r>
              <a:rPr lang="en-US" dirty="0">
                <a:solidFill>
                  <a:srgbClr val="30658B"/>
                </a:solidFill>
              </a:rPr>
              <a:t>d. If you are passing larger payloads between states, consider using EBS volumes</a:t>
            </a:r>
          </a:p>
        </p:txBody>
      </p:sp>
    </p:spTree>
    <p:extLst>
      <p:ext uri="{BB962C8B-B14F-4D97-AF65-F5344CB8AC3E}">
        <p14:creationId xmlns:p14="http://schemas.microsoft.com/office/powerpoint/2010/main" val="31098025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107</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Your development team is planning on working with </a:t>
            </a:r>
            <a:r>
              <a:rPr lang="en-US" b="1" dirty="0">
                <a:solidFill>
                  <a:srgbClr val="30658B"/>
                </a:solidFill>
              </a:rPr>
              <a:t>Amazon Step Functions</a:t>
            </a:r>
            <a:r>
              <a:rPr lang="en-US" dirty="0">
                <a:solidFill>
                  <a:srgbClr val="30658B"/>
                </a:solidFill>
              </a:rPr>
              <a:t>. Which of the following is a recommended </a:t>
            </a:r>
            <a:r>
              <a:rPr lang="en-US" b="1" dirty="0">
                <a:solidFill>
                  <a:srgbClr val="30658B"/>
                </a:solidFill>
              </a:rPr>
              <a:t>practice when working with activity workers and tasks </a:t>
            </a:r>
            <a:r>
              <a:rPr lang="en-US" dirty="0">
                <a:solidFill>
                  <a:srgbClr val="30658B"/>
                </a:solidFill>
              </a:rPr>
              <a:t>in Step Functions? Choose 2 answers from the options given below.</a:t>
            </a:r>
          </a:p>
          <a:p>
            <a:pPr>
              <a:lnSpc>
                <a:spcPct val="150000"/>
              </a:lnSpc>
            </a:pPr>
            <a:endParaRPr lang="en-US" dirty="0">
              <a:solidFill>
                <a:srgbClr val="30658B"/>
              </a:solidFill>
            </a:endParaRPr>
          </a:p>
          <a:p>
            <a:pPr>
              <a:lnSpc>
                <a:spcPct val="150000"/>
              </a:lnSpc>
            </a:pPr>
            <a:r>
              <a:rPr lang="en-US" dirty="0">
                <a:solidFill>
                  <a:srgbClr val="30658B"/>
                </a:solidFill>
              </a:rPr>
              <a:t>a. Ensure to specify a timeout in state machine definitions</a:t>
            </a:r>
          </a:p>
          <a:p>
            <a:pPr>
              <a:lnSpc>
                <a:spcPct val="150000"/>
              </a:lnSpc>
            </a:pPr>
            <a:r>
              <a:rPr lang="en-US" dirty="0">
                <a:solidFill>
                  <a:srgbClr val="30658B"/>
                </a:solidFill>
              </a:rPr>
              <a:t>b. We can use only 1 transition per state.</a:t>
            </a:r>
          </a:p>
          <a:p>
            <a:pPr>
              <a:lnSpc>
                <a:spcPct val="150000"/>
              </a:lnSpc>
            </a:pPr>
            <a:r>
              <a:rPr lang="en-US" dirty="0">
                <a:solidFill>
                  <a:srgbClr val="30658B"/>
                </a:solidFill>
              </a:rPr>
              <a:t>c. If you are passing larger payloads between states, consider using the Simple Storage Service</a:t>
            </a:r>
          </a:p>
          <a:p>
            <a:pPr>
              <a:lnSpc>
                <a:spcPct val="150000"/>
              </a:lnSpc>
            </a:pPr>
            <a:r>
              <a:rPr lang="en-US" dirty="0">
                <a:solidFill>
                  <a:srgbClr val="30658B"/>
                </a:solidFill>
              </a:rPr>
              <a:t>d. If you are passing larger payloads between states, consider using EBS volumes</a:t>
            </a:r>
          </a:p>
        </p:txBody>
      </p:sp>
    </p:spTree>
    <p:extLst>
      <p:ext uri="{BB962C8B-B14F-4D97-AF65-F5344CB8AC3E}">
        <p14:creationId xmlns:p14="http://schemas.microsoft.com/office/powerpoint/2010/main" val="25549257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108</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363806"/>
          </a:xfrm>
          <a:prstGeom prst="rect">
            <a:avLst/>
          </a:prstGeom>
        </p:spPr>
        <p:txBody>
          <a:bodyPr wrap="square">
            <a:spAutoFit/>
          </a:bodyPr>
          <a:lstStyle/>
          <a:p>
            <a:pPr>
              <a:lnSpc>
                <a:spcPct val="150000"/>
              </a:lnSpc>
            </a:pPr>
            <a:r>
              <a:rPr lang="en-US" dirty="0">
                <a:solidFill>
                  <a:srgbClr val="30658B"/>
                </a:solidFill>
              </a:rPr>
              <a:t>Your development team is planning on working with </a:t>
            </a:r>
            <a:r>
              <a:rPr lang="en-US" b="1" dirty="0">
                <a:solidFill>
                  <a:srgbClr val="30658B"/>
                </a:solidFill>
              </a:rPr>
              <a:t>Amazon Step Functions</a:t>
            </a:r>
            <a:r>
              <a:rPr lang="en-US" dirty="0">
                <a:solidFill>
                  <a:srgbClr val="30658B"/>
                </a:solidFill>
              </a:rPr>
              <a:t>. Which of the following is a recommended </a:t>
            </a:r>
            <a:r>
              <a:rPr lang="en-US" b="1" dirty="0">
                <a:solidFill>
                  <a:srgbClr val="30658B"/>
                </a:solidFill>
              </a:rPr>
              <a:t>practice when working with activity workers and tasks </a:t>
            </a:r>
            <a:r>
              <a:rPr lang="en-US" dirty="0">
                <a:solidFill>
                  <a:srgbClr val="30658B"/>
                </a:solidFill>
              </a:rPr>
              <a:t>in Step Functions? Choose 2 answers from the options given below.</a:t>
            </a:r>
          </a:p>
          <a:p>
            <a:pPr>
              <a:lnSpc>
                <a:spcPct val="150000"/>
              </a:lnSpc>
            </a:pPr>
            <a:endParaRPr lang="en-US" dirty="0">
              <a:solidFill>
                <a:srgbClr val="30658B"/>
              </a:solidFill>
            </a:endParaRPr>
          </a:p>
          <a:p>
            <a:pPr>
              <a:lnSpc>
                <a:spcPct val="150000"/>
              </a:lnSpc>
            </a:pPr>
            <a:r>
              <a:rPr lang="en-US" b="1" dirty="0">
                <a:solidFill>
                  <a:srgbClr val="30658B"/>
                </a:solidFill>
              </a:rPr>
              <a:t>a. Ensure to specify a timeout in state machine definitions</a:t>
            </a:r>
          </a:p>
          <a:p>
            <a:pPr>
              <a:lnSpc>
                <a:spcPct val="150000"/>
              </a:lnSpc>
            </a:pPr>
            <a:r>
              <a:rPr lang="en-US" dirty="0">
                <a:solidFill>
                  <a:srgbClr val="30658B"/>
                </a:solidFill>
              </a:rPr>
              <a:t>b. We can use only 1 transition per state.</a:t>
            </a:r>
          </a:p>
          <a:p>
            <a:pPr>
              <a:lnSpc>
                <a:spcPct val="150000"/>
              </a:lnSpc>
            </a:pPr>
            <a:r>
              <a:rPr lang="en-US" b="1" dirty="0">
                <a:solidFill>
                  <a:srgbClr val="30658B"/>
                </a:solidFill>
              </a:rPr>
              <a:t>c. If you are passing larger payloads between states, consider using the Simple Storage Service</a:t>
            </a:r>
          </a:p>
          <a:p>
            <a:pPr>
              <a:lnSpc>
                <a:spcPct val="150000"/>
              </a:lnSpc>
            </a:pPr>
            <a:r>
              <a:rPr lang="en-US" dirty="0">
                <a:solidFill>
                  <a:srgbClr val="30658B"/>
                </a:solidFill>
              </a:rPr>
              <a:t>d. If you are passing larger payloads between states, consider using EBS volumes</a:t>
            </a:r>
          </a:p>
        </p:txBody>
      </p:sp>
    </p:spTree>
    <p:extLst>
      <p:ext uri="{BB962C8B-B14F-4D97-AF65-F5344CB8AC3E}">
        <p14:creationId xmlns:p14="http://schemas.microsoft.com/office/powerpoint/2010/main" val="309256057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109</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Your company has setup an application in AWS. The application has been developed inhouse which consists of many distributed components. After initial launch of the application, important information which gets exchanged between components gets lost whenever one of the components is down. As a developer what can you suggest in resolving this issue?</a:t>
            </a:r>
          </a:p>
          <a:p>
            <a:pPr>
              <a:lnSpc>
                <a:spcPct val="150000"/>
              </a:lnSpc>
            </a:pPr>
            <a:endParaRPr lang="en-US" dirty="0">
              <a:solidFill>
                <a:srgbClr val="30658B"/>
              </a:solidFill>
            </a:endParaRPr>
          </a:p>
          <a:p>
            <a:pPr>
              <a:lnSpc>
                <a:spcPct val="150000"/>
              </a:lnSpc>
            </a:pPr>
            <a:r>
              <a:rPr lang="en-US" dirty="0">
                <a:solidFill>
                  <a:srgbClr val="30658B"/>
                </a:solidFill>
              </a:rPr>
              <a:t>a. Suggest the usage of the SQS service for messaging across the distributed components</a:t>
            </a:r>
          </a:p>
          <a:p>
            <a:pPr>
              <a:lnSpc>
                <a:spcPct val="150000"/>
              </a:lnSpc>
            </a:pPr>
            <a:r>
              <a:rPr lang="en-US" dirty="0">
                <a:solidFill>
                  <a:srgbClr val="30658B"/>
                </a:solidFill>
              </a:rPr>
              <a:t>b. Suggest the usage of the SNS service for messaging across the distributed components</a:t>
            </a:r>
          </a:p>
          <a:p>
            <a:pPr>
              <a:lnSpc>
                <a:spcPct val="150000"/>
              </a:lnSpc>
            </a:pPr>
            <a:r>
              <a:rPr lang="en-US" dirty="0">
                <a:solidFill>
                  <a:srgbClr val="30658B"/>
                </a:solidFill>
              </a:rPr>
              <a:t>c. Suggest the use of </a:t>
            </a:r>
            <a:r>
              <a:rPr lang="en-US" dirty="0" err="1">
                <a:solidFill>
                  <a:srgbClr val="30658B"/>
                </a:solidFill>
              </a:rPr>
              <a:t>Cloudwatch</a:t>
            </a:r>
            <a:r>
              <a:rPr lang="en-US" dirty="0">
                <a:solidFill>
                  <a:srgbClr val="30658B"/>
                </a:solidFill>
              </a:rPr>
              <a:t> logs to detect the issue in more detail</a:t>
            </a:r>
          </a:p>
          <a:p>
            <a:pPr>
              <a:lnSpc>
                <a:spcPct val="150000"/>
              </a:lnSpc>
            </a:pPr>
            <a:r>
              <a:rPr lang="en-US" dirty="0">
                <a:solidFill>
                  <a:srgbClr val="30658B"/>
                </a:solidFill>
              </a:rPr>
              <a:t>d. Suggest the use of </a:t>
            </a:r>
            <a:r>
              <a:rPr lang="en-US" dirty="0" err="1">
                <a:solidFill>
                  <a:srgbClr val="30658B"/>
                </a:solidFill>
              </a:rPr>
              <a:t>Cloudtrail</a:t>
            </a:r>
            <a:r>
              <a:rPr lang="en-US" dirty="0">
                <a:solidFill>
                  <a:srgbClr val="30658B"/>
                </a:solidFill>
              </a:rPr>
              <a:t> logs to detect the issue in more detail</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8009978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110</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Your company has setup an application in AWS. The application has been developed inhouse which </a:t>
            </a:r>
            <a:r>
              <a:rPr lang="en-US" b="1" dirty="0">
                <a:solidFill>
                  <a:srgbClr val="30658B"/>
                </a:solidFill>
              </a:rPr>
              <a:t>consists of many distributed components</a:t>
            </a:r>
            <a:r>
              <a:rPr lang="en-US" dirty="0">
                <a:solidFill>
                  <a:srgbClr val="30658B"/>
                </a:solidFill>
              </a:rPr>
              <a:t>. After initial launch of the application, important </a:t>
            </a:r>
            <a:r>
              <a:rPr lang="en-US" b="1" dirty="0">
                <a:solidFill>
                  <a:srgbClr val="30658B"/>
                </a:solidFill>
              </a:rPr>
              <a:t>information which gets exchanged between components gets lost</a:t>
            </a:r>
            <a:r>
              <a:rPr lang="en-US" dirty="0">
                <a:solidFill>
                  <a:srgbClr val="30658B"/>
                </a:solidFill>
              </a:rPr>
              <a:t> whenever one of the components is down. As a developer what can you suggest in resolving this issue?</a:t>
            </a:r>
          </a:p>
          <a:p>
            <a:pPr>
              <a:lnSpc>
                <a:spcPct val="150000"/>
              </a:lnSpc>
            </a:pPr>
            <a:endParaRPr lang="en-US" dirty="0">
              <a:solidFill>
                <a:srgbClr val="30658B"/>
              </a:solidFill>
            </a:endParaRPr>
          </a:p>
          <a:p>
            <a:pPr>
              <a:lnSpc>
                <a:spcPct val="150000"/>
              </a:lnSpc>
            </a:pPr>
            <a:r>
              <a:rPr lang="en-US" dirty="0">
                <a:solidFill>
                  <a:srgbClr val="30658B"/>
                </a:solidFill>
              </a:rPr>
              <a:t>a. Suggest the usage of the SQS service for messaging across the distributed components</a:t>
            </a:r>
          </a:p>
          <a:p>
            <a:pPr>
              <a:lnSpc>
                <a:spcPct val="150000"/>
              </a:lnSpc>
            </a:pPr>
            <a:r>
              <a:rPr lang="en-US" dirty="0">
                <a:solidFill>
                  <a:srgbClr val="30658B"/>
                </a:solidFill>
              </a:rPr>
              <a:t>b. Suggest the usage of the SNS service for messaging across the distributed components</a:t>
            </a:r>
          </a:p>
          <a:p>
            <a:pPr>
              <a:lnSpc>
                <a:spcPct val="150000"/>
              </a:lnSpc>
            </a:pPr>
            <a:r>
              <a:rPr lang="en-US" dirty="0">
                <a:solidFill>
                  <a:srgbClr val="30658B"/>
                </a:solidFill>
              </a:rPr>
              <a:t>c. Suggest the use of </a:t>
            </a:r>
            <a:r>
              <a:rPr lang="en-US" dirty="0" err="1">
                <a:solidFill>
                  <a:srgbClr val="30658B"/>
                </a:solidFill>
              </a:rPr>
              <a:t>Cloudwatch</a:t>
            </a:r>
            <a:r>
              <a:rPr lang="en-US" dirty="0">
                <a:solidFill>
                  <a:srgbClr val="30658B"/>
                </a:solidFill>
              </a:rPr>
              <a:t> logs to detect the issue in more detail</a:t>
            </a:r>
          </a:p>
          <a:p>
            <a:pPr>
              <a:lnSpc>
                <a:spcPct val="150000"/>
              </a:lnSpc>
            </a:pPr>
            <a:r>
              <a:rPr lang="en-US" dirty="0">
                <a:solidFill>
                  <a:srgbClr val="30658B"/>
                </a:solidFill>
              </a:rPr>
              <a:t>d. Suggest the use of </a:t>
            </a:r>
            <a:r>
              <a:rPr lang="en-US" dirty="0" err="1">
                <a:solidFill>
                  <a:srgbClr val="30658B"/>
                </a:solidFill>
              </a:rPr>
              <a:t>Cloudtrail</a:t>
            </a:r>
            <a:r>
              <a:rPr lang="en-US" dirty="0">
                <a:solidFill>
                  <a:srgbClr val="30658B"/>
                </a:solidFill>
              </a:rPr>
              <a:t> logs to detect the issue in more detail</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6838144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111</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Your company has setup an application in AWS. The application has been developed inhouse which </a:t>
            </a:r>
            <a:r>
              <a:rPr lang="en-US" b="1" dirty="0">
                <a:solidFill>
                  <a:srgbClr val="30658B"/>
                </a:solidFill>
              </a:rPr>
              <a:t>consists of many distributed components</a:t>
            </a:r>
            <a:r>
              <a:rPr lang="en-US" dirty="0">
                <a:solidFill>
                  <a:srgbClr val="30658B"/>
                </a:solidFill>
              </a:rPr>
              <a:t>. After initial launch of the application, important </a:t>
            </a:r>
            <a:r>
              <a:rPr lang="en-US" b="1" dirty="0">
                <a:solidFill>
                  <a:srgbClr val="30658B"/>
                </a:solidFill>
              </a:rPr>
              <a:t>information which gets exchanged between components gets lost</a:t>
            </a:r>
            <a:r>
              <a:rPr lang="en-US" dirty="0">
                <a:solidFill>
                  <a:srgbClr val="30658B"/>
                </a:solidFill>
              </a:rPr>
              <a:t> whenever one of the components is down. As a developer what can you suggest in resolving this issue?</a:t>
            </a:r>
          </a:p>
          <a:p>
            <a:pPr>
              <a:lnSpc>
                <a:spcPct val="150000"/>
              </a:lnSpc>
            </a:pPr>
            <a:endParaRPr lang="en-US" dirty="0">
              <a:solidFill>
                <a:srgbClr val="30658B"/>
              </a:solidFill>
            </a:endParaRPr>
          </a:p>
          <a:p>
            <a:pPr>
              <a:lnSpc>
                <a:spcPct val="150000"/>
              </a:lnSpc>
            </a:pPr>
            <a:r>
              <a:rPr lang="en-US" b="1" dirty="0">
                <a:solidFill>
                  <a:srgbClr val="30658B"/>
                </a:solidFill>
              </a:rPr>
              <a:t>a. Suggest the usage of the SQS service for messaging across the distributed components</a:t>
            </a:r>
          </a:p>
          <a:p>
            <a:pPr>
              <a:lnSpc>
                <a:spcPct val="150000"/>
              </a:lnSpc>
            </a:pPr>
            <a:r>
              <a:rPr lang="en-US" dirty="0">
                <a:solidFill>
                  <a:srgbClr val="30658B"/>
                </a:solidFill>
              </a:rPr>
              <a:t>b. Suggest the usage of the SNS service for messaging across the distributed components</a:t>
            </a:r>
          </a:p>
          <a:p>
            <a:pPr>
              <a:lnSpc>
                <a:spcPct val="150000"/>
              </a:lnSpc>
            </a:pPr>
            <a:r>
              <a:rPr lang="en-US" dirty="0">
                <a:solidFill>
                  <a:srgbClr val="30658B"/>
                </a:solidFill>
              </a:rPr>
              <a:t>c. Suggest the use of </a:t>
            </a:r>
            <a:r>
              <a:rPr lang="en-US" dirty="0" err="1">
                <a:solidFill>
                  <a:srgbClr val="30658B"/>
                </a:solidFill>
              </a:rPr>
              <a:t>Cloudwatch</a:t>
            </a:r>
            <a:r>
              <a:rPr lang="en-US" dirty="0">
                <a:solidFill>
                  <a:srgbClr val="30658B"/>
                </a:solidFill>
              </a:rPr>
              <a:t> logs to detect the issue in more detail</a:t>
            </a:r>
          </a:p>
          <a:p>
            <a:pPr>
              <a:lnSpc>
                <a:spcPct val="150000"/>
              </a:lnSpc>
            </a:pPr>
            <a:r>
              <a:rPr lang="en-US" dirty="0">
                <a:solidFill>
                  <a:srgbClr val="30658B"/>
                </a:solidFill>
              </a:rPr>
              <a:t>d. Suggest the use of </a:t>
            </a:r>
            <a:r>
              <a:rPr lang="en-US" dirty="0" err="1">
                <a:solidFill>
                  <a:srgbClr val="30658B"/>
                </a:solidFill>
              </a:rPr>
              <a:t>Cloudtrail</a:t>
            </a:r>
            <a:r>
              <a:rPr lang="en-US" dirty="0">
                <a:solidFill>
                  <a:srgbClr val="30658B"/>
                </a:solidFill>
              </a:rPr>
              <a:t> logs to detect the issue in more detail</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37606692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112</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Your application utilizes Amazon S3 reduced redundancy storage and you have configured the </a:t>
            </a:r>
            <a:r>
              <a:rPr lang="en-US" dirty="0" err="1">
                <a:solidFill>
                  <a:srgbClr val="30658B"/>
                </a:solidFill>
              </a:rPr>
              <a:t>sc.ReducedRedundancyLostObject</a:t>
            </a:r>
            <a:r>
              <a:rPr lang="en-US" dirty="0">
                <a:solidFill>
                  <a:srgbClr val="30658B"/>
                </a:solidFill>
              </a:rPr>
              <a:t> notification on your Amazon S3 Bucket. What services might you use to create a "distributed" platform that replaces lost RRS objects on Amazon S3 automatically? Choose the correct answer from the options below</a:t>
            </a:r>
          </a:p>
          <a:p>
            <a:pPr>
              <a:lnSpc>
                <a:spcPct val="150000"/>
              </a:lnSpc>
            </a:pPr>
            <a:endParaRPr lang="en-US" dirty="0">
              <a:solidFill>
                <a:srgbClr val="30658B"/>
              </a:solidFill>
            </a:endParaRPr>
          </a:p>
          <a:p>
            <a:pPr>
              <a:lnSpc>
                <a:spcPct val="150000"/>
              </a:lnSpc>
            </a:pPr>
            <a:r>
              <a:rPr lang="en-US" dirty="0">
                <a:solidFill>
                  <a:srgbClr val="30658B"/>
                </a:solidFill>
              </a:rPr>
              <a:t>a. SNS with a website subscription endpoint as the worker instance</a:t>
            </a:r>
          </a:p>
          <a:p>
            <a:pPr>
              <a:lnSpc>
                <a:spcPct val="150000"/>
              </a:lnSpc>
            </a:pPr>
            <a:r>
              <a:rPr lang="en-US" dirty="0">
                <a:solidFill>
                  <a:srgbClr val="30658B"/>
                </a:solidFill>
              </a:rPr>
              <a:t>b. SNS with subscription endpoints</a:t>
            </a:r>
          </a:p>
          <a:p>
            <a:pPr>
              <a:lnSpc>
                <a:spcPct val="150000"/>
              </a:lnSpc>
            </a:pPr>
            <a:r>
              <a:rPr lang="en-US" dirty="0">
                <a:solidFill>
                  <a:srgbClr val="30658B"/>
                </a:solidFill>
              </a:rPr>
              <a:t>c. SNS with SQS subscription endpoint with a worker instance</a:t>
            </a:r>
          </a:p>
          <a:p>
            <a:pPr>
              <a:lnSpc>
                <a:spcPct val="150000"/>
              </a:lnSpc>
            </a:pPr>
            <a:r>
              <a:rPr lang="en-US" dirty="0">
                <a:solidFill>
                  <a:srgbClr val="30658B"/>
                </a:solidFill>
              </a:rPr>
              <a:t>d. SNS with an SMS subscription endpoint</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980960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113</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Your application utilizes </a:t>
            </a:r>
            <a:r>
              <a:rPr lang="en-US" b="1" dirty="0">
                <a:solidFill>
                  <a:srgbClr val="30658B"/>
                </a:solidFill>
              </a:rPr>
              <a:t>Amazon S3 reduced redundancy storage </a:t>
            </a:r>
            <a:r>
              <a:rPr lang="en-US" dirty="0">
                <a:solidFill>
                  <a:srgbClr val="30658B"/>
                </a:solidFill>
              </a:rPr>
              <a:t>and you have configured the </a:t>
            </a:r>
            <a:r>
              <a:rPr lang="en-US" b="1" dirty="0" err="1">
                <a:solidFill>
                  <a:srgbClr val="30658B"/>
                </a:solidFill>
              </a:rPr>
              <a:t>sc.ReducedRedundancyLostObject</a:t>
            </a:r>
            <a:r>
              <a:rPr lang="en-US" b="1" dirty="0">
                <a:solidFill>
                  <a:srgbClr val="30658B"/>
                </a:solidFill>
              </a:rPr>
              <a:t> notification </a:t>
            </a:r>
            <a:r>
              <a:rPr lang="en-US" dirty="0">
                <a:solidFill>
                  <a:srgbClr val="30658B"/>
                </a:solidFill>
              </a:rPr>
              <a:t>on your Amazon S3 Bucket. What services might you use to create a "</a:t>
            </a:r>
            <a:r>
              <a:rPr lang="en-US" b="1" dirty="0">
                <a:solidFill>
                  <a:srgbClr val="30658B"/>
                </a:solidFill>
              </a:rPr>
              <a:t>distributed" platform that replaces lost RRS objects on Amazon S3 automatically</a:t>
            </a:r>
            <a:r>
              <a:rPr lang="en-US" dirty="0">
                <a:solidFill>
                  <a:srgbClr val="30658B"/>
                </a:solidFill>
              </a:rPr>
              <a:t>? Choose the correct answer from the options below</a:t>
            </a:r>
          </a:p>
          <a:p>
            <a:pPr>
              <a:lnSpc>
                <a:spcPct val="150000"/>
              </a:lnSpc>
            </a:pPr>
            <a:endParaRPr lang="en-US" dirty="0">
              <a:solidFill>
                <a:srgbClr val="30658B"/>
              </a:solidFill>
            </a:endParaRPr>
          </a:p>
          <a:p>
            <a:pPr>
              <a:lnSpc>
                <a:spcPct val="150000"/>
              </a:lnSpc>
            </a:pPr>
            <a:r>
              <a:rPr lang="en-US" dirty="0">
                <a:solidFill>
                  <a:srgbClr val="30658B"/>
                </a:solidFill>
              </a:rPr>
              <a:t>a. SNS with a website subscription endpoint as the worker instance</a:t>
            </a:r>
          </a:p>
          <a:p>
            <a:pPr>
              <a:lnSpc>
                <a:spcPct val="150000"/>
              </a:lnSpc>
            </a:pPr>
            <a:r>
              <a:rPr lang="en-US" dirty="0">
                <a:solidFill>
                  <a:srgbClr val="30658B"/>
                </a:solidFill>
              </a:rPr>
              <a:t>b. SNS with subscription endpoints</a:t>
            </a:r>
          </a:p>
          <a:p>
            <a:pPr>
              <a:lnSpc>
                <a:spcPct val="150000"/>
              </a:lnSpc>
            </a:pPr>
            <a:r>
              <a:rPr lang="en-US" dirty="0">
                <a:solidFill>
                  <a:srgbClr val="30658B"/>
                </a:solidFill>
              </a:rPr>
              <a:t>c. SNS with SQS subscription endpoint with a worker instance</a:t>
            </a:r>
          </a:p>
          <a:p>
            <a:pPr>
              <a:lnSpc>
                <a:spcPct val="150000"/>
              </a:lnSpc>
            </a:pPr>
            <a:r>
              <a:rPr lang="en-US" dirty="0">
                <a:solidFill>
                  <a:srgbClr val="30658B"/>
                </a:solidFill>
              </a:rPr>
              <a:t>d. SNS with an SMS subscription endpoint</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41611130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114</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194803"/>
          </a:xfrm>
          <a:prstGeom prst="rect">
            <a:avLst/>
          </a:prstGeom>
        </p:spPr>
        <p:txBody>
          <a:bodyPr wrap="square">
            <a:spAutoFit/>
          </a:bodyPr>
          <a:lstStyle/>
          <a:p>
            <a:pPr>
              <a:lnSpc>
                <a:spcPct val="150000"/>
              </a:lnSpc>
            </a:pPr>
            <a:r>
              <a:rPr lang="en-US" dirty="0">
                <a:solidFill>
                  <a:srgbClr val="30658B"/>
                </a:solidFill>
              </a:rPr>
              <a:t>Your application utilizes </a:t>
            </a:r>
            <a:r>
              <a:rPr lang="en-US" b="1" dirty="0">
                <a:solidFill>
                  <a:srgbClr val="30658B"/>
                </a:solidFill>
              </a:rPr>
              <a:t>Amazon S3 reduced redundancy storage </a:t>
            </a:r>
            <a:r>
              <a:rPr lang="en-US" dirty="0">
                <a:solidFill>
                  <a:srgbClr val="30658B"/>
                </a:solidFill>
              </a:rPr>
              <a:t>and you have configured the </a:t>
            </a:r>
            <a:r>
              <a:rPr lang="en-US" b="1" dirty="0" err="1">
                <a:solidFill>
                  <a:srgbClr val="30658B"/>
                </a:solidFill>
              </a:rPr>
              <a:t>sc.ReducedRedundancyLostObject</a:t>
            </a:r>
            <a:r>
              <a:rPr lang="en-US" b="1" dirty="0">
                <a:solidFill>
                  <a:srgbClr val="30658B"/>
                </a:solidFill>
              </a:rPr>
              <a:t> notification </a:t>
            </a:r>
            <a:r>
              <a:rPr lang="en-US" dirty="0">
                <a:solidFill>
                  <a:srgbClr val="30658B"/>
                </a:solidFill>
              </a:rPr>
              <a:t>on your Amazon S3 Bucket. What services might you use to create a "</a:t>
            </a:r>
            <a:r>
              <a:rPr lang="en-US" b="1" dirty="0">
                <a:solidFill>
                  <a:srgbClr val="30658B"/>
                </a:solidFill>
              </a:rPr>
              <a:t>distributed" platform that replaces lost RRS objects on Amazon S3 automatically</a:t>
            </a:r>
            <a:r>
              <a:rPr lang="en-US" dirty="0">
                <a:solidFill>
                  <a:srgbClr val="30658B"/>
                </a:solidFill>
              </a:rPr>
              <a:t>? Choose the correct answer from the options below</a:t>
            </a:r>
          </a:p>
          <a:p>
            <a:pPr>
              <a:lnSpc>
                <a:spcPct val="150000"/>
              </a:lnSpc>
            </a:pPr>
            <a:endParaRPr lang="en-US" dirty="0">
              <a:solidFill>
                <a:srgbClr val="30658B"/>
              </a:solidFill>
            </a:endParaRPr>
          </a:p>
          <a:p>
            <a:pPr>
              <a:lnSpc>
                <a:spcPct val="150000"/>
              </a:lnSpc>
            </a:pPr>
            <a:r>
              <a:rPr lang="en-US" dirty="0">
                <a:solidFill>
                  <a:srgbClr val="30658B"/>
                </a:solidFill>
              </a:rPr>
              <a:t>a. SNS with a website subscription endpoint as the worker instance</a:t>
            </a:r>
          </a:p>
          <a:p>
            <a:pPr>
              <a:lnSpc>
                <a:spcPct val="150000"/>
              </a:lnSpc>
            </a:pPr>
            <a:r>
              <a:rPr lang="en-US" dirty="0">
                <a:solidFill>
                  <a:srgbClr val="30658B"/>
                </a:solidFill>
              </a:rPr>
              <a:t>b. SNS with subscription endpoints</a:t>
            </a:r>
          </a:p>
          <a:p>
            <a:pPr>
              <a:lnSpc>
                <a:spcPct val="150000"/>
              </a:lnSpc>
            </a:pPr>
            <a:r>
              <a:rPr lang="en-US" b="1" dirty="0">
                <a:solidFill>
                  <a:srgbClr val="30658B"/>
                </a:solidFill>
              </a:rPr>
              <a:t>c. SNS with SQS subscription endpoint with a worker instance</a:t>
            </a:r>
          </a:p>
          <a:p>
            <a:pPr>
              <a:lnSpc>
                <a:spcPct val="150000"/>
              </a:lnSpc>
            </a:pPr>
            <a:r>
              <a:rPr lang="en-US" dirty="0">
                <a:solidFill>
                  <a:srgbClr val="30658B"/>
                </a:solidFill>
              </a:rPr>
              <a:t>d. SNS with an SMS subscription endpoint</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673516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115</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610301"/>
          </a:xfrm>
          <a:prstGeom prst="rect">
            <a:avLst/>
          </a:prstGeom>
        </p:spPr>
        <p:txBody>
          <a:bodyPr wrap="square">
            <a:spAutoFit/>
          </a:bodyPr>
          <a:lstStyle/>
          <a:p>
            <a:pPr>
              <a:lnSpc>
                <a:spcPct val="150000"/>
              </a:lnSpc>
            </a:pPr>
            <a:r>
              <a:rPr lang="en-US" dirty="0">
                <a:solidFill>
                  <a:srgbClr val="30658B"/>
                </a:solidFill>
              </a:rPr>
              <a:t>You are developing an application that will be comprised of the following architecture -</a:t>
            </a:r>
          </a:p>
          <a:p>
            <a:pPr>
              <a:lnSpc>
                <a:spcPct val="150000"/>
              </a:lnSpc>
            </a:pPr>
            <a:r>
              <a:rPr lang="en-US" dirty="0">
                <a:solidFill>
                  <a:srgbClr val="30658B"/>
                </a:solidFill>
              </a:rPr>
              <a:t>1. A set of EC2 instances to process the videos.</a:t>
            </a:r>
          </a:p>
          <a:p>
            <a:pPr>
              <a:lnSpc>
                <a:spcPct val="150000"/>
              </a:lnSpc>
            </a:pPr>
            <a:r>
              <a:rPr lang="en-US" dirty="0">
                <a:solidFill>
                  <a:srgbClr val="30658B"/>
                </a:solidFill>
              </a:rPr>
              <a:t>2. These (EC2 instances) will be spun up by an Autoscaling group.</a:t>
            </a:r>
          </a:p>
          <a:p>
            <a:pPr>
              <a:lnSpc>
                <a:spcPct val="150000"/>
              </a:lnSpc>
            </a:pPr>
            <a:r>
              <a:rPr lang="en-US" dirty="0">
                <a:solidFill>
                  <a:srgbClr val="30658B"/>
                </a:solidFill>
              </a:rPr>
              <a:t>3. SQS Queues to maintain the processing messages.</a:t>
            </a:r>
          </a:p>
          <a:p>
            <a:pPr>
              <a:lnSpc>
                <a:spcPct val="150000"/>
              </a:lnSpc>
            </a:pPr>
            <a:r>
              <a:rPr lang="en-US" dirty="0">
                <a:solidFill>
                  <a:srgbClr val="30658B"/>
                </a:solidFill>
              </a:rPr>
              <a:t>4. There will be 2 pricing tiers.</a:t>
            </a:r>
          </a:p>
          <a:p>
            <a:pPr>
              <a:lnSpc>
                <a:spcPct val="150000"/>
              </a:lnSpc>
            </a:pPr>
            <a:r>
              <a:rPr lang="en-US" dirty="0">
                <a:solidFill>
                  <a:srgbClr val="30658B"/>
                </a:solidFill>
              </a:rPr>
              <a:t>How will you ensure that the premium customers’ videos are given more preference?</a:t>
            </a:r>
          </a:p>
          <a:p>
            <a:pPr>
              <a:lnSpc>
                <a:spcPct val="150000"/>
              </a:lnSpc>
            </a:pPr>
            <a:endParaRPr lang="en-US" dirty="0">
              <a:solidFill>
                <a:srgbClr val="30658B"/>
              </a:solidFill>
            </a:endParaRPr>
          </a:p>
          <a:p>
            <a:pPr>
              <a:lnSpc>
                <a:spcPct val="150000"/>
              </a:lnSpc>
            </a:pPr>
            <a:r>
              <a:rPr lang="en-US" dirty="0">
                <a:solidFill>
                  <a:srgbClr val="30658B"/>
                </a:solidFill>
              </a:rPr>
              <a:t>a. Create 2 Autoscaling Groups, one for normal and one for premium customers</a:t>
            </a:r>
          </a:p>
          <a:p>
            <a:pPr>
              <a:lnSpc>
                <a:spcPct val="150000"/>
              </a:lnSpc>
            </a:pPr>
            <a:r>
              <a:rPr lang="en-US" dirty="0">
                <a:solidFill>
                  <a:srgbClr val="30658B"/>
                </a:solidFill>
              </a:rPr>
              <a:t>b. Create 2 sets of EC2 Instances, one for normal and one for premium customers</a:t>
            </a:r>
          </a:p>
          <a:p>
            <a:pPr>
              <a:lnSpc>
                <a:spcPct val="150000"/>
              </a:lnSpc>
            </a:pPr>
            <a:r>
              <a:rPr lang="en-US" dirty="0">
                <a:solidFill>
                  <a:srgbClr val="30658B"/>
                </a:solidFill>
              </a:rPr>
              <a:t>c. Create 2 SQS queues, one for normal and one for premium customers</a:t>
            </a:r>
          </a:p>
          <a:p>
            <a:pPr>
              <a:lnSpc>
                <a:spcPct val="150000"/>
              </a:lnSpc>
            </a:pPr>
            <a:r>
              <a:rPr lang="en-US" dirty="0">
                <a:solidFill>
                  <a:srgbClr val="30658B"/>
                </a:solidFill>
              </a:rPr>
              <a:t>d. Create 2 Elastic Load Balancers, one for normal and one for premium customers</a:t>
            </a:r>
          </a:p>
        </p:txBody>
      </p:sp>
    </p:spTree>
    <p:extLst>
      <p:ext uri="{BB962C8B-B14F-4D97-AF65-F5344CB8AC3E}">
        <p14:creationId xmlns:p14="http://schemas.microsoft.com/office/powerpoint/2010/main" val="18920171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116</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610301"/>
          </a:xfrm>
          <a:prstGeom prst="rect">
            <a:avLst/>
          </a:prstGeom>
        </p:spPr>
        <p:txBody>
          <a:bodyPr wrap="square">
            <a:spAutoFit/>
          </a:bodyPr>
          <a:lstStyle/>
          <a:p>
            <a:pPr>
              <a:lnSpc>
                <a:spcPct val="150000"/>
              </a:lnSpc>
            </a:pPr>
            <a:r>
              <a:rPr lang="en-US" dirty="0">
                <a:solidFill>
                  <a:srgbClr val="30658B"/>
                </a:solidFill>
              </a:rPr>
              <a:t>You are developing an application that will be comprised of the following architecture -</a:t>
            </a:r>
          </a:p>
          <a:p>
            <a:pPr>
              <a:lnSpc>
                <a:spcPct val="150000"/>
              </a:lnSpc>
            </a:pPr>
            <a:r>
              <a:rPr lang="en-US" b="1" dirty="0">
                <a:solidFill>
                  <a:srgbClr val="30658B"/>
                </a:solidFill>
              </a:rPr>
              <a:t>1. A set of EC2 instances to process the videos.</a:t>
            </a:r>
          </a:p>
          <a:p>
            <a:pPr>
              <a:lnSpc>
                <a:spcPct val="150000"/>
              </a:lnSpc>
            </a:pPr>
            <a:r>
              <a:rPr lang="en-US" b="1" dirty="0">
                <a:solidFill>
                  <a:srgbClr val="30658B"/>
                </a:solidFill>
              </a:rPr>
              <a:t>2. These (EC2 instances) will be spun up by an Autoscaling group.</a:t>
            </a:r>
          </a:p>
          <a:p>
            <a:pPr>
              <a:lnSpc>
                <a:spcPct val="150000"/>
              </a:lnSpc>
            </a:pPr>
            <a:r>
              <a:rPr lang="en-US" b="1" dirty="0">
                <a:solidFill>
                  <a:srgbClr val="30658B"/>
                </a:solidFill>
              </a:rPr>
              <a:t>3. SQS Queues to maintain the processing messages.</a:t>
            </a:r>
          </a:p>
          <a:p>
            <a:pPr>
              <a:lnSpc>
                <a:spcPct val="150000"/>
              </a:lnSpc>
            </a:pPr>
            <a:r>
              <a:rPr lang="en-US" b="1" dirty="0">
                <a:solidFill>
                  <a:srgbClr val="30658B"/>
                </a:solidFill>
              </a:rPr>
              <a:t>4. There will be 2 pricing tiers.</a:t>
            </a:r>
          </a:p>
          <a:p>
            <a:pPr>
              <a:lnSpc>
                <a:spcPct val="150000"/>
              </a:lnSpc>
            </a:pPr>
            <a:r>
              <a:rPr lang="en-US" dirty="0">
                <a:solidFill>
                  <a:srgbClr val="30658B"/>
                </a:solidFill>
              </a:rPr>
              <a:t>How will you </a:t>
            </a:r>
            <a:r>
              <a:rPr lang="en-US" b="1" dirty="0">
                <a:solidFill>
                  <a:srgbClr val="30658B"/>
                </a:solidFill>
              </a:rPr>
              <a:t>ensure that the premium customers’ videos are given more preference</a:t>
            </a:r>
            <a:r>
              <a:rPr lang="en-US" dirty="0">
                <a:solidFill>
                  <a:srgbClr val="30658B"/>
                </a:solidFill>
              </a:rPr>
              <a:t>?</a:t>
            </a:r>
          </a:p>
          <a:p>
            <a:pPr>
              <a:lnSpc>
                <a:spcPct val="150000"/>
              </a:lnSpc>
            </a:pPr>
            <a:endParaRPr lang="en-US" dirty="0">
              <a:solidFill>
                <a:srgbClr val="30658B"/>
              </a:solidFill>
            </a:endParaRPr>
          </a:p>
          <a:p>
            <a:pPr>
              <a:lnSpc>
                <a:spcPct val="150000"/>
              </a:lnSpc>
            </a:pPr>
            <a:r>
              <a:rPr lang="en-US" dirty="0">
                <a:solidFill>
                  <a:srgbClr val="30658B"/>
                </a:solidFill>
              </a:rPr>
              <a:t>a. Create 2 Autoscaling Groups, one for normal and one for premium customers</a:t>
            </a:r>
          </a:p>
          <a:p>
            <a:pPr>
              <a:lnSpc>
                <a:spcPct val="150000"/>
              </a:lnSpc>
            </a:pPr>
            <a:r>
              <a:rPr lang="en-US" dirty="0">
                <a:solidFill>
                  <a:srgbClr val="30658B"/>
                </a:solidFill>
              </a:rPr>
              <a:t>b. Create 2 sets of EC2 Instances, one for normal and one for premium customers</a:t>
            </a:r>
          </a:p>
          <a:p>
            <a:pPr>
              <a:lnSpc>
                <a:spcPct val="150000"/>
              </a:lnSpc>
            </a:pPr>
            <a:r>
              <a:rPr lang="en-US" dirty="0">
                <a:solidFill>
                  <a:srgbClr val="30658B"/>
                </a:solidFill>
              </a:rPr>
              <a:t>c. Create 2 SQS queues, one for normal and one for premium customers</a:t>
            </a:r>
          </a:p>
          <a:p>
            <a:pPr>
              <a:lnSpc>
                <a:spcPct val="150000"/>
              </a:lnSpc>
            </a:pPr>
            <a:r>
              <a:rPr lang="en-US" dirty="0">
                <a:solidFill>
                  <a:srgbClr val="30658B"/>
                </a:solidFill>
              </a:rPr>
              <a:t>d. Create 2 Elastic Load Balancers, one for normal and one for premium customers</a:t>
            </a:r>
          </a:p>
        </p:txBody>
      </p:sp>
    </p:spTree>
    <p:extLst>
      <p:ext uri="{BB962C8B-B14F-4D97-AF65-F5344CB8AC3E}">
        <p14:creationId xmlns:p14="http://schemas.microsoft.com/office/powerpoint/2010/main" val="111009361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117</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4610301"/>
          </a:xfrm>
          <a:prstGeom prst="rect">
            <a:avLst/>
          </a:prstGeom>
        </p:spPr>
        <p:txBody>
          <a:bodyPr wrap="square">
            <a:spAutoFit/>
          </a:bodyPr>
          <a:lstStyle/>
          <a:p>
            <a:pPr>
              <a:lnSpc>
                <a:spcPct val="150000"/>
              </a:lnSpc>
            </a:pPr>
            <a:r>
              <a:rPr lang="en-US" dirty="0">
                <a:solidFill>
                  <a:srgbClr val="30658B"/>
                </a:solidFill>
              </a:rPr>
              <a:t>You are developing an application that will be comprised of the following architecture -</a:t>
            </a:r>
          </a:p>
          <a:p>
            <a:pPr>
              <a:lnSpc>
                <a:spcPct val="150000"/>
              </a:lnSpc>
            </a:pPr>
            <a:r>
              <a:rPr lang="en-US" b="1" dirty="0">
                <a:solidFill>
                  <a:srgbClr val="30658B"/>
                </a:solidFill>
              </a:rPr>
              <a:t>1. A set of EC2 instances to process the videos.</a:t>
            </a:r>
          </a:p>
          <a:p>
            <a:pPr>
              <a:lnSpc>
                <a:spcPct val="150000"/>
              </a:lnSpc>
            </a:pPr>
            <a:r>
              <a:rPr lang="en-US" b="1" dirty="0">
                <a:solidFill>
                  <a:srgbClr val="30658B"/>
                </a:solidFill>
              </a:rPr>
              <a:t>2. These (EC2 instances) will be spun up by an Autoscaling group.</a:t>
            </a:r>
          </a:p>
          <a:p>
            <a:pPr>
              <a:lnSpc>
                <a:spcPct val="150000"/>
              </a:lnSpc>
            </a:pPr>
            <a:r>
              <a:rPr lang="en-US" b="1" dirty="0">
                <a:solidFill>
                  <a:srgbClr val="30658B"/>
                </a:solidFill>
              </a:rPr>
              <a:t>3. SQS Queues to maintain the processing messages.</a:t>
            </a:r>
          </a:p>
          <a:p>
            <a:pPr>
              <a:lnSpc>
                <a:spcPct val="150000"/>
              </a:lnSpc>
            </a:pPr>
            <a:r>
              <a:rPr lang="en-US" b="1" dirty="0">
                <a:solidFill>
                  <a:srgbClr val="30658B"/>
                </a:solidFill>
              </a:rPr>
              <a:t>4. There will be 2 pricing tiers.</a:t>
            </a:r>
          </a:p>
          <a:p>
            <a:pPr>
              <a:lnSpc>
                <a:spcPct val="150000"/>
              </a:lnSpc>
            </a:pPr>
            <a:r>
              <a:rPr lang="en-US" dirty="0">
                <a:solidFill>
                  <a:srgbClr val="30658B"/>
                </a:solidFill>
              </a:rPr>
              <a:t>How will you </a:t>
            </a:r>
            <a:r>
              <a:rPr lang="en-US" b="1" dirty="0">
                <a:solidFill>
                  <a:srgbClr val="30658B"/>
                </a:solidFill>
              </a:rPr>
              <a:t>ensure that the premium customers’ videos are given more preference</a:t>
            </a:r>
            <a:r>
              <a:rPr lang="en-US" dirty="0">
                <a:solidFill>
                  <a:srgbClr val="30658B"/>
                </a:solidFill>
              </a:rPr>
              <a:t>?</a:t>
            </a:r>
          </a:p>
          <a:p>
            <a:pPr>
              <a:lnSpc>
                <a:spcPct val="150000"/>
              </a:lnSpc>
            </a:pPr>
            <a:endParaRPr lang="en-US" dirty="0">
              <a:solidFill>
                <a:srgbClr val="30658B"/>
              </a:solidFill>
            </a:endParaRPr>
          </a:p>
          <a:p>
            <a:pPr>
              <a:lnSpc>
                <a:spcPct val="150000"/>
              </a:lnSpc>
            </a:pPr>
            <a:r>
              <a:rPr lang="en-US" dirty="0">
                <a:solidFill>
                  <a:srgbClr val="30658B"/>
                </a:solidFill>
              </a:rPr>
              <a:t>a. Create 2 Autoscaling Groups, one for normal and one for premium customers</a:t>
            </a:r>
          </a:p>
          <a:p>
            <a:pPr>
              <a:lnSpc>
                <a:spcPct val="150000"/>
              </a:lnSpc>
            </a:pPr>
            <a:r>
              <a:rPr lang="en-US" dirty="0">
                <a:solidFill>
                  <a:srgbClr val="30658B"/>
                </a:solidFill>
              </a:rPr>
              <a:t>b. Create 2 sets of EC2 Instances, one for normal and one for premium customers</a:t>
            </a:r>
          </a:p>
          <a:p>
            <a:pPr>
              <a:lnSpc>
                <a:spcPct val="150000"/>
              </a:lnSpc>
            </a:pPr>
            <a:r>
              <a:rPr lang="en-US" b="1" dirty="0">
                <a:solidFill>
                  <a:srgbClr val="30658B"/>
                </a:solidFill>
              </a:rPr>
              <a:t>c. Create 2 SQS queues, one for normal and one for premium customers</a:t>
            </a:r>
          </a:p>
          <a:p>
            <a:pPr>
              <a:lnSpc>
                <a:spcPct val="150000"/>
              </a:lnSpc>
            </a:pPr>
            <a:r>
              <a:rPr lang="en-US" dirty="0">
                <a:solidFill>
                  <a:srgbClr val="30658B"/>
                </a:solidFill>
              </a:rPr>
              <a:t>d. Create 2 Elastic Load Balancers, one for normal and one for premium customers</a:t>
            </a:r>
          </a:p>
        </p:txBody>
      </p:sp>
    </p:spTree>
    <p:extLst>
      <p:ext uri="{BB962C8B-B14F-4D97-AF65-F5344CB8AC3E}">
        <p14:creationId xmlns:p14="http://schemas.microsoft.com/office/powerpoint/2010/main" val="319592541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118</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 have a set of developers that need to work with applications hosted on the Elastic Beanstalk environment. You need to ensure they can work with the beanstalk environments but not give them access to the AWS Console. How can you achieve this in the BEST way possible?</a:t>
            </a:r>
          </a:p>
          <a:p>
            <a:pPr>
              <a:lnSpc>
                <a:spcPct val="150000"/>
              </a:lnSpc>
            </a:pPr>
            <a:endParaRPr lang="en-US" dirty="0">
              <a:solidFill>
                <a:srgbClr val="30658B"/>
              </a:solidFill>
            </a:endParaRPr>
          </a:p>
          <a:p>
            <a:pPr>
              <a:lnSpc>
                <a:spcPct val="150000"/>
              </a:lnSpc>
            </a:pPr>
            <a:r>
              <a:rPr lang="en-US" dirty="0">
                <a:solidFill>
                  <a:srgbClr val="30658B"/>
                </a:solidFill>
              </a:rPr>
              <a:t>a. Ask them to manage the environments via the SDK</a:t>
            </a:r>
          </a:p>
          <a:p>
            <a:pPr>
              <a:lnSpc>
                <a:spcPct val="150000"/>
              </a:lnSpc>
            </a:pPr>
            <a:r>
              <a:rPr lang="en-US" dirty="0">
                <a:solidFill>
                  <a:srgbClr val="30658B"/>
                </a:solidFill>
              </a:rPr>
              <a:t>b. Ask them to manage the environments via the EB CLI</a:t>
            </a:r>
          </a:p>
          <a:p>
            <a:pPr>
              <a:lnSpc>
                <a:spcPct val="150000"/>
              </a:lnSpc>
            </a:pPr>
            <a:r>
              <a:rPr lang="en-US" dirty="0">
                <a:solidFill>
                  <a:srgbClr val="30658B"/>
                </a:solidFill>
              </a:rPr>
              <a:t>c. Ask them to manage the environments via an EC2 Instance</a:t>
            </a:r>
          </a:p>
          <a:p>
            <a:pPr>
              <a:lnSpc>
                <a:spcPct val="150000"/>
              </a:lnSpc>
            </a:pPr>
            <a:r>
              <a:rPr lang="en-US" dirty="0">
                <a:solidFill>
                  <a:srgbClr val="30658B"/>
                </a:solidFill>
              </a:rPr>
              <a:t>d. Ask them to manage the environments via an ECS cluster</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19235992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119</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 have a set of developers that need to work with applications hosted on the Elastic Beanstalk environment. You need to ensure they can work with the beanstalk environments but </a:t>
            </a:r>
            <a:r>
              <a:rPr lang="en-US" b="1" dirty="0">
                <a:solidFill>
                  <a:srgbClr val="30658B"/>
                </a:solidFill>
              </a:rPr>
              <a:t>not give them access to the AWS Console</a:t>
            </a:r>
            <a:r>
              <a:rPr lang="en-US" dirty="0">
                <a:solidFill>
                  <a:srgbClr val="30658B"/>
                </a:solidFill>
              </a:rPr>
              <a:t>. How can you achieve this in the BEST way possible?</a:t>
            </a:r>
          </a:p>
          <a:p>
            <a:pPr>
              <a:lnSpc>
                <a:spcPct val="150000"/>
              </a:lnSpc>
            </a:pPr>
            <a:endParaRPr lang="en-US" dirty="0">
              <a:solidFill>
                <a:srgbClr val="30658B"/>
              </a:solidFill>
            </a:endParaRPr>
          </a:p>
          <a:p>
            <a:pPr>
              <a:lnSpc>
                <a:spcPct val="150000"/>
              </a:lnSpc>
            </a:pPr>
            <a:r>
              <a:rPr lang="en-US" dirty="0">
                <a:solidFill>
                  <a:srgbClr val="30658B"/>
                </a:solidFill>
              </a:rPr>
              <a:t>a. Ask them to manage the environments via the SDK</a:t>
            </a:r>
          </a:p>
          <a:p>
            <a:pPr>
              <a:lnSpc>
                <a:spcPct val="150000"/>
              </a:lnSpc>
            </a:pPr>
            <a:r>
              <a:rPr lang="en-US" dirty="0">
                <a:solidFill>
                  <a:srgbClr val="30658B"/>
                </a:solidFill>
              </a:rPr>
              <a:t>b. Ask them to manage the environments via the EB CLI</a:t>
            </a:r>
          </a:p>
          <a:p>
            <a:pPr>
              <a:lnSpc>
                <a:spcPct val="150000"/>
              </a:lnSpc>
            </a:pPr>
            <a:r>
              <a:rPr lang="en-US" dirty="0">
                <a:solidFill>
                  <a:srgbClr val="30658B"/>
                </a:solidFill>
              </a:rPr>
              <a:t>c. Ask them to manage the environments via an EC2 Instance</a:t>
            </a:r>
          </a:p>
          <a:p>
            <a:pPr>
              <a:lnSpc>
                <a:spcPct val="150000"/>
              </a:lnSpc>
            </a:pPr>
            <a:r>
              <a:rPr lang="en-US" dirty="0">
                <a:solidFill>
                  <a:srgbClr val="30658B"/>
                </a:solidFill>
              </a:rPr>
              <a:t>d. Ask them to manage the environments via an ECS cluster</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33342488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120</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3779304"/>
          </a:xfrm>
          <a:prstGeom prst="rect">
            <a:avLst/>
          </a:prstGeom>
        </p:spPr>
        <p:txBody>
          <a:bodyPr wrap="square">
            <a:spAutoFit/>
          </a:bodyPr>
          <a:lstStyle/>
          <a:p>
            <a:pPr>
              <a:lnSpc>
                <a:spcPct val="150000"/>
              </a:lnSpc>
            </a:pPr>
            <a:r>
              <a:rPr lang="en-US" dirty="0">
                <a:solidFill>
                  <a:srgbClr val="30658B"/>
                </a:solidFill>
              </a:rPr>
              <a:t>You have a set of developers that need to work with applications hosted on the Elastic Beanstalk environment. You need to ensure they can work with the beanstalk environments but </a:t>
            </a:r>
            <a:r>
              <a:rPr lang="en-US" b="1" dirty="0">
                <a:solidFill>
                  <a:srgbClr val="30658B"/>
                </a:solidFill>
              </a:rPr>
              <a:t>not give them access to the AWS Console</a:t>
            </a:r>
            <a:r>
              <a:rPr lang="en-US" dirty="0">
                <a:solidFill>
                  <a:srgbClr val="30658B"/>
                </a:solidFill>
              </a:rPr>
              <a:t>. How can you achieve this in the BEST way possible?</a:t>
            </a:r>
          </a:p>
          <a:p>
            <a:pPr>
              <a:lnSpc>
                <a:spcPct val="150000"/>
              </a:lnSpc>
            </a:pPr>
            <a:endParaRPr lang="en-US" dirty="0">
              <a:solidFill>
                <a:srgbClr val="30658B"/>
              </a:solidFill>
            </a:endParaRPr>
          </a:p>
          <a:p>
            <a:pPr>
              <a:lnSpc>
                <a:spcPct val="150000"/>
              </a:lnSpc>
            </a:pPr>
            <a:r>
              <a:rPr lang="en-US" b="1" dirty="0">
                <a:solidFill>
                  <a:srgbClr val="30658B"/>
                </a:solidFill>
              </a:rPr>
              <a:t>a. Ask them to manage the environments via the SDK</a:t>
            </a:r>
          </a:p>
          <a:p>
            <a:pPr>
              <a:lnSpc>
                <a:spcPct val="150000"/>
              </a:lnSpc>
            </a:pPr>
            <a:r>
              <a:rPr lang="en-US" b="1" dirty="0">
                <a:solidFill>
                  <a:srgbClr val="30658B"/>
                </a:solidFill>
              </a:rPr>
              <a:t>b. Ask them to manage the environments via the EB CLI</a:t>
            </a:r>
          </a:p>
          <a:p>
            <a:pPr>
              <a:lnSpc>
                <a:spcPct val="150000"/>
              </a:lnSpc>
            </a:pPr>
            <a:r>
              <a:rPr lang="en-US" dirty="0">
                <a:solidFill>
                  <a:srgbClr val="30658B"/>
                </a:solidFill>
              </a:rPr>
              <a:t>c. Ask them to manage the environments via an EC2 Instance</a:t>
            </a:r>
          </a:p>
          <a:p>
            <a:pPr>
              <a:lnSpc>
                <a:spcPct val="150000"/>
              </a:lnSpc>
            </a:pPr>
            <a:r>
              <a:rPr lang="en-US" dirty="0">
                <a:solidFill>
                  <a:srgbClr val="30658B"/>
                </a:solidFill>
              </a:rPr>
              <a:t>d. Ask them to manage the environments via an ECS cluster</a:t>
            </a:r>
          </a:p>
          <a:p>
            <a:pPr>
              <a:lnSpc>
                <a:spcPct val="150000"/>
              </a:lnSpc>
            </a:pPr>
            <a:endParaRPr lang="en-US" dirty="0">
              <a:solidFill>
                <a:srgbClr val="30658B"/>
              </a:solidFill>
            </a:endParaRPr>
          </a:p>
        </p:txBody>
      </p:sp>
    </p:spTree>
    <p:extLst>
      <p:ext uri="{BB962C8B-B14F-4D97-AF65-F5344CB8AC3E}">
        <p14:creationId xmlns:p14="http://schemas.microsoft.com/office/powerpoint/2010/main" val="27999047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121</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2948308"/>
          </a:xfrm>
          <a:prstGeom prst="rect">
            <a:avLst/>
          </a:prstGeom>
        </p:spPr>
        <p:txBody>
          <a:bodyPr wrap="square">
            <a:spAutoFit/>
          </a:bodyPr>
          <a:lstStyle/>
          <a:p>
            <a:pPr>
              <a:lnSpc>
                <a:spcPct val="150000"/>
              </a:lnSpc>
            </a:pPr>
            <a:r>
              <a:rPr lang="en-US" dirty="0">
                <a:solidFill>
                  <a:srgbClr val="30658B"/>
                </a:solidFill>
              </a:rPr>
              <a:t>. Which API call occurs in the final process of creating an Instance Store AMI? Choose the correct answer from the options below</a:t>
            </a:r>
          </a:p>
          <a:p>
            <a:pPr>
              <a:lnSpc>
                <a:spcPct val="150000"/>
              </a:lnSpc>
            </a:pPr>
            <a:endParaRPr lang="en-US" dirty="0">
              <a:solidFill>
                <a:srgbClr val="30658B"/>
              </a:solidFill>
            </a:endParaRPr>
          </a:p>
          <a:p>
            <a:pPr>
              <a:lnSpc>
                <a:spcPct val="150000"/>
              </a:lnSpc>
            </a:pPr>
            <a:r>
              <a:rPr lang="en-US" dirty="0">
                <a:solidFill>
                  <a:srgbClr val="30658B"/>
                </a:solidFill>
              </a:rPr>
              <a:t>a. </a:t>
            </a:r>
            <a:r>
              <a:rPr lang="en-US" dirty="0" err="1">
                <a:solidFill>
                  <a:srgbClr val="30658B"/>
                </a:solidFill>
              </a:rPr>
              <a:t>CreateImage</a:t>
            </a:r>
            <a:endParaRPr lang="en-US" dirty="0">
              <a:solidFill>
                <a:srgbClr val="30658B"/>
              </a:solidFill>
            </a:endParaRPr>
          </a:p>
          <a:p>
            <a:pPr>
              <a:lnSpc>
                <a:spcPct val="150000"/>
              </a:lnSpc>
            </a:pPr>
            <a:r>
              <a:rPr lang="en-US" dirty="0">
                <a:solidFill>
                  <a:srgbClr val="30658B"/>
                </a:solidFill>
              </a:rPr>
              <a:t>b. </a:t>
            </a:r>
            <a:r>
              <a:rPr lang="en-US" dirty="0" err="1">
                <a:solidFill>
                  <a:srgbClr val="30658B"/>
                </a:solidFill>
              </a:rPr>
              <a:t>RegisterImage</a:t>
            </a:r>
            <a:endParaRPr lang="en-US" dirty="0">
              <a:solidFill>
                <a:srgbClr val="30658B"/>
              </a:solidFill>
            </a:endParaRPr>
          </a:p>
          <a:p>
            <a:pPr>
              <a:lnSpc>
                <a:spcPct val="150000"/>
              </a:lnSpc>
            </a:pPr>
            <a:r>
              <a:rPr lang="en-US" dirty="0">
                <a:solidFill>
                  <a:srgbClr val="30658B"/>
                </a:solidFill>
              </a:rPr>
              <a:t>c. </a:t>
            </a:r>
            <a:r>
              <a:rPr lang="en-US" dirty="0" err="1">
                <a:solidFill>
                  <a:srgbClr val="30658B"/>
                </a:solidFill>
              </a:rPr>
              <a:t>ami</a:t>
            </a:r>
            <a:r>
              <a:rPr lang="en-US" dirty="0">
                <a:solidFill>
                  <a:srgbClr val="30658B"/>
                </a:solidFill>
              </a:rPr>
              <a:t>-register-image</a:t>
            </a:r>
          </a:p>
          <a:p>
            <a:pPr>
              <a:lnSpc>
                <a:spcPct val="150000"/>
              </a:lnSpc>
            </a:pPr>
            <a:r>
              <a:rPr lang="en-US" dirty="0">
                <a:solidFill>
                  <a:srgbClr val="30658B"/>
                </a:solidFill>
              </a:rPr>
              <a:t>d. </a:t>
            </a:r>
            <a:r>
              <a:rPr lang="en-US" dirty="0" err="1">
                <a:solidFill>
                  <a:srgbClr val="30658B"/>
                </a:solidFill>
              </a:rPr>
              <a:t>ami</a:t>
            </a:r>
            <a:r>
              <a:rPr lang="en-US" dirty="0">
                <a:solidFill>
                  <a:srgbClr val="30658B"/>
                </a:solidFill>
              </a:rPr>
              <a:t>-create-image</a:t>
            </a:r>
          </a:p>
        </p:txBody>
      </p:sp>
    </p:spTree>
    <p:extLst>
      <p:ext uri="{BB962C8B-B14F-4D97-AF65-F5344CB8AC3E}">
        <p14:creationId xmlns:p14="http://schemas.microsoft.com/office/powerpoint/2010/main" val="15706584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122</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2948308"/>
          </a:xfrm>
          <a:prstGeom prst="rect">
            <a:avLst/>
          </a:prstGeom>
        </p:spPr>
        <p:txBody>
          <a:bodyPr wrap="square">
            <a:spAutoFit/>
          </a:bodyPr>
          <a:lstStyle/>
          <a:p>
            <a:pPr>
              <a:lnSpc>
                <a:spcPct val="150000"/>
              </a:lnSpc>
            </a:pPr>
            <a:r>
              <a:rPr lang="en-US" dirty="0">
                <a:solidFill>
                  <a:srgbClr val="30658B"/>
                </a:solidFill>
              </a:rPr>
              <a:t>. Which API call occurs in the final process of </a:t>
            </a:r>
            <a:r>
              <a:rPr lang="en-US" b="1" dirty="0">
                <a:solidFill>
                  <a:srgbClr val="30658B"/>
                </a:solidFill>
              </a:rPr>
              <a:t>creating an Instance Store AMI</a:t>
            </a:r>
            <a:r>
              <a:rPr lang="en-US" dirty="0">
                <a:solidFill>
                  <a:srgbClr val="30658B"/>
                </a:solidFill>
              </a:rPr>
              <a:t>? Choose the correct answer from the options below</a:t>
            </a:r>
          </a:p>
          <a:p>
            <a:pPr>
              <a:lnSpc>
                <a:spcPct val="150000"/>
              </a:lnSpc>
            </a:pPr>
            <a:endParaRPr lang="en-US" dirty="0">
              <a:solidFill>
                <a:srgbClr val="30658B"/>
              </a:solidFill>
            </a:endParaRPr>
          </a:p>
          <a:p>
            <a:pPr>
              <a:lnSpc>
                <a:spcPct val="150000"/>
              </a:lnSpc>
            </a:pPr>
            <a:r>
              <a:rPr lang="en-US" dirty="0">
                <a:solidFill>
                  <a:srgbClr val="30658B"/>
                </a:solidFill>
              </a:rPr>
              <a:t>a. </a:t>
            </a:r>
            <a:r>
              <a:rPr lang="en-US" dirty="0" err="1">
                <a:solidFill>
                  <a:srgbClr val="30658B"/>
                </a:solidFill>
              </a:rPr>
              <a:t>CreateImage</a:t>
            </a:r>
            <a:endParaRPr lang="en-US" dirty="0">
              <a:solidFill>
                <a:srgbClr val="30658B"/>
              </a:solidFill>
            </a:endParaRPr>
          </a:p>
          <a:p>
            <a:pPr>
              <a:lnSpc>
                <a:spcPct val="150000"/>
              </a:lnSpc>
            </a:pPr>
            <a:r>
              <a:rPr lang="en-US" dirty="0">
                <a:solidFill>
                  <a:srgbClr val="30658B"/>
                </a:solidFill>
              </a:rPr>
              <a:t>b. </a:t>
            </a:r>
            <a:r>
              <a:rPr lang="en-US" dirty="0" err="1">
                <a:solidFill>
                  <a:srgbClr val="30658B"/>
                </a:solidFill>
              </a:rPr>
              <a:t>RegisterImage</a:t>
            </a:r>
            <a:endParaRPr lang="en-US" dirty="0">
              <a:solidFill>
                <a:srgbClr val="30658B"/>
              </a:solidFill>
            </a:endParaRPr>
          </a:p>
          <a:p>
            <a:pPr>
              <a:lnSpc>
                <a:spcPct val="150000"/>
              </a:lnSpc>
            </a:pPr>
            <a:r>
              <a:rPr lang="en-US" dirty="0">
                <a:solidFill>
                  <a:srgbClr val="30658B"/>
                </a:solidFill>
              </a:rPr>
              <a:t>c. </a:t>
            </a:r>
            <a:r>
              <a:rPr lang="en-US" dirty="0" err="1">
                <a:solidFill>
                  <a:srgbClr val="30658B"/>
                </a:solidFill>
              </a:rPr>
              <a:t>ami</a:t>
            </a:r>
            <a:r>
              <a:rPr lang="en-US" dirty="0">
                <a:solidFill>
                  <a:srgbClr val="30658B"/>
                </a:solidFill>
              </a:rPr>
              <a:t>-register-image</a:t>
            </a:r>
          </a:p>
          <a:p>
            <a:pPr>
              <a:lnSpc>
                <a:spcPct val="150000"/>
              </a:lnSpc>
            </a:pPr>
            <a:r>
              <a:rPr lang="en-US" dirty="0">
                <a:solidFill>
                  <a:srgbClr val="30658B"/>
                </a:solidFill>
              </a:rPr>
              <a:t>d. </a:t>
            </a:r>
            <a:r>
              <a:rPr lang="en-US" dirty="0" err="1">
                <a:solidFill>
                  <a:srgbClr val="30658B"/>
                </a:solidFill>
              </a:rPr>
              <a:t>ami</a:t>
            </a:r>
            <a:r>
              <a:rPr lang="en-US" dirty="0">
                <a:solidFill>
                  <a:srgbClr val="30658B"/>
                </a:solidFill>
              </a:rPr>
              <a:t>-create-image</a:t>
            </a:r>
          </a:p>
        </p:txBody>
      </p:sp>
    </p:spTree>
    <p:extLst>
      <p:ext uri="{BB962C8B-B14F-4D97-AF65-F5344CB8AC3E}">
        <p14:creationId xmlns:p14="http://schemas.microsoft.com/office/powerpoint/2010/main" val="27303829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7D09D-740E-411D-9584-CDFD50DB2770}"/>
              </a:ext>
            </a:extLst>
          </p:cNvPr>
          <p:cNvSpPr>
            <a:spLocks noGrp="1"/>
          </p:cNvSpPr>
          <p:nvPr>
            <p:ph type="sldNum" sz="quarter" idx="17"/>
          </p:nvPr>
        </p:nvSpPr>
        <p:spPr/>
        <p:txBody>
          <a:bodyPr/>
          <a:lstStyle/>
          <a:p>
            <a:fld id="{4F9AC08D-23A9-440E-BCB9-AA1E9877CC38}" type="slidenum">
              <a:rPr lang="en-US" smtClean="0"/>
              <a:pPr/>
              <a:t>123</a:t>
            </a:fld>
            <a:endParaRPr lang="en-US" dirty="0"/>
          </a:p>
        </p:txBody>
      </p:sp>
      <p:sp>
        <p:nvSpPr>
          <p:cNvPr id="3" name="Title 2">
            <a:extLst>
              <a:ext uri="{FF2B5EF4-FFF2-40B4-BE49-F238E27FC236}">
                <a16:creationId xmlns:a16="http://schemas.microsoft.com/office/drawing/2014/main" id="{1B2BD81C-4ECE-4247-B2A3-9B58DC08A4D0}"/>
              </a:ext>
            </a:extLst>
          </p:cNvPr>
          <p:cNvSpPr>
            <a:spLocks noGrp="1"/>
          </p:cNvSpPr>
          <p:nvPr>
            <p:ph type="title"/>
          </p:nvPr>
        </p:nvSpPr>
        <p:spPr>
          <a:xfrm>
            <a:off x="450010" y="261069"/>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7272E78A-FC07-48DB-8989-08C8F154CE7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27050DD8-171E-47F8-880D-5906BC53F302}"/>
              </a:ext>
            </a:extLst>
          </p:cNvPr>
          <p:cNvSpPr/>
          <p:nvPr/>
        </p:nvSpPr>
        <p:spPr>
          <a:xfrm>
            <a:off x="450003" y="986658"/>
            <a:ext cx="13265997" cy="2948308"/>
          </a:xfrm>
          <a:prstGeom prst="rect">
            <a:avLst/>
          </a:prstGeom>
        </p:spPr>
        <p:txBody>
          <a:bodyPr wrap="square">
            <a:spAutoFit/>
          </a:bodyPr>
          <a:lstStyle/>
          <a:p>
            <a:pPr>
              <a:lnSpc>
                <a:spcPct val="150000"/>
              </a:lnSpc>
            </a:pPr>
            <a:r>
              <a:rPr lang="en-US" dirty="0">
                <a:solidFill>
                  <a:srgbClr val="30658B"/>
                </a:solidFill>
              </a:rPr>
              <a:t>. Which API call occurs in the final process of </a:t>
            </a:r>
            <a:r>
              <a:rPr lang="en-US" b="1" dirty="0">
                <a:solidFill>
                  <a:srgbClr val="30658B"/>
                </a:solidFill>
              </a:rPr>
              <a:t>creating an Instance Store AMI</a:t>
            </a:r>
            <a:r>
              <a:rPr lang="en-US" dirty="0">
                <a:solidFill>
                  <a:srgbClr val="30658B"/>
                </a:solidFill>
              </a:rPr>
              <a:t>? Choose the correct answer from the options below</a:t>
            </a:r>
          </a:p>
          <a:p>
            <a:pPr>
              <a:lnSpc>
                <a:spcPct val="150000"/>
              </a:lnSpc>
            </a:pPr>
            <a:endParaRPr lang="en-US" dirty="0">
              <a:solidFill>
                <a:srgbClr val="30658B"/>
              </a:solidFill>
            </a:endParaRPr>
          </a:p>
          <a:p>
            <a:pPr>
              <a:lnSpc>
                <a:spcPct val="150000"/>
              </a:lnSpc>
            </a:pPr>
            <a:r>
              <a:rPr lang="en-US" dirty="0">
                <a:solidFill>
                  <a:srgbClr val="30658B"/>
                </a:solidFill>
              </a:rPr>
              <a:t>a. </a:t>
            </a:r>
            <a:r>
              <a:rPr lang="en-US" dirty="0" err="1">
                <a:solidFill>
                  <a:srgbClr val="30658B"/>
                </a:solidFill>
              </a:rPr>
              <a:t>CreateImage</a:t>
            </a:r>
            <a:endParaRPr lang="en-US" dirty="0">
              <a:solidFill>
                <a:srgbClr val="30658B"/>
              </a:solidFill>
            </a:endParaRPr>
          </a:p>
          <a:p>
            <a:pPr>
              <a:lnSpc>
                <a:spcPct val="150000"/>
              </a:lnSpc>
            </a:pPr>
            <a:r>
              <a:rPr lang="en-US" b="1" dirty="0">
                <a:solidFill>
                  <a:srgbClr val="30658B"/>
                </a:solidFill>
              </a:rPr>
              <a:t>b. </a:t>
            </a:r>
            <a:r>
              <a:rPr lang="en-US" b="1" dirty="0" err="1">
                <a:solidFill>
                  <a:srgbClr val="30658B"/>
                </a:solidFill>
              </a:rPr>
              <a:t>RegisterImage</a:t>
            </a:r>
            <a:endParaRPr lang="en-US" b="1" dirty="0">
              <a:solidFill>
                <a:srgbClr val="30658B"/>
              </a:solidFill>
            </a:endParaRPr>
          </a:p>
          <a:p>
            <a:pPr>
              <a:lnSpc>
                <a:spcPct val="150000"/>
              </a:lnSpc>
            </a:pPr>
            <a:r>
              <a:rPr lang="en-US" dirty="0">
                <a:solidFill>
                  <a:srgbClr val="30658B"/>
                </a:solidFill>
              </a:rPr>
              <a:t>c. </a:t>
            </a:r>
            <a:r>
              <a:rPr lang="en-US" dirty="0" err="1">
                <a:solidFill>
                  <a:srgbClr val="30658B"/>
                </a:solidFill>
              </a:rPr>
              <a:t>ami</a:t>
            </a:r>
            <a:r>
              <a:rPr lang="en-US" dirty="0">
                <a:solidFill>
                  <a:srgbClr val="30658B"/>
                </a:solidFill>
              </a:rPr>
              <a:t>-register-image</a:t>
            </a:r>
          </a:p>
          <a:p>
            <a:pPr>
              <a:lnSpc>
                <a:spcPct val="150000"/>
              </a:lnSpc>
            </a:pPr>
            <a:r>
              <a:rPr lang="en-US" dirty="0">
                <a:solidFill>
                  <a:srgbClr val="30658B"/>
                </a:solidFill>
              </a:rPr>
              <a:t>d. </a:t>
            </a:r>
            <a:r>
              <a:rPr lang="en-US" dirty="0" err="1">
                <a:solidFill>
                  <a:srgbClr val="30658B"/>
                </a:solidFill>
              </a:rPr>
              <a:t>ami</a:t>
            </a:r>
            <a:r>
              <a:rPr lang="en-US" dirty="0">
                <a:solidFill>
                  <a:srgbClr val="30658B"/>
                </a:solidFill>
              </a:rPr>
              <a:t>-create-image</a:t>
            </a:r>
          </a:p>
        </p:txBody>
      </p:sp>
    </p:spTree>
    <p:extLst>
      <p:ext uri="{BB962C8B-B14F-4D97-AF65-F5344CB8AC3E}">
        <p14:creationId xmlns:p14="http://schemas.microsoft.com/office/powerpoint/2010/main" val="23809051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833A-1D22-44C8-AA11-ABF04E08EE8B}"/>
              </a:ext>
            </a:extLst>
          </p:cNvPr>
          <p:cNvSpPr>
            <a:spLocks noGrp="1"/>
          </p:cNvSpPr>
          <p:nvPr>
            <p:ph type="title"/>
          </p:nvPr>
        </p:nvSpPr>
        <p:spPr>
          <a:xfrm>
            <a:off x="3489158" y="3320733"/>
            <a:ext cx="9589168" cy="557845"/>
          </a:xfrm>
        </p:spPr>
        <p:txBody>
          <a:bodyPr>
            <a:normAutofit fontScale="90000"/>
          </a:bodyPr>
          <a:lstStyle/>
          <a:p>
            <a:r>
              <a:rPr lang="en-US" dirty="0">
                <a:solidFill>
                  <a:srgbClr val="18537D"/>
                </a:solidFill>
                <a:latin typeface="Arial Black" panose="020B0A04020102020204" pitchFamily="34" charset="0"/>
              </a:rPr>
              <a:t>Happy Learning!!</a:t>
            </a:r>
          </a:p>
        </p:txBody>
      </p:sp>
      <p:sp>
        <p:nvSpPr>
          <p:cNvPr id="3" name="Slide Number Placeholder 2">
            <a:extLst>
              <a:ext uri="{FF2B5EF4-FFF2-40B4-BE49-F238E27FC236}">
                <a16:creationId xmlns:a16="http://schemas.microsoft.com/office/drawing/2014/main" id="{99BEF341-2DB0-4159-B670-24611B8CA7B2}"/>
              </a:ext>
            </a:extLst>
          </p:cNvPr>
          <p:cNvSpPr txBox="1">
            <a:spLocks/>
          </p:cNvSpPr>
          <p:nvPr/>
        </p:nvSpPr>
        <p:spPr>
          <a:xfrm>
            <a:off x="13550876" y="6705802"/>
            <a:ext cx="705898" cy="2161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124</a:t>
            </a:fld>
            <a:endParaRPr lang="en-US" dirty="0"/>
          </a:p>
        </p:txBody>
      </p:sp>
    </p:spTree>
    <p:extLst>
      <p:ext uri="{BB962C8B-B14F-4D97-AF65-F5344CB8AC3E}">
        <p14:creationId xmlns:p14="http://schemas.microsoft.com/office/powerpoint/2010/main" val="2175134941"/>
      </p:ext>
    </p:extLst>
  </p:cSld>
  <p:clrMapOvr>
    <a:masterClrMapping/>
  </p:clrMapOvr>
</p:sld>
</file>

<file path=ppt/theme/theme1.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2.xml><?xml version="1.0" encoding="utf-8"?>
<a:theme xmlns:a="http://schemas.openxmlformats.org/drawingml/2006/main" name="1_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D4628B5F0DE14882B47AED0C5966F0" ma:contentTypeVersion="12" ma:contentTypeDescription="Create a new document." ma:contentTypeScope="" ma:versionID="55b389601a80f891819a40b048f86b7b">
  <xsd:schema xmlns:xsd="http://www.w3.org/2001/XMLSchema" xmlns:xs="http://www.w3.org/2001/XMLSchema" xmlns:p="http://schemas.microsoft.com/office/2006/metadata/properties" xmlns:ns3="25376a1e-acf6-4d0e-a31f-9846047eee0a" xmlns:ns4="d61169d6-dafa-460d-aa42-7f3810e84ea1" targetNamespace="http://schemas.microsoft.com/office/2006/metadata/properties" ma:root="true" ma:fieldsID="e6b501d0506227862faddbc1d8a8e3d7" ns3:_="" ns4:_="">
    <xsd:import namespace="25376a1e-acf6-4d0e-a31f-9846047eee0a"/>
    <xsd:import namespace="d61169d6-dafa-460d-aa42-7f3810e84e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AutoKeyPoints" minOccurs="0"/>
                <xsd:element ref="ns4:MediaServiceKeyPoint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376a1e-acf6-4d0e-a31f-9846047eee0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1169d6-dafa-460d-aa42-7f3810e84e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6E8B75E-1448-403E-9C36-A8C659AD49D4}">
  <ds:schemaRefs>
    <ds:schemaRef ds:uri="http://schemas.microsoft.com/sharepoint/v3/contenttype/forms"/>
  </ds:schemaRefs>
</ds:datastoreItem>
</file>

<file path=customXml/itemProps2.xml><?xml version="1.0" encoding="utf-8"?>
<ds:datastoreItem xmlns:ds="http://schemas.openxmlformats.org/officeDocument/2006/customXml" ds:itemID="{E73F6FFA-FF3F-493E-9E94-0880F41B67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376a1e-acf6-4d0e-a31f-9846047eee0a"/>
    <ds:schemaRef ds:uri="d61169d6-dafa-460d-aa42-7f3810e84e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BE717E-816E-4571-A23B-53E4DC8E1895}">
  <ds:schemaRefs>
    <ds:schemaRef ds:uri="http://schemas.microsoft.com/office/2006/metadata/properties"/>
    <ds:schemaRef ds:uri="http://purl.org/dc/terms/"/>
    <ds:schemaRef ds:uri="http://schemas.openxmlformats.org/package/2006/metadata/core-properties"/>
    <ds:schemaRef ds:uri="d61169d6-dafa-460d-aa42-7f3810e84ea1"/>
    <ds:schemaRef ds:uri="http://schemas.microsoft.com/office/2006/documentManagement/types"/>
    <ds:schemaRef ds:uri="http://schemas.microsoft.com/office/infopath/2007/PartnerControls"/>
    <ds:schemaRef ds:uri="http://purl.org/dc/elements/1.1/"/>
    <ds:schemaRef ds:uri="25376a1e-acf6-4d0e-a31f-9846047eee0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12191</TotalTime>
  <Words>12352</Words>
  <Application>Microsoft Office PowerPoint</Application>
  <PresentationFormat>Custom</PresentationFormat>
  <Paragraphs>1556</Paragraphs>
  <Slides>124</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124</vt:i4>
      </vt:variant>
    </vt:vector>
  </HeadingPairs>
  <TitlesOfParts>
    <vt:vector size="137" baseType="lpstr">
      <vt:lpstr>Amazon Ember</vt:lpstr>
      <vt:lpstr>Amazon Ember Light</vt:lpstr>
      <vt:lpstr>Arial</vt:lpstr>
      <vt:lpstr>Arial Black</vt:lpstr>
      <vt:lpstr>Calibri</vt:lpstr>
      <vt:lpstr>Courier</vt:lpstr>
      <vt:lpstr>Courier New</vt:lpstr>
      <vt:lpstr>Graphik</vt:lpstr>
      <vt:lpstr>Graphik Black</vt:lpstr>
      <vt:lpstr>Graphik Medium</vt:lpstr>
      <vt:lpstr>Wingdings</vt:lpstr>
      <vt:lpstr>Titles</vt:lpstr>
      <vt:lpstr>1_Titles</vt:lpstr>
      <vt:lpstr> Cloud Elevate –Exam Readiness workshop    AWS Certified Developer - Associate</vt:lpstr>
      <vt:lpstr>PowerPoint Presentation</vt:lpstr>
      <vt:lpstr>AWS Developer - associate</vt:lpstr>
      <vt:lpstr>Development with AWS– 30%</vt:lpstr>
      <vt:lpstr>Development with AWS– 30%</vt:lpstr>
      <vt:lpstr>Amazon S3 (Simple storage service)</vt:lpstr>
      <vt:lpstr>Amazon S3 (Simple storage service) – Storage Classes</vt:lpstr>
      <vt:lpstr>LAMBDA</vt:lpstr>
      <vt:lpstr>LAMBDA</vt:lpstr>
      <vt:lpstr>Amazon Dynamodb</vt:lpstr>
      <vt:lpstr>Amazon DynamoDB – Core components</vt:lpstr>
      <vt:lpstr>Amazon DynamoDB – Core components</vt:lpstr>
      <vt:lpstr>Amazon DynamoDB – Core components</vt:lpstr>
      <vt:lpstr>Amazon DynamoDB – Core components</vt:lpstr>
      <vt:lpstr>How Dynamodb works</vt:lpstr>
      <vt:lpstr>Read/Write Consistency</vt:lpstr>
      <vt:lpstr>Scaling in DynamoDB</vt:lpstr>
      <vt:lpstr>Read and Write Throughput</vt:lpstr>
      <vt:lpstr>Read and Write Throughput</vt:lpstr>
      <vt:lpstr>Amazon Dyanamodb partitions</vt:lpstr>
      <vt:lpstr>Amazon Dyanamodb – Secondary Indexing</vt:lpstr>
      <vt:lpstr>Local Secondary Indexing</vt:lpstr>
      <vt:lpstr>Global Secondary Indexing</vt:lpstr>
      <vt:lpstr>Amazon dynamodb - Streams</vt:lpstr>
      <vt:lpstr>Amazon dynamodb – Backup</vt:lpstr>
      <vt:lpstr>Amazon dynamodb – Global Tables</vt:lpstr>
      <vt:lpstr>DynamoDB Accelerator (DAX)</vt:lpstr>
      <vt:lpstr>CloudFront</vt:lpstr>
      <vt:lpstr>Amazon ElastiCache  </vt:lpstr>
      <vt:lpstr>Amazon API Gateway</vt:lpstr>
      <vt:lpstr>SIMPLE NOTIFICATION SERVICE </vt:lpstr>
      <vt:lpstr>SIMPLE NOTIFICATION SERVICE </vt:lpstr>
      <vt:lpstr>SnS TRANSPORT PROTOCOLS</vt:lpstr>
      <vt:lpstr>SIMPLE QUEUE SERVICE(SQS)</vt:lpstr>
      <vt:lpstr>Command Line tools</vt:lpstr>
      <vt:lpstr>Command Line tools</vt:lpstr>
      <vt:lpstr>clI</vt:lpstr>
      <vt:lpstr>sdk</vt:lpstr>
      <vt:lpstr>Python SDK – Boto3 </vt:lpstr>
      <vt:lpstr>Ide AND ide TOOLKITS </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ECS (Elastic container service)</vt:lpstr>
      <vt:lpstr>Sample Questions</vt:lpstr>
      <vt:lpstr>Sample Questions</vt:lpstr>
      <vt:lpstr>Sample Questions</vt:lpstr>
      <vt:lpstr>AWS step Function</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Happy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Nithyanand, Anupama</dc:creator>
  <cp:lastModifiedBy>Govindarajan, Mathan</cp:lastModifiedBy>
  <cp:revision>391</cp:revision>
  <dcterms:created xsi:type="dcterms:W3CDTF">2020-02-10T04:26:22Z</dcterms:created>
  <dcterms:modified xsi:type="dcterms:W3CDTF">2020-09-24T06:35:52Z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0x01010072D4628B5F0DE14882B47AED0C5966F0</vt:lpwstr>
  </property>
</Properties>
</file>