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35"/>
  </p:notesMasterIdLst>
  <p:sldIdLst>
    <p:sldId id="720" r:id="rId6"/>
    <p:sldId id="813" r:id="rId7"/>
    <p:sldId id="814" r:id="rId8"/>
    <p:sldId id="815" r:id="rId9"/>
    <p:sldId id="838" r:id="rId10"/>
    <p:sldId id="896" r:id="rId11"/>
    <p:sldId id="808" r:id="rId12"/>
    <p:sldId id="809" r:id="rId13"/>
    <p:sldId id="810" r:id="rId14"/>
    <p:sldId id="811" r:id="rId15"/>
    <p:sldId id="821" r:id="rId16"/>
    <p:sldId id="835" r:id="rId17"/>
    <p:sldId id="836" r:id="rId18"/>
    <p:sldId id="826" r:id="rId19"/>
    <p:sldId id="907" r:id="rId20"/>
    <p:sldId id="897" r:id="rId21"/>
    <p:sldId id="898" r:id="rId22"/>
    <p:sldId id="908" r:id="rId23"/>
    <p:sldId id="899" r:id="rId24"/>
    <p:sldId id="900" r:id="rId25"/>
    <p:sldId id="909" r:id="rId26"/>
    <p:sldId id="901" r:id="rId27"/>
    <p:sldId id="903" r:id="rId28"/>
    <p:sldId id="910" r:id="rId29"/>
    <p:sldId id="904" r:id="rId30"/>
    <p:sldId id="905" r:id="rId31"/>
    <p:sldId id="911" r:id="rId32"/>
    <p:sldId id="906" r:id="rId33"/>
    <p:sldId id="812" r:id="rId34"/>
  </p:sldIdLst>
  <p:sldSz cx="14400213" cy="71993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 userDrawn="1">
          <p15:clr>
            <a:srgbClr val="A4A3A4"/>
          </p15:clr>
        </p15:guide>
        <p15:guide id="2"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537D"/>
    <a:srgbClr val="DBECF1"/>
    <a:srgbClr val="8DC4D2"/>
    <a:srgbClr val="1B96C7"/>
    <a:srgbClr val="4CD4FE"/>
    <a:srgbClr val="34B2E3"/>
    <a:srgbClr val="128FB6"/>
    <a:srgbClr val="1398C3"/>
    <a:srgbClr val="6DDBFE"/>
    <a:srgbClr val="68B1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660"/>
  </p:normalViewPr>
  <p:slideViewPr>
    <p:cSldViewPr snapToGrid="0">
      <p:cViewPr varScale="1">
        <p:scale>
          <a:sx n="78" d="100"/>
          <a:sy n="78" d="100"/>
        </p:scale>
        <p:origin x="437" y="58"/>
      </p:cViewPr>
      <p:guideLst>
        <p:guide orient="horz" pos="180"/>
        <p:guide pos="2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4CCF60-3AC3-4652-ACCE-ABDD47142CBF}" type="doc">
      <dgm:prSet loTypeId="urn:microsoft.com/office/officeart/2005/8/layout/vList5" loCatId="list" qsTypeId="urn:microsoft.com/office/officeart/2005/8/quickstyle/simple1" qsCatId="simple" csTypeId="urn:microsoft.com/office/officeart/2005/8/colors/accent4_4" csCatId="accent4" phldr="1"/>
      <dgm:spPr/>
      <dgm:t>
        <a:bodyPr/>
        <a:lstStyle/>
        <a:p>
          <a:endParaRPr lang="en-IN"/>
        </a:p>
      </dgm:t>
    </dgm:pt>
    <dgm:pt modelId="{69ACD0DF-523F-486A-A6BF-F91D8EF39CDB}">
      <dgm:prSet phldrT="[Text]" custT="1"/>
      <dgm:spPr/>
      <dgm:t>
        <a:bodyPr/>
        <a:lstStyle/>
        <a:p>
          <a:r>
            <a:rPr lang="en-IN" sz="2000" dirty="0">
              <a:solidFill>
                <a:schemeClr val="tx1"/>
              </a:solidFill>
            </a:rPr>
            <a:t>Fault Tolerance</a:t>
          </a:r>
        </a:p>
      </dgm:t>
    </dgm:pt>
    <dgm:pt modelId="{5CE5FF9D-EEDC-451A-8F12-AE59B16706E1}" type="parTrans" cxnId="{3E0650ED-792A-4702-A9FC-7F09E3CEF603}">
      <dgm:prSet/>
      <dgm:spPr/>
      <dgm:t>
        <a:bodyPr/>
        <a:lstStyle/>
        <a:p>
          <a:endParaRPr lang="en-IN"/>
        </a:p>
      </dgm:t>
    </dgm:pt>
    <dgm:pt modelId="{7FC44D1D-E0C2-4531-8B43-505E79F89976}" type="sibTrans" cxnId="{3E0650ED-792A-4702-A9FC-7F09E3CEF603}">
      <dgm:prSet/>
      <dgm:spPr/>
      <dgm:t>
        <a:bodyPr/>
        <a:lstStyle/>
        <a:p>
          <a:endParaRPr lang="en-IN"/>
        </a:p>
      </dgm:t>
    </dgm:pt>
    <dgm:pt modelId="{970230CA-D885-4FA7-826B-2E48500BCED2}">
      <dgm:prSet phldrT="[Text]" custT="1"/>
      <dgm:spPr/>
      <dgm:t>
        <a:bodyPr/>
        <a:lstStyle/>
        <a:p>
          <a:pPr algn="just"/>
          <a:r>
            <a:rPr lang="en-IN" sz="1800" dirty="0"/>
            <a:t>Fault-tolerance is the ability of a system to remain in operation even if some of the components used to build the system fail</a:t>
          </a:r>
        </a:p>
      </dgm:t>
    </dgm:pt>
    <dgm:pt modelId="{45EBA7B4-D1A5-4CB3-A036-492713C48DC2}" type="parTrans" cxnId="{0976670A-40C0-43EA-BB5E-6203B82DA5F1}">
      <dgm:prSet/>
      <dgm:spPr/>
      <dgm:t>
        <a:bodyPr/>
        <a:lstStyle/>
        <a:p>
          <a:endParaRPr lang="en-IN"/>
        </a:p>
      </dgm:t>
    </dgm:pt>
    <dgm:pt modelId="{38F0D65F-CC8D-4B39-8B03-B8B7FC5A84A3}" type="sibTrans" cxnId="{0976670A-40C0-43EA-BB5E-6203B82DA5F1}">
      <dgm:prSet/>
      <dgm:spPr/>
      <dgm:t>
        <a:bodyPr/>
        <a:lstStyle/>
        <a:p>
          <a:endParaRPr lang="en-IN"/>
        </a:p>
      </dgm:t>
    </dgm:pt>
    <dgm:pt modelId="{3C8E8D18-052C-4E18-90E9-D5C06AA011EB}">
      <dgm:prSet phldrT="[Text]" custT="1"/>
      <dgm:spPr/>
      <dgm:t>
        <a:bodyPr/>
        <a:lstStyle/>
        <a:p>
          <a:pPr marL="0" lvl="0" indent="0" algn="ctr" defTabSz="889000">
            <a:lnSpc>
              <a:spcPct val="90000"/>
            </a:lnSpc>
            <a:spcBef>
              <a:spcPct val="0"/>
            </a:spcBef>
            <a:spcAft>
              <a:spcPct val="35000"/>
            </a:spcAft>
            <a:buNone/>
          </a:pPr>
          <a:r>
            <a:rPr lang="en-IN" sz="2000" kern="1200" dirty="0">
              <a:solidFill>
                <a:prstClr val="black"/>
              </a:solidFill>
              <a:latin typeface="Graphik"/>
              <a:ea typeface="+mn-ea"/>
              <a:cs typeface="+mn-cs"/>
            </a:rPr>
            <a:t>Scalability</a:t>
          </a:r>
        </a:p>
      </dgm:t>
    </dgm:pt>
    <dgm:pt modelId="{82F55FBE-DB5D-42EB-8523-D1F25DE12B5F}" type="parTrans" cxnId="{5003CE6E-2273-47B9-8409-13B3CDAAD05E}">
      <dgm:prSet/>
      <dgm:spPr/>
      <dgm:t>
        <a:bodyPr/>
        <a:lstStyle/>
        <a:p>
          <a:endParaRPr lang="en-IN"/>
        </a:p>
      </dgm:t>
    </dgm:pt>
    <dgm:pt modelId="{F5324129-D313-4005-BB0B-8119D1BEE68D}" type="sibTrans" cxnId="{5003CE6E-2273-47B9-8409-13B3CDAAD05E}">
      <dgm:prSet/>
      <dgm:spPr/>
      <dgm:t>
        <a:bodyPr/>
        <a:lstStyle/>
        <a:p>
          <a:endParaRPr lang="en-IN"/>
        </a:p>
      </dgm:t>
    </dgm:pt>
    <dgm:pt modelId="{5B951FBA-65DE-4D66-BC5E-CE396F732300}">
      <dgm:prSet phldrT="[Text]" custT="1"/>
      <dgm:spPr/>
      <dgm:t>
        <a:bodyPr/>
        <a:lstStyle/>
        <a:p>
          <a:pPr algn="just"/>
          <a:r>
            <a:rPr lang="en-IN" sz="1800" kern="1200" dirty="0">
              <a:solidFill>
                <a:prstClr val="black">
                  <a:hueOff val="0"/>
                  <a:satOff val="0"/>
                  <a:lumOff val="0"/>
                  <a:alphaOff val="0"/>
                </a:prstClr>
              </a:solidFill>
              <a:latin typeface="Graphik"/>
              <a:ea typeface="+mn-ea"/>
              <a:cs typeface="+mn-cs"/>
            </a:rPr>
            <a:t>Scalability refers to the concept of a system in which every application or piece of infrastructure can be expanded to handle increased load.</a:t>
          </a:r>
        </a:p>
      </dgm:t>
    </dgm:pt>
    <dgm:pt modelId="{C00C77C7-04EC-437D-905A-B30C711E2970}" type="parTrans" cxnId="{95B275EA-FE69-45F9-96A4-9D313156DBA0}">
      <dgm:prSet/>
      <dgm:spPr/>
      <dgm:t>
        <a:bodyPr/>
        <a:lstStyle/>
        <a:p>
          <a:endParaRPr lang="en-IN"/>
        </a:p>
      </dgm:t>
    </dgm:pt>
    <dgm:pt modelId="{2AB9ED8D-7C6F-4FF5-B3EB-033E6D02E90A}" type="sibTrans" cxnId="{95B275EA-FE69-45F9-96A4-9D313156DBA0}">
      <dgm:prSet/>
      <dgm:spPr/>
      <dgm:t>
        <a:bodyPr/>
        <a:lstStyle/>
        <a:p>
          <a:endParaRPr lang="en-IN"/>
        </a:p>
      </dgm:t>
    </dgm:pt>
    <dgm:pt modelId="{400EAB5C-D49D-4E8F-A3D3-9FE87177B38B}">
      <dgm:prSet phldrT="[Text]" custT="1"/>
      <dgm:spPr/>
      <dgm:t>
        <a:bodyPr/>
        <a:lstStyle/>
        <a:p>
          <a:pPr marL="0" lvl="0" indent="0" algn="ctr" defTabSz="889000">
            <a:lnSpc>
              <a:spcPct val="90000"/>
            </a:lnSpc>
            <a:spcBef>
              <a:spcPct val="0"/>
            </a:spcBef>
            <a:spcAft>
              <a:spcPct val="35000"/>
            </a:spcAft>
            <a:buNone/>
          </a:pPr>
          <a:r>
            <a:rPr lang="en-IN" sz="2000" kern="1200" dirty="0">
              <a:solidFill>
                <a:prstClr val="black"/>
              </a:solidFill>
              <a:latin typeface="Graphik"/>
              <a:ea typeface="+mn-ea"/>
              <a:cs typeface="+mn-cs"/>
            </a:rPr>
            <a:t>Recoverability</a:t>
          </a:r>
        </a:p>
      </dgm:t>
    </dgm:pt>
    <dgm:pt modelId="{6DD2AFFD-E1CC-4195-8C68-2E602D6B41A4}" type="parTrans" cxnId="{2ED617EE-8BD1-4953-A9AA-AAD594F573A1}">
      <dgm:prSet/>
      <dgm:spPr/>
      <dgm:t>
        <a:bodyPr/>
        <a:lstStyle/>
        <a:p>
          <a:endParaRPr lang="en-IN"/>
        </a:p>
      </dgm:t>
    </dgm:pt>
    <dgm:pt modelId="{E3535A0D-5A56-4526-AB20-87D61BBDF63F}" type="sibTrans" cxnId="{2ED617EE-8BD1-4953-A9AA-AAD594F573A1}">
      <dgm:prSet/>
      <dgm:spPr/>
      <dgm:t>
        <a:bodyPr/>
        <a:lstStyle/>
        <a:p>
          <a:endParaRPr lang="en-IN"/>
        </a:p>
      </dgm:t>
    </dgm:pt>
    <dgm:pt modelId="{132A32A8-4744-4A76-B4C1-549994A75033}">
      <dgm:prSet phldrT="[Text]" custT="1"/>
      <dgm:spPr/>
      <dgm:t>
        <a:bodyPr/>
        <a:lstStyle/>
        <a:p>
          <a:pPr algn="just">
            <a:buFont typeface="Arial" panose="020B0604020202020204" pitchFamily="34" charset="0"/>
            <a:buChar char="•"/>
          </a:pPr>
          <a:r>
            <a:rPr lang="en-US" sz="1800" kern="1200" dirty="0">
              <a:solidFill>
                <a:prstClr val="black">
                  <a:hueOff val="0"/>
                  <a:satOff val="0"/>
                  <a:lumOff val="0"/>
                  <a:alphaOff val="0"/>
                </a:prstClr>
              </a:solidFill>
              <a:latin typeface="Graphik"/>
              <a:ea typeface="+mn-ea"/>
              <a:cs typeface="+mn-cs"/>
            </a:rPr>
            <a:t>The process, policies, and procedures related to restoring service after a catastrophic event</a:t>
          </a:r>
          <a:endParaRPr lang="en-IN" sz="1800" kern="1200" dirty="0">
            <a:solidFill>
              <a:prstClr val="black">
                <a:hueOff val="0"/>
                <a:satOff val="0"/>
                <a:lumOff val="0"/>
                <a:alphaOff val="0"/>
              </a:prstClr>
            </a:solidFill>
            <a:latin typeface="Graphik"/>
            <a:ea typeface="+mn-ea"/>
            <a:cs typeface="+mn-cs"/>
          </a:endParaRPr>
        </a:p>
      </dgm:t>
    </dgm:pt>
    <dgm:pt modelId="{83098D87-E669-4ED0-B73D-C810798BF148}" type="parTrans" cxnId="{4828AED6-AA5F-4DE9-BB4E-3061AA71A5F9}">
      <dgm:prSet/>
      <dgm:spPr/>
      <dgm:t>
        <a:bodyPr/>
        <a:lstStyle/>
        <a:p>
          <a:endParaRPr lang="en-IN"/>
        </a:p>
      </dgm:t>
    </dgm:pt>
    <dgm:pt modelId="{72E9CD72-D3F5-4AC6-B9EB-93C812295E4C}" type="sibTrans" cxnId="{4828AED6-AA5F-4DE9-BB4E-3061AA71A5F9}">
      <dgm:prSet/>
      <dgm:spPr/>
      <dgm:t>
        <a:bodyPr/>
        <a:lstStyle/>
        <a:p>
          <a:endParaRPr lang="en-IN"/>
        </a:p>
      </dgm:t>
    </dgm:pt>
    <dgm:pt modelId="{AABF920A-397A-418F-ACDC-E15A64A69DE9}" type="pres">
      <dgm:prSet presAssocID="{0B4CCF60-3AC3-4652-ACCE-ABDD47142CBF}" presName="Name0" presStyleCnt="0">
        <dgm:presLayoutVars>
          <dgm:dir/>
          <dgm:animLvl val="lvl"/>
          <dgm:resizeHandles val="exact"/>
        </dgm:presLayoutVars>
      </dgm:prSet>
      <dgm:spPr/>
    </dgm:pt>
    <dgm:pt modelId="{1035CF60-FA42-40D6-BB0A-5D523C52F994}" type="pres">
      <dgm:prSet presAssocID="{69ACD0DF-523F-486A-A6BF-F91D8EF39CDB}" presName="linNode" presStyleCnt="0"/>
      <dgm:spPr/>
    </dgm:pt>
    <dgm:pt modelId="{5F798C39-1876-4D70-881E-60F536FD0986}" type="pres">
      <dgm:prSet presAssocID="{69ACD0DF-523F-486A-A6BF-F91D8EF39CDB}" presName="parentText" presStyleLbl="node1" presStyleIdx="0" presStyleCnt="3">
        <dgm:presLayoutVars>
          <dgm:chMax val="1"/>
          <dgm:bulletEnabled val="1"/>
        </dgm:presLayoutVars>
      </dgm:prSet>
      <dgm:spPr/>
    </dgm:pt>
    <dgm:pt modelId="{659B1A8D-BFE0-49DF-B3C2-4CDE85AD398E}" type="pres">
      <dgm:prSet presAssocID="{69ACD0DF-523F-486A-A6BF-F91D8EF39CDB}" presName="descendantText" presStyleLbl="alignAccFollowNode1" presStyleIdx="0" presStyleCnt="3">
        <dgm:presLayoutVars>
          <dgm:bulletEnabled val="1"/>
        </dgm:presLayoutVars>
      </dgm:prSet>
      <dgm:spPr/>
    </dgm:pt>
    <dgm:pt modelId="{C9EEB82E-6606-4C15-83A2-A7DC6676CC6A}" type="pres">
      <dgm:prSet presAssocID="{7FC44D1D-E0C2-4531-8B43-505E79F89976}" presName="sp" presStyleCnt="0"/>
      <dgm:spPr/>
    </dgm:pt>
    <dgm:pt modelId="{2B3985D2-F8F5-40D2-80A0-98BFB6382B60}" type="pres">
      <dgm:prSet presAssocID="{3C8E8D18-052C-4E18-90E9-D5C06AA011EB}" presName="linNode" presStyleCnt="0"/>
      <dgm:spPr/>
    </dgm:pt>
    <dgm:pt modelId="{03CEE407-F5B7-4B33-AB7C-57477F7959CB}" type="pres">
      <dgm:prSet presAssocID="{3C8E8D18-052C-4E18-90E9-D5C06AA011EB}" presName="parentText" presStyleLbl="node1" presStyleIdx="1" presStyleCnt="3">
        <dgm:presLayoutVars>
          <dgm:chMax val="1"/>
          <dgm:bulletEnabled val="1"/>
        </dgm:presLayoutVars>
      </dgm:prSet>
      <dgm:spPr/>
    </dgm:pt>
    <dgm:pt modelId="{70C5614F-CB18-4942-83E2-7ABCD1EB8D74}" type="pres">
      <dgm:prSet presAssocID="{3C8E8D18-052C-4E18-90E9-D5C06AA011EB}" presName="descendantText" presStyleLbl="alignAccFollowNode1" presStyleIdx="1" presStyleCnt="3">
        <dgm:presLayoutVars>
          <dgm:bulletEnabled val="1"/>
        </dgm:presLayoutVars>
      </dgm:prSet>
      <dgm:spPr/>
    </dgm:pt>
    <dgm:pt modelId="{796BA88C-A7FF-4CCB-8A68-E3E5DF749D24}" type="pres">
      <dgm:prSet presAssocID="{F5324129-D313-4005-BB0B-8119D1BEE68D}" presName="sp" presStyleCnt="0"/>
      <dgm:spPr/>
    </dgm:pt>
    <dgm:pt modelId="{83317FCC-5E25-4350-8C7E-CDDE94D91321}" type="pres">
      <dgm:prSet presAssocID="{400EAB5C-D49D-4E8F-A3D3-9FE87177B38B}" presName="linNode" presStyleCnt="0"/>
      <dgm:spPr/>
    </dgm:pt>
    <dgm:pt modelId="{6B507B32-FF99-4D26-9D8F-E1CE7EDECCEE}" type="pres">
      <dgm:prSet presAssocID="{400EAB5C-D49D-4E8F-A3D3-9FE87177B38B}" presName="parentText" presStyleLbl="node1" presStyleIdx="2" presStyleCnt="3">
        <dgm:presLayoutVars>
          <dgm:chMax val="1"/>
          <dgm:bulletEnabled val="1"/>
        </dgm:presLayoutVars>
      </dgm:prSet>
      <dgm:spPr/>
    </dgm:pt>
    <dgm:pt modelId="{C27E1EDB-C991-4F8C-BF7A-53DB66334DAB}" type="pres">
      <dgm:prSet presAssocID="{400EAB5C-D49D-4E8F-A3D3-9FE87177B38B}" presName="descendantText" presStyleLbl="alignAccFollowNode1" presStyleIdx="2" presStyleCnt="3">
        <dgm:presLayoutVars>
          <dgm:bulletEnabled val="1"/>
        </dgm:presLayoutVars>
      </dgm:prSet>
      <dgm:spPr/>
    </dgm:pt>
  </dgm:ptLst>
  <dgm:cxnLst>
    <dgm:cxn modelId="{E4498602-E9D7-4317-97B5-67A59010941F}" type="presOf" srcId="{970230CA-D885-4FA7-826B-2E48500BCED2}" destId="{659B1A8D-BFE0-49DF-B3C2-4CDE85AD398E}" srcOrd="0" destOrd="0" presId="urn:microsoft.com/office/officeart/2005/8/layout/vList5"/>
    <dgm:cxn modelId="{0976670A-40C0-43EA-BB5E-6203B82DA5F1}" srcId="{69ACD0DF-523F-486A-A6BF-F91D8EF39CDB}" destId="{970230CA-D885-4FA7-826B-2E48500BCED2}" srcOrd="0" destOrd="0" parTransId="{45EBA7B4-D1A5-4CB3-A036-492713C48DC2}" sibTransId="{38F0D65F-CC8D-4B39-8B03-B8B7FC5A84A3}"/>
    <dgm:cxn modelId="{5AB2952D-2562-4E8E-A291-A2EC97C25050}" type="presOf" srcId="{69ACD0DF-523F-486A-A6BF-F91D8EF39CDB}" destId="{5F798C39-1876-4D70-881E-60F536FD0986}" srcOrd="0" destOrd="0" presId="urn:microsoft.com/office/officeart/2005/8/layout/vList5"/>
    <dgm:cxn modelId="{11E2C438-A6CA-497A-B097-D620414FC7E8}" type="presOf" srcId="{5B951FBA-65DE-4D66-BC5E-CE396F732300}" destId="{70C5614F-CB18-4942-83E2-7ABCD1EB8D74}" srcOrd="0" destOrd="0" presId="urn:microsoft.com/office/officeart/2005/8/layout/vList5"/>
    <dgm:cxn modelId="{5003CE6E-2273-47B9-8409-13B3CDAAD05E}" srcId="{0B4CCF60-3AC3-4652-ACCE-ABDD47142CBF}" destId="{3C8E8D18-052C-4E18-90E9-D5C06AA011EB}" srcOrd="1" destOrd="0" parTransId="{82F55FBE-DB5D-42EB-8523-D1F25DE12B5F}" sibTransId="{F5324129-D313-4005-BB0B-8119D1BEE68D}"/>
    <dgm:cxn modelId="{73BC834F-6B8B-47C6-A5DF-C4702172C915}" type="presOf" srcId="{400EAB5C-D49D-4E8F-A3D3-9FE87177B38B}" destId="{6B507B32-FF99-4D26-9D8F-E1CE7EDECCEE}" srcOrd="0" destOrd="0" presId="urn:microsoft.com/office/officeart/2005/8/layout/vList5"/>
    <dgm:cxn modelId="{2DE23FA3-5AD5-4E26-A668-8A689CE3D6F2}" type="presOf" srcId="{3C8E8D18-052C-4E18-90E9-D5C06AA011EB}" destId="{03CEE407-F5B7-4B33-AB7C-57477F7959CB}" srcOrd="0" destOrd="0" presId="urn:microsoft.com/office/officeart/2005/8/layout/vList5"/>
    <dgm:cxn modelId="{C1309FA5-6BDF-447A-85EC-23800BCE9663}" type="presOf" srcId="{132A32A8-4744-4A76-B4C1-549994A75033}" destId="{C27E1EDB-C991-4F8C-BF7A-53DB66334DAB}" srcOrd="0" destOrd="0" presId="urn:microsoft.com/office/officeart/2005/8/layout/vList5"/>
    <dgm:cxn modelId="{4828AED6-AA5F-4DE9-BB4E-3061AA71A5F9}" srcId="{400EAB5C-D49D-4E8F-A3D3-9FE87177B38B}" destId="{132A32A8-4744-4A76-B4C1-549994A75033}" srcOrd="0" destOrd="0" parTransId="{83098D87-E669-4ED0-B73D-C810798BF148}" sibTransId="{72E9CD72-D3F5-4AC6-B9EB-93C812295E4C}"/>
    <dgm:cxn modelId="{95B275EA-FE69-45F9-96A4-9D313156DBA0}" srcId="{3C8E8D18-052C-4E18-90E9-D5C06AA011EB}" destId="{5B951FBA-65DE-4D66-BC5E-CE396F732300}" srcOrd="0" destOrd="0" parTransId="{C00C77C7-04EC-437D-905A-B30C711E2970}" sibTransId="{2AB9ED8D-7C6F-4FF5-B3EB-033E6D02E90A}"/>
    <dgm:cxn modelId="{3E0650ED-792A-4702-A9FC-7F09E3CEF603}" srcId="{0B4CCF60-3AC3-4652-ACCE-ABDD47142CBF}" destId="{69ACD0DF-523F-486A-A6BF-F91D8EF39CDB}" srcOrd="0" destOrd="0" parTransId="{5CE5FF9D-EEDC-451A-8F12-AE59B16706E1}" sibTransId="{7FC44D1D-E0C2-4531-8B43-505E79F89976}"/>
    <dgm:cxn modelId="{2ED617EE-8BD1-4953-A9AA-AAD594F573A1}" srcId="{0B4CCF60-3AC3-4652-ACCE-ABDD47142CBF}" destId="{400EAB5C-D49D-4E8F-A3D3-9FE87177B38B}" srcOrd="2" destOrd="0" parTransId="{6DD2AFFD-E1CC-4195-8C68-2E602D6B41A4}" sibTransId="{E3535A0D-5A56-4526-AB20-87D61BBDF63F}"/>
    <dgm:cxn modelId="{46B355FE-7C86-4E5C-8AA6-CE139B7E9FC5}" type="presOf" srcId="{0B4CCF60-3AC3-4652-ACCE-ABDD47142CBF}" destId="{AABF920A-397A-418F-ACDC-E15A64A69DE9}" srcOrd="0" destOrd="0" presId="urn:microsoft.com/office/officeart/2005/8/layout/vList5"/>
    <dgm:cxn modelId="{E666293E-64CA-496E-944B-4FC383E88CE8}" type="presParOf" srcId="{AABF920A-397A-418F-ACDC-E15A64A69DE9}" destId="{1035CF60-FA42-40D6-BB0A-5D523C52F994}" srcOrd="0" destOrd="0" presId="urn:microsoft.com/office/officeart/2005/8/layout/vList5"/>
    <dgm:cxn modelId="{47425A85-733A-4D3B-B401-16C6AB03BF2E}" type="presParOf" srcId="{1035CF60-FA42-40D6-BB0A-5D523C52F994}" destId="{5F798C39-1876-4D70-881E-60F536FD0986}" srcOrd="0" destOrd="0" presId="urn:microsoft.com/office/officeart/2005/8/layout/vList5"/>
    <dgm:cxn modelId="{FB146995-526A-4C98-87C4-FB037C9D7DC0}" type="presParOf" srcId="{1035CF60-FA42-40D6-BB0A-5D523C52F994}" destId="{659B1A8D-BFE0-49DF-B3C2-4CDE85AD398E}" srcOrd="1" destOrd="0" presId="urn:microsoft.com/office/officeart/2005/8/layout/vList5"/>
    <dgm:cxn modelId="{9A2487ED-8E2E-4868-A40F-E2526525D233}" type="presParOf" srcId="{AABF920A-397A-418F-ACDC-E15A64A69DE9}" destId="{C9EEB82E-6606-4C15-83A2-A7DC6676CC6A}" srcOrd="1" destOrd="0" presId="urn:microsoft.com/office/officeart/2005/8/layout/vList5"/>
    <dgm:cxn modelId="{A400A620-ABC2-41E6-BA98-B1B9D934E8BB}" type="presParOf" srcId="{AABF920A-397A-418F-ACDC-E15A64A69DE9}" destId="{2B3985D2-F8F5-40D2-80A0-98BFB6382B60}" srcOrd="2" destOrd="0" presId="urn:microsoft.com/office/officeart/2005/8/layout/vList5"/>
    <dgm:cxn modelId="{DA5A7A42-5CA1-4749-998F-2B992855B1F7}" type="presParOf" srcId="{2B3985D2-F8F5-40D2-80A0-98BFB6382B60}" destId="{03CEE407-F5B7-4B33-AB7C-57477F7959CB}" srcOrd="0" destOrd="0" presId="urn:microsoft.com/office/officeart/2005/8/layout/vList5"/>
    <dgm:cxn modelId="{C30A5C83-64FC-4E23-A428-4114943E534E}" type="presParOf" srcId="{2B3985D2-F8F5-40D2-80A0-98BFB6382B60}" destId="{70C5614F-CB18-4942-83E2-7ABCD1EB8D74}" srcOrd="1" destOrd="0" presId="urn:microsoft.com/office/officeart/2005/8/layout/vList5"/>
    <dgm:cxn modelId="{F8C47682-0C28-4DA6-862E-DB34E9BE0705}" type="presParOf" srcId="{AABF920A-397A-418F-ACDC-E15A64A69DE9}" destId="{796BA88C-A7FF-4CCB-8A68-E3E5DF749D24}" srcOrd="3" destOrd="0" presId="urn:microsoft.com/office/officeart/2005/8/layout/vList5"/>
    <dgm:cxn modelId="{EBFF6A82-D291-4615-A69F-C839861ADEBF}" type="presParOf" srcId="{AABF920A-397A-418F-ACDC-E15A64A69DE9}" destId="{83317FCC-5E25-4350-8C7E-CDDE94D91321}" srcOrd="4" destOrd="0" presId="urn:microsoft.com/office/officeart/2005/8/layout/vList5"/>
    <dgm:cxn modelId="{A0EB942F-B91F-49D0-9C9D-251B4B9D4711}" type="presParOf" srcId="{83317FCC-5E25-4350-8C7E-CDDE94D91321}" destId="{6B507B32-FF99-4D26-9D8F-E1CE7EDECCEE}" srcOrd="0" destOrd="0" presId="urn:microsoft.com/office/officeart/2005/8/layout/vList5"/>
    <dgm:cxn modelId="{58E558AF-0B65-4D7D-9AAF-BC96F066BEDC}" type="presParOf" srcId="{83317FCC-5E25-4350-8C7E-CDDE94D91321}" destId="{C27E1EDB-C991-4F8C-BF7A-53DB66334DA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B1A8D-BFE0-49DF-B3C2-4CDE85AD398E}">
      <dsp:nvSpPr>
        <dsp:cNvPr id="0" name=""/>
        <dsp:cNvSpPr/>
      </dsp:nvSpPr>
      <dsp:spPr>
        <a:xfrm rot="5400000">
          <a:off x="5534477" y="-2163895"/>
          <a:ext cx="1125036" cy="5738348"/>
        </a:xfrm>
        <a:prstGeom prst="round2SameRect">
          <a:avLst/>
        </a:prstGeom>
        <a:solidFill>
          <a:schemeClr val="accent4">
            <a:alpha val="90000"/>
            <a:tint val="55000"/>
            <a:hueOff val="0"/>
            <a:satOff val="0"/>
            <a:lumOff val="0"/>
            <a:alphaOff val="0"/>
          </a:schemeClr>
        </a:solidFill>
        <a:ln w="1270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Char char="•"/>
          </a:pPr>
          <a:r>
            <a:rPr lang="en-IN" sz="1800" kern="1200" dirty="0"/>
            <a:t>Fault-tolerance is the ability of a system to remain in operation even if some of the components used to build the system fail</a:t>
          </a:r>
        </a:p>
      </dsp:txBody>
      <dsp:txXfrm rot="-5400000">
        <a:off x="3227821" y="197681"/>
        <a:ext cx="5683428" cy="1015196"/>
      </dsp:txXfrm>
    </dsp:sp>
    <dsp:sp modelId="{5F798C39-1876-4D70-881E-60F536FD0986}">
      <dsp:nvSpPr>
        <dsp:cNvPr id="0" name=""/>
        <dsp:cNvSpPr/>
      </dsp:nvSpPr>
      <dsp:spPr>
        <a:xfrm>
          <a:off x="0" y="2130"/>
          <a:ext cx="3227821" cy="1406295"/>
        </a:xfrm>
        <a:prstGeom prst="roundRect">
          <a:avLst/>
        </a:prstGeom>
        <a:solidFill>
          <a:schemeClr val="accent4">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schemeClr val="tx1"/>
              </a:solidFill>
            </a:rPr>
            <a:t>Fault Tolerance</a:t>
          </a:r>
        </a:p>
      </dsp:txBody>
      <dsp:txXfrm>
        <a:off x="68650" y="70780"/>
        <a:ext cx="3090521" cy="1268995"/>
      </dsp:txXfrm>
    </dsp:sp>
    <dsp:sp modelId="{70C5614F-CB18-4942-83E2-7ABCD1EB8D74}">
      <dsp:nvSpPr>
        <dsp:cNvPr id="0" name=""/>
        <dsp:cNvSpPr/>
      </dsp:nvSpPr>
      <dsp:spPr>
        <a:xfrm rot="5400000">
          <a:off x="5534477" y="-687285"/>
          <a:ext cx="1125036" cy="5738348"/>
        </a:xfrm>
        <a:prstGeom prst="round2SameRect">
          <a:avLst/>
        </a:prstGeom>
        <a:solidFill>
          <a:schemeClr val="accent4">
            <a:alpha val="90000"/>
            <a:tint val="55000"/>
            <a:hueOff val="0"/>
            <a:satOff val="0"/>
            <a:lumOff val="0"/>
            <a:alphaOff val="0"/>
          </a:schemeClr>
        </a:solidFill>
        <a:ln w="1270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Char char="•"/>
          </a:pPr>
          <a:r>
            <a:rPr lang="en-IN" sz="1800" kern="1200" dirty="0">
              <a:solidFill>
                <a:prstClr val="black">
                  <a:hueOff val="0"/>
                  <a:satOff val="0"/>
                  <a:lumOff val="0"/>
                  <a:alphaOff val="0"/>
                </a:prstClr>
              </a:solidFill>
              <a:latin typeface="Graphik"/>
              <a:ea typeface="+mn-ea"/>
              <a:cs typeface="+mn-cs"/>
            </a:rPr>
            <a:t>Scalability refers to the concept of a system in which every application or piece of infrastructure can be expanded to handle increased load.</a:t>
          </a:r>
        </a:p>
      </dsp:txBody>
      <dsp:txXfrm rot="-5400000">
        <a:off x="3227821" y="1674291"/>
        <a:ext cx="5683428" cy="1015196"/>
      </dsp:txXfrm>
    </dsp:sp>
    <dsp:sp modelId="{03CEE407-F5B7-4B33-AB7C-57477F7959CB}">
      <dsp:nvSpPr>
        <dsp:cNvPr id="0" name=""/>
        <dsp:cNvSpPr/>
      </dsp:nvSpPr>
      <dsp:spPr>
        <a:xfrm>
          <a:off x="0" y="1478740"/>
          <a:ext cx="3227821" cy="1406295"/>
        </a:xfrm>
        <a:prstGeom prst="roundRect">
          <a:avLst/>
        </a:prstGeom>
        <a:solidFill>
          <a:schemeClr val="accent4">
            <a:shade val="50000"/>
            <a:hueOff val="422911"/>
            <a:satOff val="0"/>
            <a:lumOff val="322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prstClr val="black"/>
              </a:solidFill>
              <a:latin typeface="Graphik"/>
              <a:ea typeface="+mn-ea"/>
              <a:cs typeface="+mn-cs"/>
            </a:rPr>
            <a:t>Scalability</a:t>
          </a:r>
        </a:p>
      </dsp:txBody>
      <dsp:txXfrm>
        <a:off x="68650" y="1547390"/>
        <a:ext cx="3090521" cy="1268995"/>
      </dsp:txXfrm>
    </dsp:sp>
    <dsp:sp modelId="{C27E1EDB-C991-4F8C-BF7A-53DB66334DAB}">
      <dsp:nvSpPr>
        <dsp:cNvPr id="0" name=""/>
        <dsp:cNvSpPr/>
      </dsp:nvSpPr>
      <dsp:spPr>
        <a:xfrm rot="5400000">
          <a:off x="5534477" y="789324"/>
          <a:ext cx="1125036" cy="5738348"/>
        </a:xfrm>
        <a:prstGeom prst="round2SameRect">
          <a:avLst/>
        </a:prstGeom>
        <a:solidFill>
          <a:schemeClr val="accent4">
            <a:alpha val="90000"/>
            <a:tint val="55000"/>
            <a:hueOff val="0"/>
            <a:satOff val="0"/>
            <a:lumOff val="0"/>
            <a:alphaOff val="0"/>
          </a:schemeClr>
        </a:solidFill>
        <a:ln w="1270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800100">
            <a:lnSpc>
              <a:spcPct val="90000"/>
            </a:lnSpc>
            <a:spcBef>
              <a:spcPct val="0"/>
            </a:spcBef>
            <a:spcAft>
              <a:spcPct val="15000"/>
            </a:spcAft>
            <a:buFont typeface="Arial" panose="020B0604020202020204" pitchFamily="34" charset="0"/>
            <a:buChar char="•"/>
          </a:pPr>
          <a:r>
            <a:rPr lang="en-US" sz="1800" kern="1200" dirty="0">
              <a:solidFill>
                <a:prstClr val="black">
                  <a:hueOff val="0"/>
                  <a:satOff val="0"/>
                  <a:lumOff val="0"/>
                  <a:alphaOff val="0"/>
                </a:prstClr>
              </a:solidFill>
              <a:latin typeface="Graphik"/>
              <a:ea typeface="+mn-ea"/>
              <a:cs typeface="+mn-cs"/>
            </a:rPr>
            <a:t>The process, policies, and procedures related to restoring service after a catastrophic event</a:t>
          </a:r>
          <a:endParaRPr lang="en-IN" sz="1800" kern="1200" dirty="0">
            <a:solidFill>
              <a:prstClr val="black">
                <a:hueOff val="0"/>
                <a:satOff val="0"/>
                <a:lumOff val="0"/>
                <a:alphaOff val="0"/>
              </a:prstClr>
            </a:solidFill>
            <a:latin typeface="Graphik"/>
            <a:ea typeface="+mn-ea"/>
            <a:cs typeface="+mn-cs"/>
          </a:endParaRPr>
        </a:p>
      </dsp:txBody>
      <dsp:txXfrm rot="-5400000">
        <a:off x="3227821" y="3150900"/>
        <a:ext cx="5683428" cy="1015196"/>
      </dsp:txXfrm>
    </dsp:sp>
    <dsp:sp modelId="{6B507B32-FF99-4D26-9D8F-E1CE7EDECCEE}">
      <dsp:nvSpPr>
        <dsp:cNvPr id="0" name=""/>
        <dsp:cNvSpPr/>
      </dsp:nvSpPr>
      <dsp:spPr>
        <a:xfrm>
          <a:off x="0" y="2955350"/>
          <a:ext cx="3227821" cy="1406295"/>
        </a:xfrm>
        <a:prstGeom prst="roundRect">
          <a:avLst/>
        </a:prstGeom>
        <a:solidFill>
          <a:schemeClr val="accent4">
            <a:shade val="50000"/>
            <a:hueOff val="422911"/>
            <a:satOff val="0"/>
            <a:lumOff val="322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prstClr val="black"/>
              </a:solidFill>
              <a:latin typeface="Graphik"/>
              <a:ea typeface="+mn-ea"/>
              <a:cs typeface="+mn-cs"/>
            </a:rPr>
            <a:t>Recoverability</a:t>
          </a:r>
        </a:p>
      </dsp:txBody>
      <dsp:txXfrm>
        <a:off x="68650" y="3024000"/>
        <a:ext cx="3090521" cy="126899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A152D-2352-43D4-B54C-2F347C5EE05E}" type="datetimeFigureOut">
              <a:rPr lang="en-US" smtClean="0"/>
              <a:t>9/24/2020</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27CF2-43D9-4177-B1E6-91F4D2A9287E}" type="slidenum">
              <a:rPr lang="en-US" smtClean="0"/>
              <a:t>‹#›</a:t>
            </a:fld>
            <a:endParaRPr lang="en-US" dirty="0"/>
          </a:p>
        </p:txBody>
      </p:sp>
    </p:spTree>
    <p:extLst>
      <p:ext uri="{BB962C8B-B14F-4D97-AF65-F5344CB8AC3E}">
        <p14:creationId xmlns:p14="http://schemas.microsoft.com/office/powerpoint/2010/main" val="237806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7</a:t>
            </a:fld>
            <a:endParaRPr lang="en-US"/>
          </a:p>
        </p:txBody>
      </p:sp>
    </p:spTree>
    <p:extLst>
      <p:ext uri="{BB962C8B-B14F-4D97-AF65-F5344CB8AC3E}">
        <p14:creationId xmlns:p14="http://schemas.microsoft.com/office/powerpoint/2010/main" val="346289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8</a:t>
            </a:fld>
            <a:endParaRPr lang="en-US"/>
          </a:p>
        </p:txBody>
      </p:sp>
    </p:spTree>
    <p:extLst>
      <p:ext uri="{BB962C8B-B14F-4D97-AF65-F5344CB8AC3E}">
        <p14:creationId xmlns:p14="http://schemas.microsoft.com/office/powerpoint/2010/main" val="543001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9</a:t>
            </a:fld>
            <a:endParaRPr lang="en-US"/>
          </a:p>
        </p:txBody>
      </p:sp>
    </p:spTree>
    <p:extLst>
      <p:ext uri="{BB962C8B-B14F-4D97-AF65-F5344CB8AC3E}">
        <p14:creationId xmlns:p14="http://schemas.microsoft.com/office/powerpoint/2010/main" val="969074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10</a:t>
            </a:fld>
            <a:endParaRPr lang="en-US"/>
          </a:p>
        </p:txBody>
      </p:sp>
    </p:spTree>
    <p:extLst>
      <p:ext uri="{BB962C8B-B14F-4D97-AF65-F5344CB8AC3E}">
        <p14:creationId xmlns:p14="http://schemas.microsoft.com/office/powerpoint/2010/main" val="1832245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11</a:t>
            </a:fld>
            <a:endParaRPr lang="en-US"/>
          </a:p>
        </p:txBody>
      </p:sp>
    </p:spTree>
    <p:extLst>
      <p:ext uri="{BB962C8B-B14F-4D97-AF65-F5344CB8AC3E}">
        <p14:creationId xmlns:p14="http://schemas.microsoft.com/office/powerpoint/2010/main" val="2177674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12</a:t>
            </a:fld>
            <a:endParaRPr lang="en-US"/>
          </a:p>
        </p:txBody>
      </p:sp>
    </p:spTree>
    <p:extLst>
      <p:ext uri="{BB962C8B-B14F-4D97-AF65-F5344CB8AC3E}">
        <p14:creationId xmlns:p14="http://schemas.microsoft.com/office/powerpoint/2010/main" val="1205246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13</a:t>
            </a:fld>
            <a:endParaRPr lang="en-US"/>
          </a:p>
        </p:txBody>
      </p:sp>
    </p:spTree>
    <p:extLst>
      <p:ext uri="{BB962C8B-B14F-4D97-AF65-F5344CB8AC3E}">
        <p14:creationId xmlns:p14="http://schemas.microsoft.com/office/powerpoint/2010/main" val="1241950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14</a:t>
            </a:fld>
            <a:endParaRPr lang="en-US"/>
          </a:p>
        </p:txBody>
      </p:sp>
    </p:spTree>
    <p:extLst>
      <p:ext uri="{BB962C8B-B14F-4D97-AF65-F5344CB8AC3E}">
        <p14:creationId xmlns:p14="http://schemas.microsoft.com/office/powerpoint/2010/main" val="21387287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64985373"/>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476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Tree>
    <p:extLst>
      <p:ext uri="{BB962C8B-B14F-4D97-AF65-F5344CB8AC3E}">
        <p14:creationId xmlns:p14="http://schemas.microsoft.com/office/powerpoint/2010/main" val="3599980087"/>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919109099"/>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3597271105"/>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8527728"/>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008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781597129"/>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202018241"/>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1872011597"/>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10" name="Slide Number Placeholder 9"/>
          <p:cNvSpPr>
            <a:spLocks noGrp="1"/>
          </p:cNvSpPr>
          <p:nvPr>
            <p:ph type="sldNum" sz="quarter" idx="17"/>
          </p:nvPr>
        </p:nvSpPr>
        <p:spPr>
          <a:xfrm>
            <a:off x="13590205" y="6843453"/>
            <a:ext cx="656737" cy="355859"/>
          </a:xfrm>
          <a:prstGeom prst="rect">
            <a:avLst/>
          </a:prstGeom>
        </p:spPr>
        <p:txBody>
          <a:bodyPr/>
          <a:lstStyle/>
          <a:p>
            <a:fld id="{4F9AC08D-23A9-440E-BCB9-AA1E9877CC38}" type="slidenum">
              <a:rPr lang="en-US" smtClean="0"/>
              <a:pPr/>
              <a:t>‹#›</a:t>
            </a:fld>
            <a:endParaRPr lang="en-US" dirty="0"/>
          </a:p>
        </p:txBody>
      </p:sp>
      <p:sp>
        <p:nvSpPr>
          <p:cNvPr id="11" name="Title 10"/>
          <p:cNvSpPr>
            <a:spLocks noGrp="1"/>
          </p:cNvSpPr>
          <p:nvPr>
            <p:ph type="title"/>
          </p:nvPr>
        </p:nvSpPr>
        <p:spPr>
          <a:xfrm>
            <a:off x="450010" y="301642"/>
            <a:ext cx="13500200" cy="1359871"/>
          </a:xfrm>
        </p:spPr>
        <p:txBody>
          <a:bodyPr/>
          <a:lstStyle/>
          <a:p>
            <a:r>
              <a:rPr lang="en-US" dirty="0"/>
              <a:t>Click to edit Master title style</a:t>
            </a:r>
          </a:p>
        </p:txBody>
      </p:sp>
      <p:sp>
        <p:nvSpPr>
          <p:cNvPr id="5" name="Footer Placeholder 1">
            <a:extLst>
              <a:ext uri="{FF2B5EF4-FFF2-40B4-BE49-F238E27FC236}">
                <a16:creationId xmlns:a16="http://schemas.microsoft.com/office/drawing/2014/main" id="{E59041CF-919B-4138-B495-900C5F8EC477}"/>
              </a:ext>
            </a:extLst>
          </p:cNvPr>
          <p:cNvSpPr>
            <a:spLocks noGrp="1"/>
          </p:cNvSpPr>
          <p:nvPr>
            <p:ph type="ftr" sz="quarter" idx="16"/>
          </p:nvPr>
        </p:nvSpPr>
        <p:spPr>
          <a:xfrm>
            <a:off x="450010" y="6843454"/>
            <a:ext cx="6750098" cy="216646"/>
          </a:xfrm>
          <a:prstGeom prst="rect">
            <a:avLst/>
          </a:prstGeom>
        </p:spPr>
        <p:txBody>
          <a:bodyPr/>
          <a:lstStyle/>
          <a:p>
            <a:r>
              <a:rPr lang="en-US" dirty="0"/>
              <a:t>Copyright © 2020 Accenture. All rights reserved.</a:t>
            </a:r>
          </a:p>
        </p:txBody>
      </p:sp>
    </p:spTree>
    <p:extLst>
      <p:ext uri="{BB962C8B-B14F-4D97-AF65-F5344CB8AC3E}">
        <p14:creationId xmlns:p14="http://schemas.microsoft.com/office/powerpoint/2010/main" val="3037703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1794830"/>
            <a:ext cx="12420184" cy="2994714"/>
          </a:xfrm>
        </p:spPr>
        <p:txBody>
          <a:bodyPr anchor="b"/>
          <a:lstStyle>
            <a:lvl1pPr>
              <a:defRPr sz="6299"/>
            </a:lvl1pPr>
          </a:lstStyle>
          <a:p>
            <a:r>
              <a:rPr lang="en-US"/>
              <a:t>Click to edit Master title style</a:t>
            </a:r>
            <a:endParaRPr lang="en-US" dirty="0"/>
          </a:p>
        </p:txBody>
      </p:sp>
      <p:sp>
        <p:nvSpPr>
          <p:cNvPr id="3" name="Text Placeholder 2"/>
          <p:cNvSpPr>
            <a:spLocks noGrp="1"/>
          </p:cNvSpPr>
          <p:nvPr>
            <p:ph type="body" idx="1"/>
          </p:nvPr>
        </p:nvSpPr>
        <p:spPr>
          <a:xfrm>
            <a:off x="982514" y="4817875"/>
            <a:ext cx="12420184" cy="1574849"/>
          </a:xfrm>
        </p:spPr>
        <p:txBody>
          <a:bodyPr/>
          <a:lstStyle>
            <a:lvl1pPr marL="0" indent="0">
              <a:buNone/>
              <a:defRPr sz="2520">
                <a:solidFill>
                  <a:schemeClr val="tx1">
                    <a:tint val="75000"/>
                  </a:schemeClr>
                </a:solidFill>
              </a:defRPr>
            </a:lvl1pPr>
            <a:lvl2pPr marL="479969" indent="0">
              <a:buNone/>
              <a:defRPr sz="2100">
                <a:solidFill>
                  <a:schemeClr val="tx1">
                    <a:tint val="75000"/>
                  </a:schemeClr>
                </a:solidFill>
              </a:defRPr>
            </a:lvl2pPr>
            <a:lvl3pPr marL="959937" indent="0">
              <a:buNone/>
              <a:defRPr sz="1890">
                <a:solidFill>
                  <a:schemeClr val="tx1">
                    <a:tint val="75000"/>
                  </a:schemeClr>
                </a:solidFill>
              </a:defRPr>
            </a:lvl3pPr>
            <a:lvl4pPr marL="1439906" indent="0">
              <a:buNone/>
              <a:defRPr sz="1680">
                <a:solidFill>
                  <a:schemeClr val="tx1">
                    <a:tint val="75000"/>
                  </a:schemeClr>
                </a:solidFill>
              </a:defRPr>
            </a:lvl4pPr>
            <a:lvl5pPr marL="1919874" indent="0">
              <a:buNone/>
              <a:defRPr sz="1680">
                <a:solidFill>
                  <a:schemeClr val="tx1">
                    <a:tint val="75000"/>
                  </a:schemeClr>
                </a:solidFill>
              </a:defRPr>
            </a:lvl5pPr>
            <a:lvl6pPr marL="2399843" indent="0">
              <a:buNone/>
              <a:defRPr sz="1680">
                <a:solidFill>
                  <a:schemeClr val="tx1">
                    <a:tint val="75000"/>
                  </a:schemeClr>
                </a:solidFill>
              </a:defRPr>
            </a:lvl6pPr>
            <a:lvl7pPr marL="2879811" indent="0">
              <a:buNone/>
              <a:defRPr sz="1680">
                <a:solidFill>
                  <a:schemeClr val="tx1">
                    <a:tint val="75000"/>
                  </a:schemeClr>
                </a:solidFill>
              </a:defRPr>
            </a:lvl7pPr>
            <a:lvl8pPr marL="3359780" indent="0">
              <a:buNone/>
              <a:defRPr sz="1680">
                <a:solidFill>
                  <a:schemeClr val="tx1">
                    <a:tint val="75000"/>
                  </a:schemeClr>
                </a:solidFill>
              </a:defRPr>
            </a:lvl8pPr>
            <a:lvl9pPr marL="3839748"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9/24/2020</a:t>
            </a:fld>
            <a:endParaRPr lang="en-US" dirty="0"/>
          </a:p>
        </p:txBody>
      </p:sp>
      <p:sp>
        <p:nvSpPr>
          <p:cNvPr id="5" name="Footer Placeholder 4"/>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3089115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9/24/2020</a:t>
            </a:fld>
            <a:endParaRPr lang="en-US" dirty="0"/>
          </a:p>
        </p:txBody>
      </p:sp>
      <p:sp>
        <p:nvSpPr>
          <p:cNvPr id="3" name="Footer Placeholder 2"/>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1017379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C2197FA3-5B99-4628-AF84-433B48753126}"/>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18D19DBD-E973-44C3-8B09-B108FC95C381}"/>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84073C86-2D3D-4B84-8D9E-0812FB0289AC}"/>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202E3485-7BC5-41AE-8D69-F09B4D378FB6}"/>
                  </a:ext>
                </a:extLst>
              </p:cNvPr>
              <p:cNvPicPr>
                <a:picLocks noChangeAspect="1"/>
              </p:cNvPicPr>
              <p:nvPr/>
            </p:nvPicPr>
            <p:blipFill rotWithShape="1">
              <a:blip r:embed="rId7"/>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EE303FE2-D2C1-4374-8309-61C0C78D8621}"/>
                  </a:ext>
                </a:extLst>
              </p:cNvPr>
              <p:cNvPicPr>
                <a:picLocks noChangeAspect="1"/>
              </p:cNvPicPr>
              <p:nvPr/>
            </p:nvPicPr>
            <p:blipFill rotWithShape="1">
              <a:blip r:embed="rId7"/>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76C758B9-802A-48BF-9F27-C4292E2C5718}"/>
                </a:ext>
              </a:extLst>
            </p:cNvPr>
            <p:cNvPicPr>
              <a:picLocks noChangeAspect="1"/>
            </p:cNvPicPr>
            <p:nvPr/>
          </p:nvPicPr>
          <p:blipFill rotWithShape="1">
            <a:blip r:embed="rId7"/>
            <a:srcRect r="4037" b="60744"/>
            <a:stretch/>
          </p:blipFill>
          <p:spPr>
            <a:xfrm>
              <a:off x="9690100" y="5791200"/>
              <a:ext cx="4710113" cy="1408113"/>
            </a:xfrm>
            <a:prstGeom prst="rect">
              <a:avLst/>
            </a:prstGeom>
          </p:spPr>
        </p:pic>
      </p:grpSp>
      <p:sp>
        <p:nvSpPr>
          <p:cNvPr id="16" name="Rectangle 15">
            <a:extLst>
              <a:ext uri="{FF2B5EF4-FFF2-40B4-BE49-F238E27FC236}">
                <a16:creationId xmlns:a16="http://schemas.microsoft.com/office/drawing/2014/main" id="{9F7B7C6E-9A57-4D9F-BF37-625FCF543F78}"/>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57465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1DD628D9-A607-4FF2-A355-5E83EDE42EA9}"/>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grpSp>
        <p:nvGrpSpPr>
          <p:cNvPr id="11" name="Group 10">
            <a:extLst>
              <a:ext uri="{FF2B5EF4-FFF2-40B4-BE49-F238E27FC236}">
                <a16:creationId xmlns:a16="http://schemas.microsoft.com/office/drawing/2014/main" id="{07DD19EF-A0B7-4813-8B14-379C4D3C1C3E}"/>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38B02556-23E9-4398-9BBE-E28F901B1599}"/>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A274144B-D7C0-47C0-97B1-F9394434E5CC}"/>
                  </a:ext>
                </a:extLst>
              </p:cNvPr>
              <p:cNvPicPr>
                <a:picLocks noChangeAspect="1"/>
              </p:cNvPicPr>
              <p:nvPr/>
            </p:nvPicPr>
            <p:blipFill rotWithShape="1">
              <a:blip r:embed="rId10"/>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CFBA7F5D-3FE6-40B2-B98B-8894B276CFEE}"/>
                  </a:ext>
                </a:extLst>
              </p:cNvPr>
              <p:cNvPicPr>
                <a:picLocks noChangeAspect="1"/>
              </p:cNvPicPr>
              <p:nvPr/>
            </p:nvPicPr>
            <p:blipFill rotWithShape="1">
              <a:blip r:embed="rId10"/>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65B04B85-4A00-4598-BAB5-0F7F75E3FCE0}"/>
                </a:ext>
              </a:extLst>
            </p:cNvPr>
            <p:cNvPicPr>
              <a:picLocks noChangeAspect="1"/>
            </p:cNvPicPr>
            <p:nvPr/>
          </p:nvPicPr>
          <p:blipFill rotWithShape="1">
            <a:blip r:embed="rId10"/>
            <a:srcRect r="4037" b="60744"/>
            <a:stretch/>
          </p:blipFill>
          <p:spPr>
            <a:xfrm>
              <a:off x="9690100" y="5791200"/>
              <a:ext cx="4710113" cy="1408113"/>
            </a:xfrm>
            <a:prstGeom prst="rect">
              <a:avLst/>
            </a:prstGeom>
          </p:spPr>
        </p:pic>
      </p:grpSp>
      <p:sp>
        <p:nvSpPr>
          <p:cNvPr id="10" name="Rectangle 9">
            <a:extLst>
              <a:ext uri="{FF2B5EF4-FFF2-40B4-BE49-F238E27FC236}">
                <a16:creationId xmlns:a16="http://schemas.microsoft.com/office/drawing/2014/main" id="{8072F825-4C55-4DA7-BBA1-81872DDCE9B1}"/>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06213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713" r:id="rId7"/>
    <p:sldLayoutId id="2147483714" r:id="rId8"/>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d1.awsstatic.com/training-and-certification/docs-dev-associate/AWS-Certified-Developer-Associate_Exam-Guide.pdf"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AEDF-0238-4F9E-8067-974A03278C02}"/>
              </a:ext>
            </a:extLst>
          </p:cNvPr>
          <p:cNvSpPr>
            <a:spLocks noGrp="1"/>
          </p:cNvSpPr>
          <p:nvPr>
            <p:ph type="ctrTitle"/>
          </p:nvPr>
        </p:nvSpPr>
        <p:spPr>
          <a:xfrm>
            <a:off x="94741" y="2920692"/>
            <a:ext cx="10032485" cy="983764"/>
          </a:xfrm>
        </p:spPr>
        <p:txBody>
          <a:bodyPr/>
          <a:lstStyle/>
          <a:p>
            <a:br>
              <a:rPr lang="en-US" sz="2400" dirty="0"/>
            </a:br>
            <a:r>
              <a:rPr lang="en-US" sz="2400" dirty="0"/>
              <a:t>Cloud Elevate –Exam Readiness workshop</a:t>
            </a:r>
            <a:br>
              <a:rPr lang="en-US" sz="2400" dirty="0"/>
            </a:br>
            <a:br>
              <a:rPr lang="en-US" sz="2400" dirty="0"/>
            </a:br>
            <a:r>
              <a:rPr lang="en-US" sz="2400" dirty="0"/>
              <a:t>  AWS Certified Developer - Associate</a:t>
            </a:r>
            <a:endParaRPr lang="en-IN" sz="2800" dirty="0"/>
          </a:p>
        </p:txBody>
      </p:sp>
      <p:sp>
        <p:nvSpPr>
          <p:cNvPr id="3" name="Text Placeholder 2">
            <a:extLst>
              <a:ext uri="{FF2B5EF4-FFF2-40B4-BE49-F238E27FC236}">
                <a16:creationId xmlns:a16="http://schemas.microsoft.com/office/drawing/2014/main" id="{5056235A-690C-493E-9A78-BBEFE510A133}"/>
              </a:ext>
            </a:extLst>
          </p:cNvPr>
          <p:cNvSpPr>
            <a:spLocks noGrp="1"/>
          </p:cNvSpPr>
          <p:nvPr>
            <p:ph type="body" sz="quarter" idx="13"/>
          </p:nvPr>
        </p:nvSpPr>
        <p:spPr>
          <a:xfrm>
            <a:off x="94741" y="5025149"/>
            <a:ext cx="5063855" cy="983765"/>
          </a:xfrm>
        </p:spPr>
        <p:txBody>
          <a:bodyPr>
            <a:normAutofit/>
          </a:bodyPr>
          <a:lstStyle/>
          <a:p>
            <a:r>
              <a:rPr lang="en-US" sz="2400" dirty="0"/>
              <a:t>Developing and Deepening </a:t>
            </a:r>
          </a:p>
          <a:p>
            <a:r>
              <a:rPr lang="en-US" sz="2400" dirty="0"/>
              <a:t>Cloud skills @ATCI</a:t>
            </a:r>
          </a:p>
        </p:txBody>
      </p:sp>
    </p:spTree>
    <p:extLst>
      <p:ext uri="{BB962C8B-B14F-4D97-AF65-F5344CB8AC3E}">
        <p14:creationId xmlns:p14="http://schemas.microsoft.com/office/powerpoint/2010/main" val="970403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37BC98-1B5E-418E-9453-30AF408D4067}"/>
              </a:ext>
            </a:extLst>
          </p:cNvPr>
          <p:cNvSpPr/>
          <p:nvPr/>
        </p:nvSpPr>
        <p:spPr>
          <a:xfrm>
            <a:off x="1393089" y="6704497"/>
            <a:ext cx="4594528" cy="378565"/>
          </a:xfrm>
          <a:prstGeom prst="rect">
            <a:avLst/>
          </a:prstGeom>
        </p:spPr>
        <p:txBody>
          <a:bodyPr wrap="none">
            <a:spAutoFit/>
          </a:bodyPr>
          <a:lstStyle/>
          <a:p>
            <a:r>
              <a:rPr lang="en-US" sz="1860" i="1" dirty="0">
                <a:latin typeface="Graphik Medium" panose="020B0603030202060203" pitchFamily="34" charset="0"/>
              </a:rPr>
              <a:t>https://aws.amazon.com/certification/</a:t>
            </a:r>
          </a:p>
        </p:txBody>
      </p:sp>
      <p:sp>
        <p:nvSpPr>
          <p:cNvPr id="4" name="TextBox 3">
            <a:extLst>
              <a:ext uri="{FF2B5EF4-FFF2-40B4-BE49-F238E27FC236}">
                <a16:creationId xmlns:a16="http://schemas.microsoft.com/office/drawing/2014/main" id="{7DD052C8-8862-4872-823F-32DD9632586B}"/>
              </a:ext>
            </a:extLst>
          </p:cNvPr>
          <p:cNvSpPr txBox="1"/>
          <p:nvPr/>
        </p:nvSpPr>
        <p:spPr>
          <a:xfrm>
            <a:off x="285637" y="132966"/>
            <a:ext cx="5852884" cy="584775"/>
          </a:xfrm>
          <a:prstGeom prst="rect">
            <a:avLst/>
          </a:prstGeom>
          <a:noFill/>
        </p:spPr>
        <p:txBody>
          <a:bodyPr wrap="none" rtlCol="0">
            <a:spAutoFit/>
          </a:bodyPr>
          <a:lstStyle/>
          <a:p>
            <a:r>
              <a:rPr lang="en-US" sz="3200" b="1" dirty="0">
                <a:solidFill>
                  <a:schemeClr val="bg1"/>
                </a:solidFill>
                <a:latin typeface="Graphik Black" panose="020B0A03030202060203" pitchFamily="34" charset="0"/>
              </a:rPr>
              <a:t>AWS CERTIFICATION PATH</a:t>
            </a:r>
          </a:p>
        </p:txBody>
      </p:sp>
      <p:sp>
        <p:nvSpPr>
          <p:cNvPr id="5" name="Slide Number Placeholder 2">
            <a:extLst>
              <a:ext uri="{FF2B5EF4-FFF2-40B4-BE49-F238E27FC236}">
                <a16:creationId xmlns:a16="http://schemas.microsoft.com/office/drawing/2014/main" id="{D63F9090-E8F4-4ACC-98F1-7C76216DC883}"/>
              </a:ext>
            </a:extLst>
          </p:cNvPr>
          <p:cNvSpPr txBox="1">
            <a:spLocks/>
          </p:cNvSpPr>
          <p:nvPr/>
        </p:nvSpPr>
        <p:spPr>
          <a:xfrm>
            <a:off x="13480027" y="6794090"/>
            <a:ext cx="470184" cy="26601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2</a:t>
            </a:fld>
            <a:endParaRPr lang="en-US" dirty="0"/>
          </a:p>
        </p:txBody>
      </p:sp>
      <p:pic>
        <p:nvPicPr>
          <p:cNvPr id="8" name="Picture 7">
            <a:extLst>
              <a:ext uri="{FF2B5EF4-FFF2-40B4-BE49-F238E27FC236}">
                <a16:creationId xmlns:a16="http://schemas.microsoft.com/office/drawing/2014/main" id="{F90B2B95-EB5F-4581-AC0D-03C133D9968F}"/>
              </a:ext>
            </a:extLst>
          </p:cNvPr>
          <p:cNvPicPr>
            <a:picLocks noChangeAspect="1"/>
          </p:cNvPicPr>
          <p:nvPr/>
        </p:nvPicPr>
        <p:blipFill>
          <a:blip r:embed="rId2"/>
          <a:stretch>
            <a:fillRect/>
          </a:stretch>
        </p:blipFill>
        <p:spPr>
          <a:xfrm>
            <a:off x="2637631" y="1037431"/>
            <a:ext cx="9124950" cy="5124450"/>
          </a:xfrm>
          <a:prstGeom prst="rect">
            <a:avLst/>
          </a:prstGeom>
        </p:spPr>
      </p:pic>
    </p:spTree>
    <p:extLst>
      <p:ext uri="{BB962C8B-B14F-4D97-AF65-F5344CB8AC3E}">
        <p14:creationId xmlns:p14="http://schemas.microsoft.com/office/powerpoint/2010/main" val="313044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1946-F966-47FE-81CD-76094796A66C}"/>
              </a:ext>
            </a:extLst>
          </p:cNvPr>
          <p:cNvSpPr>
            <a:spLocks noGrp="1"/>
          </p:cNvSpPr>
          <p:nvPr>
            <p:ph type="sldNum" sz="quarter" idx="17"/>
          </p:nvPr>
        </p:nvSpPr>
        <p:spPr/>
        <p:txBody>
          <a:bodyPr/>
          <a:lstStyle/>
          <a:p>
            <a:fld id="{4F9AC08D-23A9-440E-BCB9-AA1E9877CC38}" type="slidenum">
              <a:rPr lang="en-US" smtClean="0"/>
              <a:pPr/>
              <a:t>3</a:t>
            </a:fld>
            <a:endParaRPr lang="en-US" dirty="0"/>
          </a:p>
        </p:txBody>
      </p:sp>
      <p:sp>
        <p:nvSpPr>
          <p:cNvPr id="3" name="Title 2">
            <a:extLst>
              <a:ext uri="{FF2B5EF4-FFF2-40B4-BE49-F238E27FC236}">
                <a16:creationId xmlns:a16="http://schemas.microsoft.com/office/drawing/2014/main" id="{D19D177A-2CB7-416C-867F-3904525059FE}"/>
              </a:ext>
            </a:extLst>
          </p:cNvPr>
          <p:cNvSpPr>
            <a:spLocks noGrp="1"/>
          </p:cNvSpPr>
          <p:nvPr>
            <p:ph type="title"/>
          </p:nvPr>
        </p:nvSpPr>
        <p:spPr>
          <a:xfrm>
            <a:off x="450010" y="284929"/>
            <a:ext cx="13500200" cy="1359871"/>
          </a:xfrm>
        </p:spPr>
        <p:txBody>
          <a:bodyPr/>
          <a:lstStyle/>
          <a:p>
            <a:r>
              <a:rPr lang="en-US" dirty="0">
                <a:solidFill>
                  <a:schemeClr val="bg1"/>
                </a:solidFill>
              </a:rPr>
              <a:t>AWS Developer - associate</a:t>
            </a:r>
          </a:p>
        </p:txBody>
      </p:sp>
      <p:sp>
        <p:nvSpPr>
          <p:cNvPr id="4" name="Footer Placeholder 3">
            <a:extLst>
              <a:ext uri="{FF2B5EF4-FFF2-40B4-BE49-F238E27FC236}">
                <a16:creationId xmlns:a16="http://schemas.microsoft.com/office/drawing/2014/main" id="{F6ACBA3A-B6F1-4D55-85C8-0264E2858170}"/>
              </a:ext>
            </a:extLst>
          </p:cNvPr>
          <p:cNvSpPr>
            <a:spLocks noGrp="1"/>
          </p:cNvSpPr>
          <p:nvPr>
            <p:ph type="ftr" sz="quarter" idx="16"/>
          </p:nvPr>
        </p:nvSpPr>
        <p:spPr/>
        <p:txBody>
          <a:bodyPr/>
          <a:lstStyle/>
          <a:p>
            <a:r>
              <a:rPr lang="en-US"/>
              <a:t>Copyright © 2020 Accenture. All rights reserved.</a:t>
            </a:r>
            <a:endParaRPr lang="en-US" dirty="0"/>
          </a:p>
        </p:txBody>
      </p:sp>
      <p:graphicFrame>
        <p:nvGraphicFramePr>
          <p:cNvPr id="5" name="Table Placeholder 3">
            <a:extLst>
              <a:ext uri="{FF2B5EF4-FFF2-40B4-BE49-F238E27FC236}">
                <a16:creationId xmlns:a16="http://schemas.microsoft.com/office/drawing/2014/main" id="{D8D71FBA-C419-45E2-AA89-CFF7460CE5DE}"/>
              </a:ext>
            </a:extLst>
          </p:cNvPr>
          <p:cNvGraphicFramePr>
            <a:graphicFrameLocks/>
          </p:cNvGraphicFramePr>
          <p:nvPr>
            <p:extLst>
              <p:ext uri="{D42A27DB-BD31-4B8C-83A1-F6EECF244321}">
                <p14:modId xmlns:p14="http://schemas.microsoft.com/office/powerpoint/2010/main" val="829509063"/>
              </p:ext>
            </p:extLst>
          </p:nvPr>
        </p:nvGraphicFramePr>
        <p:xfrm>
          <a:off x="3215148" y="1759836"/>
          <a:ext cx="7285704" cy="3326112"/>
        </p:xfrm>
        <a:graphic>
          <a:graphicData uri="http://schemas.openxmlformats.org/drawingml/2006/table">
            <a:tbl>
              <a:tblPr firstRow="1" bandRow="1">
                <a:tableStyleId>{F2DE63D5-997A-4646-A377-4702673A728D}</a:tableStyleId>
              </a:tblPr>
              <a:tblGrid>
                <a:gridCol w="5399224">
                  <a:extLst>
                    <a:ext uri="{9D8B030D-6E8A-4147-A177-3AD203B41FA5}">
                      <a16:colId xmlns:a16="http://schemas.microsoft.com/office/drawing/2014/main" val="20000"/>
                    </a:ext>
                  </a:extLst>
                </a:gridCol>
                <a:gridCol w="1886480">
                  <a:extLst>
                    <a:ext uri="{9D8B030D-6E8A-4147-A177-3AD203B41FA5}">
                      <a16:colId xmlns:a16="http://schemas.microsoft.com/office/drawing/2014/main" val="20001"/>
                    </a:ext>
                  </a:extLst>
                </a:gridCol>
              </a:tblGrid>
              <a:tr h="544751">
                <a:tc>
                  <a:txBody>
                    <a:bodyPr/>
                    <a:lstStyle/>
                    <a:p>
                      <a:pPr algn="ctr"/>
                      <a:r>
                        <a:rPr lang="en-US" sz="1800" dirty="0"/>
                        <a:t>Domain</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tc>
                  <a:txBody>
                    <a:bodyPr/>
                    <a:lstStyle/>
                    <a:p>
                      <a:pPr algn="ctr"/>
                      <a:r>
                        <a:rPr lang="en-US" sz="1800" dirty="0"/>
                        <a:t>% of Exam</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extLst>
                  <a:ext uri="{0D108BD9-81ED-4DB2-BD59-A6C34878D82A}">
                    <a16:rowId xmlns:a16="http://schemas.microsoft.com/office/drawing/2014/main" val="10000"/>
                  </a:ext>
                </a:extLst>
              </a:tr>
              <a:tr h="425350">
                <a:tc>
                  <a:txBody>
                    <a:bodyPr/>
                    <a:lstStyle/>
                    <a:p>
                      <a:r>
                        <a:rPr lang="en-US" sz="2400" kern="1200" dirty="0">
                          <a:solidFill>
                            <a:schemeClr val="tx1"/>
                          </a:solidFill>
                          <a:latin typeface="+mn-lt"/>
                          <a:ea typeface="+mn-ea"/>
                          <a:cs typeface="+mn-cs"/>
                        </a:rPr>
                        <a:t>1: Deployment</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22%</a:t>
                      </a:r>
                    </a:p>
                  </a:txBody>
                  <a:tcPr/>
                </a:tc>
                <a:extLst>
                  <a:ext uri="{0D108BD9-81ED-4DB2-BD59-A6C34878D82A}">
                    <a16:rowId xmlns:a16="http://schemas.microsoft.com/office/drawing/2014/main" val="10001"/>
                  </a:ext>
                </a:extLst>
              </a:tr>
              <a:tr h="374717">
                <a:tc>
                  <a:txBody>
                    <a:bodyPr/>
                    <a:lstStyle/>
                    <a:p>
                      <a:r>
                        <a:rPr lang="en-US" sz="2400" kern="1200" dirty="0">
                          <a:solidFill>
                            <a:schemeClr val="tx1"/>
                          </a:solidFill>
                          <a:latin typeface="+mn-lt"/>
                          <a:ea typeface="+mn-ea"/>
                          <a:cs typeface="+mn-cs"/>
                        </a:rPr>
                        <a:t>2: Security</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26%</a:t>
                      </a:r>
                    </a:p>
                  </a:txBody>
                  <a:tcPr/>
                </a:tc>
                <a:extLst>
                  <a:ext uri="{0D108BD9-81ED-4DB2-BD59-A6C34878D82A}">
                    <a16:rowId xmlns:a16="http://schemas.microsoft.com/office/drawing/2014/main" val="10002"/>
                  </a:ext>
                </a:extLst>
              </a:tr>
              <a:tr h="468766">
                <a:tc>
                  <a:txBody>
                    <a:bodyPr/>
                    <a:lstStyle/>
                    <a:p>
                      <a:r>
                        <a:rPr lang="en-US" sz="2400" kern="1200" dirty="0">
                          <a:solidFill>
                            <a:schemeClr val="tx1"/>
                          </a:solidFill>
                          <a:latin typeface="+mn-lt"/>
                          <a:ea typeface="+mn-ea"/>
                          <a:cs typeface="+mn-cs"/>
                        </a:rPr>
                        <a:t>3: Development with AWS</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30%</a:t>
                      </a:r>
                    </a:p>
                  </a:txBody>
                  <a:tcPr/>
                </a:tc>
                <a:extLst>
                  <a:ext uri="{0D108BD9-81ED-4DB2-BD59-A6C34878D82A}">
                    <a16:rowId xmlns:a16="http://schemas.microsoft.com/office/drawing/2014/main" val="10003"/>
                  </a:ext>
                </a:extLst>
              </a:tr>
              <a:tr h="408435">
                <a:tc>
                  <a:txBody>
                    <a:bodyPr/>
                    <a:lstStyle/>
                    <a:p>
                      <a:r>
                        <a:rPr lang="en-US" sz="2400" kern="1200" dirty="0">
                          <a:solidFill>
                            <a:schemeClr val="tx1"/>
                          </a:solidFill>
                          <a:latin typeface="+mn-lt"/>
                          <a:ea typeface="+mn-ea"/>
                          <a:cs typeface="+mn-cs"/>
                        </a:rPr>
                        <a:t>4: Refactoring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a:t>
                      </a:r>
                    </a:p>
                  </a:txBody>
                  <a:tcPr/>
                </a:tc>
                <a:extLst>
                  <a:ext uri="{0D108BD9-81ED-4DB2-BD59-A6C34878D82A}">
                    <a16:rowId xmlns:a16="http://schemas.microsoft.com/office/drawing/2014/main" val="10004"/>
                  </a:ext>
                </a:extLst>
              </a:tr>
              <a:tr h="483795">
                <a:tc>
                  <a:txBody>
                    <a:bodyPr/>
                    <a:lstStyle/>
                    <a:p>
                      <a:r>
                        <a:rPr lang="en-US" sz="2400" kern="1200" dirty="0">
                          <a:solidFill>
                            <a:schemeClr val="tx1"/>
                          </a:solidFill>
                          <a:latin typeface="+mn-lt"/>
                          <a:ea typeface="+mn-ea"/>
                          <a:cs typeface="+mn-cs"/>
                        </a:rPr>
                        <a:t>5: Monitoring and Troubleshooting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12%</a:t>
                      </a:r>
                    </a:p>
                  </a:txBody>
                  <a:tcPr/>
                </a:tc>
                <a:extLst>
                  <a:ext uri="{0D108BD9-81ED-4DB2-BD59-A6C34878D82A}">
                    <a16:rowId xmlns:a16="http://schemas.microsoft.com/office/drawing/2014/main" val="10005"/>
                  </a:ext>
                </a:extLst>
              </a:tr>
              <a:tr h="374717">
                <a:tc>
                  <a:txBody>
                    <a:bodyPr/>
                    <a:lstStyle/>
                    <a:p>
                      <a:r>
                        <a:rPr lang="en-US" sz="2400" kern="1200" dirty="0">
                          <a:solidFill>
                            <a:schemeClr val="tx1"/>
                          </a:solidFill>
                          <a:latin typeface="+mn-lt"/>
                          <a:ea typeface="+mn-ea"/>
                          <a:cs typeface="+mn-cs"/>
                        </a:rPr>
                        <a:t>Total</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100%</a:t>
                      </a:r>
                    </a:p>
                  </a:txBody>
                  <a:tcPr/>
                </a:tc>
                <a:extLst>
                  <a:ext uri="{0D108BD9-81ED-4DB2-BD59-A6C34878D82A}">
                    <a16:rowId xmlns:a16="http://schemas.microsoft.com/office/drawing/2014/main" val="2417361994"/>
                  </a:ext>
                </a:extLst>
              </a:tr>
            </a:tbl>
          </a:graphicData>
        </a:graphic>
      </p:graphicFrame>
      <p:sp>
        <p:nvSpPr>
          <p:cNvPr id="7" name="TextBox 6">
            <a:extLst>
              <a:ext uri="{FF2B5EF4-FFF2-40B4-BE49-F238E27FC236}">
                <a16:creationId xmlns:a16="http://schemas.microsoft.com/office/drawing/2014/main" id="{8BB6F6C4-B3B4-425B-9A33-28E114F5DE89}"/>
              </a:ext>
            </a:extLst>
          </p:cNvPr>
          <p:cNvSpPr txBox="1"/>
          <p:nvPr/>
        </p:nvSpPr>
        <p:spPr>
          <a:xfrm>
            <a:off x="2610695" y="1114266"/>
            <a:ext cx="10161408" cy="415498"/>
          </a:xfrm>
          <a:prstGeom prst="rect">
            <a:avLst/>
          </a:prstGeom>
          <a:noFill/>
        </p:spPr>
        <p:txBody>
          <a:bodyPr wrap="square" lIns="0" tIns="0" rIns="0" bIns="45720" rtlCol="0">
            <a:spAutoFit/>
          </a:bodyPr>
          <a:lstStyle/>
          <a:p>
            <a:r>
              <a:rPr lang="en-IN" sz="2400" dirty="0">
                <a:hlinkClick r:id="rId2"/>
              </a:rPr>
              <a:t>AWS Developer - Associate Exam Guide (Exam Blueprint)</a:t>
            </a:r>
            <a:endParaRPr lang="en-IN" sz="2400" dirty="0"/>
          </a:p>
        </p:txBody>
      </p:sp>
    </p:spTree>
    <p:extLst>
      <p:ext uri="{BB962C8B-B14F-4D97-AF65-F5344CB8AC3E}">
        <p14:creationId xmlns:p14="http://schemas.microsoft.com/office/powerpoint/2010/main" val="96616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A1651B-B2A3-4006-AE85-6053D28B5230}"/>
              </a:ext>
            </a:extLst>
          </p:cNvPr>
          <p:cNvSpPr>
            <a:spLocks noGrp="1"/>
          </p:cNvSpPr>
          <p:nvPr>
            <p:ph type="sldNum" sz="quarter" idx="17"/>
          </p:nvPr>
        </p:nvSpPr>
        <p:spPr/>
        <p:txBody>
          <a:bodyPr/>
          <a:lstStyle/>
          <a:p>
            <a:fld id="{4F9AC08D-23A9-440E-BCB9-AA1E9877CC38}" type="slidenum">
              <a:rPr lang="en-US" smtClean="0"/>
              <a:pPr/>
              <a:t>4</a:t>
            </a:fld>
            <a:endParaRPr lang="en-US" dirty="0"/>
          </a:p>
        </p:txBody>
      </p:sp>
      <p:sp>
        <p:nvSpPr>
          <p:cNvPr id="3" name="Title 2">
            <a:extLst>
              <a:ext uri="{FF2B5EF4-FFF2-40B4-BE49-F238E27FC236}">
                <a16:creationId xmlns:a16="http://schemas.microsoft.com/office/drawing/2014/main" id="{C7A8400E-E28F-47CE-B016-C956283F7257}"/>
              </a:ext>
            </a:extLst>
          </p:cNvPr>
          <p:cNvSpPr>
            <a:spLocks noGrp="1"/>
          </p:cNvSpPr>
          <p:nvPr>
            <p:ph type="title"/>
          </p:nvPr>
        </p:nvSpPr>
        <p:spPr>
          <a:xfrm>
            <a:off x="450009" y="281978"/>
            <a:ext cx="13500200" cy="1359871"/>
          </a:xfrm>
        </p:spPr>
        <p:txBody>
          <a:bodyPr/>
          <a:lstStyle/>
          <a:p>
            <a:r>
              <a:rPr lang="en-US" sz="4400" dirty="0">
                <a:solidFill>
                  <a:schemeClr val="bg1"/>
                </a:solidFill>
              </a:rPr>
              <a:t>Refactoring – 10%</a:t>
            </a:r>
            <a:endParaRPr lang="en-US" dirty="0">
              <a:solidFill>
                <a:schemeClr val="bg1"/>
              </a:solidFill>
            </a:endParaRPr>
          </a:p>
        </p:txBody>
      </p:sp>
      <p:sp>
        <p:nvSpPr>
          <p:cNvPr id="4" name="Footer Placeholder 3">
            <a:extLst>
              <a:ext uri="{FF2B5EF4-FFF2-40B4-BE49-F238E27FC236}">
                <a16:creationId xmlns:a16="http://schemas.microsoft.com/office/drawing/2014/main" id="{A0F06007-E1B0-4FC8-B99E-A6DAAA0A688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91ABA7AC-4BE9-4CDE-8207-931F4FA3B9CF}"/>
              </a:ext>
            </a:extLst>
          </p:cNvPr>
          <p:cNvSpPr/>
          <p:nvPr/>
        </p:nvSpPr>
        <p:spPr>
          <a:xfrm>
            <a:off x="450004" y="1162610"/>
            <a:ext cx="12656395" cy="1615827"/>
          </a:xfrm>
          <a:prstGeom prst="rect">
            <a:avLst/>
          </a:prstGeom>
        </p:spPr>
        <p:txBody>
          <a:bodyPr wrap="square">
            <a:spAutoFit/>
          </a:bodyPr>
          <a:lstStyle/>
          <a:p>
            <a:pPr>
              <a:lnSpc>
                <a:spcPct val="150000"/>
              </a:lnSpc>
            </a:pPr>
            <a:r>
              <a:rPr lang="en-US" dirty="0">
                <a:solidFill>
                  <a:srgbClr val="18537D"/>
                </a:solidFill>
              </a:rPr>
              <a:t>Objectives</a:t>
            </a:r>
          </a:p>
          <a:p>
            <a:pPr marL="742950" lvl="1" indent="-285750">
              <a:lnSpc>
                <a:spcPct val="150000"/>
              </a:lnSpc>
              <a:buFont typeface="Arial" panose="020B0604020202020204" pitchFamily="34" charset="0"/>
              <a:buChar char="•"/>
            </a:pPr>
            <a:r>
              <a:rPr lang="en-US" dirty="0">
                <a:solidFill>
                  <a:srgbClr val="18537D"/>
                </a:solidFill>
              </a:rPr>
              <a:t>Optimize application to best use features of AWS</a:t>
            </a:r>
          </a:p>
          <a:p>
            <a:pPr marL="742950" lvl="1" indent="-285750">
              <a:lnSpc>
                <a:spcPct val="150000"/>
              </a:lnSpc>
              <a:buFont typeface="Arial" panose="020B0604020202020204" pitchFamily="34" charset="0"/>
              <a:buChar char="•"/>
            </a:pPr>
            <a:r>
              <a:rPr lang="en-US" dirty="0">
                <a:solidFill>
                  <a:srgbClr val="18537D"/>
                </a:solidFill>
              </a:rPr>
              <a:t>Migrate existing application code to run on AWS </a:t>
            </a:r>
          </a:p>
          <a:p>
            <a:endParaRPr lang="en-US" dirty="0"/>
          </a:p>
        </p:txBody>
      </p:sp>
    </p:spTree>
    <p:extLst>
      <p:ext uri="{BB962C8B-B14F-4D97-AF65-F5344CB8AC3E}">
        <p14:creationId xmlns:p14="http://schemas.microsoft.com/office/powerpoint/2010/main" val="7445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8280E6-F8F8-4398-9AA5-158706A317C1}"/>
              </a:ext>
            </a:extLst>
          </p:cNvPr>
          <p:cNvSpPr>
            <a:spLocks noGrp="1"/>
          </p:cNvSpPr>
          <p:nvPr>
            <p:ph type="sldNum" sz="quarter" idx="17"/>
          </p:nvPr>
        </p:nvSpPr>
        <p:spPr/>
        <p:txBody>
          <a:bodyPr/>
          <a:lstStyle/>
          <a:p>
            <a:fld id="{4F9AC08D-23A9-440E-BCB9-AA1E9877CC38}" type="slidenum">
              <a:rPr lang="en-US" smtClean="0"/>
              <a:pPr/>
              <a:t>5</a:t>
            </a:fld>
            <a:endParaRPr lang="en-US" dirty="0"/>
          </a:p>
        </p:txBody>
      </p:sp>
      <p:sp>
        <p:nvSpPr>
          <p:cNvPr id="3" name="Title 2">
            <a:extLst>
              <a:ext uri="{FF2B5EF4-FFF2-40B4-BE49-F238E27FC236}">
                <a16:creationId xmlns:a16="http://schemas.microsoft.com/office/drawing/2014/main" id="{130CE1AF-024A-46BB-B7B7-7C4EDB8B46BF}"/>
              </a:ext>
            </a:extLst>
          </p:cNvPr>
          <p:cNvSpPr>
            <a:spLocks noGrp="1"/>
          </p:cNvSpPr>
          <p:nvPr>
            <p:ph type="title"/>
          </p:nvPr>
        </p:nvSpPr>
        <p:spPr/>
        <p:txBody>
          <a:bodyPr/>
          <a:lstStyle/>
          <a:p>
            <a:r>
              <a:rPr lang="en-US" dirty="0">
                <a:solidFill>
                  <a:schemeClr val="bg1"/>
                </a:solidFill>
                <a:ea typeface="Amazon Ember" panose="020B0603020204020204" pitchFamily="34" charset="0"/>
                <a:cs typeface="Amazon Ember" panose="020B0603020204020204" pitchFamily="34" charset="0"/>
              </a:rPr>
              <a:t>Refactoring</a:t>
            </a:r>
            <a:endParaRPr lang="en-US" dirty="0">
              <a:solidFill>
                <a:schemeClr val="bg1"/>
              </a:solidFill>
            </a:endParaRPr>
          </a:p>
        </p:txBody>
      </p:sp>
      <p:sp>
        <p:nvSpPr>
          <p:cNvPr id="4" name="Footer Placeholder 3">
            <a:extLst>
              <a:ext uri="{FF2B5EF4-FFF2-40B4-BE49-F238E27FC236}">
                <a16:creationId xmlns:a16="http://schemas.microsoft.com/office/drawing/2014/main" id="{03CC52CB-9246-441A-A959-152717299040}"/>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A3671084-1060-4EDE-A562-B899DE8A926F}"/>
              </a:ext>
            </a:extLst>
          </p:cNvPr>
          <p:cNvSpPr/>
          <p:nvPr/>
        </p:nvSpPr>
        <p:spPr>
          <a:xfrm>
            <a:off x="2477729" y="981577"/>
            <a:ext cx="9930581" cy="369332"/>
          </a:xfrm>
          <a:prstGeom prst="rect">
            <a:avLst/>
          </a:prstGeom>
        </p:spPr>
        <p:txBody>
          <a:bodyPr wrap="square">
            <a:spAutoFit/>
          </a:bodyPr>
          <a:lstStyle/>
          <a:p>
            <a:pPr algn="ctr"/>
            <a:r>
              <a:rPr lang="en-US" b="1" dirty="0">
                <a:solidFill>
                  <a:srgbClr val="18537D"/>
                </a:solidFill>
              </a:rPr>
              <a:t>Refactoring is the rewriting, re-architecting, and decoupling of existing applications. </a:t>
            </a:r>
          </a:p>
        </p:txBody>
      </p:sp>
      <p:sp>
        <p:nvSpPr>
          <p:cNvPr id="6" name="Rectangle 5">
            <a:extLst>
              <a:ext uri="{FF2B5EF4-FFF2-40B4-BE49-F238E27FC236}">
                <a16:creationId xmlns:a16="http://schemas.microsoft.com/office/drawing/2014/main" id="{5C518563-E792-49F7-BB41-893EFD19A037}"/>
              </a:ext>
            </a:extLst>
          </p:cNvPr>
          <p:cNvSpPr/>
          <p:nvPr/>
        </p:nvSpPr>
        <p:spPr>
          <a:xfrm>
            <a:off x="591780" y="1402155"/>
            <a:ext cx="12927576" cy="5441298"/>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Refactoring is one of the migration strategies that can be implemented for moving application into the cloud. Moving applications into the cloud following a well-architected framework is not a simple process.</a:t>
            </a:r>
          </a:p>
          <a:p>
            <a:pPr marL="285750" indent="-285750">
              <a:lnSpc>
                <a:spcPct val="150000"/>
              </a:lnSpc>
              <a:buFont typeface="Arial" panose="020B0604020202020204" pitchFamily="34" charset="0"/>
              <a:buChar char="•"/>
            </a:pPr>
            <a:r>
              <a:rPr lang="en-US" dirty="0">
                <a:solidFill>
                  <a:srgbClr val="18537D"/>
                </a:solidFill>
              </a:rPr>
              <a:t>Refactoring, you can address these types of questions for migration: </a:t>
            </a:r>
          </a:p>
          <a:p>
            <a:pPr marL="742950" lvl="1" indent="-285750">
              <a:lnSpc>
                <a:spcPct val="150000"/>
              </a:lnSpc>
              <a:buFont typeface="Arial" panose="020B0604020202020204" pitchFamily="34" charset="0"/>
              <a:buChar char="•"/>
            </a:pPr>
            <a:r>
              <a:rPr lang="en-US" dirty="0">
                <a:solidFill>
                  <a:srgbClr val="18537D"/>
                </a:solidFill>
              </a:rPr>
              <a:t>Will the design include a multi-tier architecture or service-oriented architecture? </a:t>
            </a:r>
          </a:p>
          <a:p>
            <a:pPr marL="742950" lvl="1" indent="-285750">
              <a:lnSpc>
                <a:spcPct val="150000"/>
              </a:lnSpc>
              <a:buFont typeface="Arial" panose="020B0604020202020204" pitchFamily="34" charset="0"/>
              <a:buChar char="•"/>
            </a:pPr>
            <a:r>
              <a:rPr lang="en-US" dirty="0">
                <a:solidFill>
                  <a:srgbClr val="18537D"/>
                </a:solidFill>
              </a:rPr>
              <a:t>Will the application migration include an implementation of serverless architecture? </a:t>
            </a:r>
          </a:p>
          <a:p>
            <a:pPr marL="742950" lvl="1" indent="-285750">
              <a:lnSpc>
                <a:spcPct val="150000"/>
              </a:lnSpc>
              <a:buFont typeface="Arial" panose="020B0604020202020204" pitchFamily="34" charset="0"/>
              <a:buChar char="•"/>
            </a:pPr>
            <a:r>
              <a:rPr lang="en-US" dirty="0">
                <a:solidFill>
                  <a:srgbClr val="18537D"/>
                </a:solidFill>
              </a:rPr>
              <a:t>Will there be external or traditional components connecting with the services utilized? </a:t>
            </a:r>
          </a:p>
          <a:p>
            <a:pPr marL="742950" lvl="1" indent="-285750">
              <a:lnSpc>
                <a:spcPct val="150000"/>
              </a:lnSpc>
              <a:buFont typeface="Arial" panose="020B0604020202020204" pitchFamily="34" charset="0"/>
              <a:buChar char="•"/>
            </a:pPr>
            <a:r>
              <a:rPr lang="en-US" dirty="0">
                <a:solidFill>
                  <a:srgbClr val="18537D"/>
                </a:solidFill>
              </a:rPr>
              <a:t>How does refactoring help to implement a well-architected framework? </a:t>
            </a:r>
          </a:p>
          <a:p>
            <a:pPr marL="742950" lvl="1" indent="-285750">
              <a:lnSpc>
                <a:spcPct val="150000"/>
              </a:lnSpc>
              <a:buFont typeface="Arial" panose="020B0604020202020204" pitchFamily="34" charset="0"/>
              <a:buChar char="•"/>
            </a:pPr>
            <a:r>
              <a:rPr lang="en-US" dirty="0">
                <a:solidFill>
                  <a:srgbClr val="18537D"/>
                </a:solidFill>
              </a:rPr>
              <a:t>How do I implement an automated ALC or SDLC according to AWS best practices? </a:t>
            </a:r>
          </a:p>
          <a:p>
            <a:pPr marL="742950" lvl="1" indent="-285750">
              <a:lnSpc>
                <a:spcPct val="150000"/>
              </a:lnSpc>
              <a:buFont typeface="Arial" panose="020B0604020202020204" pitchFamily="34" charset="0"/>
              <a:buChar char="•"/>
            </a:pPr>
            <a:r>
              <a:rPr lang="en-US" dirty="0">
                <a:solidFill>
                  <a:srgbClr val="18537D"/>
                </a:solidFill>
              </a:rPr>
              <a:t>How do I integrate my AWS components as an overall solution?</a:t>
            </a:r>
          </a:p>
          <a:p>
            <a:pPr marL="742950" lvl="1" indent="-285750">
              <a:lnSpc>
                <a:spcPct val="150000"/>
              </a:lnSpc>
              <a:buFont typeface="Arial" panose="020B0604020202020204" pitchFamily="34" charset="0"/>
              <a:buChar char="•"/>
            </a:pPr>
            <a:r>
              <a:rPr lang="en-US" dirty="0">
                <a:solidFill>
                  <a:srgbClr val="18537D"/>
                </a:solidFill>
              </a:rPr>
              <a:t>What tools are available for validation and security of applications migrating to the AWS cloud?</a:t>
            </a:r>
          </a:p>
          <a:p>
            <a:pPr marL="742950" lvl="1" indent="-285750">
              <a:lnSpc>
                <a:spcPct val="150000"/>
              </a:lnSpc>
              <a:buFont typeface="Arial" panose="020B0604020202020204" pitchFamily="34" charset="0"/>
              <a:buChar char="•"/>
            </a:pPr>
            <a:r>
              <a:rPr lang="en-US" dirty="0">
                <a:solidFill>
                  <a:srgbClr val="18537D"/>
                </a:solidFill>
              </a:rPr>
              <a:t>How can I assure users of the application will not experience any downtime during transition to the cloud? </a:t>
            </a:r>
          </a:p>
          <a:p>
            <a:pPr marL="742950" lvl="1" indent="-285750">
              <a:lnSpc>
                <a:spcPct val="150000"/>
              </a:lnSpc>
              <a:buFont typeface="Arial" panose="020B0604020202020204" pitchFamily="34" charset="0"/>
              <a:buChar char="•"/>
            </a:pPr>
            <a:r>
              <a:rPr lang="en-US" dirty="0">
                <a:solidFill>
                  <a:srgbClr val="18537D"/>
                </a:solidFill>
              </a:rPr>
              <a:t>How soon can the architecture and application be rapidly deployed and running on a production environment?  </a:t>
            </a:r>
          </a:p>
        </p:txBody>
      </p:sp>
    </p:spTree>
    <p:extLst>
      <p:ext uri="{BB962C8B-B14F-4D97-AF65-F5344CB8AC3E}">
        <p14:creationId xmlns:p14="http://schemas.microsoft.com/office/powerpoint/2010/main" val="1336048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 are a developer for a company. You have to develop an application which would transfer the logs from several EC2 Instances to an S3 bucket. Which of the following would you use for this purpose?</a:t>
            </a:r>
          </a:p>
          <a:p>
            <a:pPr>
              <a:lnSpc>
                <a:spcPct val="150000"/>
              </a:lnSpc>
            </a:pPr>
            <a:endParaRPr lang="en-US" dirty="0">
              <a:solidFill>
                <a:srgbClr val="18537D"/>
              </a:solidFill>
            </a:endParaRPr>
          </a:p>
          <a:p>
            <a:pPr>
              <a:lnSpc>
                <a:spcPct val="150000"/>
              </a:lnSpc>
            </a:pPr>
            <a:r>
              <a:rPr lang="en-US" dirty="0">
                <a:solidFill>
                  <a:srgbClr val="18537D"/>
                </a:solidFill>
              </a:rPr>
              <a:t>a. AWS Database Migration Service</a:t>
            </a:r>
          </a:p>
          <a:p>
            <a:pPr>
              <a:lnSpc>
                <a:spcPct val="150000"/>
              </a:lnSpc>
            </a:pPr>
            <a:r>
              <a:rPr lang="en-US" dirty="0">
                <a:solidFill>
                  <a:srgbClr val="18537D"/>
                </a:solidFill>
              </a:rPr>
              <a:t>b. AWS Athena</a:t>
            </a:r>
          </a:p>
          <a:p>
            <a:pPr>
              <a:lnSpc>
                <a:spcPct val="150000"/>
              </a:lnSpc>
            </a:pPr>
            <a:r>
              <a:rPr lang="en-US" dirty="0">
                <a:solidFill>
                  <a:srgbClr val="18537D"/>
                </a:solidFill>
              </a:rPr>
              <a:t>c. AWS Data Pipeline</a:t>
            </a:r>
          </a:p>
          <a:p>
            <a:pPr>
              <a:lnSpc>
                <a:spcPct val="150000"/>
              </a:lnSpc>
            </a:pPr>
            <a:r>
              <a:rPr lang="en-US" dirty="0">
                <a:solidFill>
                  <a:srgbClr val="18537D"/>
                </a:solidFill>
              </a:rPr>
              <a:t>d. AWS EMR</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185873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7</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High availability factors</a:t>
            </a:r>
          </a:p>
        </p:txBody>
      </p:sp>
      <p:graphicFrame>
        <p:nvGraphicFramePr>
          <p:cNvPr id="10" name="Diagram 9">
            <a:extLst>
              <a:ext uri="{FF2B5EF4-FFF2-40B4-BE49-F238E27FC236}">
                <a16:creationId xmlns:a16="http://schemas.microsoft.com/office/drawing/2014/main" id="{22C650AB-7D08-492B-B69A-DB5312DE3415}"/>
              </a:ext>
            </a:extLst>
          </p:cNvPr>
          <p:cNvGraphicFramePr/>
          <p:nvPr/>
        </p:nvGraphicFramePr>
        <p:xfrm>
          <a:off x="2410668" y="1528990"/>
          <a:ext cx="8966170" cy="43637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657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8</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What is elastic load balancer (ELB)?</a:t>
            </a:r>
          </a:p>
        </p:txBody>
      </p:sp>
      <p:sp>
        <p:nvSpPr>
          <p:cNvPr id="4" name="TextBox 3">
            <a:extLst>
              <a:ext uri="{FF2B5EF4-FFF2-40B4-BE49-F238E27FC236}">
                <a16:creationId xmlns:a16="http://schemas.microsoft.com/office/drawing/2014/main" id="{65C257FC-E079-4FCD-B4D8-90C4E29CFF7E}"/>
              </a:ext>
            </a:extLst>
          </p:cNvPr>
          <p:cNvSpPr txBox="1"/>
          <p:nvPr/>
        </p:nvSpPr>
        <p:spPr>
          <a:xfrm>
            <a:off x="605798" y="1563305"/>
            <a:ext cx="7415251" cy="4893134"/>
          </a:xfrm>
          <a:prstGeom prst="rect">
            <a:avLst/>
          </a:prstGeom>
          <a:noFill/>
        </p:spPr>
        <p:txBody>
          <a:bodyPr wrap="square" lIns="0" tIns="0" rIns="0" bIns="45720" rtlCol="0">
            <a:spAutoFit/>
          </a:bodyPr>
          <a:lstStyle/>
          <a:p>
            <a:pPr marL="285750" indent="-285750" algn="just">
              <a:lnSpc>
                <a:spcPct val="150000"/>
              </a:lnSpc>
              <a:buFont typeface="Wingdings" panose="05000000000000000000" pitchFamily="2" charset="2"/>
              <a:buChar char="§"/>
            </a:pPr>
            <a:endParaRPr lang="en-IN" dirty="0">
              <a:solidFill>
                <a:srgbClr val="18537D"/>
              </a:solidFill>
            </a:endParaRPr>
          </a:p>
          <a:p>
            <a:pPr marL="285750" indent="-285750" algn="just">
              <a:lnSpc>
                <a:spcPct val="150000"/>
              </a:lnSpc>
              <a:buFont typeface="Wingdings" panose="05000000000000000000" pitchFamily="2" charset="2"/>
              <a:buChar char="§"/>
            </a:pPr>
            <a:r>
              <a:rPr lang="en-IN" dirty="0">
                <a:solidFill>
                  <a:srgbClr val="18537D"/>
                </a:solidFill>
              </a:rPr>
              <a:t>It is a managed service</a:t>
            </a:r>
          </a:p>
          <a:p>
            <a:pPr marL="285750" indent="-285750" algn="just">
              <a:lnSpc>
                <a:spcPct val="150000"/>
              </a:lnSpc>
              <a:buFont typeface="Wingdings" panose="05000000000000000000" pitchFamily="2" charset="2"/>
              <a:buChar char="§"/>
            </a:pPr>
            <a:r>
              <a:rPr lang="en-IN" dirty="0">
                <a:solidFill>
                  <a:srgbClr val="18537D"/>
                </a:solidFill>
              </a:rPr>
              <a:t>Distributes incoming application or network traffic across multiple targets (EC2, containers, and IP addresses) in multiple Availability Zones</a:t>
            </a:r>
          </a:p>
          <a:p>
            <a:pPr marL="285750" indent="-285750" algn="just">
              <a:lnSpc>
                <a:spcPct val="150000"/>
              </a:lnSpc>
              <a:buFont typeface="Wingdings" panose="05000000000000000000" pitchFamily="2" charset="2"/>
              <a:buChar char="§"/>
            </a:pPr>
            <a:r>
              <a:rPr lang="en-IN" dirty="0">
                <a:solidFill>
                  <a:srgbClr val="18537D"/>
                </a:solidFill>
              </a:rPr>
              <a:t>Also sends metrics to Amazon Cloud Watch</a:t>
            </a:r>
          </a:p>
          <a:p>
            <a:pPr marL="285750" indent="-285750" algn="just">
              <a:lnSpc>
                <a:spcPct val="150000"/>
              </a:lnSpc>
              <a:buFont typeface="Wingdings" panose="05000000000000000000" pitchFamily="2" charset="2"/>
              <a:buChar char="§"/>
            </a:pPr>
            <a:r>
              <a:rPr lang="en-IN" dirty="0">
                <a:solidFill>
                  <a:srgbClr val="18537D"/>
                </a:solidFill>
              </a:rPr>
              <a:t>These metrics helps us to take advantage of Autoscaling to add or remove servers based on the utilization</a:t>
            </a:r>
          </a:p>
          <a:p>
            <a:pPr algn="just">
              <a:lnSpc>
                <a:spcPct val="150000"/>
              </a:lnSpc>
            </a:pPr>
            <a:endParaRPr lang="en-IN" dirty="0">
              <a:solidFill>
                <a:srgbClr val="18537D"/>
              </a:solidFill>
            </a:endParaRPr>
          </a:p>
          <a:p>
            <a:pPr marL="285750" indent="-285750" algn="just">
              <a:lnSpc>
                <a:spcPct val="150000"/>
              </a:lnSpc>
              <a:buFont typeface="Wingdings" panose="05000000000000000000" pitchFamily="2" charset="2"/>
              <a:buChar char="§"/>
            </a:pPr>
            <a:endParaRPr lang="en-IN" dirty="0">
              <a:solidFill>
                <a:srgbClr val="18537D"/>
              </a:solidFill>
            </a:endParaRPr>
          </a:p>
          <a:p>
            <a:pPr marL="285750" indent="-285750" algn="just">
              <a:lnSpc>
                <a:spcPct val="150000"/>
              </a:lnSpc>
              <a:buFont typeface="Wingdings" panose="05000000000000000000" pitchFamily="2" charset="2"/>
              <a:buChar char="§"/>
            </a:pPr>
            <a:endParaRPr lang="en-IN" sz="1600" dirty="0">
              <a:solidFill>
                <a:srgbClr val="18537D"/>
              </a:solidFill>
            </a:endParaRPr>
          </a:p>
          <a:p>
            <a:pPr marL="285750" indent="-285750" algn="just">
              <a:lnSpc>
                <a:spcPct val="150000"/>
              </a:lnSpc>
              <a:buFont typeface="Wingdings" panose="05000000000000000000" pitchFamily="2" charset="2"/>
              <a:buChar char="§"/>
            </a:pPr>
            <a:endParaRPr lang="en-IN" sz="1600" dirty="0">
              <a:solidFill>
                <a:srgbClr val="18537D"/>
              </a:solidFill>
            </a:endParaRPr>
          </a:p>
        </p:txBody>
      </p:sp>
      <p:grpSp>
        <p:nvGrpSpPr>
          <p:cNvPr id="37" name="Group 36">
            <a:extLst>
              <a:ext uri="{FF2B5EF4-FFF2-40B4-BE49-F238E27FC236}">
                <a16:creationId xmlns:a16="http://schemas.microsoft.com/office/drawing/2014/main" id="{0FFE1BD3-ECA8-4417-9450-A76DF15223F5}"/>
              </a:ext>
            </a:extLst>
          </p:cNvPr>
          <p:cNvGrpSpPr/>
          <p:nvPr/>
        </p:nvGrpSpPr>
        <p:grpSpPr>
          <a:xfrm>
            <a:off x="8537944" y="2207575"/>
            <a:ext cx="4893882" cy="2608973"/>
            <a:chOff x="7551966" y="2207576"/>
            <a:chExt cx="5879860" cy="2510332"/>
          </a:xfrm>
        </p:grpSpPr>
        <p:pic>
          <p:nvPicPr>
            <p:cNvPr id="5" name="Picture 4">
              <a:extLst>
                <a:ext uri="{FF2B5EF4-FFF2-40B4-BE49-F238E27FC236}">
                  <a16:creationId xmlns:a16="http://schemas.microsoft.com/office/drawing/2014/main" id="{EAB15BD5-49DE-4F89-8E46-53CF0D327794}"/>
                </a:ext>
              </a:extLst>
            </p:cNvPr>
            <p:cNvPicPr>
              <a:picLocks noChangeAspect="1"/>
            </p:cNvPicPr>
            <p:nvPr/>
          </p:nvPicPr>
          <p:blipFill>
            <a:blip r:embed="rId3"/>
            <a:stretch>
              <a:fillRect/>
            </a:stretch>
          </p:blipFill>
          <p:spPr>
            <a:xfrm>
              <a:off x="7551966" y="2901431"/>
              <a:ext cx="1551441" cy="1112880"/>
            </a:xfrm>
            <a:prstGeom prst="rect">
              <a:avLst/>
            </a:prstGeom>
          </p:spPr>
        </p:pic>
        <p:cxnSp>
          <p:nvCxnSpPr>
            <p:cNvPr id="24" name="Straight Arrow Connector 23">
              <a:extLst>
                <a:ext uri="{FF2B5EF4-FFF2-40B4-BE49-F238E27FC236}">
                  <a16:creationId xmlns:a16="http://schemas.microsoft.com/office/drawing/2014/main" id="{D4AF61D1-EED9-4A89-A07D-2CC064FA7431}"/>
                </a:ext>
              </a:extLst>
            </p:cNvPr>
            <p:cNvCxnSpPr/>
            <p:nvPr/>
          </p:nvCxnSpPr>
          <p:spPr>
            <a:xfrm>
              <a:off x="9266505" y="3457871"/>
              <a:ext cx="768958" cy="0"/>
            </a:xfrm>
            <a:prstGeom prst="straightConnector1">
              <a:avLst/>
            </a:prstGeom>
            <a:ln w="38100">
              <a:solidFill>
                <a:srgbClr val="18537D"/>
              </a:solidFill>
              <a:tailEnd type="triangle"/>
            </a:ln>
          </p:spPr>
          <p:style>
            <a:lnRef idx="3">
              <a:schemeClr val="accent4"/>
            </a:lnRef>
            <a:fillRef idx="0">
              <a:schemeClr val="accent4"/>
            </a:fillRef>
            <a:effectRef idx="2">
              <a:schemeClr val="accent4"/>
            </a:effectRef>
            <a:fontRef idx="minor">
              <a:schemeClr val="tx1"/>
            </a:fontRef>
          </p:style>
        </p:cxnSp>
        <p:pic>
          <p:nvPicPr>
            <p:cNvPr id="27" name="Picture 26">
              <a:extLst>
                <a:ext uri="{FF2B5EF4-FFF2-40B4-BE49-F238E27FC236}">
                  <a16:creationId xmlns:a16="http://schemas.microsoft.com/office/drawing/2014/main" id="{8DD713E3-7A26-4B47-B4D2-57ADFD371B3A}"/>
                </a:ext>
              </a:extLst>
            </p:cNvPr>
            <p:cNvPicPr>
              <a:picLocks noChangeAspect="1"/>
            </p:cNvPicPr>
            <p:nvPr/>
          </p:nvPicPr>
          <p:blipFill>
            <a:blip r:embed="rId4"/>
            <a:stretch>
              <a:fillRect/>
            </a:stretch>
          </p:blipFill>
          <p:spPr>
            <a:xfrm>
              <a:off x="10035463" y="2901432"/>
              <a:ext cx="1178022" cy="1112880"/>
            </a:xfrm>
            <a:prstGeom prst="rect">
              <a:avLst/>
            </a:prstGeom>
          </p:spPr>
        </p:pic>
        <p:cxnSp>
          <p:nvCxnSpPr>
            <p:cNvPr id="29" name="Straight Arrow Connector 28">
              <a:extLst>
                <a:ext uri="{FF2B5EF4-FFF2-40B4-BE49-F238E27FC236}">
                  <a16:creationId xmlns:a16="http://schemas.microsoft.com/office/drawing/2014/main" id="{D598D952-7ADC-471C-B4F3-7B67F685B683}"/>
                </a:ext>
              </a:extLst>
            </p:cNvPr>
            <p:cNvCxnSpPr/>
            <p:nvPr/>
          </p:nvCxnSpPr>
          <p:spPr>
            <a:xfrm flipV="1">
              <a:off x="11471498" y="2743199"/>
              <a:ext cx="978195" cy="467833"/>
            </a:xfrm>
            <a:prstGeom prst="straightConnector1">
              <a:avLst/>
            </a:prstGeom>
            <a:ln w="28575">
              <a:tailEnd type="triangle"/>
            </a:ln>
          </p:spPr>
          <p:style>
            <a:lnRef idx="3">
              <a:schemeClr val="accent4"/>
            </a:lnRef>
            <a:fillRef idx="0">
              <a:schemeClr val="accent4"/>
            </a:fillRef>
            <a:effectRef idx="2">
              <a:schemeClr val="accent4"/>
            </a:effectRef>
            <a:fontRef idx="minor">
              <a:schemeClr val="tx1"/>
            </a:fontRef>
          </p:style>
        </p:cxnSp>
        <p:sp>
          <p:nvSpPr>
            <p:cNvPr id="30" name="Rectangle: Rounded Corners 29">
              <a:extLst>
                <a:ext uri="{FF2B5EF4-FFF2-40B4-BE49-F238E27FC236}">
                  <a16:creationId xmlns:a16="http://schemas.microsoft.com/office/drawing/2014/main" id="{4048CBDD-F041-41F4-A316-5ADB63619C16}"/>
                </a:ext>
              </a:extLst>
            </p:cNvPr>
            <p:cNvSpPr/>
            <p:nvPr/>
          </p:nvSpPr>
          <p:spPr>
            <a:xfrm>
              <a:off x="12568793" y="2207576"/>
              <a:ext cx="863033" cy="77617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App</a:t>
              </a:r>
            </a:p>
          </p:txBody>
        </p:sp>
        <p:sp>
          <p:nvSpPr>
            <p:cNvPr id="31" name="Rectangle: Rounded Corners 30">
              <a:extLst>
                <a:ext uri="{FF2B5EF4-FFF2-40B4-BE49-F238E27FC236}">
                  <a16:creationId xmlns:a16="http://schemas.microsoft.com/office/drawing/2014/main" id="{D56BC62F-DA22-4676-BC3F-188280B4FA5E}"/>
                </a:ext>
              </a:extLst>
            </p:cNvPr>
            <p:cNvSpPr/>
            <p:nvPr/>
          </p:nvSpPr>
          <p:spPr>
            <a:xfrm>
              <a:off x="12568793" y="3074653"/>
              <a:ext cx="863033" cy="77617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App</a:t>
              </a:r>
            </a:p>
          </p:txBody>
        </p:sp>
        <p:sp>
          <p:nvSpPr>
            <p:cNvPr id="32" name="Rectangle: Rounded Corners 31">
              <a:extLst>
                <a:ext uri="{FF2B5EF4-FFF2-40B4-BE49-F238E27FC236}">
                  <a16:creationId xmlns:a16="http://schemas.microsoft.com/office/drawing/2014/main" id="{04C298DD-D7A6-4C1E-8BFF-9FC01BA5EEEF}"/>
                </a:ext>
              </a:extLst>
            </p:cNvPr>
            <p:cNvSpPr/>
            <p:nvPr/>
          </p:nvSpPr>
          <p:spPr>
            <a:xfrm>
              <a:off x="12568793" y="3941731"/>
              <a:ext cx="863033" cy="77617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App</a:t>
              </a:r>
            </a:p>
          </p:txBody>
        </p:sp>
        <p:cxnSp>
          <p:nvCxnSpPr>
            <p:cNvPr id="34" name="Straight Arrow Connector 33">
              <a:extLst>
                <a:ext uri="{FF2B5EF4-FFF2-40B4-BE49-F238E27FC236}">
                  <a16:creationId xmlns:a16="http://schemas.microsoft.com/office/drawing/2014/main" id="{8F691A2A-5BB2-442B-892A-5E59029DD4B0}"/>
                </a:ext>
              </a:extLst>
            </p:cNvPr>
            <p:cNvCxnSpPr/>
            <p:nvPr/>
          </p:nvCxnSpPr>
          <p:spPr>
            <a:xfrm>
              <a:off x="11557591" y="3525225"/>
              <a:ext cx="892102" cy="0"/>
            </a:xfrm>
            <a:prstGeom prst="straightConnector1">
              <a:avLst/>
            </a:prstGeom>
            <a:ln w="28575">
              <a:tailEnd type="triangle"/>
            </a:ln>
          </p:spPr>
          <p:style>
            <a:lnRef idx="3">
              <a:schemeClr val="accent4"/>
            </a:lnRef>
            <a:fillRef idx="0">
              <a:schemeClr val="accent4"/>
            </a:fillRef>
            <a:effectRef idx="2">
              <a:schemeClr val="accent4"/>
            </a:effectRef>
            <a:fontRef idx="minor">
              <a:schemeClr val="tx1"/>
            </a:fontRef>
          </p:style>
        </p:cxnSp>
        <p:cxnSp>
          <p:nvCxnSpPr>
            <p:cNvPr id="36" name="Straight Arrow Connector 35">
              <a:extLst>
                <a:ext uri="{FF2B5EF4-FFF2-40B4-BE49-F238E27FC236}">
                  <a16:creationId xmlns:a16="http://schemas.microsoft.com/office/drawing/2014/main" id="{7FF2EA8D-1BF3-4A1D-8A5E-16CA145F719B}"/>
                </a:ext>
              </a:extLst>
            </p:cNvPr>
            <p:cNvCxnSpPr/>
            <p:nvPr/>
          </p:nvCxnSpPr>
          <p:spPr>
            <a:xfrm>
              <a:off x="11471498" y="3941731"/>
              <a:ext cx="978195" cy="388088"/>
            </a:xfrm>
            <a:prstGeom prst="straightConnector1">
              <a:avLst/>
            </a:prstGeom>
            <a:ln w="28575">
              <a:tailEnd type="triangle"/>
            </a:ln>
          </p:spPr>
          <p:style>
            <a:lnRef idx="3">
              <a:schemeClr val="accent4"/>
            </a:lnRef>
            <a:fillRef idx="0">
              <a:schemeClr val="accent4"/>
            </a:fillRef>
            <a:effectRef idx="2">
              <a:schemeClr val="accent4"/>
            </a:effectRef>
            <a:fontRef idx="minor">
              <a:schemeClr val="tx1"/>
            </a:fontRef>
          </p:style>
        </p:cxnSp>
      </p:grpSp>
    </p:spTree>
    <p:extLst>
      <p:ext uri="{BB962C8B-B14F-4D97-AF65-F5344CB8AC3E}">
        <p14:creationId xmlns:p14="http://schemas.microsoft.com/office/powerpoint/2010/main" val="1843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9</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Elastic Load Balancer Features</a:t>
            </a:r>
          </a:p>
        </p:txBody>
      </p:sp>
      <p:sp>
        <p:nvSpPr>
          <p:cNvPr id="4" name="TextBox 3">
            <a:extLst>
              <a:ext uri="{FF2B5EF4-FFF2-40B4-BE49-F238E27FC236}">
                <a16:creationId xmlns:a16="http://schemas.microsoft.com/office/drawing/2014/main" id="{65C257FC-E079-4FCD-B4D8-90C4E29CFF7E}"/>
              </a:ext>
            </a:extLst>
          </p:cNvPr>
          <p:cNvSpPr txBox="1"/>
          <p:nvPr/>
        </p:nvSpPr>
        <p:spPr>
          <a:xfrm>
            <a:off x="544824" y="1259833"/>
            <a:ext cx="12779567" cy="4447371"/>
          </a:xfrm>
          <a:prstGeom prst="rect">
            <a:avLst/>
          </a:prstGeom>
          <a:noFill/>
        </p:spPr>
        <p:txBody>
          <a:bodyPr wrap="square" lIns="0" tIns="0" rIns="0" bIns="45720" rtlCol="0">
            <a:spAutoFit/>
          </a:bodyPr>
          <a:lstStyle/>
          <a:p>
            <a:pPr marL="285750" indent="-285750">
              <a:lnSpc>
                <a:spcPct val="150000"/>
              </a:lnSpc>
              <a:buFont typeface="Wingdings" panose="05000000000000000000" pitchFamily="2" charset="2"/>
              <a:buChar char="§"/>
            </a:pPr>
            <a:r>
              <a:rPr lang="en-IN" b="1" dirty="0">
                <a:solidFill>
                  <a:srgbClr val="18537D"/>
                </a:solidFill>
              </a:rPr>
              <a:t>High availability</a:t>
            </a:r>
          </a:p>
          <a:p>
            <a:pPr marL="742950" lvl="2" indent="-285750">
              <a:lnSpc>
                <a:spcPct val="150000"/>
              </a:lnSpc>
              <a:buFont typeface="Courier New" panose="02070309020205020404" pitchFamily="49" charset="0"/>
              <a:buChar char="o"/>
            </a:pPr>
            <a:r>
              <a:rPr lang="en-IN" dirty="0">
                <a:solidFill>
                  <a:srgbClr val="18537D"/>
                </a:solidFill>
              </a:rPr>
              <a:t>Automatically distributes traffic across multiple targets in a single Availability Zone or multiple Availability Zones</a:t>
            </a:r>
          </a:p>
          <a:p>
            <a:pPr marL="285750" indent="-285750">
              <a:lnSpc>
                <a:spcPct val="150000"/>
              </a:lnSpc>
              <a:buFont typeface="Wingdings" panose="05000000000000000000" pitchFamily="2" charset="2"/>
              <a:buChar char="§"/>
            </a:pPr>
            <a:r>
              <a:rPr lang="en-IN" b="1" dirty="0">
                <a:solidFill>
                  <a:srgbClr val="18537D"/>
                </a:solidFill>
              </a:rPr>
              <a:t>Health checks</a:t>
            </a:r>
          </a:p>
          <a:p>
            <a:pPr marL="742950" lvl="2" indent="-285750">
              <a:lnSpc>
                <a:spcPct val="150000"/>
              </a:lnSpc>
              <a:buFont typeface="Courier New" panose="02070309020205020404" pitchFamily="49" charset="0"/>
              <a:buChar char="o"/>
            </a:pPr>
            <a:r>
              <a:rPr lang="en-IN" dirty="0">
                <a:solidFill>
                  <a:srgbClr val="18537D"/>
                </a:solidFill>
              </a:rPr>
              <a:t>Detects unhealthy targets,  stops sending traffic to them, and then spread the load across the remaining healthy targets</a:t>
            </a:r>
          </a:p>
          <a:p>
            <a:pPr marL="285750" indent="-285750">
              <a:lnSpc>
                <a:spcPct val="150000"/>
              </a:lnSpc>
              <a:buFont typeface="Wingdings" panose="05000000000000000000" pitchFamily="2" charset="2"/>
              <a:buChar char="§"/>
            </a:pPr>
            <a:r>
              <a:rPr lang="en-IN" b="1" dirty="0">
                <a:solidFill>
                  <a:srgbClr val="18537D"/>
                </a:solidFill>
              </a:rPr>
              <a:t>Security features</a:t>
            </a:r>
          </a:p>
          <a:p>
            <a:pPr marL="742950" lvl="2" indent="-285750">
              <a:lnSpc>
                <a:spcPct val="150000"/>
              </a:lnSpc>
              <a:buFont typeface="Courier New" panose="02070309020205020404" pitchFamily="49" charset="0"/>
              <a:buChar char="o"/>
            </a:pPr>
            <a:r>
              <a:rPr lang="en-IN" dirty="0">
                <a:solidFill>
                  <a:srgbClr val="18537D"/>
                </a:solidFill>
              </a:rPr>
              <a:t>Use Amazon VPC to create and manage security groups that are associated with load balancers to provide additional networking and security options</a:t>
            </a:r>
          </a:p>
          <a:p>
            <a:pPr marL="742950" lvl="2" indent="-285750">
              <a:lnSpc>
                <a:spcPct val="150000"/>
              </a:lnSpc>
              <a:buFont typeface="Courier New" panose="02070309020205020404" pitchFamily="49" charset="0"/>
              <a:buChar char="o"/>
            </a:pPr>
            <a:r>
              <a:rPr lang="en-IN" dirty="0">
                <a:solidFill>
                  <a:srgbClr val="18537D"/>
                </a:solidFill>
              </a:rPr>
              <a:t>You can also create an internal (non-internet-facing) load balancer</a:t>
            </a:r>
            <a:endParaRPr lang="en-IN" sz="1600" dirty="0">
              <a:solidFill>
                <a:srgbClr val="18537D"/>
              </a:solidFill>
            </a:endParaRPr>
          </a:p>
          <a:p>
            <a:pPr marL="285750" indent="-285750" algn="just">
              <a:buFont typeface="Wingdings" panose="05000000000000000000" pitchFamily="2" charset="2"/>
              <a:buChar char="§"/>
            </a:pPr>
            <a:endParaRPr lang="en-IN" sz="1600" dirty="0">
              <a:solidFill>
                <a:srgbClr val="18537D"/>
              </a:solidFill>
            </a:endParaRPr>
          </a:p>
        </p:txBody>
      </p:sp>
    </p:spTree>
    <p:extLst>
      <p:ext uri="{BB962C8B-B14F-4D97-AF65-F5344CB8AC3E}">
        <p14:creationId xmlns:p14="http://schemas.microsoft.com/office/powerpoint/2010/main" val="18157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10</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Elastic load Balancer Features</a:t>
            </a:r>
          </a:p>
        </p:txBody>
      </p:sp>
      <p:sp>
        <p:nvSpPr>
          <p:cNvPr id="4" name="TextBox 3">
            <a:extLst>
              <a:ext uri="{FF2B5EF4-FFF2-40B4-BE49-F238E27FC236}">
                <a16:creationId xmlns:a16="http://schemas.microsoft.com/office/drawing/2014/main" id="{65C257FC-E079-4FCD-B4D8-90C4E29CFF7E}"/>
              </a:ext>
            </a:extLst>
          </p:cNvPr>
          <p:cNvSpPr txBox="1"/>
          <p:nvPr/>
        </p:nvSpPr>
        <p:spPr>
          <a:xfrm>
            <a:off x="447834" y="1380073"/>
            <a:ext cx="12779567" cy="2486643"/>
          </a:xfrm>
          <a:prstGeom prst="rect">
            <a:avLst/>
          </a:prstGeom>
          <a:noFill/>
        </p:spPr>
        <p:txBody>
          <a:bodyPr wrap="square" lIns="0" tIns="0" rIns="0" bIns="45720" rtlCol="0">
            <a:spAutoFit/>
          </a:bodyPr>
          <a:lstStyle/>
          <a:p>
            <a:pPr marL="285750" indent="-285750">
              <a:lnSpc>
                <a:spcPct val="150000"/>
              </a:lnSpc>
              <a:buFont typeface="Wingdings" panose="05000000000000000000" pitchFamily="2" charset="2"/>
              <a:buChar char="§"/>
            </a:pPr>
            <a:r>
              <a:rPr lang="en-IN" b="1" dirty="0">
                <a:solidFill>
                  <a:srgbClr val="18537D"/>
                </a:solidFill>
              </a:rPr>
              <a:t>Layer 4 or Layer 7 load balancing</a:t>
            </a:r>
          </a:p>
          <a:p>
            <a:pPr marL="742950" lvl="2" indent="-285750">
              <a:lnSpc>
                <a:spcPct val="150000"/>
              </a:lnSpc>
              <a:buFont typeface="Courier New" panose="02070309020205020404" pitchFamily="49" charset="0"/>
              <a:buChar char="o"/>
            </a:pPr>
            <a:r>
              <a:rPr lang="en-IN" dirty="0">
                <a:solidFill>
                  <a:srgbClr val="18537D"/>
                </a:solidFill>
              </a:rPr>
              <a:t>Use  layer-7  to  load balance HTTP/HTTPS applications  and layer-4 to load balance applications that rely on the TCP and UDP protocols.</a:t>
            </a:r>
          </a:p>
          <a:p>
            <a:pPr marL="285750" indent="-285750">
              <a:lnSpc>
                <a:spcPct val="150000"/>
              </a:lnSpc>
              <a:buFont typeface="Wingdings" panose="05000000000000000000" pitchFamily="2" charset="2"/>
              <a:buChar char="§"/>
            </a:pPr>
            <a:r>
              <a:rPr lang="en-IN" b="1" dirty="0">
                <a:solidFill>
                  <a:srgbClr val="18537D"/>
                </a:solidFill>
              </a:rPr>
              <a:t>Operational monitoring</a:t>
            </a:r>
          </a:p>
          <a:p>
            <a:pPr marL="742950" lvl="2" indent="-285750">
              <a:lnSpc>
                <a:spcPct val="150000"/>
              </a:lnSpc>
              <a:buFont typeface="Courier New" panose="02070309020205020404" pitchFamily="49" charset="0"/>
              <a:buChar char="o"/>
            </a:pPr>
            <a:r>
              <a:rPr lang="en-IN" dirty="0">
                <a:solidFill>
                  <a:srgbClr val="18537D"/>
                </a:solidFill>
              </a:rPr>
              <a:t>ELB is integrated Amazon CloudWatch metrics and helps to monitor the performance of applications in real time.</a:t>
            </a:r>
            <a:endParaRPr lang="en-IN" sz="1600" dirty="0">
              <a:solidFill>
                <a:srgbClr val="18537D"/>
              </a:solidFill>
            </a:endParaRPr>
          </a:p>
        </p:txBody>
      </p:sp>
    </p:spTree>
    <p:extLst>
      <p:ext uri="{BB962C8B-B14F-4D97-AF65-F5344CB8AC3E}">
        <p14:creationId xmlns:p14="http://schemas.microsoft.com/office/powerpoint/2010/main" val="95521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11</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Elastic load Balancer options</a:t>
            </a:r>
          </a:p>
        </p:txBody>
      </p:sp>
      <p:sp>
        <p:nvSpPr>
          <p:cNvPr id="4" name="TextBox 3">
            <a:extLst>
              <a:ext uri="{FF2B5EF4-FFF2-40B4-BE49-F238E27FC236}">
                <a16:creationId xmlns:a16="http://schemas.microsoft.com/office/drawing/2014/main" id="{65C257FC-E079-4FCD-B4D8-90C4E29CFF7E}"/>
              </a:ext>
            </a:extLst>
          </p:cNvPr>
          <p:cNvSpPr txBox="1"/>
          <p:nvPr/>
        </p:nvSpPr>
        <p:spPr>
          <a:xfrm>
            <a:off x="320509" y="3268858"/>
            <a:ext cx="4592900" cy="2539157"/>
          </a:xfrm>
          <a:prstGeom prst="rect">
            <a:avLst/>
          </a:prstGeom>
          <a:noFill/>
        </p:spPr>
        <p:txBody>
          <a:bodyPr wrap="square" lIns="0" tIns="0" rIns="0" bIns="45720" rtlCol="0">
            <a:spAutoFit/>
          </a:bodyPr>
          <a:lstStyle/>
          <a:p>
            <a:endParaRPr lang="en-IN" dirty="0">
              <a:solidFill>
                <a:srgbClr val="18537D"/>
              </a:solidFill>
            </a:endParaRPr>
          </a:p>
          <a:p>
            <a:pPr marL="285750" indent="-285750">
              <a:buFont typeface="Wingdings" panose="05000000000000000000" pitchFamily="2" charset="2"/>
              <a:buChar char="§"/>
            </a:pPr>
            <a:r>
              <a:rPr lang="en-IN" dirty="0">
                <a:solidFill>
                  <a:srgbClr val="18537D"/>
                </a:solidFill>
              </a:rPr>
              <a:t>Load balance HTTP and HTTPS traffic</a:t>
            </a:r>
          </a:p>
          <a:p>
            <a:pPr marL="285750" indent="-285750">
              <a:buFont typeface="Wingdings" panose="05000000000000000000" pitchFamily="2" charset="2"/>
              <a:buChar char="§"/>
            </a:pPr>
            <a:endParaRPr lang="en-IN" dirty="0">
              <a:solidFill>
                <a:srgbClr val="18537D"/>
              </a:solidFill>
            </a:endParaRPr>
          </a:p>
          <a:p>
            <a:pPr marL="285750" indent="-285750">
              <a:buFont typeface="Wingdings" panose="05000000000000000000" pitchFamily="2" charset="2"/>
              <a:buChar char="§"/>
            </a:pPr>
            <a:r>
              <a:rPr lang="en-IN" dirty="0">
                <a:solidFill>
                  <a:srgbClr val="18537D"/>
                </a:solidFill>
              </a:rPr>
              <a:t>Operates at layer – 7</a:t>
            </a:r>
          </a:p>
          <a:p>
            <a:pPr marL="285750" indent="-285750">
              <a:buFont typeface="Wingdings" panose="05000000000000000000" pitchFamily="2" charset="2"/>
              <a:buChar char="§"/>
            </a:pPr>
            <a:endParaRPr lang="en-IN" dirty="0">
              <a:solidFill>
                <a:srgbClr val="18537D"/>
              </a:solidFill>
            </a:endParaRPr>
          </a:p>
          <a:p>
            <a:pPr marL="285750" indent="-285750">
              <a:buFont typeface="Wingdings" panose="05000000000000000000" pitchFamily="2" charset="2"/>
              <a:buChar char="§"/>
            </a:pPr>
            <a:r>
              <a:rPr lang="en-IN" dirty="0">
                <a:solidFill>
                  <a:srgbClr val="18537D"/>
                </a:solidFill>
              </a:rPr>
              <a:t>Provides advanced routing features</a:t>
            </a:r>
          </a:p>
          <a:p>
            <a:pPr marL="285750" indent="-285750">
              <a:buFont typeface="Wingdings" panose="05000000000000000000" pitchFamily="2" charset="2"/>
              <a:buChar char="§"/>
            </a:pPr>
            <a:endParaRPr lang="en-IN" dirty="0">
              <a:solidFill>
                <a:srgbClr val="18537D"/>
              </a:solidFill>
            </a:endParaRPr>
          </a:p>
          <a:p>
            <a:pPr marL="285750" indent="-285750">
              <a:buFont typeface="Wingdings" panose="05000000000000000000" pitchFamily="2" charset="2"/>
              <a:buChar char="§"/>
            </a:pPr>
            <a:r>
              <a:rPr lang="en-IN" dirty="0">
                <a:solidFill>
                  <a:srgbClr val="18537D"/>
                </a:solidFill>
              </a:rPr>
              <a:t>Support for microservices and containers</a:t>
            </a:r>
          </a:p>
        </p:txBody>
      </p:sp>
      <p:pic>
        <p:nvPicPr>
          <p:cNvPr id="5" name="Picture 4">
            <a:extLst>
              <a:ext uri="{FF2B5EF4-FFF2-40B4-BE49-F238E27FC236}">
                <a16:creationId xmlns:a16="http://schemas.microsoft.com/office/drawing/2014/main" id="{8206D394-4758-4FC3-ADBC-08B7E24BCE2E}"/>
              </a:ext>
            </a:extLst>
          </p:cNvPr>
          <p:cNvPicPr>
            <a:picLocks noChangeAspect="1"/>
          </p:cNvPicPr>
          <p:nvPr/>
        </p:nvPicPr>
        <p:blipFill>
          <a:blip r:embed="rId3"/>
          <a:stretch>
            <a:fillRect/>
          </a:stretch>
        </p:blipFill>
        <p:spPr>
          <a:xfrm>
            <a:off x="320509" y="1401016"/>
            <a:ext cx="4592900" cy="1703691"/>
          </a:xfrm>
          <a:prstGeom prst="rect">
            <a:avLst/>
          </a:prstGeom>
        </p:spPr>
      </p:pic>
      <p:pic>
        <p:nvPicPr>
          <p:cNvPr id="6" name="Picture 5">
            <a:extLst>
              <a:ext uri="{FF2B5EF4-FFF2-40B4-BE49-F238E27FC236}">
                <a16:creationId xmlns:a16="http://schemas.microsoft.com/office/drawing/2014/main" id="{77EBEDEC-3F99-4F08-9B9C-345FFA61D6C3}"/>
              </a:ext>
            </a:extLst>
          </p:cNvPr>
          <p:cNvPicPr>
            <a:picLocks noChangeAspect="1"/>
          </p:cNvPicPr>
          <p:nvPr/>
        </p:nvPicPr>
        <p:blipFill>
          <a:blip r:embed="rId4"/>
          <a:stretch>
            <a:fillRect/>
          </a:stretch>
        </p:blipFill>
        <p:spPr>
          <a:xfrm>
            <a:off x="5131468" y="1401016"/>
            <a:ext cx="4525188" cy="1703691"/>
          </a:xfrm>
          <a:prstGeom prst="rect">
            <a:avLst/>
          </a:prstGeom>
        </p:spPr>
      </p:pic>
      <p:pic>
        <p:nvPicPr>
          <p:cNvPr id="8" name="Picture 7">
            <a:extLst>
              <a:ext uri="{FF2B5EF4-FFF2-40B4-BE49-F238E27FC236}">
                <a16:creationId xmlns:a16="http://schemas.microsoft.com/office/drawing/2014/main" id="{A4BA18A6-F38C-42AC-AEAE-D6D2830ECEA6}"/>
              </a:ext>
            </a:extLst>
          </p:cNvPr>
          <p:cNvPicPr>
            <a:picLocks noChangeAspect="1"/>
          </p:cNvPicPr>
          <p:nvPr/>
        </p:nvPicPr>
        <p:blipFill>
          <a:blip r:embed="rId5"/>
          <a:stretch>
            <a:fillRect/>
          </a:stretch>
        </p:blipFill>
        <p:spPr>
          <a:xfrm>
            <a:off x="9782514" y="1401016"/>
            <a:ext cx="4617699" cy="1703692"/>
          </a:xfrm>
          <a:prstGeom prst="rect">
            <a:avLst/>
          </a:prstGeom>
        </p:spPr>
      </p:pic>
      <p:sp>
        <p:nvSpPr>
          <p:cNvPr id="9" name="TextBox 8">
            <a:extLst>
              <a:ext uri="{FF2B5EF4-FFF2-40B4-BE49-F238E27FC236}">
                <a16:creationId xmlns:a16="http://schemas.microsoft.com/office/drawing/2014/main" id="{176F7220-E3E3-4CBA-BED5-68F8FC223286}"/>
              </a:ext>
            </a:extLst>
          </p:cNvPr>
          <p:cNvSpPr txBox="1"/>
          <p:nvPr/>
        </p:nvSpPr>
        <p:spPr>
          <a:xfrm>
            <a:off x="5063756" y="3371080"/>
            <a:ext cx="4592900" cy="3093154"/>
          </a:xfrm>
          <a:prstGeom prst="rect">
            <a:avLst/>
          </a:prstGeom>
          <a:noFill/>
        </p:spPr>
        <p:txBody>
          <a:bodyPr wrap="square" lIns="0" tIns="0" rIns="0" bIns="45720" rtlCol="0">
            <a:spAutoFit/>
          </a:bodyPr>
          <a:lstStyle/>
          <a:p>
            <a:pPr marL="285750" indent="-285750" algn="just">
              <a:buFont typeface="Wingdings" panose="05000000000000000000" pitchFamily="2" charset="2"/>
              <a:buChar char="§"/>
            </a:pPr>
            <a:r>
              <a:rPr lang="en-IN" dirty="0">
                <a:solidFill>
                  <a:srgbClr val="18537D"/>
                </a:solidFill>
              </a:rPr>
              <a:t>Choose when you need ultra-high performance</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Support for UDP, and static IP addresses for your application.</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Operating at the connection level</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Capable of handling millions of requests per second securely while maintaining ultra-low latencies</a:t>
            </a:r>
          </a:p>
        </p:txBody>
      </p:sp>
      <p:sp>
        <p:nvSpPr>
          <p:cNvPr id="10" name="TextBox 9">
            <a:extLst>
              <a:ext uri="{FF2B5EF4-FFF2-40B4-BE49-F238E27FC236}">
                <a16:creationId xmlns:a16="http://schemas.microsoft.com/office/drawing/2014/main" id="{50CB52E1-07B4-4567-8CBE-683110172C27}"/>
              </a:ext>
            </a:extLst>
          </p:cNvPr>
          <p:cNvSpPr txBox="1"/>
          <p:nvPr/>
        </p:nvSpPr>
        <p:spPr>
          <a:xfrm>
            <a:off x="9807313" y="3338505"/>
            <a:ext cx="4592900" cy="877163"/>
          </a:xfrm>
          <a:prstGeom prst="rect">
            <a:avLst/>
          </a:prstGeom>
          <a:noFill/>
        </p:spPr>
        <p:txBody>
          <a:bodyPr wrap="square" lIns="0" tIns="0" rIns="0" bIns="45720" rtlCol="0">
            <a:spAutoFit/>
          </a:bodyPr>
          <a:lstStyle/>
          <a:p>
            <a:pPr marL="285750" indent="-285750" algn="just">
              <a:buFont typeface="Wingdings" panose="05000000000000000000" pitchFamily="2" charset="2"/>
              <a:buChar char="§"/>
            </a:pPr>
            <a:r>
              <a:rPr lang="en-IN" dirty="0">
                <a:solidFill>
                  <a:srgbClr val="18537D"/>
                </a:solidFill>
              </a:rPr>
              <a:t>Choose when you have an existing application running in the EC2-Classic network</a:t>
            </a:r>
          </a:p>
        </p:txBody>
      </p:sp>
    </p:spTree>
    <p:extLst>
      <p:ext uri="{BB962C8B-B14F-4D97-AF65-F5344CB8AC3E}">
        <p14:creationId xmlns:p14="http://schemas.microsoft.com/office/powerpoint/2010/main" val="242021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Effect transition="in" filter="fade">
                                      <p:cBhvr>
                                        <p:cTn id="19" dur="500"/>
                                        <p:tgtEl>
                                          <p:spTgt spid="4">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Effect transition="in" filter="fade">
                                      <p:cBhvr>
                                        <p:cTn id="29" dur="500"/>
                                        <p:tgtEl>
                                          <p:spTgt spid="9">
                                            <p:txEl>
                                              <p:pRg st="0" end="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9">
                                            <p:txEl>
                                              <p:pRg st="2" end="2"/>
                                            </p:txEl>
                                          </p:spTgt>
                                        </p:tgtEl>
                                        <p:attrNameLst>
                                          <p:attrName>style.visibility</p:attrName>
                                        </p:attrNameLst>
                                      </p:cBhvr>
                                      <p:to>
                                        <p:strVal val="visible"/>
                                      </p:to>
                                    </p:set>
                                    <p:animEffect transition="in" filter="fade">
                                      <p:cBhvr>
                                        <p:cTn id="32" dur="500"/>
                                        <p:tgtEl>
                                          <p:spTgt spid="9">
                                            <p:txEl>
                                              <p:pRg st="2" end="2"/>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animEffect transition="in" filter="fade">
                                      <p:cBhvr>
                                        <p:cTn id="35" dur="500"/>
                                        <p:tgtEl>
                                          <p:spTgt spid="9">
                                            <p:txEl>
                                              <p:pRg st="4" end="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5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0">
                                            <p:txEl>
                                              <p:pRg st="0" end="0"/>
                                            </p:txEl>
                                          </p:spTgt>
                                        </p:tgtEl>
                                        <p:attrNameLst>
                                          <p:attrName>style.visibility</p:attrName>
                                        </p:attrNameLst>
                                      </p:cBhvr>
                                      <p:to>
                                        <p:strVal val="visible"/>
                                      </p:to>
                                    </p:set>
                                    <p:animEffect transition="in" filter="fade">
                                      <p:cBhvr>
                                        <p:cTn id="48"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a:xfrm>
            <a:off x="13523495" y="6557211"/>
            <a:ext cx="426715" cy="502889"/>
          </a:xfrm>
        </p:spPr>
        <p:txBody>
          <a:bodyPr/>
          <a:lstStyle/>
          <a:p>
            <a:fld id="{4F9AC08D-23A9-440E-BCB9-AA1E9877CC38}" type="slidenum">
              <a:rPr lang="en-US" smtClean="0"/>
              <a:pPr/>
              <a:t>12</a:t>
            </a:fld>
            <a:endParaRPr lang="en-US" dirty="0"/>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 EC2 Auto Scaling</a:t>
            </a:r>
          </a:p>
        </p:txBody>
      </p:sp>
      <p:sp>
        <p:nvSpPr>
          <p:cNvPr id="4" name="TextBox 3">
            <a:extLst>
              <a:ext uri="{FF2B5EF4-FFF2-40B4-BE49-F238E27FC236}">
                <a16:creationId xmlns:a16="http://schemas.microsoft.com/office/drawing/2014/main" id="{65C257FC-E079-4FCD-B4D8-90C4E29CFF7E}"/>
              </a:ext>
            </a:extLst>
          </p:cNvPr>
          <p:cNvSpPr txBox="1"/>
          <p:nvPr/>
        </p:nvSpPr>
        <p:spPr>
          <a:xfrm>
            <a:off x="434710" y="2005730"/>
            <a:ext cx="7760501" cy="3370153"/>
          </a:xfrm>
          <a:prstGeom prst="rect">
            <a:avLst/>
          </a:prstGeom>
          <a:noFill/>
        </p:spPr>
        <p:txBody>
          <a:bodyPr wrap="square" lIns="0" tIns="0" rIns="0" bIns="45720" rtlCol="0">
            <a:spAutoFit/>
          </a:bodyPr>
          <a:lstStyle/>
          <a:p>
            <a:pPr marL="0" lvl="1"/>
            <a:r>
              <a:rPr lang="en-IN" sz="2000" dirty="0">
                <a:solidFill>
                  <a:srgbClr val="18537D"/>
                </a:solidFill>
              </a:rPr>
              <a:t>EC2 Auto Scaling has 3 components</a:t>
            </a:r>
          </a:p>
          <a:p>
            <a:pPr marL="0" lvl="1"/>
            <a:endParaRPr lang="en-IN" sz="2000" dirty="0">
              <a:solidFill>
                <a:srgbClr val="18537D"/>
              </a:solidFill>
            </a:endParaRPr>
          </a:p>
          <a:p>
            <a:pPr marL="869826" lvl="2" indent="-412626">
              <a:spcAft>
                <a:spcPts val="1200"/>
              </a:spcAft>
              <a:buClr>
                <a:srgbClr val="18537D"/>
              </a:buClr>
              <a:buFont typeface="Wingdings" panose="05000000000000000000" pitchFamily="2" charset="2"/>
              <a:buChar char="§"/>
            </a:pPr>
            <a:r>
              <a:rPr lang="en-IN" dirty="0">
                <a:solidFill>
                  <a:srgbClr val="18537D"/>
                </a:solidFill>
              </a:rPr>
              <a:t>Groups: Groups are treated as a logical unit for the purpose of scaling and management</a:t>
            </a:r>
          </a:p>
          <a:p>
            <a:pPr marL="869826" lvl="2" indent="-412626">
              <a:spcAft>
                <a:spcPts val="1200"/>
              </a:spcAft>
              <a:buClr>
                <a:srgbClr val="18537D"/>
              </a:buClr>
              <a:buFont typeface="Wingdings" panose="05000000000000000000" pitchFamily="2" charset="2"/>
              <a:buChar char="§"/>
            </a:pPr>
            <a:r>
              <a:rPr lang="en-IN" dirty="0">
                <a:solidFill>
                  <a:srgbClr val="18537D"/>
                </a:solidFill>
              </a:rPr>
              <a:t>Launch Template or Launch Configuration: Configuration template for EC2 instances</a:t>
            </a:r>
          </a:p>
          <a:p>
            <a:pPr marL="869826" lvl="2" indent="-412626">
              <a:spcAft>
                <a:spcPts val="1200"/>
              </a:spcAft>
              <a:buClr>
                <a:srgbClr val="18537D"/>
              </a:buClr>
              <a:buFont typeface="Wingdings" panose="05000000000000000000" pitchFamily="2" charset="2"/>
              <a:buChar char="§"/>
            </a:pPr>
            <a:r>
              <a:rPr lang="en-IN" dirty="0">
                <a:solidFill>
                  <a:srgbClr val="18537D"/>
                </a:solidFill>
              </a:rPr>
              <a:t>Scaling Options:  You can configure a group to scale based on the occurrence of specified conditions (dynamic scaling) or on a schedule</a:t>
            </a:r>
            <a:endParaRPr lang="en-IN" sz="2000" dirty="0">
              <a:solidFill>
                <a:srgbClr val="18537D"/>
              </a:solidFill>
            </a:endParaRPr>
          </a:p>
          <a:p>
            <a:pPr marL="800100" lvl="2" indent="-342900">
              <a:buFont typeface="Wingdings" panose="05000000000000000000" pitchFamily="2" charset="2"/>
              <a:buChar char="§"/>
            </a:pPr>
            <a:endParaRPr lang="en-IN" sz="2000" dirty="0">
              <a:solidFill>
                <a:srgbClr val="18537D"/>
              </a:solidFill>
            </a:endParaRPr>
          </a:p>
        </p:txBody>
      </p:sp>
      <p:grpSp>
        <p:nvGrpSpPr>
          <p:cNvPr id="23" name="Group 22">
            <a:extLst>
              <a:ext uri="{FF2B5EF4-FFF2-40B4-BE49-F238E27FC236}">
                <a16:creationId xmlns:a16="http://schemas.microsoft.com/office/drawing/2014/main" id="{A6EF323B-FB9D-414C-889E-6FF44C70A182}"/>
              </a:ext>
            </a:extLst>
          </p:cNvPr>
          <p:cNvGrpSpPr/>
          <p:nvPr/>
        </p:nvGrpSpPr>
        <p:grpSpPr>
          <a:xfrm>
            <a:off x="8660784" y="1617192"/>
            <a:ext cx="5132238" cy="4369892"/>
            <a:chOff x="8660784" y="1617192"/>
            <a:chExt cx="5132238" cy="4369892"/>
          </a:xfrm>
        </p:grpSpPr>
        <p:sp>
          <p:nvSpPr>
            <p:cNvPr id="6" name="Rectangle 5">
              <a:extLst>
                <a:ext uri="{FF2B5EF4-FFF2-40B4-BE49-F238E27FC236}">
                  <a16:creationId xmlns:a16="http://schemas.microsoft.com/office/drawing/2014/main" id="{636DB530-9B99-4F8A-BCD2-B223277E4828}"/>
                </a:ext>
              </a:extLst>
            </p:cNvPr>
            <p:cNvSpPr/>
            <p:nvPr/>
          </p:nvSpPr>
          <p:spPr>
            <a:xfrm>
              <a:off x="8660784" y="2030819"/>
              <a:ext cx="4289672" cy="861237"/>
            </a:xfrm>
            <a:prstGeom prst="rect">
              <a:avLst/>
            </a:prstGeom>
            <a:solidFill>
              <a:srgbClr val="1398C3"/>
            </a:solidFill>
            <a:ln>
              <a:solidFill>
                <a:srgbClr val="34B2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B717EA96-0B4F-4C61-AAC6-9E983B97D2D9}"/>
                </a:ext>
              </a:extLst>
            </p:cNvPr>
            <p:cNvSpPr/>
            <p:nvPr/>
          </p:nvSpPr>
          <p:spPr>
            <a:xfrm>
              <a:off x="9255642" y="2199859"/>
              <a:ext cx="574158" cy="523155"/>
            </a:xfrm>
            <a:prstGeom prst="roundRect">
              <a:avLst/>
            </a:prstGeom>
            <a:solidFill>
              <a:srgbClr val="FF9128"/>
            </a:solidFill>
            <a:ln>
              <a:solidFill>
                <a:srgbClr val="FF9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7196B7C8-874B-4B09-B258-A07FEC4B3D39}"/>
                </a:ext>
              </a:extLst>
            </p:cNvPr>
            <p:cNvSpPr/>
            <p:nvPr/>
          </p:nvSpPr>
          <p:spPr>
            <a:xfrm>
              <a:off x="10133393" y="2199859"/>
              <a:ext cx="574158" cy="523155"/>
            </a:xfrm>
            <a:prstGeom prst="roundRect">
              <a:avLst/>
            </a:prstGeom>
            <a:solidFill>
              <a:srgbClr val="FF9128"/>
            </a:solidFill>
            <a:ln>
              <a:solidFill>
                <a:srgbClr val="FF9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4D00F12D-CB4B-4587-8FA2-0A47A514191B}"/>
                </a:ext>
              </a:extLst>
            </p:cNvPr>
            <p:cNvSpPr/>
            <p:nvPr/>
          </p:nvSpPr>
          <p:spPr>
            <a:xfrm>
              <a:off x="11032974" y="2199859"/>
              <a:ext cx="574158" cy="523155"/>
            </a:xfrm>
            <a:prstGeom prst="roundRect">
              <a:avLst/>
            </a:prstGeom>
            <a:solidFill>
              <a:srgbClr val="1398C3"/>
            </a:solidFill>
            <a:ln w="28575">
              <a:solidFill>
                <a:srgbClr val="FF912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E785A619-F095-4881-9AFC-850C700701B9}"/>
                </a:ext>
              </a:extLst>
            </p:cNvPr>
            <p:cNvSpPr/>
            <p:nvPr/>
          </p:nvSpPr>
          <p:spPr>
            <a:xfrm>
              <a:off x="11910725" y="2199859"/>
              <a:ext cx="574158" cy="523155"/>
            </a:xfrm>
            <a:prstGeom prst="roundRect">
              <a:avLst/>
            </a:prstGeom>
            <a:solidFill>
              <a:srgbClr val="1398C3"/>
            </a:solidFill>
            <a:ln w="28575">
              <a:solidFill>
                <a:srgbClr val="FF912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Left Brace 13">
              <a:extLst>
                <a:ext uri="{FF2B5EF4-FFF2-40B4-BE49-F238E27FC236}">
                  <a16:creationId xmlns:a16="http://schemas.microsoft.com/office/drawing/2014/main" id="{94CAF961-0BF0-4A5D-A83E-CE13A027A387}"/>
                </a:ext>
              </a:extLst>
            </p:cNvPr>
            <p:cNvSpPr/>
            <p:nvPr/>
          </p:nvSpPr>
          <p:spPr>
            <a:xfrm rot="16200000">
              <a:off x="9363098" y="2802759"/>
              <a:ext cx="457200" cy="861237"/>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Left Brace 14">
              <a:extLst>
                <a:ext uri="{FF2B5EF4-FFF2-40B4-BE49-F238E27FC236}">
                  <a16:creationId xmlns:a16="http://schemas.microsoft.com/office/drawing/2014/main" id="{90267882-CC50-4957-A842-DE8B4FB0C725}"/>
                </a:ext>
              </a:extLst>
            </p:cNvPr>
            <p:cNvSpPr/>
            <p:nvPr/>
          </p:nvSpPr>
          <p:spPr>
            <a:xfrm rot="16200000">
              <a:off x="11567591" y="2496357"/>
              <a:ext cx="457200" cy="1435396"/>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Left Brace 15">
              <a:extLst>
                <a:ext uri="{FF2B5EF4-FFF2-40B4-BE49-F238E27FC236}">
                  <a16:creationId xmlns:a16="http://schemas.microsoft.com/office/drawing/2014/main" id="{AF3212D5-1E38-4703-ABD7-9D091859FB81}"/>
                </a:ext>
              </a:extLst>
            </p:cNvPr>
            <p:cNvSpPr/>
            <p:nvPr/>
          </p:nvSpPr>
          <p:spPr>
            <a:xfrm rot="16200000">
              <a:off x="9703057" y="3599481"/>
              <a:ext cx="457200" cy="1551788"/>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 name="Left Brace 16">
              <a:extLst>
                <a:ext uri="{FF2B5EF4-FFF2-40B4-BE49-F238E27FC236}">
                  <a16:creationId xmlns:a16="http://schemas.microsoft.com/office/drawing/2014/main" id="{7FAFC63C-2253-4238-ACB3-3EE0CB51DDFB}"/>
                </a:ext>
              </a:extLst>
            </p:cNvPr>
            <p:cNvSpPr/>
            <p:nvPr/>
          </p:nvSpPr>
          <p:spPr>
            <a:xfrm rot="16200000">
              <a:off x="10577020" y="3801985"/>
              <a:ext cx="457200" cy="3229243"/>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8" name="TextBox 17">
              <a:extLst>
                <a:ext uri="{FF2B5EF4-FFF2-40B4-BE49-F238E27FC236}">
                  <a16:creationId xmlns:a16="http://schemas.microsoft.com/office/drawing/2014/main" id="{3CFF153B-E44A-44BF-AC27-405231AE1AE8}"/>
                </a:ext>
              </a:extLst>
            </p:cNvPr>
            <p:cNvSpPr txBox="1"/>
            <p:nvPr/>
          </p:nvSpPr>
          <p:spPr>
            <a:xfrm>
              <a:off x="9962708" y="1617192"/>
              <a:ext cx="2668772" cy="292388"/>
            </a:xfrm>
            <a:prstGeom prst="rect">
              <a:avLst/>
            </a:prstGeom>
            <a:noFill/>
          </p:spPr>
          <p:txBody>
            <a:bodyPr wrap="square" lIns="0" tIns="0" rIns="0" bIns="45720" rtlCol="0">
              <a:spAutoFit/>
            </a:bodyPr>
            <a:lstStyle/>
            <a:p>
              <a:r>
                <a:rPr lang="en-IN" sz="1600" dirty="0"/>
                <a:t>Auto Scaling Group</a:t>
              </a:r>
            </a:p>
          </p:txBody>
        </p:sp>
        <p:sp>
          <p:nvSpPr>
            <p:cNvPr id="19" name="TextBox 18">
              <a:extLst>
                <a:ext uri="{FF2B5EF4-FFF2-40B4-BE49-F238E27FC236}">
                  <a16:creationId xmlns:a16="http://schemas.microsoft.com/office/drawing/2014/main" id="{AB794E41-3F92-4874-A2CB-468815D4A348}"/>
                </a:ext>
              </a:extLst>
            </p:cNvPr>
            <p:cNvSpPr txBox="1"/>
            <p:nvPr/>
          </p:nvSpPr>
          <p:spPr>
            <a:xfrm>
              <a:off x="8955439" y="3544613"/>
              <a:ext cx="1435396" cy="292388"/>
            </a:xfrm>
            <a:prstGeom prst="rect">
              <a:avLst/>
            </a:prstGeom>
            <a:noFill/>
          </p:spPr>
          <p:txBody>
            <a:bodyPr wrap="square" lIns="0" tIns="0" rIns="0" bIns="45720" rtlCol="0">
              <a:spAutoFit/>
            </a:bodyPr>
            <a:lstStyle/>
            <a:p>
              <a:r>
                <a:rPr lang="en-IN" sz="1600" dirty="0"/>
                <a:t>Minimum Size</a:t>
              </a:r>
            </a:p>
          </p:txBody>
        </p:sp>
        <p:sp>
          <p:nvSpPr>
            <p:cNvPr id="20" name="TextBox 19">
              <a:extLst>
                <a:ext uri="{FF2B5EF4-FFF2-40B4-BE49-F238E27FC236}">
                  <a16:creationId xmlns:a16="http://schemas.microsoft.com/office/drawing/2014/main" id="{416DF969-2501-4127-983F-BCC957591553}"/>
                </a:ext>
              </a:extLst>
            </p:cNvPr>
            <p:cNvSpPr txBox="1"/>
            <p:nvPr/>
          </p:nvSpPr>
          <p:spPr>
            <a:xfrm>
              <a:off x="11124250" y="3552333"/>
              <a:ext cx="2668772" cy="292388"/>
            </a:xfrm>
            <a:prstGeom prst="rect">
              <a:avLst/>
            </a:prstGeom>
            <a:noFill/>
          </p:spPr>
          <p:txBody>
            <a:bodyPr wrap="square" lIns="0" tIns="0" rIns="0" bIns="45720" rtlCol="0">
              <a:spAutoFit/>
            </a:bodyPr>
            <a:lstStyle/>
            <a:p>
              <a:r>
                <a:rPr lang="en-IN" sz="1600" dirty="0"/>
                <a:t>Scale out as needed</a:t>
              </a:r>
            </a:p>
          </p:txBody>
        </p:sp>
        <p:sp>
          <p:nvSpPr>
            <p:cNvPr id="21" name="TextBox 20">
              <a:extLst>
                <a:ext uri="{FF2B5EF4-FFF2-40B4-BE49-F238E27FC236}">
                  <a16:creationId xmlns:a16="http://schemas.microsoft.com/office/drawing/2014/main" id="{ED3B67B2-775A-452C-9269-7756E24D5125}"/>
                </a:ext>
              </a:extLst>
            </p:cNvPr>
            <p:cNvSpPr txBox="1"/>
            <p:nvPr/>
          </p:nvSpPr>
          <p:spPr>
            <a:xfrm>
              <a:off x="8955439" y="4649633"/>
              <a:ext cx="1752112" cy="292388"/>
            </a:xfrm>
            <a:prstGeom prst="rect">
              <a:avLst/>
            </a:prstGeom>
            <a:noFill/>
          </p:spPr>
          <p:txBody>
            <a:bodyPr wrap="square" lIns="0" tIns="0" rIns="0" bIns="45720" rtlCol="0">
              <a:spAutoFit/>
            </a:bodyPr>
            <a:lstStyle/>
            <a:p>
              <a:r>
                <a:rPr lang="en-IN" sz="1600" dirty="0"/>
                <a:t>Desired Capacity</a:t>
              </a:r>
            </a:p>
          </p:txBody>
        </p:sp>
        <p:sp>
          <p:nvSpPr>
            <p:cNvPr id="22" name="TextBox 21">
              <a:extLst>
                <a:ext uri="{FF2B5EF4-FFF2-40B4-BE49-F238E27FC236}">
                  <a16:creationId xmlns:a16="http://schemas.microsoft.com/office/drawing/2014/main" id="{7A04BBFF-DCD4-4D6C-8E36-1F7C2857F1B1}"/>
                </a:ext>
              </a:extLst>
            </p:cNvPr>
            <p:cNvSpPr txBox="1"/>
            <p:nvPr/>
          </p:nvSpPr>
          <p:spPr>
            <a:xfrm>
              <a:off x="10136217" y="5694696"/>
              <a:ext cx="2668772" cy="292388"/>
            </a:xfrm>
            <a:prstGeom prst="rect">
              <a:avLst/>
            </a:prstGeom>
            <a:noFill/>
          </p:spPr>
          <p:txBody>
            <a:bodyPr wrap="square" lIns="0" tIns="0" rIns="0" bIns="45720" rtlCol="0">
              <a:spAutoFit/>
            </a:bodyPr>
            <a:lstStyle/>
            <a:p>
              <a:r>
                <a:rPr lang="en-IN" sz="1600" dirty="0"/>
                <a:t>Maximum Size</a:t>
              </a:r>
            </a:p>
          </p:txBody>
        </p:sp>
      </p:grpSp>
    </p:spTree>
    <p:extLst>
      <p:ext uri="{BB962C8B-B14F-4D97-AF65-F5344CB8AC3E}">
        <p14:creationId xmlns:p14="http://schemas.microsoft.com/office/powerpoint/2010/main" val="345049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a:xfrm>
            <a:off x="13487401" y="6767712"/>
            <a:ext cx="462810" cy="292388"/>
          </a:xfrm>
        </p:spPr>
        <p:txBody>
          <a:bodyPr/>
          <a:lstStyle/>
          <a:p>
            <a:fld id="{4F9AC08D-23A9-440E-BCB9-AA1E9877CC38}" type="slidenum">
              <a:rPr lang="en-US" smtClean="0"/>
              <a:pPr/>
              <a:t>13</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 EC2 Auto Scaling</a:t>
            </a:r>
          </a:p>
        </p:txBody>
      </p:sp>
      <p:sp>
        <p:nvSpPr>
          <p:cNvPr id="4" name="TextBox 3">
            <a:extLst>
              <a:ext uri="{FF2B5EF4-FFF2-40B4-BE49-F238E27FC236}">
                <a16:creationId xmlns:a16="http://schemas.microsoft.com/office/drawing/2014/main" id="{65C257FC-E079-4FCD-B4D8-90C4E29CFF7E}"/>
              </a:ext>
            </a:extLst>
          </p:cNvPr>
          <p:cNvSpPr txBox="1"/>
          <p:nvPr/>
        </p:nvSpPr>
        <p:spPr>
          <a:xfrm>
            <a:off x="317752" y="1428649"/>
            <a:ext cx="7760501" cy="4816703"/>
          </a:xfrm>
          <a:prstGeom prst="rect">
            <a:avLst/>
          </a:prstGeom>
          <a:noFill/>
        </p:spPr>
        <p:txBody>
          <a:bodyPr wrap="square" lIns="0" tIns="0" rIns="0" bIns="45720" rtlCol="0">
            <a:spAutoFit/>
          </a:bodyPr>
          <a:lstStyle/>
          <a:p>
            <a:pPr marL="0" lvl="1"/>
            <a:r>
              <a:rPr lang="en-IN" sz="2000" dirty="0">
                <a:solidFill>
                  <a:srgbClr val="18537D"/>
                </a:solidFill>
              </a:rPr>
              <a:t>EC2 Auto Scaling</a:t>
            </a:r>
          </a:p>
          <a:p>
            <a:pPr marL="800100" lvl="2" indent="-342900">
              <a:buFont typeface="Wingdings" panose="05000000000000000000" pitchFamily="2" charset="2"/>
              <a:buChar char="§"/>
            </a:pPr>
            <a:endParaRPr lang="en-IN" sz="2000" dirty="0">
              <a:solidFill>
                <a:srgbClr val="18537D"/>
              </a:solidFill>
            </a:endParaRPr>
          </a:p>
          <a:p>
            <a:pPr marL="800100" lvl="2" indent="-342900">
              <a:buFont typeface="Wingdings" panose="05000000000000000000" pitchFamily="2" charset="2"/>
              <a:buChar char="§"/>
            </a:pPr>
            <a:r>
              <a:rPr lang="en-IN" dirty="0">
                <a:solidFill>
                  <a:srgbClr val="18537D"/>
                </a:solidFill>
              </a:rPr>
              <a:t>Ensures that correct number of EC2 instances running to handle the load of the application</a:t>
            </a:r>
          </a:p>
          <a:p>
            <a:pPr marL="800100" lvl="2" indent="-342900">
              <a:buFont typeface="Wingdings" panose="05000000000000000000" pitchFamily="2" charset="2"/>
              <a:buChar char="§"/>
            </a:pPr>
            <a:endParaRPr lang="en-IN" dirty="0">
              <a:solidFill>
                <a:srgbClr val="18537D"/>
              </a:solidFill>
            </a:endParaRPr>
          </a:p>
          <a:p>
            <a:pPr marL="800100" lvl="2" indent="-342900">
              <a:buFont typeface="Wingdings" panose="05000000000000000000" pitchFamily="2" charset="2"/>
              <a:buChar char="§"/>
            </a:pPr>
            <a:r>
              <a:rPr lang="en-IN" dirty="0">
                <a:solidFill>
                  <a:srgbClr val="18537D"/>
                </a:solidFill>
              </a:rPr>
              <a:t>Auto Scaling Group </a:t>
            </a:r>
          </a:p>
          <a:p>
            <a:pPr marL="1257300" lvl="3" indent="-342900">
              <a:buFont typeface="Courier New" panose="02070309020205020404" pitchFamily="49" charset="0"/>
              <a:buChar char="o"/>
            </a:pPr>
            <a:r>
              <a:rPr lang="en-IN" dirty="0">
                <a:solidFill>
                  <a:srgbClr val="18537D"/>
                </a:solidFill>
              </a:rPr>
              <a:t>Collection of EC2 instances</a:t>
            </a:r>
          </a:p>
          <a:p>
            <a:pPr marL="800100" lvl="2" indent="-342900">
              <a:buFont typeface="Wingdings" panose="05000000000000000000" pitchFamily="2" charset="2"/>
              <a:buChar char="§"/>
            </a:pPr>
            <a:endParaRPr lang="en-IN" dirty="0">
              <a:solidFill>
                <a:srgbClr val="18537D"/>
              </a:solidFill>
            </a:endParaRPr>
          </a:p>
          <a:p>
            <a:pPr marL="800100" lvl="2" indent="-342900">
              <a:buFont typeface="Wingdings" panose="05000000000000000000" pitchFamily="2" charset="2"/>
              <a:buChar char="§"/>
            </a:pPr>
            <a:r>
              <a:rPr lang="en-IN" dirty="0">
                <a:solidFill>
                  <a:srgbClr val="18537D"/>
                </a:solidFill>
              </a:rPr>
              <a:t>Minimum Size</a:t>
            </a:r>
          </a:p>
          <a:p>
            <a:pPr marL="1257300" lvl="3" indent="-342900">
              <a:buFont typeface="Courier New" panose="02070309020205020404" pitchFamily="49" charset="0"/>
              <a:buChar char="o"/>
            </a:pPr>
            <a:r>
              <a:rPr lang="en-IN" dirty="0">
                <a:solidFill>
                  <a:srgbClr val="18537D"/>
                </a:solidFill>
              </a:rPr>
              <a:t>Minimum number of instances in each auto scaling group</a:t>
            </a:r>
          </a:p>
          <a:p>
            <a:pPr marL="1257300" lvl="3" indent="-342900">
              <a:buFont typeface="Wingdings" panose="05000000000000000000" pitchFamily="2" charset="2"/>
              <a:buChar char="§"/>
            </a:pPr>
            <a:endParaRPr lang="en-IN" dirty="0">
              <a:solidFill>
                <a:srgbClr val="18537D"/>
              </a:solidFill>
            </a:endParaRPr>
          </a:p>
          <a:p>
            <a:pPr marL="800100" lvl="2" indent="-342900">
              <a:buFont typeface="Wingdings" panose="05000000000000000000" pitchFamily="2" charset="2"/>
              <a:buChar char="§"/>
            </a:pPr>
            <a:r>
              <a:rPr lang="en-IN" dirty="0">
                <a:solidFill>
                  <a:srgbClr val="18537D"/>
                </a:solidFill>
              </a:rPr>
              <a:t>Maximum Size</a:t>
            </a:r>
          </a:p>
          <a:p>
            <a:pPr marL="1257300" lvl="3" indent="-342900">
              <a:buFont typeface="Courier New" panose="02070309020205020404" pitchFamily="49" charset="0"/>
              <a:buChar char="o"/>
            </a:pPr>
            <a:r>
              <a:rPr lang="en-IN" dirty="0">
                <a:solidFill>
                  <a:srgbClr val="18537D"/>
                </a:solidFill>
              </a:rPr>
              <a:t>Maximum number of instances in each auto scaling group</a:t>
            </a:r>
          </a:p>
          <a:p>
            <a:pPr marL="1257300" lvl="3" indent="-342900">
              <a:buFont typeface="Courier New" panose="02070309020205020404" pitchFamily="49" charset="0"/>
              <a:buChar char="o"/>
            </a:pPr>
            <a:endParaRPr lang="en-IN" dirty="0">
              <a:solidFill>
                <a:srgbClr val="18537D"/>
              </a:solidFill>
            </a:endParaRPr>
          </a:p>
          <a:p>
            <a:pPr marL="800100" lvl="2" indent="-342900">
              <a:buFont typeface="Wingdings" panose="05000000000000000000" pitchFamily="2" charset="2"/>
              <a:buChar char="§"/>
            </a:pPr>
            <a:r>
              <a:rPr lang="en-IN" dirty="0">
                <a:solidFill>
                  <a:srgbClr val="18537D"/>
                </a:solidFill>
              </a:rPr>
              <a:t>Desired Capacity</a:t>
            </a:r>
          </a:p>
          <a:p>
            <a:pPr marL="1200150" lvl="3" indent="-285750">
              <a:buFont typeface="Courier New" panose="02070309020205020404" pitchFamily="49" charset="0"/>
              <a:buChar char="o"/>
            </a:pPr>
            <a:r>
              <a:rPr lang="en-IN" dirty="0">
                <a:solidFill>
                  <a:srgbClr val="18537D"/>
                </a:solidFill>
              </a:rPr>
              <a:t>Ensures that your group has specified number of instances</a:t>
            </a:r>
          </a:p>
          <a:p>
            <a:pPr marL="457200" lvl="2"/>
            <a:r>
              <a:rPr lang="en-IN" dirty="0"/>
              <a:t>.</a:t>
            </a:r>
            <a:endParaRPr lang="en-IN" dirty="0">
              <a:solidFill>
                <a:srgbClr val="18537D"/>
              </a:solidFill>
            </a:endParaRPr>
          </a:p>
        </p:txBody>
      </p:sp>
      <p:grpSp>
        <p:nvGrpSpPr>
          <p:cNvPr id="23" name="Group 22">
            <a:extLst>
              <a:ext uri="{FF2B5EF4-FFF2-40B4-BE49-F238E27FC236}">
                <a16:creationId xmlns:a16="http://schemas.microsoft.com/office/drawing/2014/main" id="{A6EF323B-FB9D-414C-889E-6FF44C70A182}"/>
              </a:ext>
            </a:extLst>
          </p:cNvPr>
          <p:cNvGrpSpPr/>
          <p:nvPr/>
        </p:nvGrpSpPr>
        <p:grpSpPr>
          <a:xfrm>
            <a:off x="8660784" y="1617192"/>
            <a:ext cx="5132238" cy="4369892"/>
            <a:chOff x="8660784" y="1617192"/>
            <a:chExt cx="5132238" cy="4369892"/>
          </a:xfrm>
        </p:grpSpPr>
        <p:sp>
          <p:nvSpPr>
            <p:cNvPr id="6" name="Rectangle 5">
              <a:extLst>
                <a:ext uri="{FF2B5EF4-FFF2-40B4-BE49-F238E27FC236}">
                  <a16:creationId xmlns:a16="http://schemas.microsoft.com/office/drawing/2014/main" id="{636DB530-9B99-4F8A-BCD2-B223277E4828}"/>
                </a:ext>
              </a:extLst>
            </p:cNvPr>
            <p:cNvSpPr/>
            <p:nvPr/>
          </p:nvSpPr>
          <p:spPr>
            <a:xfrm>
              <a:off x="8660784" y="2030819"/>
              <a:ext cx="4289672" cy="861237"/>
            </a:xfrm>
            <a:prstGeom prst="rect">
              <a:avLst/>
            </a:prstGeom>
            <a:solidFill>
              <a:srgbClr val="1398C3"/>
            </a:solidFill>
            <a:ln>
              <a:solidFill>
                <a:srgbClr val="34B2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B717EA96-0B4F-4C61-AAC6-9E983B97D2D9}"/>
                </a:ext>
              </a:extLst>
            </p:cNvPr>
            <p:cNvSpPr/>
            <p:nvPr/>
          </p:nvSpPr>
          <p:spPr>
            <a:xfrm>
              <a:off x="9255642" y="2199859"/>
              <a:ext cx="574158" cy="523155"/>
            </a:xfrm>
            <a:prstGeom prst="roundRect">
              <a:avLst/>
            </a:prstGeom>
            <a:solidFill>
              <a:srgbClr val="FF9128"/>
            </a:solidFill>
            <a:ln>
              <a:solidFill>
                <a:srgbClr val="FF9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7196B7C8-874B-4B09-B258-A07FEC4B3D39}"/>
                </a:ext>
              </a:extLst>
            </p:cNvPr>
            <p:cNvSpPr/>
            <p:nvPr/>
          </p:nvSpPr>
          <p:spPr>
            <a:xfrm>
              <a:off x="10133393" y="2199859"/>
              <a:ext cx="574158" cy="523155"/>
            </a:xfrm>
            <a:prstGeom prst="roundRect">
              <a:avLst/>
            </a:prstGeom>
            <a:solidFill>
              <a:srgbClr val="FF9128"/>
            </a:solidFill>
            <a:ln>
              <a:solidFill>
                <a:srgbClr val="FF91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4D00F12D-CB4B-4587-8FA2-0A47A514191B}"/>
                </a:ext>
              </a:extLst>
            </p:cNvPr>
            <p:cNvSpPr/>
            <p:nvPr/>
          </p:nvSpPr>
          <p:spPr>
            <a:xfrm>
              <a:off x="11032974" y="2199859"/>
              <a:ext cx="574158" cy="523155"/>
            </a:xfrm>
            <a:prstGeom prst="roundRect">
              <a:avLst/>
            </a:prstGeom>
            <a:solidFill>
              <a:srgbClr val="1398C3"/>
            </a:solidFill>
            <a:ln w="28575">
              <a:solidFill>
                <a:srgbClr val="FF912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E785A619-F095-4881-9AFC-850C700701B9}"/>
                </a:ext>
              </a:extLst>
            </p:cNvPr>
            <p:cNvSpPr/>
            <p:nvPr/>
          </p:nvSpPr>
          <p:spPr>
            <a:xfrm>
              <a:off x="11910725" y="2199859"/>
              <a:ext cx="574158" cy="523155"/>
            </a:xfrm>
            <a:prstGeom prst="roundRect">
              <a:avLst/>
            </a:prstGeom>
            <a:solidFill>
              <a:srgbClr val="1398C3"/>
            </a:solidFill>
            <a:ln w="28575">
              <a:solidFill>
                <a:srgbClr val="FF912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Left Brace 13">
              <a:extLst>
                <a:ext uri="{FF2B5EF4-FFF2-40B4-BE49-F238E27FC236}">
                  <a16:creationId xmlns:a16="http://schemas.microsoft.com/office/drawing/2014/main" id="{94CAF961-0BF0-4A5D-A83E-CE13A027A387}"/>
                </a:ext>
              </a:extLst>
            </p:cNvPr>
            <p:cNvSpPr/>
            <p:nvPr/>
          </p:nvSpPr>
          <p:spPr>
            <a:xfrm rot="16200000">
              <a:off x="9363098" y="2802759"/>
              <a:ext cx="457200" cy="861237"/>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Left Brace 14">
              <a:extLst>
                <a:ext uri="{FF2B5EF4-FFF2-40B4-BE49-F238E27FC236}">
                  <a16:creationId xmlns:a16="http://schemas.microsoft.com/office/drawing/2014/main" id="{90267882-CC50-4957-A842-DE8B4FB0C725}"/>
                </a:ext>
              </a:extLst>
            </p:cNvPr>
            <p:cNvSpPr/>
            <p:nvPr/>
          </p:nvSpPr>
          <p:spPr>
            <a:xfrm rot="16200000">
              <a:off x="11567591" y="2496357"/>
              <a:ext cx="457200" cy="1435396"/>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Left Brace 15">
              <a:extLst>
                <a:ext uri="{FF2B5EF4-FFF2-40B4-BE49-F238E27FC236}">
                  <a16:creationId xmlns:a16="http://schemas.microsoft.com/office/drawing/2014/main" id="{AF3212D5-1E38-4703-ABD7-9D091859FB81}"/>
                </a:ext>
              </a:extLst>
            </p:cNvPr>
            <p:cNvSpPr/>
            <p:nvPr/>
          </p:nvSpPr>
          <p:spPr>
            <a:xfrm rot="16200000">
              <a:off x="9703057" y="3599481"/>
              <a:ext cx="457200" cy="1551788"/>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 name="Left Brace 16">
              <a:extLst>
                <a:ext uri="{FF2B5EF4-FFF2-40B4-BE49-F238E27FC236}">
                  <a16:creationId xmlns:a16="http://schemas.microsoft.com/office/drawing/2014/main" id="{7FAFC63C-2253-4238-ACB3-3EE0CB51DDFB}"/>
                </a:ext>
              </a:extLst>
            </p:cNvPr>
            <p:cNvSpPr/>
            <p:nvPr/>
          </p:nvSpPr>
          <p:spPr>
            <a:xfrm rot="16200000">
              <a:off x="10577020" y="3801985"/>
              <a:ext cx="457200" cy="3229243"/>
            </a:xfrm>
            <a:prstGeom prst="leftBrac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8" name="TextBox 17">
              <a:extLst>
                <a:ext uri="{FF2B5EF4-FFF2-40B4-BE49-F238E27FC236}">
                  <a16:creationId xmlns:a16="http://schemas.microsoft.com/office/drawing/2014/main" id="{3CFF153B-E44A-44BF-AC27-405231AE1AE8}"/>
                </a:ext>
              </a:extLst>
            </p:cNvPr>
            <p:cNvSpPr txBox="1"/>
            <p:nvPr/>
          </p:nvSpPr>
          <p:spPr>
            <a:xfrm>
              <a:off x="9962708" y="1617192"/>
              <a:ext cx="2668772" cy="292388"/>
            </a:xfrm>
            <a:prstGeom prst="rect">
              <a:avLst/>
            </a:prstGeom>
            <a:noFill/>
          </p:spPr>
          <p:txBody>
            <a:bodyPr wrap="square" lIns="0" tIns="0" rIns="0" bIns="45720" rtlCol="0">
              <a:spAutoFit/>
            </a:bodyPr>
            <a:lstStyle/>
            <a:p>
              <a:r>
                <a:rPr lang="en-IN" sz="1600" dirty="0"/>
                <a:t>Auto Scaling Group</a:t>
              </a:r>
            </a:p>
          </p:txBody>
        </p:sp>
        <p:sp>
          <p:nvSpPr>
            <p:cNvPr id="19" name="TextBox 18">
              <a:extLst>
                <a:ext uri="{FF2B5EF4-FFF2-40B4-BE49-F238E27FC236}">
                  <a16:creationId xmlns:a16="http://schemas.microsoft.com/office/drawing/2014/main" id="{AB794E41-3F92-4874-A2CB-468815D4A348}"/>
                </a:ext>
              </a:extLst>
            </p:cNvPr>
            <p:cNvSpPr txBox="1"/>
            <p:nvPr/>
          </p:nvSpPr>
          <p:spPr>
            <a:xfrm>
              <a:off x="8955439" y="3544613"/>
              <a:ext cx="1435396" cy="292388"/>
            </a:xfrm>
            <a:prstGeom prst="rect">
              <a:avLst/>
            </a:prstGeom>
            <a:noFill/>
          </p:spPr>
          <p:txBody>
            <a:bodyPr wrap="square" lIns="0" tIns="0" rIns="0" bIns="45720" rtlCol="0">
              <a:spAutoFit/>
            </a:bodyPr>
            <a:lstStyle/>
            <a:p>
              <a:r>
                <a:rPr lang="en-IN" sz="1600" dirty="0"/>
                <a:t>Minimum Size</a:t>
              </a:r>
            </a:p>
          </p:txBody>
        </p:sp>
        <p:sp>
          <p:nvSpPr>
            <p:cNvPr id="20" name="TextBox 19">
              <a:extLst>
                <a:ext uri="{FF2B5EF4-FFF2-40B4-BE49-F238E27FC236}">
                  <a16:creationId xmlns:a16="http://schemas.microsoft.com/office/drawing/2014/main" id="{416DF969-2501-4127-983F-BCC957591553}"/>
                </a:ext>
              </a:extLst>
            </p:cNvPr>
            <p:cNvSpPr txBox="1"/>
            <p:nvPr/>
          </p:nvSpPr>
          <p:spPr>
            <a:xfrm>
              <a:off x="11124250" y="3552333"/>
              <a:ext cx="2668772" cy="292388"/>
            </a:xfrm>
            <a:prstGeom prst="rect">
              <a:avLst/>
            </a:prstGeom>
            <a:noFill/>
          </p:spPr>
          <p:txBody>
            <a:bodyPr wrap="square" lIns="0" tIns="0" rIns="0" bIns="45720" rtlCol="0">
              <a:spAutoFit/>
            </a:bodyPr>
            <a:lstStyle/>
            <a:p>
              <a:r>
                <a:rPr lang="en-IN" sz="1600" dirty="0"/>
                <a:t>Scale out as needed</a:t>
              </a:r>
            </a:p>
          </p:txBody>
        </p:sp>
        <p:sp>
          <p:nvSpPr>
            <p:cNvPr id="21" name="TextBox 20">
              <a:extLst>
                <a:ext uri="{FF2B5EF4-FFF2-40B4-BE49-F238E27FC236}">
                  <a16:creationId xmlns:a16="http://schemas.microsoft.com/office/drawing/2014/main" id="{ED3B67B2-775A-452C-9269-7756E24D5125}"/>
                </a:ext>
              </a:extLst>
            </p:cNvPr>
            <p:cNvSpPr txBox="1"/>
            <p:nvPr/>
          </p:nvSpPr>
          <p:spPr>
            <a:xfrm>
              <a:off x="8955439" y="4649633"/>
              <a:ext cx="1752112" cy="292388"/>
            </a:xfrm>
            <a:prstGeom prst="rect">
              <a:avLst/>
            </a:prstGeom>
            <a:noFill/>
          </p:spPr>
          <p:txBody>
            <a:bodyPr wrap="square" lIns="0" tIns="0" rIns="0" bIns="45720" rtlCol="0">
              <a:spAutoFit/>
            </a:bodyPr>
            <a:lstStyle/>
            <a:p>
              <a:r>
                <a:rPr lang="en-IN" sz="1600" dirty="0"/>
                <a:t>Desired Capacity</a:t>
              </a:r>
            </a:p>
          </p:txBody>
        </p:sp>
        <p:sp>
          <p:nvSpPr>
            <p:cNvPr id="22" name="TextBox 21">
              <a:extLst>
                <a:ext uri="{FF2B5EF4-FFF2-40B4-BE49-F238E27FC236}">
                  <a16:creationId xmlns:a16="http://schemas.microsoft.com/office/drawing/2014/main" id="{7A04BBFF-DCD4-4D6C-8E36-1F7C2857F1B1}"/>
                </a:ext>
              </a:extLst>
            </p:cNvPr>
            <p:cNvSpPr txBox="1"/>
            <p:nvPr/>
          </p:nvSpPr>
          <p:spPr>
            <a:xfrm>
              <a:off x="10136217" y="5694696"/>
              <a:ext cx="2668772" cy="292388"/>
            </a:xfrm>
            <a:prstGeom prst="rect">
              <a:avLst/>
            </a:prstGeom>
            <a:noFill/>
          </p:spPr>
          <p:txBody>
            <a:bodyPr wrap="square" lIns="0" tIns="0" rIns="0" bIns="45720" rtlCol="0">
              <a:spAutoFit/>
            </a:bodyPr>
            <a:lstStyle/>
            <a:p>
              <a:r>
                <a:rPr lang="en-IN" sz="1600" dirty="0"/>
                <a:t>Maximum Size</a:t>
              </a:r>
            </a:p>
          </p:txBody>
        </p:sp>
      </p:grpSp>
    </p:spTree>
    <p:extLst>
      <p:ext uri="{BB962C8B-B14F-4D97-AF65-F5344CB8AC3E}">
        <p14:creationId xmlns:p14="http://schemas.microsoft.com/office/powerpoint/2010/main" val="45872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500"/>
                                        <p:tgtEl>
                                          <p:spTgt spid="4">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fade">
                                      <p:cBhvr>
                                        <p:cTn id="30" dur="500"/>
                                        <p:tgtEl>
                                          <p:spTgt spid="4">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fade">
                                      <p:cBhvr>
                                        <p:cTn id="33" dur="500"/>
                                        <p:tgtEl>
                                          <p:spTgt spid="4">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fade">
                                      <p:cBhvr>
                                        <p:cTn id="38" dur="500"/>
                                        <p:tgtEl>
                                          <p:spTgt spid="4">
                                            <p:txEl>
                                              <p:pRg st="10" end="1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animEffect transition="in" filter="fade">
                                      <p:cBhvr>
                                        <p:cTn id="41" dur="500"/>
                                        <p:tgtEl>
                                          <p:spTgt spid="4">
                                            <p:txEl>
                                              <p:pRg st="11" end="1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
                                            <p:txEl>
                                              <p:pRg st="13" end="13"/>
                                            </p:txEl>
                                          </p:spTgt>
                                        </p:tgtEl>
                                        <p:attrNameLst>
                                          <p:attrName>style.visibility</p:attrName>
                                        </p:attrNameLst>
                                      </p:cBhvr>
                                      <p:to>
                                        <p:strVal val="visible"/>
                                      </p:to>
                                    </p:set>
                                    <p:animEffect transition="in" filter="fade">
                                      <p:cBhvr>
                                        <p:cTn id="46" dur="500"/>
                                        <p:tgtEl>
                                          <p:spTgt spid="4">
                                            <p:txEl>
                                              <p:pRg st="13" end="13"/>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
                                            <p:txEl>
                                              <p:pRg st="14" end="14"/>
                                            </p:txEl>
                                          </p:spTgt>
                                        </p:tgtEl>
                                        <p:attrNameLst>
                                          <p:attrName>style.visibility</p:attrName>
                                        </p:attrNameLst>
                                      </p:cBhvr>
                                      <p:to>
                                        <p:strVal val="visible"/>
                                      </p:to>
                                    </p:set>
                                    <p:animEffect transition="in" filter="fade">
                                      <p:cBhvr>
                                        <p:cTn id="49"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a:xfrm>
            <a:off x="13463337" y="6701589"/>
            <a:ext cx="486873" cy="358511"/>
          </a:xfrm>
        </p:spPr>
        <p:txBody>
          <a:bodyPr/>
          <a:lstStyle/>
          <a:p>
            <a:fld id="{4F9AC08D-23A9-440E-BCB9-AA1E9877CC38}" type="slidenum">
              <a:rPr lang="en-US" smtClean="0"/>
              <a:pPr/>
              <a:t>14</a:t>
            </a:fld>
            <a:endParaRPr lang="en-US" dirty="0"/>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 High Availability (Multi-AZ) for Amazon RDS</a:t>
            </a:r>
          </a:p>
        </p:txBody>
      </p:sp>
      <p:sp>
        <p:nvSpPr>
          <p:cNvPr id="69" name="TextBox 68">
            <a:extLst>
              <a:ext uri="{FF2B5EF4-FFF2-40B4-BE49-F238E27FC236}">
                <a16:creationId xmlns:a16="http://schemas.microsoft.com/office/drawing/2014/main" id="{F89E8845-42CE-4B17-8B0E-C703656C111A}"/>
              </a:ext>
            </a:extLst>
          </p:cNvPr>
          <p:cNvSpPr txBox="1"/>
          <p:nvPr/>
        </p:nvSpPr>
        <p:spPr>
          <a:xfrm>
            <a:off x="721466" y="1775556"/>
            <a:ext cx="7186343" cy="3231654"/>
          </a:xfrm>
          <a:prstGeom prst="rect">
            <a:avLst/>
          </a:prstGeom>
          <a:noFill/>
        </p:spPr>
        <p:txBody>
          <a:bodyPr wrap="square" lIns="0" tIns="0" rIns="0" bIns="45720" rtlCol="0">
            <a:spAutoFit/>
          </a:bodyPr>
          <a:lstStyle/>
          <a:p>
            <a:pPr>
              <a:lnSpc>
                <a:spcPct val="150000"/>
              </a:lnSpc>
            </a:pPr>
            <a:endParaRPr lang="en-IN" dirty="0"/>
          </a:p>
          <a:p>
            <a:pPr marL="285750" indent="-285750" algn="just">
              <a:lnSpc>
                <a:spcPct val="150000"/>
              </a:lnSpc>
              <a:buFont typeface="Wingdings" panose="05000000000000000000" pitchFamily="2" charset="2"/>
              <a:buChar char="§"/>
            </a:pPr>
            <a:r>
              <a:rPr lang="en-IN" dirty="0">
                <a:solidFill>
                  <a:srgbClr val="18537D"/>
                </a:solidFill>
              </a:rPr>
              <a:t>Amazon RDS  Multi-AZ deployments provides high availability and failover support for DB instances</a:t>
            </a:r>
          </a:p>
          <a:p>
            <a:pPr marL="285750" indent="-285750" algn="just">
              <a:lnSpc>
                <a:spcPct val="150000"/>
              </a:lnSpc>
              <a:buFont typeface="Wingdings" panose="05000000000000000000" pitchFamily="2" charset="2"/>
              <a:buChar char="§"/>
            </a:pPr>
            <a:endParaRPr lang="en-IN" dirty="0">
              <a:solidFill>
                <a:srgbClr val="18537D"/>
              </a:solidFill>
            </a:endParaRPr>
          </a:p>
          <a:p>
            <a:pPr marL="285750" indent="-285750" algn="just">
              <a:lnSpc>
                <a:spcPct val="150000"/>
              </a:lnSpc>
              <a:buFont typeface="Wingdings" panose="05000000000000000000" pitchFamily="2" charset="2"/>
              <a:buChar char="§"/>
            </a:pPr>
            <a:r>
              <a:rPr lang="en-IN" dirty="0">
                <a:solidFill>
                  <a:srgbClr val="18537D"/>
                </a:solidFill>
              </a:rPr>
              <a:t>In a Multi-AZ deployment, Amazon RDS automatically provisions and maintains a synchronous standby replica in a different Availability Zone. </a:t>
            </a:r>
          </a:p>
          <a:p>
            <a:pPr marL="285750" indent="-285750" algn="just">
              <a:buFont typeface="Wingdings" panose="05000000000000000000" pitchFamily="2" charset="2"/>
              <a:buChar char="§"/>
            </a:pPr>
            <a:endParaRPr lang="en-IN" dirty="0">
              <a:solidFill>
                <a:srgbClr val="18537D"/>
              </a:solidFill>
            </a:endParaRPr>
          </a:p>
        </p:txBody>
      </p:sp>
      <p:grpSp>
        <p:nvGrpSpPr>
          <p:cNvPr id="55" name="Group 54">
            <a:extLst>
              <a:ext uri="{FF2B5EF4-FFF2-40B4-BE49-F238E27FC236}">
                <a16:creationId xmlns:a16="http://schemas.microsoft.com/office/drawing/2014/main" id="{07724A55-36E6-482A-ABC6-187AE942A583}"/>
              </a:ext>
            </a:extLst>
          </p:cNvPr>
          <p:cNvGrpSpPr/>
          <p:nvPr/>
        </p:nvGrpSpPr>
        <p:grpSpPr>
          <a:xfrm>
            <a:off x="8560710" y="2052875"/>
            <a:ext cx="4678140" cy="3308598"/>
            <a:chOff x="8560710" y="2052875"/>
            <a:chExt cx="4678140" cy="3308598"/>
          </a:xfrm>
        </p:grpSpPr>
        <p:grpSp>
          <p:nvGrpSpPr>
            <p:cNvPr id="54" name="Group 53">
              <a:extLst>
                <a:ext uri="{FF2B5EF4-FFF2-40B4-BE49-F238E27FC236}">
                  <a16:creationId xmlns:a16="http://schemas.microsoft.com/office/drawing/2014/main" id="{6FBF75C0-6CF2-46C5-9C33-1F45D0D95CB4}"/>
                </a:ext>
              </a:extLst>
            </p:cNvPr>
            <p:cNvGrpSpPr/>
            <p:nvPr/>
          </p:nvGrpSpPr>
          <p:grpSpPr>
            <a:xfrm>
              <a:off x="8560710" y="2052875"/>
              <a:ext cx="4678140" cy="2907241"/>
              <a:chOff x="8560710" y="2052875"/>
              <a:chExt cx="4678140" cy="2907241"/>
            </a:xfrm>
          </p:grpSpPr>
          <p:grpSp>
            <p:nvGrpSpPr>
              <p:cNvPr id="36" name="Group 35">
                <a:extLst>
                  <a:ext uri="{FF2B5EF4-FFF2-40B4-BE49-F238E27FC236}">
                    <a16:creationId xmlns:a16="http://schemas.microsoft.com/office/drawing/2014/main" id="{0F782819-8A4C-4F5B-A843-C257E15FA6FE}"/>
                  </a:ext>
                </a:extLst>
              </p:cNvPr>
              <p:cNvGrpSpPr/>
              <p:nvPr/>
            </p:nvGrpSpPr>
            <p:grpSpPr>
              <a:xfrm>
                <a:off x="8560710" y="2052875"/>
                <a:ext cx="4678140" cy="2907241"/>
                <a:chOff x="8560710" y="2052875"/>
                <a:chExt cx="4678140" cy="2907241"/>
              </a:xfrm>
            </p:grpSpPr>
            <p:grpSp>
              <p:nvGrpSpPr>
                <p:cNvPr id="26" name="Group 25">
                  <a:extLst>
                    <a:ext uri="{FF2B5EF4-FFF2-40B4-BE49-F238E27FC236}">
                      <a16:creationId xmlns:a16="http://schemas.microsoft.com/office/drawing/2014/main" id="{D9C7EE64-9561-4399-AA87-EED9DBA94786}"/>
                    </a:ext>
                  </a:extLst>
                </p:cNvPr>
                <p:cNvGrpSpPr/>
                <p:nvPr/>
              </p:nvGrpSpPr>
              <p:grpSpPr>
                <a:xfrm>
                  <a:off x="8560710" y="2052875"/>
                  <a:ext cx="2020186" cy="2891265"/>
                  <a:chOff x="8560710" y="2276636"/>
                  <a:chExt cx="2020186" cy="2667504"/>
                </a:xfrm>
              </p:grpSpPr>
              <p:sp>
                <p:nvSpPr>
                  <p:cNvPr id="6" name="Rectangle: Rounded Corners 5">
                    <a:extLst>
                      <a:ext uri="{FF2B5EF4-FFF2-40B4-BE49-F238E27FC236}">
                        <a16:creationId xmlns:a16="http://schemas.microsoft.com/office/drawing/2014/main" id="{D889158A-F7D1-4F4E-B7B3-19441E5AEF53}"/>
                      </a:ext>
                    </a:extLst>
                  </p:cNvPr>
                  <p:cNvSpPr/>
                  <p:nvPr/>
                </p:nvSpPr>
                <p:spPr>
                  <a:xfrm>
                    <a:off x="8560710" y="2276636"/>
                    <a:ext cx="2020186" cy="2667504"/>
                  </a:xfrm>
                  <a:prstGeom prst="roundRect">
                    <a:avLst/>
                  </a:prstGeom>
                  <a:solidFill>
                    <a:schemeClr val="bg1"/>
                  </a:solidFill>
                  <a:ln w="1905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pPr algn="ctr"/>
                    <a:endParaRPr lang="en-IN" dirty="0">
                      <a:solidFill>
                        <a:schemeClr val="tx1"/>
                      </a:solidFill>
                    </a:endParaRPr>
                  </a:p>
                  <a:p>
                    <a:pPr algn="ctr"/>
                    <a:r>
                      <a:rPr lang="en-IN" sz="1400" dirty="0">
                        <a:solidFill>
                          <a:schemeClr val="tx1"/>
                        </a:solidFill>
                      </a:rPr>
                      <a:t>RDS Master</a:t>
                    </a: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p>
                  <a:p>
                    <a:pPr algn="ctr"/>
                    <a:endParaRPr lang="en-IN" dirty="0"/>
                  </a:p>
                  <a:p>
                    <a:pPr algn="ctr"/>
                    <a:endParaRPr lang="en-IN" dirty="0"/>
                  </a:p>
                  <a:p>
                    <a:pPr algn="ctr"/>
                    <a:endParaRPr lang="en-IN" sz="1400" dirty="0">
                      <a:solidFill>
                        <a:schemeClr val="tx1"/>
                      </a:solidFill>
                    </a:endParaRPr>
                  </a:p>
                  <a:p>
                    <a:pPr algn="ctr"/>
                    <a:endParaRPr lang="en-IN" sz="1400" dirty="0">
                      <a:solidFill>
                        <a:schemeClr val="tx1"/>
                      </a:solidFill>
                    </a:endParaRPr>
                  </a:p>
                  <a:p>
                    <a:pPr algn="ctr"/>
                    <a:r>
                      <a:rPr lang="en-IN" sz="1400" dirty="0">
                        <a:solidFill>
                          <a:schemeClr val="tx1"/>
                        </a:solidFill>
                      </a:rPr>
                      <a:t>Availability Zone A</a:t>
                    </a:r>
                  </a:p>
                  <a:p>
                    <a:pPr algn="ctr"/>
                    <a:endParaRPr lang="en-IN" dirty="0"/>
                  </a:p>
                  <a:p>
                    <a:pPr algn="ctr"/>
                    <a:endParaRPr lang="en-IN" dirty="0"/>
                  </a:p>
                </p:txBody>
              </p:sp>
              <p:pic>
                <p:nvPicPr>
                  <p:cNvPr id="8" name="Picture 7">
                    <a:extLst>
                      <a:ext uri="{FF2B5EF4-FFF2-40B4-BE49-F238E27FC236}">
                        <a16:creationId xmlns:a16="http://schemas.microsoft.com/office/drawing/2014/main" id="{1BB2291A-3DC6-4507-969B-9EB7E4936250}"/>
                      </a:ext>
                    </a:extLst>
                  </p:cNvPr>
                  <p:cNvPicPr>
                    <a:picLocks noChangeAspect="1"/>
                  </p:cNvPicPr>
                  <p:nvPr/>
                </p:nvPicPr>
                <p:blipFill>
                  <a:blip r:embed="rId3"/>
                  <a:stretch>
                    <a:fillRect/>
                  </a:stretch>
                </p:blipFill>
                <p:spPr>
                  <a:xfrm>
                    <a:off x="9089790" y="2645289"/>
                    <a:ext cx="962025" cy="981075"/>
                  </a:xfrm>
                  <a:prstGeom prst="rect">
                    <a:avLst/>
                  </a:prstGeom>
                </p:spPr>
              </p:pic>
              <p:pic>
                <p:nvPicPr>
                  <p:cNvPr id="12" name="Picture 11">
                    <a:extLst>
                      <a:ext uri="{FF2B5EF4-FFF2-40B4-BE49-F238E27FC236}">
                        <a16:creationId xmlns:a16="http://schemas.microsoft.com/office/drawing/2014/main" id="{9DF05ADB-6E96-4506-90CD-7E7677A4C89B}"/>
                      </a:ext>
                    </a:extLst>
                  </p:cNvPr>
                  <p:cNvPicPr>
                    <a:picLocks noChangeAspect="1"/>
                  </p:cNvPicPr>
                  <p:nvPr/>
                </p:nvPicPr>
                <p:blipFill>
                  <a:blip r:embed="rId4"/>
                  <a:stretch>
                    <a:fillRect/>
                  </a:stretch>
                </p:blipFill>
                <p:spPr>
                  <a:xfrm>
                    <a:off x="9337439" y="3971200"/>
                    <a:ext cx="466725" cy="590550"/>
                  </a:xfrm>
                  <a:prstGeom prst="rect">
                    <a:avLst/>
                  </a:prstGeom>
                </p:spPr>
              </p:pic>
              <p:cxnSp>
                <p:nvCxnSpPr>
                  <p:cNvPr id="23" name="Straight Connector 22">
                    <a:extLst>
                      <a:ext uri="{FF2B5EF4-FFF2-40B4-BE49-F238E27FC236}">
                        <a16:creationId xmlns:a16="http://schemas.microsoft.com/office/drawing/2014/main" id="{072AFA0C-9B8A-4469-9575-57B717C4EFF5}"/>
                      </a:ext>
                    </a:extLst>
                  </p:cNvPr>
                  <p:cNvCxnSpPr>
                    <a:cxnSpLocks/>
                  </p:cNvCxnSpPr>
                  <p:nvPr/>
                </p:nvCxnSpPr>
                <p:spPr>
                  <a:xfrm flipH="1">
                    <a:off x="9549536" y="3626364"/>
                    <a:ext cx="1" cy="344836"/>
                  </a:xfrm>
                  <a:prstGeom prst="line">
                    <a:avLst/>
                  </a:prstGeom>
                </p:spPr>
                <p:style>
                  <a:lnRef idx="2">
                    <a:schemeClr val="dk1"/>
                  </a:lnRef>
                  <a:fillRef idx="0">
                    <a:schemeClr val="dk1"/>
                  </a:fillRef>
                  <a:effectRef idx="1">
                    <a:schemeClr val="dk1"/>
                  </a:effectRef>
                  <a:fontRef idx="minor">
                    <a:schemeClr val="tx1"/>
                  </a:fontRef>
                </p:style>
              </p:cxnSp>
            </p:grpSp>
            <p:grpSp>
              <p:nvGrpSpPr>
                <p:cNvPr id="46" name="Group 45">
                  <a:extLst>
                    <a:ext uri="{FF2B5EF4-FFF2-40B4-BE49-F238E27FC236}">
                      <a16:creationId xmlns:a16="http://schemas.microsoft.com/office/drawing/2014/main" id="{24F2C119-2510-4C57-BCAF-90DCEF719421}"/>
                    </a:ext>
                  </a:extLst>
                </p:cNvPr>
                <p:cNvGrpSpPr/>
                <p:nvPr/>
              </p:nvGrpSpPr>
              <p:grpSpPr>
                <a:xfrm>
                  <a:off x="11218664" y="2052875"/>
                  <a:ext cx="2020186" cy="2907241"/>
                  <a:chOff x="8560710" y="2036899"/>
                  <a:chExt cx="2020186" cy="2907241"/>
                </a:xfrm>
              </p:grpSpPr>
              <p:sp>
                <p:nvSpPr>
                  <p:cNvPr id="50" name="Rectangle: Rounded Corners 49">
                    <a:extLst>
                      <a:ext uri="{FF2B5EF4-FFF2-40B4-BE49-F238E27FC236}">
                        <a16:creationId xmlns:a16="http://schemas.microsoft.com/office/drawing/2014/main" id="{5CC8F3E8-326C-4120-9839-16AF47F19A60}"/>
                      </a:ext>
                    </a:extLst>
                  </p:cNvPr>
                  <p:cNvSpPr/>
                  <p:nvPr/>
                </p:nvSpPr>
                <p:spPr>
                  <a:xfrm>
                    <a:off x="8560710" y="2036899"/>
                    <a:ext cx="2020186" cy="2907241"/>
                  </a:xfrm>
                  <a:prstGeom prst="roundRect">
                    <a:avLst/>
                  </a:prstGeom>
                  <a:solidFill>
                    <a:schemeClr val="bg1"/>
                  </a:solidFill>
                  <a:ln w="1905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pPr algn="ctr"/>
                    <a:endParaRPr lang="en-IN" dirty="0">
                      <a:solidFill>
                        <a:schemeClr val="tx1"/>
                      </a:solidFill>
                    </a:endParaRPr>
                  </a:p>
                  <a:p>
                    <a:pPr algn="ctr"/>
                    <a:r>
                      <a:rPr lang="en-IN" sz="1400" dirty="0">
                        <a:solidFill>
                          <a:schemeClr val="tx1"/>
                        </a:solidFill>
                      </a:rPr>
                      <a:t>RDS Standby Replica</a:t>
                    </a: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p>
                  <a:p>
                    <a:pPr algn="ctr"/>
                    <a:endParaRPr lang="en-IN" dirty="0"/>
                  </a:p>
                  <a:p>
                    <a:pPr algn="ctr"/>
                    <a:endParaRPr lang="en-IN" dirty="0"/>
                  </a:p>
                  <a:p>
                    <a:pPr algn="ctr"/>
                    <a:endParaRPr lang="en-IN" sz="1400" dirty="0">
                      <a:solidFill>
                        <a:schemeClr val="tx1"/>
                      </a:solidFill>
                    </a:endParaRPr>
                  </a:p>
                  <a:p>
                    <a:pPr algn="ctr"/>
                    <a:r>
                      <a:rPr lang="en-IN" sz="1400" dirty="0">
                        <a:solidFill>
                          <a:schemeClr val="tx1"/>
                        </a:solidFill>
                      </a:rPr>
                      <a:t>Availability Zone B</a:t>
                    </a:r>
                  </a:p>
                  <a:p>
                    <a:pPr algn="ctr"/>
                    <a:endParaRPr lang="en-IN" dirty="0"/>
                  </a:p>
                  <a:p>
                    <a:pPr algn="ctr"/>
                    <a:endParaRPr lang="en-IN" dirty="0"/>
                  </a:p>
                </p:txBody>
              </p:sp>
              <p:pic>
                <p:nvPicPr>
                  <p:cNvPr id="52" name="Picture 51">
                    <a:extLst>
                      <a:ext uri="{FF2B5EF4-FFF2-40B4-BE49-F238E27FC236}">
                        <a16:creationId xmlns:a16="http://schemas.microsoft.com/office/drawing/2014/main" id="{2B008F72-7D92-41D7-B8DF-986136BAD4BC}"/>
                      </a:ext>
                    </a:extLst>
                  </p:cNvPr>
                  <p:cNvPicPr>
                    <a:picLocks noChangeAspect="1"/>
                  </p:cNvPicPr>
                  <p:nvPr/>
                </p:nvPicPr>
                <p:blipFill>
                  <a:blip r:embed="rId4"/>
                  <a:stretch>
                    <a:fillRect/>
                  </a:stretch>
                </p:blipFill>
                <p:spPr>
                  <a:xfrm>
                    <a:off x="9337439" y="3971200"/>
                    <a:ext cx="466725" cy="590550"/>
                  </a:xfrm>
                  <a:prstGeom prst="rect">
                    <a:avLst/>
                  </a:prstGeom>
                </p:spPr>
              </p:pic>
              <p:cxnSp>
                <p:nvCxnSpPr>
                  <p:cNvPr id="53" name="Straight Connector 52">
                    <a:extLst>
                      <a:ext uri="{FF2B5EF4-FFF2-40B4-BE49-F238E27FC236}">
                        <a16:creationId xmlns:a16="http://schemas.microsoft.com/office/drawing/2014/main" id="{BE5A04D5-7111-4130-80F9-4076773FAF69}"/>
                      </a:ext>
                    </a:extLst>
                  </p:cNvPr>
                  <p:cNvCxnSpPr>
                    <a:cxnSpLocks/>
                  </p:cNvCxnSpPr>
                  <p:nvPr/>
                </p:nvCxnSpPr>
                <p:spPr>
                  <a:xfrm flipH="1">
                    <a:off x="9549536" y="3626364"/>
                    <a:ext cx="1" cy="344836"/>
                  </a:xfrm>
                  <a:prstGeom prst="line">
                    <a:avLst/>
                  </a:prstGeom>
                </p:spPr>
                <p:style>
                  <a:lnRef idx="2">
                    <a:schemeClr val="dk1"/>
                  </a:lnRef>
                  <a:fillRef idx="0">
                    <a:schemeClr val="dk1"/>
                  </a:fillRef>
                  <a:effectRef idx="1">
                    <a:schemeClr val="dk1"/>
                  </a:effectRef>
                  <a:fontRef idx="minor">
                    <a:schemeClr val="tx1"/>
                  </a:fontRef>
                </p:style>
              </p:cxnSp>
            </p:grpSp>
            <p:cxnSp>
              <p:nvCxnSpPr>
                <p:cNvPr id="33" name="Straight Connector 32">
                  <a:extLst>
                    <a:ext uri="{FF2B5EF4-FFF2-40B4-BE49-F238E27FC236}">
                      <a16:creationId xmlns:a16="http://schemas.microsoft.com/office/drawing/2014/main" id="{E9E0321E-3615-4377-BEF7-AF6648DAA62E}"/>
                    </a:ext>
                  </a:extLst>
                </p:cNvPr>
                <p:cNvCxnSpPr>
                  <a:stCxn id="12" idx="3"/>
                </p:cNvCxnSpPr>
                <p:nvPr/>
              </p:nvCxnSpPr>
              <p:spPr>
                <a:xfrm>
                  <a:off x="9804164" y="4209630"/>
                  <a:ext cx="2191229" cy="11496"/>
                </a:xfrm>
                <a:prstGeom prst="line">
                  <a:avLst/>
                </a:prstGeom>
              </p:spPr>
              <p:style>
                <a:lnRef idx="1">
                  <a:schemeClr val="dk1"/>
                </a:lnRef>
                <a:fillRef idx="0">
                  <a:schemeClr val="dk1"/>
                </a:fillRef>
                <a:effectRef idx="0">
                  <a:schemeClr val="dk1"/>
                </a:effectRef>
                <a:fontRef idx="minor">
                  <a:schemeClr val="tx1"/>
                </a:fontRef>
              </p:style>
            </p:cxnSp>
            <p:pic>
              <p:nvPicPr>
                <p:cNvPr id="35" name="Picture 34">
                  <a:extLst>
                    <a:ext uri="{FF2B5EF4-FFF2-40B4-BE49-F238E27FC236}">
                      <a16:creationId xmlns:a16="http://schemas.microsoft.com/office/drawing/2014/main" id="{C0286E14-5F35-444D-80F4-F48F1F34FACE}"/>
                    </a:ext>
                  </a:extLst>
                </p:cNvPr>
                <p:cNvPicPr>
                  <a:picLocks noChangeAspect="1"/>
                </p:cNvPicPr>
                <p:nvPr/>
              </p:nvPicPr>
              <p:blipFill>
                <a:blip r:embed="rId5"/>
                <a:stretch>
                  <a:fillRect/>
                </a:stretch>
              </p:blipFill>
              <p:spPr>
                <a:xfrm>
                  <a:off x="11714405" y="2673973"/>
                  <a:ext cx="1028700" cy="1076325"/>
                </a:xfrm>
                <a:prstGeom prst="rect">
                  <a:avLst/>
                </a:prstGeom>
              </p:spPr>
            </p:pic>
          </p:grpSp>
          <p:sp>
            <p:nvSpPr>
              <p:cNvPr id="41" name="TextBox 40">
                <a:extLst>
                  <a:ext uri="{FF2B5EF4-FFF2-40B4-BE49-F238E27FC236}">
                    <a16:creationId xmlns:a16="http://schemas.microsoft.com/office/drawing/2014/main" id="{567B8AD3-282C-4EA7-82A8-63E5EE3B63B3}"/>
                  </a:ext>
                </a:extLst>
              </p:cNvPr>
              <p:cNvSpPr txBox="1"/>
              <p:nvPr/>
            </p:nvSpPr>
            <p:spPr>
              <a:xfrm>
                <a:off x="10047766" y="3965944"/>
                <a:ext cx="1796343" cy="215444"/>
              </a:xfrm>
              <a:prstGeom prst="rect">
                <a:avLst/>
              </a:prstGeom>
              <a:noFill/>
            </p:spPr>
            <p:txBody>
              <a:bodyPr wrap="square" lIns="0" tIns="0" rIns="0" bIns="45720" rtlCol="0">
                <a:spAutoFit/>
              </a:bodyPr>
              <a:lstStyle/>
              <a:p>
                <a:r>
                  <a:rPr lang="en-IN" sz="1100" dirty="0"/>
                  <a:t>Synchronous Replication</a:t>
                </a:r>
              </a:p>
            </p:txBody>
          </p:sp>
        </p:grpSp>
        <p:sp>
          <p:nvSpPr>
            <p:cNvPr id="56" name="TextBox 55">
              <a:extLst>
                <a:ext uri="{FF2B5EF4-FFF2-40B4-BE49-F238E27FC236}">
                  <a16:creationId xmlns:a16="http://schemas.microsoft.com/office/drawing/2014/main" id="{5DB2295F-2799-4A6D-86EE-994B400B01A4}"/>
                </a:ext>
              </a:extLst>
            </p:cNvPr>
            <p:cNvSpPr txBox="1"/>
            <p:nvPr/>
          </p:nvSpPr>
          <p:spPr>
            <a:xfrm>
              <a:off x="10188416" y="5146029"/>
              <a:ext cx="1796343" cy="215444"/>
            </a:xfrm>
            <a:prstGeom prst="rect">
              <a:avLst/>
            </a:prstGeom>
            <a:noFill/>
          </p:spPr>
          <p:txBody>
            <a:bodyPr wrap="square" lIns="0" tIns="0" rIns="0" bIns="45720" rtlCol="0">
              <a:spAutoFit/>
            </a:bodyPr>
            <a:lstStyle/>
            <a:p>
              <a:r>
                <a:rPr lang="en-IN" sz="1100" dirty="0"/>
                <a:t>          AWS Region</a:t>
              </a:r>
            </a:p>
          </p:txBody>
        </p:sp>
      </p:grpSp>
    </p:spTree>
    <p:extLst>
      <p:ext uri="{BB962C8B-B14F-4D97-AF65-F5344CB8AC3E}">
        <p14:creationId xmlns:p14="http://schemas.microsoft.com/office/powerpoint/2010/main" val="149901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
                                            <p:txEl>
                                              <p:pRg st="1" end="1"/>
                                            </p:txEl>
                                          </p:spTgt>
                                        </p:tgtEl>
                                        <p:attrNameLst>
                                          <p:attrName>style.visibility</p:attrName>
                                        </p:attrNameLst>
                                      </p:cBhvr>
                                      <p:to>
                                        <p:strVal val="visible"/>
                                      </p:to>
                                    </p:set>
                                    <p:animEffect transition="in" filter="fade">
                                      <p:cBhvr>
                                        <p:cTn id="12" dur="500"/>
                                        <p:tgtEl>
                                          <p:spTgt spid="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9">
                                            <p:txEl>
                                              <p:pRg st="3" end="3"/>
                                            </p:txEl>
                                          </p:spTgt>
                                        </p:tgtEl>
                                        <p:attrNameLst>
                                          <p:attrName>style.visibility</p:attrName>
                                        </p:attrNameLst>
                                      </p:cBhvr>
                                      <p:to>
                                        <p:strVal val="visible"/>
                                      </p:to>
                                    </p:set>
                                    <p:animEffect transition="in" filter="fade">
                                      <p:cBhvr>
                                        <p:cTn id="17" dur="500"/>
                                        <p:tgtEl>
                                          <p:spTgt spid="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 are a developer for a company. You have to develop an application which would </a:t>
            </a:r>
            <a:r>
              <a:rPr lang="en-US" b="1" dirty="0">
                <a:solidFill>
                  <a:srgbClr val="18537D"/>
                </a:solidFill>
              </a:rPr>
              <a:t>transfer the logs </a:t>
            </a:r>
            <a:r>
              <a:rPr lang="en-US" dirty="0">
                <a:solidFill>
                  <a:srgbClr val="18537D"/>
                </a:solidFill>
              </a:rPr>
              <a:t>from </a:t>
            </a:r>
            <a:r>
              <a:rPr lang="en-US" b="1" dirty="0">
                <a:solidFill>
                  <a:srgbClr val="18537D"/>
                </a:solidFill>
              </a:rPr>
              <a:t>several EC2 Instances to an S3 bucket</a:t>
            </a:r>
            <a:r>
              <a:rPr lang="en-US" dirty="0">
                <a:solidFill>
                  <a:srgbClr val="18537D"/>
                </a:solidFill>
              </a:rPr>
              <a:t>. Which of the following would you use for this purpose?</a:t>
            </a:r>
          </a:p>
          <a:p>
            <a:pPr>
              <a:lnSpc>
                <a:spcPct val="150000"/>
              </a:lnSpc>
            </a:pPr>
            <a:endParaRPr lang="en-US" dirty="0">
              <a:solidFill>
                <a:srgbClr val="18537D"/>
              </a:solidFill>
            </a:endParaRPr>
          </a:p>
          <a:p>
            <a:pPr>
              <a:lnSpc>
                <a:spcPct val="150000"/>
              </a:lnSpc>
            </a:pPr>
            <a:r>
              <a:rPr lang="en-US" dirty="0">
                <a:solidFill>
                  <a:srgbClr val="18537D"/>
                </a:solidFill>
              </a:rPr>
              <a:t>a. AWS Database Migration Service</a:t>
            </a:r>
          </a:p>
          <a:p>
            <a:pPr>
              <a:lnSpc>
                <a:spcPct val="150000"/>
              </a:lnSpc>
            </a:pPr>
            <a:r>
              <a:rPr lang="en-US" dirty="0">
                <a:solidFill>
                  <a:srgbClr val="18537D"/>
                </a:solidFill>
              </a:rPr>
              <a:t>b. AWS Athena</a:t>
            </a:r>
          </a:p>
          <a:p>
            <a:pPr>
              <a:lnSpc>
                <a:spcPct val="150000"/>
              </a:lnSpc>
            </a:pPr>
            <a:r>
              <a:rPr lang="en-US" dirty="0">
                <a:solidFill>
                  <a:srgbClr val="18537D"/>
                </a:solidFill>
              </a:rPr>
              <a:t>c. AWS Data Pipeline</a:t>
            </a:r>
          </a:p>
          <a:p>
            <a:pPr>
              <a:lnSpc>
                <a:spcPct val="150000"/>
              </a:lnSpc>
            </a:pPr>
            <a:r>
              <a:rPr lang="en-US" dirty="0">
                <a:solidFill>
                  <a:srgbClr val="18537D"/>
                </a:solidFill>
              </a:rPr>
              <a:t>d. AWS EMR</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460826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 are a developer for a company. You have to develop an application which would </a:t>
            </a:r>
            <a:r>
              <a:rPr lang="en-US" b="1" dirty="0">
                <a:solidFill>
                  <a:srgbClr val="18537D"/>
                </a:solidFill>
              </a:rPr>
              <a:t>transfer the logs </a:t>
            </a:r>
            <a:r>
              <a:rPr lang="en-US" dirty="0">
                <a:solidFill>
                  <a:srgbClr val="18537D"/>
                </a:solidFill>
              </a:rPr>
              <a:t>from </a:t>
            </a:r>
            <a:r>
              <a:rPr lang="en-US" b="1" dirty="0">
                <a:solidFill>
                  <a:srgbClr val="18537D"/>
                </a:solidFill>
              </a:rPr>
              <a:t>several EC2 Instances to an S3 bucket</a:t>
            </a:r>
            <a:r>
              <a:rPr lang="en-US" dirty="0">
                <a:solidFill>
                  <a:srgbClr val="18537D"/>
                </a:solidFill>
              </a:rPr>
              <a:t>. Which of the following would you use for this purpose?</a:t>
            </a:r>
          </a:p>
          <a:p>
            <a:pPr>
              <a:lnSpc>
                <a:spcPct val="150000"/>
              </a:lnSpc>
            </a:pPr>
            <a:endParaRPr lang="en-US" dirty="0">
              <a:solidFill>
                <a:srgbClr val="18537D"/>
              </a:solidFill>
            </a:endParaRPr>
          </a:p>
          <a:p>
            <a:pPr>
              <a:lnSpc>
                <a:spcPct val="150000"/>
              </a:lnSpc>
            </a:pPr>
            <a:r>
              <a:rPr lang="en-US" dirty="0">
                <a:solidFill>
                  <a:srgbClr val="18537D"/>
                </a:solidFill>
              </a:rPr>
              <a:t>a. AWS Database Migration Service</a:t>
            </a:r>
          </a:p>
          <a:p>
            <a:pPr>
              <a:lnSpc>
                <a:spcPct val="150000"/>
              </a:lnSpc>
            </a:pPr>
            <a:r>
              <a:rPr lang="en-US" dirty="0">
                <a:solidFill>
                  <a:srgbClr val="18537D"/>
                </a:solidFill>
              </a:rPr>
              <a:t>b. AWS Athena</a:t>
            </a:r>
          </a:p>
          <a:p>
            <a:pPr>
              <a:lnSpc>
                <a:spcPct val="150000"/>
              </a:lnSpc>
            </a:pPr>
            <a:r>
              <a:rPr lang="en-US" b="1" dirty="0">
                <a:solidFill>
                  <a:srgbClr val="18537D"/>
                </a:solidFill>
              </a:rPr>
              <a:t>c. AWS Data Pipeline</a:t>
            </a:r>
          </a:p>
          <a:p>
            <a:pPr>
              <a:lnSpc>
                <a:spcPct val="150000"/>
              </a:lnSpc>
            </a:pPr>
            <a:r>
              <a:rPr lang="en-US" dirty="0">
                <a:solidFill>
                  <a:srgbClr val="18537D"/>
                </a:solidFill>
              </a:rPr>
              <a:t>d. AWS EMR</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881554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You’ve been asked to move an existing development environment on the AWS Cloud. This environment consists mainly of Docker based containers. You need to ensure that minimum effort is taken during the migration process. Which of the following step would you consider for this requirement?</a:t>
            </a:r>
          </a:p>
          <a:p>
            <a:pPr>
              <a:lnSpc>
                <a:spcPct val="150000"/>
              </a:lnSpc>
            </a:pPr>
            <a:endParaRPr lang="en-US" dirty="0">
              <a:solidFill>
                <a:srgbClr val="18537D"/>
              </a:solidFill>
            </a:endParaRPr>
          </a:p>
          <a:p>
            <a:pPr>
              <a:lnSpc>
                <a:spcPct val="150000"/>
              </a:lnSpc>
            </a:pPr>
            <a:r>
              <a:rPr lang="en-US" dirty="0">
                <a:solidFill>
                  <a:srgbClr val="18537D"/>
                </a:solidFill>
              </a:rPr>
              <a:t>a. Create an </a:t>
            </a:r>
            <a:r>
              <a:rPr lang="en-US" dirty="0" err="1">
                <a:solidFill>
                  <a:srgbClr val="18537D"/>
                </a:solidFill>
              </a:rPr>
              <a:t>Opswork</a:t>
            </a:r>
            <a:r>
              <a:rPr lang="en-US" dirty="0">
                <a:solidFill>
                  <a:srgbClr val="18537D"/>
                </a:solidFill>
              </a:rPr>
              <a:t> stack and deploy the Docker containers</a:t>
            </a:r>
          </a:p>
          <a:p>
            <a:pPr>
              <a:lnSpc>
                <a:spcPct val="150000"/>
              </a:lnSpc>
            </a:pPr>
            <a:r>
              <a:rPr lang="en-US" dirty="0">
                <a:solidFill>
                  <a:srgbClr val="18537D"/>
                </a:solidFill>
              </a:rPr>
              <a:t>b. Create an application and Environment for the Docker containers in the Elastic Beanstalk service</a:t>
            </a:r>
          </a:p>
          <a:p>
            <a:pPr>
              <a:lnSpc>
                <a:spcPct val="150000"/>
              </a:lnSpc>
            </a:pPr>
            <a:r>
              <a:rPr lang="en-US" dirty="0">
                <a:solidFill>
                  <a:srgbClr val="18537D"/>
                </a:solidFill>
              </a:rPr>
              <a:t>c. Create an EC2 Instance. Install Docker and deploy the necessary containers.</a:t>
            </a:r>
          </a:p>
          <a:p>
            <a:pPr>
              <a:lnSpc>
                <a:spcPct val="150000"/>
              </a:lnSpc>
            </a:pPr>
            <a:r>
              <a:rPr lang="en-US" dirty="0">
                <a:solidFill>
                  <a:srgbClr val="18537D"/>
                </a:solidFill>
              </a:rPr>
              <a:t>d. Create an EC2 Instance. Install Docker and deploy the necessary containers. Add an Autoscaling Group for scalability of the containers</a:t>
            </a:r>
          </a:p>
        </p:txBody>
      </p:sp>
    </p:spTree>
    <p:extLst>
      <p:ext uri="{BB962C8B-B14F-4D97-AF65-F5344CB8AC3E}">
        <p14:creationId xmlns:p14="http://schemas.microsoft.com/office/powerpoint/2010/main" val="1440907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You’ve been asked to </a:t>
            </a:r>
            <a:r>
              <a:rPr lang="en-US" b="1" dirty="0">
                <a:solidFill>
                  <a:srgbClr val="18537D"/>
                </a:solidFill>
              </a:rPr>
              <a:t>move an existing development environment on the AWS Cloud</a:t>
            </a:r>
            <a:r>
              <a:rPr lang="en-US" dirty="0">
                <a:solidFill>
                  <a:srgbClr val="18537D"/>
                </a:solidFill>
              </a:rPr>
              <a:t>. This environment consists mainly of </a:t>
            </a:r>
            <a:r>
              <a:rPr lang="en-US" b="1" dirty="0">
                <a:solidFill>
                  <a:srgbClr val="18537D"/>
                </a:solidFill>
              </a:rPr>
              <a:t>Docker based containers</a:t>
            </a:r>
            <a:r>
              <a:rPr lang="en-US" dirty="0">
                <a:solidFill>
                  <a:srgbClr val="18537D"/>
                </a:solidFill>
              </a:rPr>
              <a:t>. You need to ensure that minimum effort is taken during the migration process. Which of the following step would you consider for this requirement?</a:t>
            </a:r>
          </a:p>
          <a:p>
            <a:pPr>
              <a:lnSpc>
                <a:spcPct val="150000"/>
              </a:lnSpc>
            </a:pPr>
            <a:endParaRPr lang="en-US" dirty="0">
              <a:solidFill>
                <a:srgbClr val="18537D"/>
              </a:solidFill>
            </a:endParaRPr>
          </a:p>
          <a:p>
            <a:pPr>
              <a:lnSpc>
                <a:spcPct val="150000"/>
              </a:lnSpc>
            </a:pPr>
            <a:r>
              <a:rPr lang="en-US" dirty="0">
                <a:solidFill>
                  <a:srgbClr val="18537D"/>
                </a:solidFill>
              </a:rPr>
              <a:t>a. Create an </a:t>
            </a:r>
            <a:r>
              <a:rPr lang="en-US" dirty="0" err="1">
                <a:solidFill>
                  <a:srgbClr val="18537D"/>
                </a:solidFill>
              </a:rPr>
              <a:t>Opswork</a:t>
            </a:r>
            <a:r>
              <a:rPr lang="en-US" dirty="0">
                <a:solidFill>
                  <a:srgbClr val="18537D"/>
                </a:solidFill>
              </a:rPr>
              <a:t> stack and deploy the Docker containers</a:t>
            </a:r>
          </a:p>
          <a:p>
            <a:pPr>
              <a:lnSpc>
                <a:spcPct val="150000"/>
              </a:lnSpc>
            </a:pPr>
            <a:r>
              <a:rPr lang="en-US" dirty="0">
                <a:solidFill>
                  <a:srgbClr val="18537D"/>
                </a:solidFill>
              </a:rPr>
              <a:t>b. Create an application and Environment for the Docker containers in the Elastic Beanstalk service</a:t>
            </a:r>
          </a:p>
          <a:p>
            <a:pPr>
              <a:lnSpc>
                <a:spcPct val="150000"/>
              </a:lnSpc>
            </a:pPr>
            <a:r>
              <a:rPr lang="en-US" dirty="0">
                <a:solidFill>
                  <a:srgbClr val="18537D"/>
                </a:solidFill>
              </a:rPr>
              <a:t>c. Create an EC2 Instance. Install Docker and deploy the necessary containers.</a:t>
            </a:r>
          </a:p>
          <a:p>
            <a:pPr>
              <a:lnSpc>
                <a:spcPct val="150000"/>
              </a:lnSpc>
            </a:pPr>
            <a:r>
              <a:rPr lang="en-US" dirty="0">
                <a:solidFill>
                  <a:srgbClr val="18537D"/>
                </a:solidFill>
              </a:rPr>
              <a:t>d. Create an EC2 Instance. Install Docker and deploy the necessary containers. Add an Autoscaling Group for scalability of the containers</a:t>
            </a:r>
          </a:p>
        </p:txBody>
      </p:sp>
    </p:spTree>
    <p:extLst>
      <p:ext uri="{BB962C8B-B14F-4D97-AF65-F5344CB8AC3E}">
        <p14:creationId xmlns:p14="http://schemas.microsoft.com/office/powerpoint/2010/main" val="144098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19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You’ve been asked to </a:t>
            </a:r>
            <a:r>
              <a:rPr lang="en-US" b="1" dirty="0">
                <a:solidFill>
                  <a:srgbClr val="18537D"/>
                </a:solidFill>
              </a:rPr>
              <a:t>move an existing development environment on the AWS Cloud</a:t>
            </a:r>
            <a:r>
              <a:rPr lang="en-US" dirty="0">
                <a:solidFill>
                  <a:srgbClr val="18537D"/>
                </a:solidFill>
              </a:rPr>
              <a:t>. This environment consists mainly of </a:t>
            </a:r>
            <a:r>
              <a:rPr lang="en-US" b="1" dirty="0">
                <a:solidFill>
                  <a:srgbClr val="18537D"/>
                </a:solidFill>
              </a:rPr>
              <a:t>Docker based containers</a:t>
            </a:r>
            <a:r>
              <a:rPr lang="en-US" dirty="0">
                <a:solidFill>
                  <a:srgbClr val="18537D"/>
                </a:solidFill>
              </a:rPr>
              <a:t>. You need to ensure that minimum effort is taken during the migration process. Which of the following step would you consider for this requirement?</a:t>
            </a:r>
          </a:p>
          <a:p>
            <a:pPr>
              <a:lnSpc>
                <a:spcPct val="150000"/>
              </a:lnSpc>
            </a:pPr>
            <a:endParaRPr lang="en-US" dirty="0">
              <a:solidFill>
                <a:srgbClr val="18537D"/>
              </a:solidFill>
            </a:endParaRPr>
          </a:p>
          <a:p>
            <a:pPr>
              <a:lnSpc>
                <a:spcPct val="150000"/>
              </a:lnSpc>
            </a:pPr>
            <a:r>
              <a:rPr lang="en-US" dirty="0">
                <a:solidFill>
                  <a:srgbClr val="18537D"/>
                </a:solidFill>
              </a:rPr>
              <a:t>a. Create an </a:t>
            </a:r>
            <a:r>
              <a:rPr lang="en-US" dirty="0" err="1">
                <a:solidFill>
                  <a:srgbClr val="18537D"/>
                </a:solidFill>
              </a:rPr>
              <a:t>Opswork</a:t>
            </a:r>
            <a:r>
              <a:rPr lang="en-US" dirty="0">
                <a:solidFill>
                  <a:srgbClr val="18537D"/>
                </a:solidFill>
              </a:rPr>
              <a:t> stack and deploy the Docker containers</a:t>
            </a:r>
          </a:p>
          <a:p>
            <a:pPr>
              <a:lnSpc>
                <a:spcPct val="150000"/>
              </a:lnSpc>
            </a:pPr>
            <a:r>
              <a:rPr lang="en-US" b="1" dirty="0">
                <a:solidFill>
                  <a:srgbClr val="18537D"/>
                </a:solidFill>
              </a:rPr>
              <a:t>b. Create an application and Environment for the Docker containers in the Elastic Beanstalk service</a:t>
            </a:r>
          </a:p>
          <a:p>
            <a:pPr>
              <a:lnSpc>
                <a:spcPct val="150000"/>
              </a:lnSpc>
            </a:pPr>
            <a:r>
              <a:rPr lang="en-US" dirty="0">
                <a:solidFill>
                  <a:srgbClr val="18537D"/>
                </a:solidFill>
              </a:rPr>
              <a:t>c. Create an EC2 Instance. Install Docker and deploy the necessary containers.</a:t>
            </a:r>
          </a:p>
          <a:p>
            <a:pPr>
              <a:lnSpc>
                <a:spcPct val="150000"/>
              </a:lnSpc>
            </a:pPr>
            <a:r>
              <a:rPr lang="en-US" dirty="0">
                <a:solidFill>
                  <a:srgbClr val="18537D"/>
                </a:solidFill>
              </a:rPr>
              <a:t>d. Create an EC2 Instance. Install Docker and deploy the necessary containers. Add an Autoscaling Group for scalability of the containers</a:t>
            </a:r>
          </a:p>
        </p:txBody>
      </p:sp>
    </p:spTree>
    <p:extLst>
      <p:ext uri="{BB962C8B-B14F-4D97-AF65-F5344CB8AC3E}">
        <p14:creationId xmlns:p14="http://schemas.microsoft.com/office/powerpoint/2010/main" val="306182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 team is currently working on a source code that’s defined in a Subversion repository. The company has just started using AWS tools for their CI/CD process and has now mandated that source code be migrated to  </a:t>
            </a:r>
            <a:r>
              <a:rPr lang="en-US" dirty="0" err="1">
                <a:solidFill>
                  <a:srgbClr val="18537D"/>
                </a:solidFill>
              </a:rPr>
              <a:t>CodeCommit</a:t>
            </a:r>
            <a:r>
              <a:rPr lang="en-US" dirty="0">
                <a:solidFill>
                  <a:srgbClr val="18537D"/>
                </a:solidFill>
              </a:rPr>
              <a:t>. Which of the following steps would you perform to fulfill this requirement?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Migrate  the code as it is to the AWS Code Commit Repository</a:t>
            </a:r>
          </a:p>
          <a:p>
            <a:pPr>
              <a:lnSpc>
                <a:spcPct val="150000"/>
              </a:lnSpc>
            </a:pPr>
            <a:r>
              <a:rPr lang="en-US" dirty="0">
                <a:solidFill>
                  <a:srgbClr val="18537D"/>
                </a:solidFill>
              </a:rPr>
              <a:t>b. Migrate the code to a Git Repository first</a:t>
            </a:r>
          </a:p>
          <a:p>
            <a:pPr>
              <a:lnSpc>
                <a:spcPct val="150000"/>
              </a:lnSpc>
            </a:pPr>
            <a:r>
              <a:rPr lang="en-US" dirty="0">
                <a:solidFill>
                  <a:srgbClr val="18537D"/>
                </a:solidFill>
              </a:rPr>
              <a:t>c. Migrate code from Git to AWS Code Commit</a:t>
            </a:r>
          </a:p>
          <a:p>
            <a:pPr>
              <a:lnSpc>
                <a:spcPct val="150000"/>
              </a:lnSpc>
            </a:pPr>
            <a:r>
              <a:rPr lang="en-US" dirty="0">
                <a:solidFill>
                  <a:srgbClr val="18537D"/>
                </a:solidFill>
              </a:rPr>
              <a:t>d. Ensure to clone the current repository before committing it to AWS Code Commit </a:t>
            </a:r>
          </a:p>
        </p:txBody>
      </p:sp>
    </p:spTree>
    <p:extLst>
      <p:ext uri="{BB962C8B-B14F-4D97-AF65-F5344CB8AC3E}">
        <p14:creationId xmlns:p14="http://schemas.microsoft.com/office/powerpoint/2010/main" val="3615949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 team is currently working on a source code that’s defined in a Subversion repository. The company has just started using AWS tools for their </a:t>
            </a:r>
            <a:r>
              <a:rPr lang="en-US" b="1" dirty="0">
                <a:solidFill>
                  <a:srgbClr val="18537D"/>
                </a:solidFill>
              </a:rPr>
              <a:t>CI/CD process and has now mandated that source code be migrated to  </a:t>
            </a:r>
            <a:r>
              <a:rPr lang="en-US" b="1" dirty="0" err="1">
                <a:solidFill>
                  <a:srgbClr val="18537D"/>
                </a:solidFill>
              </a:rPr>
              <a:t>CodeCommit</a:t>
            </a:r>
            <a:r>
              <a:rPr lang="en-US" b="1" dirty="0">
                <a:solidFill>
                  <a:srgbClr val="18537D"/>
                </a:solidFill>
              </a:rPr>
              <a:t>. </a:t>
            </a:r>
            <a:r>
              <a:rPr lang="en-US" dirty="0">
                <a:solidFill>
                  <a:srgbClr val="18537D"/>
                </a:solidFill>
              </a:rPr>
              <a:t>Which of the following steps would you perform to fulfill this requirement?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Migrate  the code as it is to the AWS Code Commit Repository</a:t>
            </a:r>
          </a:p>
          <a:p>
            <a:pPr>
              <a:lnSpc>
                <a:spcPct val="150000"/>
              </a:lnSpc>
            </a:pPr>
            <a:r>
              <a:rPr lang="en-US" dirty="0">
                <a:solidFill>
                  <a:srgbClr val="18537D"/>
                </a:solidFill>
              </a:rPr>
              <a:t>b. Migrate the code to a Git Repository first</a:t>
            </a:r>
          </a:p>
          <a:p>
            <a:pPr>
              <a:lnSpc>
                <a:spcPct val="150000"/>
              </a:lnSpc>
            </a:pPr>
            <a:r>
              <a:rPr lang="en-US" dirty="0">
                <a:solidFill>
                  <a:srgbClr val="18537D"/>
                </a:solidFill>
              </a:rPr>
              <a:t>c. Migrate code from Git to AWS Code Commit</a:t>
            </a:r>
          </a:p>
          <a:p>
            <a:pPr>
              <a:lnSpc>
                <a:spcPct val="150000"/>
              </a:lnSpc>
            </a:pPr>
            <a:r>
              <a:rPr lang="en-US" dirty="0">
                <a:solidFill>
                  <a:srgbClr val="18537D"/>
                </a:solidFill>
              </a:rPr>
              <a:t>d. Ensure to clone the current repository before committing it to AWS Code Commit </a:t>
            </a:r>
          </a:p>
        </p:txBody>
      </p:sp>
    </p:spTree>
    <p:extLst>
      <p:ext uri="{BB962C8B-B14F-4D97-AF65-F5344CB8AC3E}">
        <p14:creationId xmlns:p14="http://schemas.microsoft.com/office/powerpoint/2010/main" val="717820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 team is currently working on a source code that’s defined in a Subversion repository. The company has just started using AWS tools for their </a:t>
            </a:r>
            <a:r>
              <a:rPr lang="en-US" b="1" dirty="0">
                <a:solidFill>
                  <a:srgbClr val="18537D"/>
                </a:solidFill>
              </a:rPr>
              <a:t>CI/CD process and has now mandated that source code be migrated to  </a:t>
            </a:r>
            <a:r>
              <a:rPr lang="en-US" b="1" dirty="0" err="1">
                <a:solidFill>
                  <a:srgbClr val="18537D"/>
                </a:solidFill>
              </a:rPr>
              <a:t>CodeCommit</a:t>
            </a:r>
            <a:r>
              <a:rPr lang="en-US" b="1" dirty="0">
                <a:solidFill>
                  <a:srgbClr val="18537D"/>
                </a:solidFill>
              </a:rPr>
              <a:t>. </a:t>
            </a:r>
            <a:r>
              <a:rPr lang="en-US" dirty="0">
                <a:solidFill>
                  <a:srgbClr val="18537D"/>
                </a:solidFill>
              </a:rPr>
              <a:t>Which of the following steps would you perform to fulfill this requirement?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Migrate  the code as it is to the AWS Code Commit Repository</a:t>
            </a:r>
          </a:p>
          <a:p>
            <a:pPr>
              <a:lnSpc>
                <a:spcPct val="150000"/>
              </a:lnSpc>
            </a:pPr>
            <a:r>
              <a:rPr lang="en-US" b="1" dirty="0">
                <a:solidFill>
                  <a:srgbClr val="18537D"/>
                </a:solidFill>
              </a:rPr>
              <a:t>b. Migrate the code to a Git Repository first</a:t>
            </a:r>
          </a:p>
          <a:p>
            <a:pPr>
              <a:lnSpc>
                <a:spcPct val="150000"/>
              </a:lnSpc>
            </a:pPr>
            <a:r>
              <a:rPr lang="en-US" b="1" dirty="0">
                <a:solidFill>
                  <a:srgbClr val="18537D"/>
                </a:solidFill>
              </a:rPr>
              <a:t>c. Migrate code from Git to AWS Code Commit</a:t>
            </a:r>
          </a:p>
          <a:p>
            <a:pPr>
              <a:lnSpc>
                <a:spcPct val="150000"/>
              </a:lnSpc>
            </a:pPr>
            <a:r>
              <a:rPr lang="en-US" dirty="0">
                <a:solidFill>
                  <a:srgbClr val="18537D"/>
                </a:solidFill>
              </a:rPr>
              <a:t>d. Ensure to clone the current repository before committing it to AWS Code Commit </a:t>
            </a:r>
          </a:p>
        </p:txBody>
      </p:sp>
    </p:spTree>
    <p:extLst>
      <p:ext uri="{BB962C8B-B14F-4D97-AF65-F5344CB8AC3E}">
        <p14:creationId xmlns:p14="http://schemas.microsoft.com/office/powerpoint/2010/main" val="2981098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 team is transitioning a stateful based web application to AWS. You need to decide the services which will be used to host the application. Which of the following would be included in the design?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DynamoDB to store the session data</a:t>
            </a:r>
          </a:p>
          <a:p>
            <a:pPr>
              <a:lnSpc>
                <a:spcPct val="150000"/>
              </a:lnSpc>
            </a:pPr>
            <a:r>
              <a:rPr lang="en-US" dirty="0">
                <a:solidFill>
                  <a:srgbClr val="18537D"/>
                </a:solidFill>
              </a:rPr>
              <a:t>b. AWS Lambda to store the session data</a:t>
            </a:r>
          </a:p>
          <a:p>
            <a:pPr>
              <a:lnSpc>
                <a:spcPct val="150000"/>
              </a:lnSpc>
            </a:pPr>
            <a:r>
              <a:rPr lang="en-US" dirty="0">
                <a:solidFill>
                  <a:srgbClr val="18537D"/>
                </a:solidFill>
              </a:rPr>
              <a:t>c. An Application Load balancer to distribute traffic</a:t>
            </a:r>
          </a:p>
          <a:p>
            <a:pPr>
              <a:lnSpc>
                <a:spcPct val="150000"/>
              </a:lnSpc>
            </a:pPr>
            <a:r>
              <a:rPr lang="en-US" dirty="0">
                <a:solidFill>
                  <a:srgbClr val="18537D"/>
                </a:solidFill>
              </a:rPr>
              <a:t>d. An API gateway to distribute traffic</a:t>
            </a:r>
          </a:p>
        </p:txBody>
      </p:sp>
    </p:spTree>
    <p:extLst>
      <p:ext uri="{BB962C8B-B14F-4D97-AF65-F5344CB8AC3E}">
        <p14:creationId xmlns:p14="http://schemas.microsoft.com/office/powerpoint/2010/main" val="785253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 team is transitioning a </a:t>
            </a:r>
            <a:r>
              <a:rPr lang="en-US" b="1" dirty="0">
                <a:solidFill>
                  <a:srgbClr val="18537D"/>
                </a:solidFill>
              </a:rPr>
              <a:t>stateful based web application to AWS</a:t>
            </a:r>
            <a:r>
              <a:rPr lang="en-US" dirty="0">
                <a:solidFill>
                  <a:srgbClr val="18537D"/>
                </a:solidFill>
              </a:rPr>
              <a:t>. You need to decide the services which will be used to </a:t>
            </a:r>
            <a:r>
              <a:rPr lang="en-US" b="1" dirty="0">
                <a:solidFill>
                  <a:srgbClr val="18537D"/>
                </a:solidFill>
              </a:rPr>
              <a:t>host the application</a:t>
            </a:r>
            <a:r>
              <a:rPr lang="en-US" dirty="0">
                <a:solidFill>
                  <a:srgbClr val="18537D"/>
                </a:solidFill>
              </a:rPr>
              <a:t>. Which of the following would be included in the design?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DynamoDB to store the session data</a:t>
            </a:r>
          </a:p>
          <a:p>
            <a:pPr>
              <a:lnSpc>
                <a:spcPct val="150000"/>
              </a:lnSpc>
            </a:pPr>
            <a:r>
              <a:rPr lang="en-US" dirty="0">
                <a:solidFill>
                  <a:srgbClr val="18537D"/>
                </a:solidFill>
              </a:rPr>
              <a:t>b. AWS Lambda to store the session data</a:t>
            </a:r>
          </a:p>
          <a:p>
            <a:pPr>
              <a:lnSpc>
                <a:spcPct val="150000"/>
              </a:lnSpc>
            </a:pPr>
            <a:r>
              <a:rPr lang="en-US" dirty="0">
                <a:solidFill>
                  <a:srgbClr val="18537D"/>
                </a:solidFill>
              </a:rPr>
              <a:t>c. An Application Load balancer to distribute traffic</a:t>
            </a:r>
          </a:p>
          <a:p>
            <a:pPr>
              <a:lnSpc>
                <a:spcPct val="150000"/>
              </a:lnSpc>
            </a:pPr>
            <a:r>
              <a:rPr lang="en-US" dirty="0">
                <a:solidFill>
                  <a:srgbClr val="18537D"/>
                </a:solidFill>
              </a:rPr>
              <a:t>d. An API gateway to distribute traffic</a:t>
            </a:r>
          </a:p>
        </p:txBody>
      </p:sp>
    </p:spTree>
    <p:extLst>
      <p:ext uri="{BB962C8B-B14F-4D97-AF65-F5344CB8AC3E}">
        <p14:creationId xmlns:p14="http://schemas.microsoft.com/office/powerpoint/2010/main" val="4196175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Your team is transitioning a </a:t>
            </a:r>
            <a:r>
              <a:rPr lang="en-US" b="1" dirty="0">
                <a:solidFill>
                  <a:srgbClr val="18537D"/>
                </a:solidFill>
              </a:rPr>
              <a:t>stateful based web application to AWS</a:t>
            </a:r>
            <a:r>
              <a:rPr lang="en-US" dirty="0">
                <a:solidFill>
                  <a:srgbClr val="18537D"/>
                </a:solidFill>
              </a:rPr>
              <a:t>. You need to decide the services which will be used to </a:t>
            </a:r>
            <a:r>
              <a:rPr lang="en-US" b="1" dirty="0">
                <a:solidFill>
                  <a:srgbClr val="18537D"/>
                </a:solidFill>
              </a:rPr>
              <a:t>host the application</a:t>
            </a:r>
            <a:r>
              <a:rPr lang="en-US" dirty="0">
                <a:solidFill>
                  <a:srgbClr val="18537D"/>
                </a:solidFill>
              </a:rPr>
              <a:t>. Which of the following would be included in the design? Choose 2 answers from the options given below</a:t>
            </a:r>
          </a:p>
          <a:p>
            <a:pPr>
              <a:lnSpc>
                <a:spcPct val="150000"/>
              </a:lnSpc>
            </a:pPr>
            <a:endParaRPr lang="en-US" dirty="0">
              <a:solidFill>
                <a:srgbClr val="18537D"/>
              </a:solidFill>
            </a:endParaRPr>
          </a:p>
          <a:p>
            <a:pPr>
              <a:lnSpc>
                <a:spcPct val="150000"/>
              </a:lnSpc>
            </a:pPr>
            <a:r>
              <a:rPr lang="en-US" b="1" dirty="0">
                <a:solidFill>
                  <a:srgbClr val="18537D"/>
                </a:solidFill>
              </a:rPr>
              <a:t>a. DynamoDB to store the session data</a:t>
            </a:r>
          </a:p>
          <a:p>
            <a:pPr>
              <a:lnSpc>
                <a:spcPct val="150000"/>
              </a:lnSpc>
            </a:pPr>
            <a:r>
              <a:rPr lang="en-US" dirty="0">
                <a:solidFill>
                  <a:srgbClr val="18537D"/>
                </a:solidFill>
              </a:rPr>
              <a:t>b. AWS Lambda to store the session data</a:t>
            </a:r>
          </a:p>
          <a:p>
            <a:pPr>
              <a:lnSpc>
                <a:spcPct val="150000"/>
              </a:lnSpc>
            </a:pPr>
            <a:r>
              <a:rPr lang="en-US" b="1" dirty="0">
                <a:solidFill>
                  <a:srgbClr val="18537D"/>
                </a:solidFill>
              </a:rPr>
              <a:t>c. An Application Load balancer to distribute traffic</a:t>
            </a:r>
          </a:p>
          <a:p>
            <a:pPr>
              <a:lnSpc>
                <a:spcPct val="150000"/>
              </a:lnSpc>
            </a:pPr>
            <a:r>
              <a:rPr lang="en-US" dirty="0">
                <a:solidFill>
                  <a:srgbClr val="18537D"/>
                </a:solidFill>
              </a:rPr>
              <a:t>d. An API gateway to distribute traffic</a:t>
            </a:r>
          </a:p>
        </p:txBody>
      </p:sp>
    </p:spTree>
    <p:extLst>
      <p:ext uri="{BB962C8B-B14F-4D97-AF65-F5344CB8AC3E}">
        <p14:creationId xmlns:p14="http://schemas.microsoft.com/office/powerpoint/2010/main" val="3803784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 development team is testing out an application that is being deployed onto AWS Elastic Beanstalk. The application needs to have an RDS Instance provisioned as part of the Elastic Beanstalk setup and they also want to ensure that the database is preserved for analysis even after the environment is torn down. How can you achieve both the requirements?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Ensure the database is created as part of the Elastic Beanstalk environment.</a:t>
            </a:r>
          </a:p>
          <a:p>
            <a:pPr>
              <a:lnSpc>
                <a:spcPct val="150000"/>
              </a:lnSpc>
            </a:pPr>
            <a:r>
              <a:rPr lang="en-US" dirty="0">
                <a:solidFill>
                  <a:srgbClr val="18537D"/>
                </a:solidFill>
              </a:rPr>
              <a:t>b. Ensure that you only choose the MySQL engine type</a:t>
            </a:r>
          </a:p>
          <a:p>
            <a:pPr>
              <a:lnSpc>
                <a:spcPct val="150000"/>
              </a:lnSpc>
            </a:pPr>
            <a:r>
              <a:rPr lang="en-US" dirty="0">
                <a:solidFill>
                  <a:srgbClr val="18537D"/>
                </a:solidFill>
              </a:rPr>
              <a:t>c. Ensure that the retention for the database is marked as “Create Snapshot”</a:t>
            </a:r>
          </a:p>
          <a:p>
            <a:pPr>
              <a:lnSpc>
                <a:spcPct val="150000"/>
              </a:lnSpc>
            </a:pPr>
            <a:r>
              <a:rPr lang="en-US" dirty="0">
                <a:solidFill>
                  <a:srgbClr val="18537D"/>
                </a:solidFill>
              </a:rPr>
              <a:t>d. Ensure that the retention for the database is marked as “Automated Backup”</a:t>
            </a:r>
          </a:p>
        </p:txBody>
      </p:sp>
    </p:spTree>
    <p:extLst>
      <p:ext uri="{BB962C8B-B14F-4D97-AF65-F5344CB8AC3E}">
        <p14:creationId xmlns:p14="http://schemas.microsoft.com/office/powerpoint/2010/main" val="508926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 development team is testing out an application that is being </a:t>
            </a:r>
            <a:r>
              <a:rPr lang="en-US" b="1" dirty="0">
                <a:solidFill>
                  <a:srgbClr val="18537D"/>
                </a:solidFill>
              </a:rPr>
              <a:t>deployed onto AWS Elastic Beanstalk</a:t>
            </a:r>
            <a:r>
              <a:rPr lang="en-US" dirty="0">
                <a:solidFill>
                  <a:srgbClr val="18537D"/>
                </a:solidFill>
              </a:rPr>
              <a:t>. The application needs to have an </a:t>
            </a:r>
            <a:r>
              <a:rPr lang="en-US" b="1" dirty="0">
                <a:solidFill>
                  <a:srgbClr val="18537D"/>
                </a:solidFill>
              </a:rPr>
              <a:t>RDS Instance provisioned as part of the Elastic Beanstalk setup </a:t>
            </a:r>
            <a:r>
              <a:rPr lang="en-US" dirty="0">
                <a:solidFill>
                  <a:srgbClr val="18537D"/>
                </a:solidFill>
              </a:rPr>
              <a:t>and they also want to ensure that the </a:t>
            </a:r>
            <a:r>
              <a:rPr lang="en-US" b="1" dirty="0">
                <a:solidFill>
                  <a:srgbClr val="18537D"/>
                </a:solidFill>
              </a:rPr>
              <a:t>database is preserved for analysis even after the environment </a:t>
            </a:r>
            <a:r>
              <a:rPr lang="en-US" dirty="0">
                <a:solidFill>
                  <a:srgbClr val="18537D"/>
                </a:solidFill>
              </a:rPr>
              <a:t>is torn down. How can you achieve both the requirements? Choose 2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Ensure the database is created as part of the Elastic Beanstalk environment.</a:t>
            </a:r>
          </a:p>
          <a:p>
            <a:pPr>
              <a:lnSpc>
                <a:spcPct val="150000"/>
              </a:lnSpc>
            </a:pPr>
            <a:r>
              <a:rPr lang="en-US" dirty="0">
                <a:solidFill>
                  <a:srgbClr val="18537D"/>
                </a:solidFill>
              </a:rPr>
              <a:t>b. Ensure that you only choose the MySQL engine type</a:t>
            </a:r>
          </a:p>
          <a:p>
            <a:pPr>
              <a:lnSpc>
                <a:spcPct val="150000"/>
              </a:lnSpc>
            </a:pPr>
            <a:r>
              <a:rPr lang="en-US" dirty="0">
                <a:solidFill>
                  <a:srgbClr val="18537D"/>
                </a:solidFill>
              </a:rPr>
              <a:t>c. Ensure that the retention for the database is marked as “Create Snapshot”</a:t>
            </a:r>
          </a:p>
          <a:p>
            <a:pPr>
              <a:lnSpc>
                <a:spcPct val="150000"/>
              </a:lnSpc>
            </a:pPr>
            <a:r>
              <a:rPr lang="en-US" dirty="0">
                <a:solidFill>
                  <a:srgbClr val="18537D"/>
                </a:solidFill>
              </a:rPr>
              <a:t>d. Ensure that the retention for the database is marked as “Automated Backup”</a:t>
            </a:r>
          </a:p>
        </p:txBody>
      </p:sp>
    </p:spTree>
    <p:extLst>
      <p:ext uri="{BB962C8B-B14F-4D97-AF65-F5344CB8AC3E}">
        <p14:creationId xmlns:p14="http://schemas.microsoft.com/office/powerpoint/2010/main" val="4148940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Your development team is testing out an application that is being </a:t>
            </a:r>
            <a:r>
              <a:rPr lang="en-US" b="1" dirty="0">
                <a:solidFill>
                  <a:srgbClr val="18537D"/>
                </a:solidFill>
              </a:rPr>
              <a:t>deployed onto AWS Elastic Beanstalk</a:t>
            </a:r>
            <a:r>
              <a:rPr lang="en-US" dirty="0">
                <a:solidFill>
                  <a:srgbClr val="18537D"/>
                </a:solidFill>
              </a:rPr>
              <a:t>. The application needs to have an </a:t>
            </a:r>
            <a:r>
              <a:rPr lang="en-US" b="1" dirty="0">
                <a:solidFill>
                  <a:srgbClr val="18537D"/>
                </a:solidFill>
              </a:rPr>
              <a:t>RDS Instance provisioned as part of the Elastic Beanstalk setup </a:t>
            </a:r>
            <a:r>
              <a:rPr lang="en-US" dirty="0">
                <a:solidFill>
                  <a:srgbClr val="18537D"/>
                </a:solidFill>
              </a:rPr>
              <a:t>and they also want to ensure that the </a:t>
            </a:r>
            <a:r>
              <a:rPr lang="en-US" b="1" dirty="0">
                <a:solidFill>
                  <a:srgbClr val="18537D"/>
                </a:solidFill>
              </a:rPr>
              <a:t>database is preserved for analysis even after the environment </a:t>
            </a:r>
            <a:r>
              <a:rPr lang="en-US" dirty="0">
                <a:solidFill>
                  <a:srgbClr val="18537D"/>
                </a:solidFill>
              </a:rPr>
              <a:t>is torn down. How can you achieve both the requirements? Choose 2 answers from the options given below</a:t>
            </a:r>
          </a:p>
          <a:p>
            <a:pPr>
              <a:lnSpc>
                <a:spcPct val="150000"/>
              </a:lnSpc>
            </a:pPr>
            <a:endParaRPr lang="en-US" dirty="0">
              <a:solidFill>
                <a:srgbClr val="18537D"/>
              </a:solidFill>
            </a:endParaRPr>
          </a:p>
          <a:p>
            <a:pPr>
              <a:lnSpc>
                <a:spcPct val="150000"/>
              </a:lnSpc>
            </a:pPr>
            <a:r>
              <a:rPr lang="en-US" b="1" dirty="0">
                <a:solidFill>
                  <a:srgbClr val="18537D"/>
                </a:solidFill>
              </a:rPr>
              <a:t>a. Ensure the database is created as part of the Elastic Beanstalk environment.</a:t>
            </a:r>
          </a:p>
          <a:p>
            <a:pPr>
              <a:lnSpc>
                <a:spcPct val="150000"/>
              </a:lnSpc>
            </a:pPr>
            <a:r>
              <a:rPr lang="en-US" dirty="0">
                <a:solidFill>
                  <a:srgbClr val="18537D"/>
                </a:solidFill>
              </a:rPr>
              <a:t>b. Ensure that you only choose the MySQL engine type</a:t>
            </a:r>
          </a:p>
          <a:p>
            <a:pPr>
              <a:lnSpc>
                <a:spcPct val="150000"/>
              </a:lnSpc>
            </a:pPr>
            <a:r>
              <a:rPr lang="en-US" b="1" dirty="0">
                <a:solidFill>
                  <a:srgbClr val="18537D"/>
                </a:solidFill>
              </a:rPr>
              <a:t>c. Ensure that the retention for the database is marked as “Create Snapshot”</a:t>
            </a:r>
          </a:p>
          <a:p>
            <a:pPr>
              <a:lnSpc>
                <a:spcPct val="150000"/>
              </a:lnSpc>
            </a:pPr>
            <a:r>
              <a:rPr lang="en-US" dirty="0">
                <a:solidFill>
                  <a:srgbClr val="18537D"/>
                </a:solidFill>
              </a:rPr>
              <a:t>d. Ensure that the retention for the database is marked as “Automated Backup”</a:t>
            </a:r>
          </a:p>
        </p:txBody>
      </p:sp>
    </p:spTree>
    <p:extLst>
      <p:ext uri="{BB962C8B-B14F-4D97-AF65-F5344CB8AC3E}">
        <p14:creationId xmlns:p14="http://schemas.microsoft.com/office/powerpoint/2010/main" val="3044954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833A-1D22-44C8-AA11-ABF04E08EE8B}"/>
              </a:ext>
            </a:extLst>
          </p:cNvPr>
          <p:cNvSpPr>
            <a:spLocks noGrp="1"/>
          </p:cNvSpPr>
          <p:nvPr>
            <p:ph type="title"/>
          </p:nvPr>
        </p:nvSpPr>
        <p:spPr>
          <a:xfrm>
            <a:off x="3489158" y="3320733"/>
            <a:ext cx="9589168" cy="557845"/>
          </a:xfrm>
        </p:spPr>
        <p:txBody>
          <a:bodyPr>
            <a:normAutofit fontScale="90000"/>
          </a:bodyPr>
          <a:lstStyle/>
          <a:p>
            <a:r>
              <a:rPr lang="en-US" dirty="0">
                <a:solidFill>
                  <a:srgbClr val="18537D"/>
                </a:solidFill>
                <a:latin typeface="Arial Black" panose="020B0A04020102020204" pitchFamily="34" charset="0"/>
              </a:rPr>
              <a:t>Happy Learning!!</a:t>
            </a:r>
          </a:p>
        </p:txBody>
      </p:sp>
      <p:sp>
        <p:nvSpPr>
          <p:cNvPr id="3" name="Slide Number Placeholder 2">
            <a:extLst>
              <a:ext uri="{FF2B5EF4-FFF2-40B4-BE49-F238E27FC236}">
                <a16:creationId xmlns:a16="http://schemas.microsoft.com/office/drawing/2014/main" id="{99BEF341-2DB0-4159-B670-24611B8CA7B2}"/>
              </a:ext>
            </a:extLst>
          </p:cNvPr>
          <p:cNvSpPr txBox="1">
            <a:spLocks/>
          </p:cNvSpPr>
          <p:nvPr/>
        </p:nvSpPr>
        <p:spPr>
          <a:xfrm>
            <a:off x="13550876" y="6705802"/>
            <a:ext cx="705898" cy="2161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29</a:t>
            </a:fld>
            <a:endParaRPr lang="en-US" dirty="0"/>
          </a:p>
        </p:txBody>
      </p:sp>
    </p:spTree>
    <p:extLst>
      <p:ext uri="{BB962C8B-B14F-4D97-AF65-F5344CB8AC3E}">
        <p14:creationId xmlns:p14="http://schemas.microsoft.com/office/powerpoint/2010/main" val="2175134941"/>
      </p:ext>
    </p:extLst>
  </p:cSld>
  <p:clrMapOvr>
    <a:masterClrMapping/>
  </p:clrMapOvr>
</p:sld>
</file>

<file path=ppt/theme/theme1.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2.xml><?xml version="1.0" encoding="utf-8"?>
<a:theme xmlns:a="http://schemas.openxmlformats.org/drawingml/2006/main" name="1_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D4628B5F0DE14882B47AED0C5966F0" ma:contentTypeVersion="12" ma:contentTypeDescription="Create a new document." ma:contentTypeScope="" ma:versionID="55b389601a80f891819a40b048f86b7b">
  <xsd:schema xmlns:xsd="http://www.w3.org/2001/XMLSchema" xmlns:xs="http://www.w3.org/2001/XMLSchema" xmlns:p="http://schemas.microsoft.com/office/2006/metadata/properties" xmlns:ns3="25376a1e-acf6-4d0e-a31f-9846047eee0a" xmlns:ns4="d61169d6-dafa-460d-aa42-7f3810e84ea1" targetNamespace="http://schemas.microsoft.com/office/2006/metadata/properties" ma:root="true" ma:fieldsID="e6b501d0506227862faddbc1d8a8e3d7" ns3:_="" ns4:_="">
    <xsd:import namespace="25376a1e-acf6-4d0e-a31f-9846047eee0a"/>
    <xsd:import namespace="d61169d6-dafa-460d-aa42-7f3810e84e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AutoKeyPoints" minOccurs="0"/>
                <xsd:element ref="ns4:MediaServiceKeyPoint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376a1e-acf6-4d0e-a31f-9846047eee0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1169d6-dafa-460d-aa42-7f3810e84e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3F6FFA-FF3F-493E-9E94-0880F41B67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376a1e-acf6-4d0e-a31f-9846047eee0a"/>
    <ds:schemaRef ds:uri="d61169d6-dafa-460d-aa42-7f3810e84e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E8B75E-1448-403E-9C36-A8C659AD49D4}">
  <ds:schemaRefs>
    <ds:schemaRef ds:uri="http://schemas.microsoft.com/sharepoint/v3/contenttype/forms"/>
  </ds:schemaRefs>
</ds:datastoreItem>
</file>

<file path=customXml/itemProps3.xml><?xml version="1.0" encoding="utf-8"?>
<ds:datastoreItem xmlns:ds="http://schemas.openxmlformats.org/officeDocument/2006/customXml" ds:itemID="{92BE717E-816E-4571-A23B-53E4DC8E1895}">
  <ds:schemaRefs>
    <ds:schemaRef ds:uri="http://schemas.microsoft.com/office/2006/metadata/properties"/>
    <ds:schemaRef ds:uri="http://purl.org/dc/terms/"/>
    <ds:schemaRef ds:uri="25376a1e-acf6-4d0e-a31f-9846047eee0a"/>
    <ds:schemaRef ds:uri="http://schemas.microsoft.com/office/2006/documentManagement/types"/>
    <ds:schemaRef ds:uri="d61169d6-dafa-460d-aa42-7f3810e84ea1"/>
    <ds:schemaRef ds:uri="http://schemas.microsoft.com/office/infopath/2007/PartnerControls"/>
    <ds:schemaRef ds:uri="http://purl.org/dc/elements/1.1/"/>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12129</TotalTime>
  <Words>2626</Words>
  <Application>Microsoft Office PowerPoint</Application>
  <PresentationFormat>Custom</PresentationFormat>
  <Paragraphs>317</Paragraphs>
  <Slides>29</Slides>
  <Notes>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Amazon Ember</vt:lpstr>
      <vt:lpstr>Arial</vt:lpstr>
      <vt:lpstr>Arial Black</vt:lpstr>
      <vt:lpstr>Calibri</vt:lpstr>
      <vt:lpstr>Courier New</vt:lpstr>
      <vt:lpstr>Graphik</vt:lpstr>
      <vt:lpstr>Graphik Black</vt:lpstr>
      <vt:lpstr>Graphik Medium</vt:lpstr>
      <vt:lpstr>Wingdings</vt:lpstr>
      <vt:lpstr>Titles</vt:lpstr>
      <vt:lpstr>1_Titles</vt:lpstr>
      <vt:lpstr> Cloud Elevate –Exam Readiness workshop    AWS Certified Developer - Associate</vt:lpstr>
      <vt:lpstr>PowerPoint Presentation</vt:lpstr>
      <vt:lpstr>AWS Developer - associate</vt:lpstr>
      <vt:lpstr>Refactoring – 10%</vt:lpstr>
      <vt:lpstr>Refactoring</vt:lpstr>
      <vt:lpstr>Sample Questions</vt:lpstr>
      <vt:lpstr>High availability factors</vt:lpstr>
      <vt:lpstr>What is elastic load balancer (ELB)?</vt:lpstr>
      <vt:lpstr>Elastic Load Balancer Features</vt:lpstr>
      <vt:lpstr>Elastic load Balancer Features</vt:lpstr>
      <vt:lpstr>Elastic load Balancer options</vt:lpstr>
      <vt:lpstr> EC2 Auto Scaling</vt:lpstr>
      <vt:lpstr> EC2 Auto Scaling</vt:lpstr>
      <vt:lpstr> High Availability (Multi-AZ) for Amazon RDS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Happy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Nithyanand, Anupama</dc:creator>
  <cp:lastModifiedBy>Govindarajan, Mathan</cp:lastModifiedBy>
  <cp:revision>382</cp:revision>
  <dcterms:created xsi:type="dcterms:W3CDTF">2020-02-10T04:26:22Z</dcterms:created>
  <dcterms:modified xsi:type="dcterms:W3CDTF">2020-09-24T07:04:36Z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0x01010072D4628B5F0DE14882B47AED0C5966F0</vt:lpwstr>
  </property>
</Properties>
</file>