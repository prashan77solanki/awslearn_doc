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84"/>
  </p:notesMasterIdLst>
  <p:sldIdLst>
    <p:sldId id="720" r:id="rId6"/>
    <p:sldId id="813" r:id="rId7"/>
    <p:sldId id="814" r:id="rId8"/>
    <p:sldId id="815" r:id="rId9"/>
    <p:sldId id="816" r:id="rId10"/>
    <p:sldId id="821" r:id="rId11"/>
    <p:sldId id="833" r:id="rId12"/>
    <p:sldId id="830" r:id="rId13"/>
    <p:sldId id="827" r:id="rId14"/>
    <p:sldId id="832" r:id="rId15"/>
    <p:sldId id="831" r:id="rId16"/>
    <p:sldId id="822" r:id="rId17"/>
    <p:sldId id="824" r:id="rId18"/>
    <p:sldId id="823" r:id="rId19"/>
    <p:sldId id="834" r:id="rId20"/>
    <p:sldId id="825" r:id="rId21"/>
    <p:sldId id="828" r:id="rId22"/>
    <p:sldId id="842" r:id="rId23"/>
    <p:sldId id="844" r:id="rId24"/>
    <p:sldId id="845" r:id="rId25"/>
    <p:sldId id="846" r:id="rId26"/>
    <p:sldId id="847" r:id="rId27"/>
    <p:sldId id="848" r:id="rId28"/>
    <p:sldId id="849" r:id="rId29"/>
    <p:sldId id="896" r:id="rId30"/>
    <p:sldId id="880" r:id="rId31"/>
    <p:sldId id="897" r:id="rId32"/>
    <p:sldId id="850" r:id="rId33"/>
    <p:sldId id="898" r:id="rId34"/>
    <p:sldId id="851" r:id="rId35"/>
    <p:sldId id="899" r:id="rId36"/>
    <p:sldId id="881" r:id="rId37"/>
    <p:sldId id="900" r:id="rId38"/>
    <p:sldId id="852" r:id="rId39"/>
    <p:sldId id="901" r:id="rId40"/>
    <p:sldId id="853" r:id="rId41"/>
    <p:sldId id="902" r:id="rId42"/>
    <p:sldId id="882" r:id="rId43"/>
    <p:sldId id="903" r:id="rId44"/>
    <p:sldId id="854" r:id="rId45"/>
    <p:sldId id="904" r:id="rId46"/>
    <p:sldId id="855" r:id="rId47"/>
    <p:sldId id="905" r:id="rId48"/>
    <p:sldId id="883" r:id="rId49"/>
    <p:sldId id="856" r:id="rId50"/>
    <p:sldId id="857" r:id="rId51"/>
    <p:sldId id="884" r:id="rId52"/>
    <p:sldId id="858" r:id="rId53"/>
    <p:sldId id="859" r:id="rId54"/>
    <p:sldId id="906" r:id="rId55"/>
    <p:sldId id="861" r:id="rId56"/>
    <p:sldId id="886" r:id="rId57"/>
    <p:sldId id="862" r:id="rId58"/>
    <p:sldId id="863" r:id="rId59"/>
    <p:sldId id="887" r:id="rId60"/>
    <p:sldId id="864" r:id="rId61"/>
    <p:sldId id="865" r:id="rId62"/>
    <p:sldId id="888" r:id="rId63"/>
    <p:sldId id="866" r:id="rId64"/>
    <p:sldId id="867" r:id="rId65"/>
    <p:sldId id="889" r:id="rId66"/>
    <p:sldId id="868" r:id="rId67"/>
    <p:sldId id="869" r:id="rId68"/>
    <p:sldId id="890" r:id="rId69"/>
    <p:sldId id="870" r:id="rId70"/>
    <p:sldId id="871" r:id="rId71"/>
    <p:sldId id="891" r:id="rId72"/>
    <p:sldId id="872" r:id="rId73"/>
    <p:sldId id="874" r:id="rId74"/>
    <p:sldId id="892" r:id="rId75"/>
    <p:sldId id="875" r:id="rId76"/>
    <p:sldId id="876" r:id="rId77"/>
    <p:sldId id="893" r:id="rId78"/>
    <p:sldId id="877" r:id="rId79"/>
    <p:sldId id="879" r:id="rId80"/>
    <p:sldId id="894" r:id="rId81"/>
    <p:sldId id="895" r:id="rId82"/>
    <p:sldId id="812" r:id="rId83"/>
  </p:sldIdLst>
  <p:sldSz cx="14400213" cy="71993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37D"/>
    <a:srgbClr val="DBECF1"/>
    <a:srgbClr val="8DC4D2"/>
    <a:srgbClr val="1B96C7"/>
    <a:srgbClr val="4CD4FE"/>
    <a:srgbClr val="34B2E3"/>
    <a:srgbClr val="128FB6"/>
    <a:srgbClr val="1398C3"/>
    <a:srgbClr val="6DDBFE"/>
    <a:srgbClr val="68B1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660"/>
  </p:normalViewPr>
  <p:slideViewPr>
    <p:cSldViewPr snapToGrid="0">
      <p:cViewPr varScale="1">
        <p:scale>
          <a:sx n="78" d="100"/>
          <a:sy n="78" d="100"/>
        </p:scale>
        <p:origin x="437" y="-115"/>
      </p:cViewPr>
      <p:guideLst>
        <p:guide orient="horz" pos="180"/>
        <p:guide pos="2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2FED91-682B-48B8-BCA0-40AF0DCC7E26}" type="doc">
      <dgm:prSet loTypeId="urn:microsoft.com/office/officeart/2005/8/layout/process1" loCatId="process" qsTypeId="urn:microsoft.com/office/officeart/2005/8/quickstyle/simple1" qsCatId="simple" csTypeId="urn:microsoft.com/office/officeart/2005/8/colors/accent4_2" csCatId="accent4" phldr="1"/>
      <dgm:spPr/>
    </dgm:pt>
    <dgm:pt modelId="{5395DAA2-D61F-4A65-9446-3AEA815A58EC}">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Check in code</a:t>
          </a:r>
        </a:p>
      </dgm:t>
    </dgm:pt>
    <dgm:pt modelId="{60A8164B-4064-4EBB-9A81-C4A9A632C229}" type="parTrans" cxnId="{6296C0C8-2A94-4C5A-805D-7F9CDC914C26}">
      <dgm:prSet/>
      <dgm:spPr/>
      <dgm:t>
        <a:bodyPr/>
        <a:lstStyle/>
        <a:p>
          <a:endParaRPr lang="en-US" sz="2000">
            <a:latin typeface="Amazon Ember" panose="02000000000000000000" pitchFamily="2" charset="0"/>
            <a:ea typeface="Amazon Ember" panose="02000000000000000000" pitchFamily="2" charset="0"/>
          </a:endParaRPr>
        </a:p>
      </dgm:t>
    </dgm:pt>
    <dgm:pt modelId="{4736C630-60A8-4D11-820B-D40E1902C825}" type="sibTrans" cxnId="{6296C0C8-2A94-4C5A-805D-7F9CDC914C26}">
      <dgm:prSet/>
      <dgm:spPr/>
      <dgm:t>
        <a:bodyPr/>
        <a:lstStyle/>
        <a:p>
          <a:endParaRPr lang="en-US" sz="2000">
            <a:latin typeface="Amazon Ember" panose="02000000000000000000" pitchFamily="2" charset="0"/>
            <a:ea typeface="Amazon Ember" panose="02000000000000000000" pitchFamily="2" charset="0"/>
          </a:endParaRPr>
        </a:p>
      </dgm:t>
    </dgm:pt>
    <dgm:pt modelId="{AEFA757B-9847-4BA3-BA74-62B9647C8725}">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Build code</a:t>
          </a:r>
        </a:p>
      </dgm:t>
    </dgm:pt>
    <dgm:pt modelId="{AAE82DF4-EC20-40FF-8DB1-EA6B86C1E765}" type="parTrans" cxnId="{0D45B6EC-7375-4232-8A15-76C3D9A9C17E}">
      <dgm:prSet/>
      <dgm:spPr/>
      <dgm:t>
        <a:bodyPr/>
        <a:lstStyle/>
        <a:p>
          <a:endParaRPr lang="en-US" sz="2000">
            <a:latin typeface="Amazon Ember" panose="02000000000000000000" pitchFamily="2" charset="0"/>
            <a:ea typeface="Amazon Ember" panose="02000000000000000000" pitchFamily="2" charset="0"/>
          </a:endParaRPr>
        </a:p>
      </dgm:t>
    </dgm:pt>
    <dgm:pt modelId="{B8F456AD-AD87-41B1-A8D2-F01EFE166D92}" type="sibTrans" cxnId="{0D45B6EC-7375-4232-8A15-76C3D9A9C17E}">
      <dgm:prSet/>
      <dgm:spPr/>
      <dgm:t>
        <a:bodyPr/>
        <a:lstStyle/>
        <a:p>
          <a:endParaRPr lang="en-US" sz="2000">
            <a:latin typeface="Amazon Ember" panose="02000000000000000000" pitchFamily="2" charset="0"/>
            <a:ea typeface="Amazon Ember" panose="02000000000000000000" pitchFamily="2" charset="0"/>
          </a:endParaRPr>
        </a:p>
      </dgm:t>
    </dgm:pt>
    <dgm:pt modelId="{8DC4C9A1-8E0B-4184-8071-5BC9443A95F5}">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Deploy </a:t>
          </a:r>
        </a:p>
      </dgm:t>
    </dgm:pt>
    <dgm:pt modelId="{81415BC3-17A6-4D61-B163-3CF23F1D6F83}" type="parTrans" cxnId="{21BC3089-2BF7-4B1F-871D-1410EB606550}">
      <dgm:prSet/>
      <dgm:spPr/>
      <dgm:t>
        <a:bodyPr/>
        <a:lstStyle/>
        <a:p>
          <a:endParaRPr lang="en-US" sz="2000">
            <a:latin typeface="Amazon Ember" panose="02000000000000000000" pitchFamily="2" charset="0"/>
            <a:ea typeface="Amazon Ember" panose="02000000000000000000" pitchFamily="2" charset="0"/>
          </a:endParaRPr>
        </a:p>
      </dgm:t>
    </dgm:pt>
    <dgm:pt modelId="{84765599-D534-436E-8567-91FEE84120A8}" type="sibTrans" cxnId="{21BC3089-2BF7-4B1F-871D-1410EB606550}">
      <dgm:prSet/>
      <dgm:spPr/>
      <dgm:t>
        <a:bodyPr/>
        <a:lstStyle/>
        <a:p>
          <a:endParaRPr lang="en-US" sz="2000">
            <a:latin typeface="Amazon Ember" panose="02000000000000000000" pitchFamily="2" charset="0"/>
            <a:ea typeface="Amazon Ember" panose="02000000000000000000" pitchFamily="2" charset="0"/>
          </a:endParaRPr>
        </a:p>
      </dgm:t>
    </dgm:pt>
    <dgm:pt modelId="{C74B5EC4-B760-41D4-8576-74D015E7A380}">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Test code</a:t>
          </a:r>
        </a:p>
      </dgm:t>
    </dgm:pt>
    <dgm:pt modelId="{593CA16B-E269-4B5D-923F-393DC1B2BF62}" type="parTrans" cxnId="{2F15FBFD-19AD-4527-AA0B-4F58DB7D9627}">
      <dgm:prSet/>
      <dgm:spPr/>
      <dgm:t>
        <a:bodyPr/>
        <a:lstStyle/>
        <a:p>
          <a:endParaRPr lang="en-US" sz="2000">
            <a:latin typeface="Amazon Ember" panose="02000000000000000000" pitchFamily="2" charset="0"/>
            <a:ea typeface="Amazon Ember" panose="02000000000000000000" pitchFamily="2" charset="0"/>
          </a:endParaRPr>
        </a:p>
      </dgm:t>
    </dgm:pt>
    <dgm:pt modelId="{C1CCD88D-73EC-4EC4-9B71-B65093988B07}" type="sibTrans" cxnId="{2F15FBFD-19AD-4527-AA0B-4F58DB7D9627}">
      <dgm:prSet/>
      <dgm:spPr/>
      <dgm:t>
        <a:bodyPr/>
        <a:lstStyle/>
        <a:p>
          <a:endParaRPr lang="en-US" sz="2000">
            <a:latin typeface="Amazon Ember" panose="02000000000000000000" pitchFamily="2" charset="0"/>
            <a:ea typeface="Amazon Ember" panose="02000000000000000000" pitchFamily="2" charset="0"/>
          </a:endParaRPr>
        </a:p>
      </dgm:t>
    </dgm:pt>
    <dgm:pt modelId="{87302F26-CCC0-47EE-A60E-EB6E705AE21C}">
      <dgm:prSet phldrT="[Text]" custT="1"/>
      <dgm:spPr/>
      <dgm:t>
        <a:bodyPr/>
        <a:lstStyle/>
        <a:p>
          <a:r>
            <a:rPr lang="en-US" sz="2000" b="0">
              <a:solidFill>
                <a:schemeClr val="tx1"/>
              </a:solidFill>
              <a:latin typeface="Amazon Ember" panose="02000000000000000000" pitchFamily="2" charset="0"/>
              <a:ea typeface="Amazon Ember" panose="02000000000000000000" pitchFamily="2" charset="0"/>
            </a:rPr>
            <a:t>Monitor</a:t>
          </a:r>
          <a:endParaRPr lang="en-US" sz="2000" b="0" dirty="0">
            <a:solidFill>
              <a:schemeClr val="tx1"/>
            </a:solidFill>
            <a:latin typeface="Amazon Ember" panose="02000000000000000000" pitchFamily="2" charset="0"/>
            <a:ea typeface="Amazon Ember" panose="02000000000000000000" pitchFamily="2" charset="0"/>
          </a:endParaRPr>
        </a:p>
      </dgm:t>
    </dgm:pt>
    <dgm:pt modelId="{67DA9D37-0AF4-402C-B782-02840CEB0EEC}" type="parTrans" cxnId="{BB724E0D-179F-43F9-933E-67155CACC6FE}">
      <dgm:prSet/>
      <dgm:spPr/>
      <dgm:t>
        <a:bodyPr/>
        <a:lstStyle/>
        <a:p>
          <a:endParaRPr lang="en-US" sz="2000">
            <a:latin typeface="Amazon Ember" panose="02000000000000000000" pitchFamily="2" charset="0"/>
            <a:ea typeface="Amazon Ember" panose="02000000000000000000" pitchFamily="2" charset="0"/>
          </a:endParaRPr>
        </a:p>
      </dgm:t>
    </dgm:pt>
    <dgm:pt modelId="{4C408084-BB69-45F6-868D-E2A9CB2F4F1A}" type="sibTrans" cxnId="{BB724E0D-179F-43F9-933E-67155CACC6FE}">
      <dgm:prSet/>
      <dgm:spPr/>
      <dgm:t>
        <a:bodyPr/>
        <a:lstStyle/>
        <a:p>
          <a:endParaRPr lang="en-US" sz="2000">
            <a:latin typeface="Amazon Ember" panose="02000000000000000000" pitchFamily="2" charset="0"/>
            <a:ea typeface="Amazon Ember" panose="02000000000000000000" pitchFamily="2" charset="0"/>
          </a:endParaRPr>
        </a:p>
      </dgm:t>
    </dgm:pt>
    <dgm:pt modelId="{65A13C10-2A75-4E6D-BB85-4327CB830842}">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Develop Code</a:t>
          </a:r>
        </a:p>
      </dgm:t>
    </dgm:pt>
    <dgm:pt modelId="{CDB5204A-FDA6-4701-878C-7D93AEA9DEC7}" type="parTrans" cxnId="{9313BC91-B199-4771-A527-60BF67E6D8C3}">
      <dgm:prSet/>
      <dgm:spPr/>
      <dgm:t>
        <a:bodyPr/>
        <a:lstStyle/>
        <a:p>
          <a:endParaRPr lang="en-US"/>
        </a:p>
      </dgm:t>
    </dgm:pt>
    <dgm:pt modelId="{271A21AA-63FB-4021-8FA1-B78CCE803535}" type="sibTrans" cxnId="{9313BC91-B199-4771-A527-60BF67E6D8C3}">
      <dgm:prSet/>
      <dgm:spPr/>
      <dgm:t>
        <a:bodyPr/>
        <a:lstStyle/>
        <a:p>
          <a:endParaRPr lang="en-US"/>
        </a:p>
      </dgm:t>
    </dgm:pt>
    <dgm:pt modelId="{7C45A338-E3EF-493F-B560-3C1DFAFEA6A0}" type="pres">
      <dgm:prSet presAssocID="{712FED91-682B-48B8-BCA0-40AF0DCC7E26}" presName="Name0" presStyleCnt="0">
        <dgm:presLayoutVars>
          <dgm:dir/>
          <dgm:resizeHandles val="exact"/>
        </dgm:presLayoutVars>
      </dgm:prSet>
      <dgm:spPr/>
    </dgm:pt>
    <dgm:pt modelId="{F008A754-164B-447F-A4A1-D606D1B5D619}" type="pres">
      <dgm:prSet presAssocID="{65A13C10-2A75-4E6D-BB85-4327CB830842}" presName="node" presStyleLbl="node1" presStyleIdx="0" presStyleCnt="6">
        <dgm:presLayoutVars>
          <dgm:bulletEnabled val="1"/>
        </dgm:presLayoutVars>
      </dgm:prSet>
      <dgm:spPr/>
    </dgm:pt>
    <dgm:pt modelId="{95417490-B1C6-4F69-BB74-7DED4CDC458B}" type="pres">
      <dgm:prSet presAssocID="{271A21AA-63FB-4021-8FA1-B78CCE803535}" presName="sibTrans" presStyleLbl="sibTrans2D1" presStyleIdx="0" presStyleCnt="5"/>
      <dgm:spPr/>
    </dgm:pt>
    <dgm:pt modelId="{E5F75C52-A2AB-439A-A630-92C3C556859B}" type="pres">
      <dgm:prSet presAssocID="{271A21AA-63FB-4021-8FA1-B78CCE803535}" presName="connectorText" presStyleLbl="sibTrans2D1" presStyleIdx="0" presStyleCnt="5"/>
      <dgm:spPr/>
    </dgm:pt>
    <dgm:pt modelId="{1753935D-D092-4D4F-BD2F-EC88CD88A4AB}" type="pres">
      <dgm:prSet presAssocID="{5395DAA2-D61F-4A65-9446-3AEA815A58EC}" presName="node" presStyleLbl="node1" presStyleIdx="1" presStyleCnt="6">
        <dgm:presLayoutVars>
          <dgm:bulletEnabled val="1"/>
        </dgm:presLayoutVars>
      </dgm:prSet>
      <dgm:spPr/>
    </dgm:pt>
    <dgm:pt modelId="{2D2A76D4-3EC9-4D66-9D33-638A54A0B1FF}" type="pres">
      <dgm:prSet presAssocID="{4736C630-60A8-4D11-820B-D40E1902C825}" presName="sibTrans" presStyleLbl="sibTrans2D1" presStyleIdx="1" presStyleCnt="5"/>
      <dgm:spPr/>
    </dgm:pt>
    <dgm:pt modelId="{16ABB1B8-F88E-40AD-AA73-C35C0F7763DF}" type="pres">
      <dgm:prSet presAssocID="{4736C630-60A8-4D11-820B-D40E1902C825}" presName="connectorText" presStyleLbl="sibTrans2D1" presStyleIdx="1" presStyleCnt="5"/>
      <dgm:spPr/>
    </dgm:pt>
    <dgm:pt modelId="{D844860D-B9CF-4484-823B-635D81C9E67A}" type="pres">
      <dgm:prSet presAssocID="{AEFA757B-9847-4BA3-BA74-62B9647C8725}" presName="node" presStyleLbl="node1" presStyleIdx="2" presStyleCnt="6">
        <dgm:presLayoutVars>
          <dgm:bulletEnabled val="1"/>
        </dgm:presLayoutVars>
      </dgm:prSet>
      <dgm:spPr/>
    </dgm:pt>
    <dgm:pt modelId="{5AD54F1A-AAC1-42D3-B1BE-DCF43F8ED1EC}" type="pres">
      <dgm:prSet presAssocID="{B8F456AD-AD87-41B1-A8D2-F01EFE166D92}" presName="sibTrans" presStyleLbl="sibTrans2D1" presStyleIdx="2" presStyleCnt="5"/>
      <dgm:spPr/>
    </dgm:pt>
    <dgm:pt modelId="{8BF6665C-01EC-48BC-87D6-CDE1E4C34F25}" type="pres">
      <dgm:prSet presAssocID="{B8F456AD-AD87-41B1-A8D2-F01EFE166D92}" presName="connectorText" presStyleLbl="sibTrans2D1" presStyleIdx="2" presStyleCnt="5"/>
      <dgm:spPr/>
    </dgm:pt>
    <dgm:pt modelId="{62354D95-54B3-4919-A357-E2FE93C5E0A6}" type="pres">
      <dgm:prSet presAssocID="{C74B5EC4-B760-41D4-8576-74D015E7A380}" presName="node" presStyleLbl="node1" presStyleIdx="3" presStyleCnt="6">
        <dgm:presLayoutVars>
          <dgm:bulletEnabled val="1"/>
        </dgm:presLayoutVars>
      </dgm:prSet>
      <dgm:spPr/>
    </dgm:pt>
    <dgm:pt modelId="{A92043C0-BBE8-4B16-AF96-964AD1877971}" type="pres">
      <dgm:prSet presAssocID="{C1CCD88D-73EC-4EC4-9B71-B65093988B07}" presName="sibTrans" presStyleLbl="sibTrans2D1" presStyleIdx="3" presStyleCnt="5"/>
      <dgm:spPr/>
    </dgm:pt>
    <dgm:pt modelId="{F5026661-E09E-4134-8812-A9706DA49165}" type="pres">
      <dgm:prSet presAssocID="{C1CCD88D-73EC-4EC4-9B71-B65093988B07}" presName="connectorText" presStyleLbl="sibTrans2D1" presStyleIdx="3" presStyleCnt="5"/>
      <dgm:spPr/>
    </dgm:pt>
    <dgm:pt modelId="{A3DC5054-BB4F-42F3-AB47-5AF714810554}" type="pres">
      <dgm:prSet presAssocID="{8DC4C9A1-8E0B-4184-8071-5BC9443A95F5}" presName="node" presStyleLbl="node1" presStyleIdx="4" presStyleCnt="6">
        <dgm:presLayoutVars>
          <dgm:bulletEnabled val="1"/>
        </dgm:presLayoutVars>
      </dgm:prSet>
      <dgm:spPr/>
    </dgm:pt>
    <dgm:pt modelId="{140FECA4-5206-47C1-8DA8-7F4EE798514B}" type="pres">
      <dgm:prSet presAssocID="{84765599-D534-436E-8567-91FEE84120A8}" presName="sibTrans" presStyleLbl="sibTrans2D1" presStyleIdx="4" presStyleCnt="5"/>
      <dgm:spPr/>
    </dgm:pt>
    <dgm:pt modelId="{53369A9D-456A-4BEC-AF1C-F7E1CD7CDBD7}" type="pres">
      <dgm:prSet presAssocID="{84765599-D534-436E-8567-91FEE84120A8}" presName="connectorText" presStyleLbl="sibTrans2D1" presStyleIdx="4" presStyleCnt="5"/>
      <dgm:spPr/>
    </dgm:pt>
    <dgm:pt modelId="{19112ABE-7AD1-443E-8DEA-88F84DF471AE}" type="pres">
      <dgm:prSet presAssocID="{87302F26-CCC0-47EE-A60E-EB6E705AE21C}" presName="node" presStyleLbl="node1" presStyleIdx="5" presStyleCnt="6">
        <dgm:presLayoutVars>
          <dgm:bulletEnabled val="1"/>
        </dgm:presLayoutVars>
      </dgm:prSet>
      <dgm:spPr/>
    </dgm:pt>
  </dgm:ptLst>
  <dgm:cxnLst>
    <dgm:cxn modelId="{BB724E0D-179F-43F9-933E-67155CACC6FE}" srcId="{712FED91-682B-48B8-BCA0-40AF0DCC7E26}" destId="{87302F26-CCC0-47EE-A60E-EB6E705AE21C}" srcOrd="5" destOrd="0" parTransId="{67DA9D37-0AF4-402C-B782-02840CEB0EEC}" sibTransId="{4C408084-BB69-45F6-868D-E2A9CB2F4F1A}"/>
    <dgm:cxn modelId="{17A88C0F-4AB5-448A-AEE5-6DE7238B3889}" type="presOf" srcId="{271A21AA-63FB-4021-8FA1-B78CCE803535}" destId="{E5F75C52-A2AB-439A-A630-92C3C556859B}" srcOrd="1" destOrd="0" presId="urn:microsoft.com/office/officeart/2005/8/layout/process1"/>
    <dgm:cxn modelId="{DE73C411-4A49-450C-B379-1F27C946E2B1}" type="presOf" srcId="{84765599-D534-436E-8567-91FEE84120A8}" destId="{140FECA4-5206-47C1-8DA8-7F4EE798514B}" srcOrd="0" destOrd="0" presId="urn:microsoft.com/office/officeart/2005/8/layout/process1"/>
    <dgm:cxn modelId="{B780B715-1355-4379-9CC1-3C3B87058F2A}" type="presOf" srcId="{65A13C10-2A75-4E6D-BB85-4327CB830842}" destId="{F008A754-164B-447F-A4A1-D606D1B5D619}" srcOrd="0" destOrd="0" presId="urn:microsoft.com/office/officeart/2005/8/layout/process1"/>
    <dgm:cxn modelId="{D505921B-A29A-484D-9849-6EFD3959EE4B}" type="presOf" srcId="{712FED91-682B-48B8-BCA0-40AF0DCC7E26}" destId="{7C45A338-E3EF-493F-B560-3C1DFAFEA6A0}" srcOrd="0" destOrd="0" presId="urn:microsoft.com/office/officeart/2005/8/layout/process1"/>
    <dgm:cxn modelId="{0475DC21-4EE1-49AE-9DCA-3AFF01B43CD8}" type="presOf" srcId="{84765599-D534-436E-8567-91FEE84120A8}" destId="{53369A9D-456A-4BEC-AF1C-F7E1CD7CDBD7}" srcOrd="1" destOrd="0" presId="urn:microsoft.com/office/officeart/2005/8/layout/process1"/>
    <dgm:cxn modelId="{F579213A-919E-4431-8691-42609260B10B}" type="presOf" srcId="{8DC4C9A1-8E0B-4184-8071-5BC9443A95F5}" destId="{A3DC5054-BB4F-42F3-AB47-5AF714810554}" srcOrd="0" destOrd="0" presId="urn:microsoft.com/office/officeart/2005/8/layout/process1"/>
    <dgm:cxn modelId="{DF149545-BD22-43F4-82A7-40884DBB2DD6}" type="presOf" srcId="{AEFA757B-9847-4BA3-BA74-62B9647C8725}" destId="{D844860D-B9CF-4484-823B-635D81C9E67A}" srcOrd="0" destOrd="0" presId="urn:microsoft.com/office/officeart/2005/8/layout/process1"/>
    <dgm:cxn modelId="{E70AF172-FDB8-4B93-A48A-759884934074}" type="presOf" srcId="{B8F456AD-AD87-41B1-A8D2-F01EFE166D92}" destId="{8BF6665C-01EC-48BC-87D6-CDE1E4C34F25}" srcOrd="1" destOrd="0" presId="urn:microsoft.com/office/officeart/2005/8/layout/process1"/>
    <dgm:cxn modelId="{06E6F474-4A5E-4BA2-8D0A-E68CDFD0EED9}" type="presOf" srcId="{4736C630-60A8-4D11-820B-D40E1902C825}" destId="{2D2A76D4-3EC9-4D66-9D33-638A54A0B1FF}" srcOrd="0" destOrd="0" presId="urn:microsoft.com/office/officeart/2005/8/layout/process1"/>
    <dgm:cxn modelId="{D99B735A-FCEB-4F20-BB1B-2E206879C1F0}" type="presOf" srcId="{C74B5EC4-B760-41D4-8576-74D015E7A380}" destId="{62354D95-54B3-4919-A357-E2FE93C5E0A6}" srcOrd="0" destOrd="0" presId="urn:microsoft.com/office/officeart/2005/8/layout/process1"/>
    <dgm:cxn modelId="{21BC3089-2BF7-4B1F-871D-1410EB606550}" srcId="{712FED91-682B-48B8-BCA0-40AF0DCC7E26}" destId="{8DC4C9A1-8E0B-4184-8071-5BC9443A95F5}" srcOrd="4" destOrd="0" parTransId="{81415BC3-17A6-4D61-B163-3CF23F1D6F83}" sibTransId="{84765599-D534-436E-8567-91FEE84120A8}"/>
    <dgm:cxn modelId="{9313BC91-B199-4771-A527-60BF67E6D8C3}" srcId="{712FED91-682B-48B8-BCA0-40AF0DCC7E26}" destId="{65A13C10-2A75-4E6D-BB85-4327CB830842}" srcOrd="0" destOrd="0" parTransId="{CDB5204A-FDA6-4701-878C-7D93AEA9DEC7}" sibTransId="{271A21AA-63FB-4021-8FA1-B78CCE803535}"/>
    <dgm:cxn modelId="{1AA89693-7588-4867-ADD1-3D1A391C89FF}" type="presOf" srcId="{5395DAA2-D61F-4A65-9446-3AEA815A58EC}" destId="{1753935D-D092-4D4F-BD2F-EC88CD88A4AB}" srcOrd="0" destOrd="0" presId="urn:microsoft.com/office/officeart/2005/8/layout/process1"/>
    <dgm:cxn modelId="{6296C0C8-2A94-4C5A-805D-7F9CDC914C26}" srcId="{712FED91-682B-48B8-BCA0-40AF0DCC7E26}" destId="{5395DAA2-D61F-4A65-9446-3AEA815A58EC}" srcOrd="1" destOrd="0" parTransId="{60A8164B-4064-4EBB-9A81-C4A9A632C229}" sibTransId="{4736C630-60A8-4D11-820B-D40E1902C825}"/>
    <dgm:cxn modelId="{34A0B7C9-306E-4567-ADEA-75677C1FDBCA}" type="presOf" srcId="{C1CCD88D-73EC-4EC4-9B71-B65093988B07}" destId="{A92043C0-BBE8-4B16-AF96-964AD1877971}" srcOrd="0" destOrd="0" presId="urn:microsoft.com/office/officeart/2005/8/layout/process1"/>
    <dgm:cxn modelId="{13C8A2CC-5FDA-40D1-94F3-B98B2DCD738C}" type="presOf" srcId="{C1CCD88D-73EC-4EC4-9B71-B65093988B07}" destId="{F5026661-E09E-4134-8812-A9706DA49165}" srcOrd="1" destOrd="0" presId="urn:microsoft.com/office/officeart/2005/8/layout/process1"/>
    <dgm:cxn modelId="{40135CCF-68F6-4B11-BBDA-444B049D8BE7}" type="presOf" srcId="{87302F26-CCC0-47EE-A60E-EB6E705AE21C}" destId="{19112ABE-7AD1-443E-8DEA-88F84DF471AE}" srcOrd="0" destOrd="0" presId="urn:microsoft.com/office/officeart/2005/8/layout/process1"/>
    <dgm:cxn modelId="{EAEA29D5-6FFD-4CEC-898B-44A432788FDA}" type="presOf" srcId="{4736C630-60A8-4D11-820B-D40E1902C825}" destId="{16ABB1B8-F88E-40AD-AA73-C35C0F7763DF}" srcOrd="1" destOrd="0" presId="urn:microsoft.com/office/officeart/2005/8/layout/process1"/>
    <dgm:cxn modelId="{30FB45E0-8C41-4434-89A2-6814D7D6D778}" type="presOf" srcId="{B8F456AD-AD87-41B1-A8D2-F01EFE166D92}" destId="{5AD54F1A-AAC1-42D3-B1BE-DCF43F8ED1EC}" srcOrd="0" destOrd="0" presId="urn:microsoft.com/office/officeart/2005/8/layout/process1"/>
    <dgm:cxn modelId="{0D45B6EC-7375-4232-8A15-76C3D9A9C17E}" srcId="{712FED91-682B-48B8-BCA0-40AF0DCC7E26}" destId="{AEFA757B-9847-4BA3-BA74-62B9647C8725}" srcOrd="2" destOrd="0" parTransId="{AAE82DF4-EC20-40FF-8DB1-EA6B86C1E765}" sibTransId="{B8F456AD-AD87-41B1-A8D2-F01EFE166D92}"/>
    <dgm:cxn modelId="{D402D7EE-B610-497E-9B72-4DDC25234F65}" type="presOf" srcId="{271A21AA-63FB-4021-8FA1-B78CCE803535}" destId="{95417490-B1C6-4F69-BB74-7DED4CDC458B}" srcOrd="0" destOrd="0" presId="urn:microsoft.com/office/officeart/2005/8/layout/process1"/>
    <dgm:cxn modelId="{2F15FBFD-19AD-4527-AA0B-4F58DB7D9627}" srcId="{712FED91-682B-48B8-BCA0-40AF0DCC7E26}" destId="{C74B5EC4-B760-41D4-8576-74D015E7A380}" srcOrd="3" destOrd="0" parTransId="{593CA16B-E269-4B5D-923F-393DC1B2BF62}" sibTransId="{C1CCD88D-73EC-4EC4-9B71-B65093988B07}"/>
    <dgm:cxn modelId="{EB97F775-1718-498C-A342-E5530A119DAF}" type="presParOf" srcId="{7C45A338-E3EF-493F-B560-3C1DFAFEA6A0}" destId="{F008A754-164B-447F-A4A1-D606D1B5D619}" srcOrd="0" destOrd="0" presId="urn:microsoft.com/office/officeart/2005/8/layout/process1"/>
    <dgm:cxn modelId="{5D64BC29-B019-4833-8E63-9AC53D413882}" type="presParOf" srcId="{7C45A338-E3EF-493F-B560-3C1DFAFEA6A0}" destId="{95417490-B1C6-4F69-BB74-7DED4CDC458B}" srcOrd="1" destOrd="0" presId="urn:microsoft.com/office/officeart/2005/8/layout/process1"/>
    <dgm:cxn modelId="{0E0E26CF-A841-49EF-8BDA-2963C64D2527}" type="presParOf" srcId="{95417490-B1C6-4F69-BB74-7DED4CDC458B}" destId="{E5F75C52-A2AB-439A-A630-92C3C556859B}" srcOrd="0" destOrd="0" presId="urn:microsoft.com/office/officeart/2005/8/layout/process1"/>
    <dgm:cxn modelId="{E03A719D-9BE9-44AF-BE72-3A2EAE26DC2A}" type="presParOf" srcId="{7C45A338-E3EF-493F-B560-3C1DFAFEA6A0}" destId="{1753935D-D092-4D4F-BD2F-EC88CD88A4AB}" srcOrd="2" destOrd="0" presId="urn:microsoft.com/office/officeart/2005/8/layout/process1"/>
    <dgm:cxn modelId="{B7939912-6545-4C01-8C71-B61729ED4AB9}" type="presParOf" srcId="{7C45A338-E3EF-493F-B560-3C1DFAFEA6A0}" destId="{2D2A76D4-3EC9-4D66-9D33-638A54A0B1FF}" srcOrd="3" destOrd="0" presId="urn:microsoft.com/office/officeart/2005/8/layout/process1"/>
    <dgm:cxn modelId="{347B8F62-3857-4289-BE2E-6FD150BA8D15}" type="presParOf" srcId="{2D2A76D4-3EC9-4D66-9D33-638A54A0B1FF}" destId="{16ABB1B8-F88E-40AD-AA73-C35C0F7763DF}" srcOrd="0" destOrd="0" presId="urn:microsoft.com/office/officeart/2005/8/layout/process1"/>
    <dgm:cxn modelId="{012DED4F-2F6D-431A-9E90-6E466B4A028F}" type="presParOf" srcId="{7C45A338-E3EF-493F-B560-3C1DFAFEA6A0}" destId="{D844860D-B9CF-4484-823B-635D81C9E67A}" srcOrd="4" destOrd="0" presId="urn:microsoft.com/office/officeart/2005/8/layout/process1"/>
    <dgm:cxn modelId="{EB533A63-8E71-4F35-AE5C-7B8C99D6209B}" type="presParOf" srcId="{7C45A338-E3EF-493F-B560-3C1DFAFEA6A0}" destId="{5AD54F1A-AAC1-42D3-B1BE-DCF43F8ED1EC}" srcOrd="5" destOrd="0" presId="urn:microsoft.com/office/officeart/2005/8/layout/process1"/>
    <dgm:cxn modelId="{E3664BBB-59E4-43F9-979B-91170E34F8A3}" type="presParOf" srcId="{5AD54F1A-AAC1-42D3-B1BE-DCF43F8ED1EC}" destId="{8BF6665C-01EC-48BC-87D6-CDE1E4C34F25}" srcOrd="0" destOrd="0" presId="urn:microsoft.com/office/officeart/2005/8/layout/process1"/>
    <dgm:cxn modelId="{493C39FA-A193-46D5-9F78-D20A9C1BADD7}" type="presParOf" srcId="{7C45A338-E3EF-493F-B560-3C1DFAFEA6A0}" destId="{62354D95-54B3-4919-A357-E2FE93C5E0A6}" srcOrd="6" destOrd="0" presId="urn:microsoft.com/office/officeart/2005/8/layout/process1"/>
    <dgm:cxn modelId="{EE022915-7C71-4C88-B4A3-4361A1EF250B}" type="presParOf" srcId="{7C45A338-E3EF-493F-B560-3C1DFAFEA6A0}" destId="{A92043C0-BBE8-4B16-AF96-964AD1877971}" srcOrd="7" destOrd="0" presId="urn:microsoft.com/office/officeart/2005/8/layout/process1"/>
    <dgm:cxn modelId="{8CD87283-EA13-4E7F-AB71-F0630A94757F}" type="presParOf" srcId="{A92043C0-BBE8-4B16-AF96-964AD1877971}" destId="{F5026661-E09E-4134-8812-A9706DA49165}" srcOrd="0" destOrd="0" presId="urn:microsoft.com/office/officeart/2005/8/layout/process1"/>
    <dgm:cxn modelId="{963FE514-9ED2-4AF7-B0E4-81AE6F2F9B42}" type="presParOf" srcId="{7C45A338-E3EF-493F-B560-3C1DFAFEA6A0}" destId="{A3DC5054-BB4F-42F3-AB47-5AF714810554}" srcOrd="8" destOrd="0" presId="urn:microsoft.com/office/officeart/2005/8/layout/process1"/>
    <dgm:cxn modelId="{01D1B21D-0929-4141-9E3D-DCE3F0FFF891}" type="presParOf" srcId="{7C45A338-E3EF-493F-B560-3C1DFAFEA6A0}" destId="{140FECA4-5206-47C1-8DA8-7F4EE798514B}" srcOrd="9" destOrd="0" presId="urn:microsoft.com/office/officeart/2005/8/layout/process1"/>
    <dgm:cxn modelId="{D25E3B1C-104C-422F-BB9C-1976955C75A8}" type="presParOf" srcId="{140FECA4-5206-47C1-8DA8-7F4EE798514B}" destId="{53369A9D-456A-4BEC-AF1C-F7E1CD7CDBD7}" srcOrd="0" destOrd="0" presId="urn:microsoft.com/office/officeart/2005/8/layout/process1"/>
    <dgm:cxn modelId="{78A07C1A-DEFB-44CA-84AF-803F01C1DE68}" type="presParOf" srcId="{7C45A338-E3EF-493F-B560-3C1DFAFEA6A0}" destId="{19112ABE-7AD1-443E-8DEA-88F84DF471A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2FED91-682B-48B8-BCA0-40AF0DCC7E26}" type="doc">
      <dgm:prSet loTypeId="urn:microsoft.com/office/officeart/2005/8/layout/process1" loCatId="process" qsTypeId="urn:microsoft.com/office/officeart/2005/8/quickstyle/simple1" qsCatId="simple" csTypeId="urn:microsoft.com/office/officeart/2005/8/colors/accent4_2" csCatId="accent4" phldr="1"/>
      <dgm:spPr/>
    </dgm:pt>
    <dgm:pt modelId="{5395DAA2-D61F-4A65-9446-3AEA815A58EC}">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Source code</a:t>
          </a:r>
        </a:p>
      </dgm:t>
    </dgm:pt>
    <dgm:pt modelId="{60A8164B-4064-4EBB-9A81-C4A9A632C229}" type="parTrans" cxnId="{6296C0C8-2A94-4C5A-805D-7F9CDC914C26}">
      <dgm:prSet/>
      <dgm:spPr/>
      <dgm:t>
        <a:bodyPr/>
        <a:lstStyle/>
        <a:p>
          <a:endParaRPr lang="en-US" sz="2000">
            <a:latin typeface="Amazon Ember" panose="02000000000000000000" pitchFamily="2" charset="0"/>
            <a:ea typeface="Amazon Ember" panose="02000000000000000000" pitchFamily="2" charset="0"/>
          </a:endParaRPr>
        </a:p>
      </dgm:t>
    </dgm:pt>
    <dgm:pt modelId="{4736C630-60A8-4D11-820B-D40E1902C825}" type="sibTrans" cxnId="{6296C0C8-2A94-4C5A-805D-7F9CDC914C26}">
      <dgm:prSet/>
      <dgm:spPr/>
      <dgm:t>
        <a:bodyPr/>
        <a:lstStyle/>
        <a:p>
          <a:endParaRPr lang="en-US" sz="2000">
            <a:latin typeface="Amazon Ember" panose="02000000000000000000" pitchFamily="2" charset="0"/>
            <a:ea typeface="Amazon Ember" panose="02000000000000000000" pitchFamily="2" charset="0"/>
          </a:endParaRPr>
        </a:p>
      </dgm:t>
    </dgm:pt>
    <dgm:pt modelId="{AEFA757B-9847-4BA3-BA74-62B9647C8725}">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Build code</a:t>
          </a:r>
        </a:p>
      </dgm:t>
    </dgm:pt>
    <dgm:pt modelId="{AAE82DF4-EC20-40FF-8DB1-EA6B86C1E765}" type="parTrans" cxnId="{0D45B6EC-7375-4232-8A15-76C3D9A9C17E}">
      <dgm:prSet/>
      <dgm:spPr/>
      <dgm:t>
        <a:bodyPr/>
        <a:lstStyle/>
        <a:p>
          <a:endParaRPr lang="en-US" sz="2000">
            <a:latin typeface="Amazon Ember" panose="02000000000000000000" pitchFamily="2" charset="0"/>
            <a:ea typeface="Amazon Ember" panose="02000000000000000000" pitchFamily="2" charset="0"/>
          </a:endParaRPr>
        </a:p>
      </dgm:t>
    </dgm:pt>
    <dgm:pt modelId="{B8F456AD-AD87-41B1-A8D2-F01EFE166D92}" type="sibTrans" cxnId="{0D45B6EC-7375-4232-8A15-76C3D9A9C17E}">
      <dgm:prSet/>
      <dgm:spPr/>
      <dgm:t>
        <a:bodyPr/>
        <a:lstStyle/>
        <a:p>
          <a:endParaRPr lang="en-US" sz="2000">
            <a:latin typeface="Amazon Ember" panose="02000000000000000000" pitchFamily="2" charset="0"/>
            <a:ea typeface="Amazon Ember" panose="02000000000000000000" pitchFamily="2" charset="0"/>
          </a:endParaRPr>
        </a:p>
      </dgm:t>
    </dgm:pt>
    <dgm:pt modelId="{8DC4C9A1-8E0B-4184-8071-5BC9443A95F5}">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Deploy </a:t>
          </a:r>
        </a:p>
      </dgm:t>
    </dgm:pt>
    <dgm:pt modelId="{81415BC3-17A6-4D61-B163-3CF23F1D6F83}" type="parTrans" cxnId="{21BC3089-2BF7-4B1F-871D-1410EB606550}">
      <dgm:prSet/>
      <dgm:spPr/>
      <dgm:t>
        <a:bodyPr/>
        <a:lstStyle/>
        <a:p>
          <a:endParaRPr lang="en-US" sz="2000">
            <a:latin typeface="Amazon Ember" panose="02000000000000000000" pitchFamily="2" charset="0"/>
            <a:ea typeface="Amazon Ember" panose="02000000000000000000" pitchFamily="2" charset="0"/>
          </a:endParaRPr>
        </a:p>
      </dgm:t>
    </dgm:pt>
    <dgm:pt modelId="{84765599-D534-436E-8567-91FEE84120A8}" type="sibTrans" cxnId="{21BC3089-2BF7-4B1F-871D-1410EB606550}">
      <dgm:prSet/>
      <dgm:spPr/>
      <dgm:t>
        <a:bodyPr/>
        <a:lstStyle/>
        <a:p>
          <a:endParaRPr lang="en-US" sz="2000">
            <a:latin typeface="Amazon Ember" panose="02000000000000000000" pitchFamily="2" charset="0"/>
            <a:ea typeface="Amazon Ember" panose="02000000000000000000" pitchFamily="2" charset="0"/>
          </a:endParaRPr>
        </a:p>
      </dgm:t>
    </dgm:pt>
    <dgm:pt modelId="{C74B5EC4-B760-41D4-8576-74D015E7A380}">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Test code</a:t>
          </a:r>
        </a:p>
      </dgm:t>
    </dgm:pt>
    <dgm:pt modelId="{593CA16B-E269-4B5D-923F-393DC1B2BF62}" type="parTrans" cxnId="{2F15FBFD-19AD-4527-AA0B-4F58DB7D9627}">
      <dgm:prSet/>
      <dgm:spPr/>
      <dgm:t>
        <a:bodyPr/>
        <a:lstStyle/>
        <a:p>
          <a:endParaRPr lang="en-US" sz="2000">
            <a:latin typeface="Amazon Ember" panose="02000000000000000000" pitchFamily="2" charset="0"/>
            <a:ea typeface="Amazon Ember" panose="02000000000000000000" pitchFamily="2" charset="0"/>
          </a:endParaRPr>
        </a:p>
      </dgm:t>
    </dgm:pt>
    <dgm:pt modelId="{C1CCD88D-73EC-4EC4-9B71-B65093988B07}" type="sibTrans" cxnId="{2F15FBFD-19AD-4527-AA0B-4F58DB7D9627}">
      <dgm:prSet/>
      <dgm:spPr/>
      <dgm:t>
        <a:bodyPr/>
        <a:lstStyle/>
        <a:p>
          <a:endParaRPr lang="en-US" sz="2000">
            <a:latin typeface="Amazon Ember" panose="02000000000000000000" pitchFamily="2" charset="0"/>
            <a:ea typeface="Amazon Ember" panose="02000000000000000000" pitchFamily="2" charset="0"/>
          </a:endParaRPr>
        </a:p>
      </dgm:t>
    </dgm:pt>
    <dgm:pt modelId="{87302F26-CCC0-47EE-A60E-EB6E705AE21C}">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Monitor</a:t>
          </a:r>
        </a:p>
      </dgm:t>
    </dgm:pt>
    <dgm:pt modelId="{67DA9D37-0AF4-402C-B782-02840CEB0EEC}" type="parTrans" cxnId="{BB724E0D-179F-43F9-933E-67155CACC6FE}">
      <dgm:prSet/>
      <dgm:spPr/>
      <dgm:t>
        <a:bodyPr/>
        <a:lstStyle/>
        <a:p>
          <a:endParaRPr lang="en-US" sz="2000">
            <a:latin typeface="Amazon Ember" panose="02000000000000000000" pitchFamily="2" charset="0"/>
            <a:ea typeface="Amazon Ember" panose="02000000000000000000" pitchFamily="2" charset="0"/>
          </a:endParaRPr>
        </a:p>
      </dgm:t>
    </dgm:pt>
    <dgm:pt modelId="{4C408084-BB69-45F6-868D-E2A9CB2F4F1A}" type="sibTrans" cxnId="{BB724E0D-179F-43F9-933E-67155CACC6FE}">
      <dgm:prSet/>
      <dgm:spPr/>
      <dgm:t>
        <a:bodyPr/>
        <a:lstStyle/>
        <a:p>
          <a:endParaRPr lang="en-US" sz="2000">
            <a:latin typeface="Amazon Ember" panose="02000000000000000000" pitchFamily="2" charset="0"/>
            <a:ea typeface="Amazon Ember" panose="02000000000000000000" pitchFamily="2" charset="0"/>
          </a:endParaRPr>
        </a:p>
      </dgm:t>
    </dgm:pt>
    <dgm:pt modelId="{65A13C10-2A75-4E6D-BB85-4327CB830842}">
      <dgm:prSet phldrT="[Text]" custT="1"/>
      <dgm:spPr/>
      <dgm:t>
        <a:bodyPr/>
        <a:lstStyle/>
        <a:p>
          <a:r>
            <a:rPr lang="en-US" sz="2000" b="0" dirty="0">
              <a:solidFill>
                <a:schemeClr val="tx1"/>
              </a:solidFill>
              <a:latin typeface="Amazon Ember" panose="02000000000000000000" pitchFamily="2" charset="0"/>
              <a:ea typeface="Amazon Ember" panose="02000000000000000000" pitchFamily="2" charset="0"/>
            </a:rPr>
            <a:t>Develop Code</a:t>
          </a:r>
        </a:p>
      </dgm:t>
    </dgm:pt>
    <dgm:pt modelId="{CDB5204A-FDA6-4701-878C-7D93AEA9DEC7}" type="parTrans" cxnId="{9313BC91-B199-4771-A527-60BF67E6D8C3}">
      <dgm:prSet/>
      <dgm:spPr/>
      <dgm:t>
        <a:bodyPr/>
        <a:lstStyle/>
        <a:p>
          <a:endParaRPr lang="en-US"/>
        </a:p>
      </dgm:t>
    </dgm:pt>
    <dgm:pt modelId="{271A21AA-63FB-4021-8FA1-B78CCE803535}" type="sibTrans" cxnId="{9313BC91-B199-4771-A527-60BF67E6D8C3}">
      <dgm:prSet/>
      <dgm:spPr/>
      <dgm:t>
        <a:bodyPr/>
        <a:lstStyle/>
        <a:p>
          <a:endParaRPr lang="en-US"/>
        </a:p>
      </dgm:t>
    </dgm:pt>
    <dgm:pt modelId="{7C45A338-E3EF-493F-B560-3C1DFAFEA6A0}" type="pres">
      <dgm:prSet presAssocID="{712FED91-682B-48B8-BCA0-40AF0DCC7E26}" presName="Name0" presStyleCnt="0">
        <dgm:presLayoutVars>
          <dgm:dir/>
          <dgm:resizeHandles val="exact"/>
        </dgm:presLayoutVars>
      </dgm:prSet>
      <dgm:spPr/>
    </dgm:pt>
    <dgm:pt modelId="{F008A754-164B-447F-A4A1-D606D1B5D619}" type="pres">
      <dgm:prSet presAssocID="{65A13C10-2A75-4E6D-BB85-4327CB830842}" presName="node" presStyleLbl="node1" presStyleIdx="0" presStyleCnt="6">
        <dgm:presLayoutVars>
          <dgm:bulletEnabled val="1"/>
        </dgm:presLayoutVars>
      </dgm:prSet>
      <dgm:spPr/>
    </dgm:pt>
    <dgm:pt modelId="{95417490-B1C6-4F69-BB74-7DED4CDC458B}" type="pres">
      <dgm:prSet presAssocID="{271A21AA-63FB-4021-8FA1-B78CCE803535}" presName="sibTrans" presStyleLbl="sibTrans2D1" presStyleIdx="0" presStyleCnt="5"/>
      <dgm:spPr/>
    </dgm:pt>
    <dgm:pt modelId="{E5F75C52-A2AB-439A-A630-92C3C556859B}" type="pres">
      <dgm:prSet presAssocID="{271A21AA-63FB-4021-8FA1-B78CCE803535}" presName="connectorText" presStyleLbl="sibTrans2D1" presStyleIdx="0" presStyleCnt="5"/>
      <dgm:spPr/>
    </dgm:pt>
    <dgm:pt modelId="{1753935D-D092-4D4F-BD2F-EC88CD88A4AB}" type="pres">
      <dgm:prSet presAssocID="{5395DAA2-D61F-4A65-9446-3AEA815A58EC}" presName="node" presStyleLbl="node1" presStyleIdx="1" presStyleCnt="6">
        <dgm:presLayoutVars>
          <dgm:bulletEnabled val="1"/>
        </dgm:presLayoutVars>
      </dgm:prSet>
      <dgm:spPr/>
    </dgm:pt>
    <dgm:pt modelId="{2D2A76D4-3EC9-4D66-9D33-638A54A0B1FF}" type="pres">
      <dgm:prSet presAssocID="{4736C630-60A8-4D11-820B-D40E1902C825}" presName="sibTrans" presStyleLbl="sibTrans2D1" presStyleIdx="1" presStyleCnt="5"/>
      <dgm:spPr/>
    </dgm:pt>
    <dgm:pt modelId="{16ABB1B8-F88E-40AD-AA73-C35C0F7763DF}" type="pres">
      <dgm:prSet presAssocID="{4736C630-60A8-4D11-820B-D40E1902C825}" presName="connectorText" presStyleLbl="sibTrans2D1" presStyleIdx="1" presStyleCnt="5"/>
      <dgm:spPr/>
    </dgm:pt>
    <dgm:pt modelId="{D844860D-B9CF-4484-823B-635D81C9E67A}" type="pres">
      <dgm:prSet presAssocID="{AEFA757B-9847-4BA3-BA74-62B9647C8725}" presName="node" presStyleLbl="node1" presStyleIdx="2" presStyleCnt="6">
        <dgm:presLayoutVars>
          <dgm:bulletEnabled val="1"/>
        </dgm:presLayoutVars>
      </dgm:prSet>
      <dgm:spPr/>
    </dgm:pt>
    <dgm:pt modelId="{5AD54F1A-AAC1-42D3-B1BE-DCF43F8ED1EC}" type="pres">
      <dgm:prSet presAssocID="{B8F456AD-AD87-41B1-A8D2-F01EFE166D92}" presName="sibTrans" presStyleLbl="sibTrans2D1" presStyleIdx="2" presStyleCnt="5"/>
      <dgm:spPr/>
    </dgm:pt>
    <dgm:pt modelId="{8BF6665C-01EC-48BC-87D6-CDE1E4C34F25}" type="pres">
      <dgm:prSet presAssocID="{B8F456AD-AD87-41B1-A8D2-F01EFE166D92}" presName="connectorText" presStyleLbl="sibTrans2D1" presStyleIdx="2" presStyleCnt="5"/>
      <dgm:spPr/>
    </dgm:pt>
    <dgm:pt modelId="{62354D95-54B3-4919-A357-E2FE93C5E0A6}" type="pres">
      <dgm:prSet presAssocID="{C74B5EC4-B760-41D4-8576-74D015E7A380}" presName="node" presStyleLbl="node1" presStyleIdx="3" presStyleCnt="6">
        <dgm:presLayoutVars>
          <dgm:bulletEnabled val="1"/>
        </dgm:presLayoutVars>
      </dgm:prSet>
      <dgm:spPr/>
    </dgm:pt>
    <dgm:pt modelId="{A92043C0-BBE8-4B16-AF96-964AD1877971}" type="pres">
      <dgm:prSet presAssocID="{C1CCD88D-73EC-4EC4-9B71-B65093988B07}" presName="sibTrans" presStyleLbl="sibTrans2D1" presStyleIdx="3" presStyleCnt="5"/>
      <dgm:spPr/>
    </dgm:pt>
    <dgm:pt modelId="{F5026661-E09E-4134-8812-A9706DA49165}" type="pres">
      <dgm:prSet presAssocID="{C1CCD88D-73EC-4EC4-9B71-B65093988B07}" presName="connectorText" presStyleLbl="sibTrans2D1" presStyleIdx="3" presStyleCnt="5"/>
      <dgm:spPr/>
    </dgm:pt>
    <dgm:pt modelId="{A3DC5054-BB4F-42F3-AB47-5AF714810554}" type="pres">
      <dgm:prSet presAssocID="{8DC4C9A1-8E0B-4184-8071-5BC9443A95F5}" presName="node" presStyleLbl="node1" presStyleIdx="4" presStyleCnt="6">
        <dgm:presLayoutVars>
          <dgm:bulletEnabled val="1"/>
        </dgm:presLayoutVars>
      </dgm:prSet>
      <dgm:spPr/>
    </dgm:pt>
    <dgm:pt modelId="{140FECA4-5206-47C1-8DA8-7F4EE798514B}" type="pres">
      <dgm:prSet presAssocID="{84765599-D534-436E-8567-91FEE84120A8}" presName="sibTrans" presStyleLbl="sibTrans2D1" presStyleIdx="4" presStyleCnt="5"/>
      <dgm:spPr/>
    </dgm:pt>
    <dgm:pt modelId="{53369A9D-456A-4BEC-AF1C-F7E1CD7CDBD7}" type="pres">
      <dgm:prSet presAssocID="{84765599-D534-436E-8567-91FEE84120A8}" presName="connectorText" presStyleLbl="sibTrans2D1" presStyleIdx="4" presStyleCnt="5"/>
      <dgm:spPr/>
    </dgm:pt>
    <dgm:pt modelId="{19112ABE-7AD1-443E-8DEA-88F84DF471AE}" type="pres">
      <dgm:prSet presAssocID="{87302F26-CCC0-47EE-A60E-EB6E705AE21C}" presName="node" presStyleLbl="node1" presStyleIdx="5" presStyleCnt="6">
        <dgm:presLayoutVars>
          <dgm:bulletEnabled val="1"/>
        </dgm:presLayoutVars>
      </dgm:prSet>
      <dgm:spPr/>
    </dgm:pt>
  </dgm:ptLst>
  <dgm:cxnLst>
    <dgm:cxn modelId="{BB724E0D-179F-43F9-933E-67155CACC6FE}" srcId="{712FED91-682B-48B8-BCA0-40AF0DCC7E26}" destId="{87302F26-CCC0-47EE-A60E-EB6E705AE21C}" srcOrd="5" destOrd="0" parTransId="{67DA9D37-0AF4-402C-B782-02840CEB0EEC}" sibTransId="{4C408084-BB69-45F6-868D-E2A9CB2F4F1A}"/>
    <dgm:cxn modelId="{17A88C0F-4AB5-448A-AEE5-6DE7238B3889}" type="presOf" srcId="{271A21AA-63FB-4021-8FA1-B78CCE803535}" destId="{E5F75C52-A2AB-439A-A630-92C3C556859B}" srcOrd="1" destOrd="0" presId="urn:microsoft.com/office/officeart/2005/8/layout/process1"/>
    <dgm:cxn modelId="{DE73C411-4A49-450C-B379-1F27C946E2B1}" type="presOf" srcId="{84765599-D534-436E-8567-91FEE84120A8}" destId="{140FECA4-5206-47C1-8DA8-7F4EE798514B}" srcOrd="0" destOrd="0" presId="urn:microsoft.com/office/officeart/2005/8/layout/process1"/>
    <dgm:cxn modelId="{B780B715-1355-4379-9CC1-3C3B87058F2A}" type="presOf" srcId="{65A13C10-2A75-4E6D-BB85-4327CB830842}" destId="{F008A754-164B-447F-A4A1-D606D1B5D619}" srcOrd="0" destOrd="0" presId="urn:microsoft.com/office/officeart/2005/8/layout/process1"/>
    <dgm:cxn modelId="{D505921B-A29A-484D-9849-6EFD3959EE4B}" type="presOf" srcId="{712FED91-682B-48B8-BCA0-40AF0DCC7E26}" destId="{7C45A338-E3EF-493F-B560-3C1DFAFEA6A0}" srcOrd="0" destOrd="0" presId="urn:microsoft.com/office/officeart/2005/8/layout/process1"/>
    <dgm:cxn modelId="{0475DC21-4EE1-49AE-9DCA-3AFF01B43CD8}" type="presOf" srcId="{84765599-D534-436E-8567-91FEE84120A8}" destId="{53369A9D-456A-4BEC-AF1C-F7E1CD7CDBD7}" srcOrd="1" destOrd="0" presId="urn:microsoft.com/office/officeart/2005/8/layout/process1"/>
    <dgm:cxn modelId="{F579213A-919E-4431-8691-42609260B10B}" type="presOf" srcId="{8DC4C9A1-8E0B-4184-8071-5BC9443A95F5}" destId="{A3DC5054-BB4F-42F3-AB47-5AF714810554}" srcOrd="0" destOrd="0" presId="urn:microsoft.com/office/officeart/2005/8/layout/process1"/>
    <dgm:cxn modelId="{DF149545-BD22-43F4-82A7-40884DBB2DD6}" type="presOf" srcId="{AEFA757B-9847-4BA3-BA74-62B9647C8725}" destId="{D844860D-B9CF-4484-823B-635D81C9E67A}" srcOrd="0" destOrd="0" presId="urn:microsoft.com/office/officeart/2005/8/layout/process1"/>
    <dgm:cxn modelId="{E70AF172-FDB8-4B93-A48A-759884934074}" type="presOf" srcId="{B8F456AD-AD87-41B1-A8D2-F01EFE166D92}" destId="{8BF6665C-01EC-48BC-87D6-CDE1E4C34F25}" srcOrd="1" destOrd="0" presId="urn:microsoft.com/office/officeart/2005/8/layout/process1"/>
    <dgm:cxn modelId="{06E6F474-4A5E-4BA2-8D0A-E68CDFD0EED9}" type="presOf" srcId="{4736C630-60A8-4D11-820B-D40E1902C825}" destId="{2D2A76D4-3EC9-4D66-9D33-638A54A0B1FF}" srcOrd="0" destOrd="0" presId="urn:microsoft.com/office/officeart/2005/8/layout/process1"/>
    <dgm:cxn modelId="{D99B735A-FCEB-4F20-BB1B-2E206879C1F0}" type="presOf" srcId="{C74B5EC4-B760-41D4-8576-74D015E7A380}" destId="{62354D95-54B3-4919-A357-E2FE93C5E0A6}" srcOrd="0" destOrd="0" presId="urn:microsoft.com/office/officeart/2005/8/layout/process1"/>
    <dgm:cxn modelId="{21BC3089-2BF7-4B1F-871D-1410EB606550}" srcId="{712FED91-682B-48B8-BCA0-40AF0DCC7E26}" destId="{8DC4C9A1-8E0B-4184-8071-5BC9443A95F5}" srcOrd="4" destOrd="0" parTransId="{81415BC3-17A6-4D61-B163-3CF23F1D6F83}" sibTransId="{84765599-D534-436E-8567-91FEE84120A8}"/>
    <dgm:cxn modelId="{9313BC91-B199-4771-A527-60BF67E6D8C3}" srcId="{712FED91-682B-48B8-BCA0-40AF0DCC7E26}" destId="{65A13C10-2A75-4E6D-BB85-4327CB830842}" srcOrd="0" destOrd="0" parTransId="{CDB5204A-FDA6-4701-878C-7D93AEA9DEC7}" sibTransId="{271A21AA-63FB-4021-8FA1-B78CCE803535}"/>
    <dgm:cxn modelId="{1AA89693-7588-4867-ADD1-3D1A391C89FF}" type="presOf" srcId="{5395DAA2-D61F-4A65-9446-3AEA815A58EC}" destId="{1753935D-D092-4D4F-BD2F-EC88CD88A4AB}" srcOrd="0" destOrd="0" presId="urn:microsoft.com/office/officeart/2005/8/layout/process1"/>
    <dgm:cxn modelId="{6296C0C8-2A94-4C5A-805D-7F9CDC914C26}" srcId="{712FED91-682B-48B8-BCA0-40AF0DCC7E26}" destId="{5395DAA2-D61F-4A65-9446-3AEA815A58EC}" srcOrd="1" destOrd="0" parTransId="{60A8164B-4064-4EBB-9A81-C4A9A632C229}" sibTransId="{4736C630-60A8-4D11-820B-D40E1902C825}"/>
    <dgm:cxn modelId="{34A0B7C9-306E-4567-ADEA-75677C1FDBCA}" type="presOf" srcId="{C1CCD88D-73EC-4EC4-9B71-B65093988B07}" destId="{A92043C0-BBE8-4B16-AF96-964AD1877971}" srcOrd="0" destOrd="0" presId="urn:microsoft.com/office/officeart/2005/8/layout/process1"/>
    <dgm:cxn modelId="{13C8A2CC-5FDA-40D1-94F3-B98B2DCD738C}" type="presOf" srcId="{C1CCD88D-73EC-4EC4-9B71-B65093988B07}" destId="{F5026661-E09E-4134-8812-A9706DA49165}" srcOrd="1" destOrd="0" presId="urn:microsoft.com/office/officeart/2005/8/layout/process1"/>
    <dgm:cxn modelId="{40135CCF-68F6-4B11-BBDA-444B049D8BE7}" type="presOf" srcId="{87302F26-CCC0-47EE-A60E-EB6E705AE21C}" destId="{19112ABE-7AD1-443E-8DEA-88F84DF471AE}" srcOrd="0" destOrd="0" presId="urn:microsoft.com/office/officeart/2005/8/layout/process1"/>
    <dgm:cxn modelId="{EAEA29D5-6FFD-4CEC-898B-44A432788FDA}" type="presOf" srcId="{4736C630-60A8-4D11-820B-D40E1902C825}" destId="{16ABB1B8-F88E-40AD-AA73-C35C0F7763DF}" srcOrd="1" destOrd="0" presId="urn:microsoft.com/office/officeart/2005/8/layout/process1"/>
    <dgm:cxn modelId="{30FB45E0-8C41-4434-89A2-6814D7D6D778}" type="presOf" srcId="{B8F456AD-AD87-41B1-A8D2-F01EFE166D92}" destId="{5AD54F1A-AAC1-42D3-B1BE-DCF43F8ED1EC}" srcOrd="0" destOrd="0" presId="urn:microsoft.com/office/officeart/2005/8/layout/process1"/>
    <dgm:cxn modelId="{0D45B6EC-7375-4232-8A15-76C3D9A9C17E}" srcId="{712FED91-682B-48B8-BCA0-40AF0DCC7E26}" destId="{AEFA757B-9847-4BA3-BA74-62B9647C8725}" srcOrd="2" destOrd="0" parTransId="{AAE82DF4-EC20-40FF-8DB1-EA6B86C1E765}" sibTransId="{B8F456AD-AD87-41B1-A8D2-F01EFE166D92}"/>
    <dgm:cxn modelId="{D402D7EE-B610-497E-9B72-4DDC25234F65}" type="presOf" srcId="{271A21AA-63FB-4021-8FA1-B78CCE803535}" destId="{95417490-B1C6-4F69-BB74-7DED4CDC458B}" srcOrd="0" destOrd="0" presId="urn:microsoft.com/office/officeart/2005/8/layout/process1"/>
    <dgm:cxn modelId="{2F15FBFD-19AD-4527-AA0B-4F58DB7D9627}" srcId="{712FED91-682B-48B8-BCA0-40AF0DCC7E26}" destId="{C74B5EC4-B760-41D4-8576-74D015E7A380}" srcOrd="3" destOrd="0" parTransId="{593CA16B-E269-4B5D-923F-393DC1B2BF62}" sibTransId="{C1CCD88D-73EC-4EC4-9B71-B65093988B07}"/>
    <dgm:cxn modelId="{EB97F775-1718-498C-A342-E5530A119DAF}" type="presParOf" srcId="{7C45A338-E3EF-493F-B560-3C1DFAFEA6A0}" destId="{F008A754-164B-447F-A4A1-D606D1B5D619}" srcOrd="0" destOrd="0" presId="urn:microsoft.com/office/officeart/2005/8/layout/process1"/>
    <dgm:cxn modelId="{5D64BC29-B019-4833-8E63-9AC53D413882}" type="presParOf" srcId="{7C45A338-E3EF-493F-B560-3C1DFAFEA6A0}" destId="{95417490-B1C6-4F69-BB74-7DED4CDC458B}" srcOrd="1" destOrd="0" presId="urn:microsoft.com/office/officeart/2005/8/layout/process1"/>
    <dgm:cxn modelId="{0E0E26CF-A841-49EF-8BDA-2963C64D2527}" type="presParOf" srcId="{95417490-B1C6-4F69-BB74-7DED4CDC458B}" destId="{E5F75C52-A2AB-439A-A630-92C3C556859B}" srcOrd="0" destOrd="0" presId="urn:microsoft.com/office/officeart/2005/8/layout/process1"/>
    <dgm:cxn modelId="{E03A719D-9BE9-44AF-BE72-3A2EAE26DC2A}" type="presParOf" srcId="{7C45A338-E3EF-493F-B560-3C1DFAFEA6A0}" destId="{1753935D-D092-4D4F-BD2F-EC88CD88A4AB}" srcOrd="2" destOrd="0" presId="urn:microsoft.com/office/officeart/2005/8/layout/process1"/>
    <dgm:cxn modelId="{B7939912-6545-4C01-8C71-B61729ED4AB9}" type="presParOf" srcId="{7C45A338-E3EF-493F-B560-3C1DFAFEA6A0}" destId="{2D2A76D4-3EC9-4D66-9D33-638A54A0B1FF}" srcOrd="3" destOrd="0" presId="urn:microsoft.com/office/officeart/2005/8/layout/process1"/>
    <dgm:cxn modelId="{347B8F62-3857-4289-BE2E-6FD150BA8D15}" type="presParOf" srcId="{2D2A76D4-3EC9-4D66-9D33-638A54A0B1FF}" destId="{16ABB1B8-F88E-40AD-AA73-C35C0F7763DF}" srcOrd="0" destOrd="0" presId="urn:microsoft.com/office/officeart/2005/8/layout/process1"/>
    <dgm:cxn modelId="{012DED4F-2F6D-431A-9E90-6E466B4A028F}" type="presParOf" srcId="{7C45A338-E3EF-493F-B560-3C1DFAFEA6A0}" destId="{D844860D-B9CF-4484-823B-635D81C9E67A}" srcOrd="4" destOrd="0" presId="urn:microsoft.com/office/officeart/2005/8/layout/process1"/>
    <dgm:cxn modelId="{EB533A63-8E71-4F35-AE5C-7B8C99D6209B}" type="presParOf" srcId="{7C45A338-E3EF-493F-B560-3C1DFAFEA6A0}" destId="{5AD54F1A-AAC1-42D3-B1BE-DCF43F8ED1EC}" srcOrd="5" destOrd="0" presId="urn:microsoft.com/office/officeart/2005/8/layout/process1"/>
    <dgm:cxn modelId="{E3664BBB-59E4-43F9-979B-91170E34F8A3}" type="presParOf" srcId="{5AD54F1A-AAC1-42D3-B1BE-DCF43F8ED1EC}" destId="{8BF6665C-01EC-48BC-87D6-CDE1E4C34F25}" srcOrd="0" destOrd="0" presId="urn:microsoft.com/office/officeart/2005/8/layout/process1"/>
    <dgm:cxn modelId="{493C39FA-A193-46D5-9F78-D20A9C1BADD7}" type="presParOf" srcId="{7C45A338-E3EF-493F-B560-3C1DFAFEA6A0}" destId="{62354D95-54B3-4919-A357-E2FE93C5E0A6}" srcOrd="6" destOrd="0" presId="urn:microsoft.com/office/officeart/2005/8/layout/process1"/>
    <dgm:cxn modelId="{EE022915-7C71-4C88-B4A3-4361A1EF250B}" type="presParOf" srcId="{7C45A338-E3EF-493F-B560-3C1DFAFEA6A0}" destId="{A92043C0-BBE8-4B16-AF96-964AD1877971}" srcOrd="7" destOrd="0" presId="urn:microsoft.com/office/officeart/2005/8/layout/process1"/>
    <dgm:cxn modelId="{8CD87283-EA13-4E7F-AB71-F0630A94757F}" type="presParOf" srcId="{A92043C0-BBE8-4B16-AF96-964AD1877971}" destId="{F5026661-E09E-4134-8812-A9706DA49165}" srcOrd="0" destOrd="0" presId="urn:microsoft.com/office/officeart/2005/8/layout/process1"/>
    <dgm:cxn modelId="{963FE514-9ED2-4AF7-B0E4-81AE6F2F9B42}" type="presParOf" srcId="{7C45A338-E3EF-493F-B560-3C1DFAFEA6A0}" destId="{A3DC5054-BB4F-42F3-AB47-5AF714810554}" srcOrd="8" destOrd="0" presId="urn:microsoft.com/office/officeart/2005/8/layout/process1"/>
    <dgm:cxn modelId="{01D1B21D-0929-4141-9E3D-DCE3F0FFF891}" type="presParOf" srcId="{7C45A338-E3EF-493F-B560-3C1DFAFEA6A0}" destId="{140FECA4-5206-47C1-8DA8-7F4EE798514B}" srcOrd="9" destOrd="0" presId="urn:microsoft.com/office/officeart/2005/8/layout/process1"/>
    <dgm:cxn modelId="{D25E3B1C-104C-422F-BB9C-1976955C75A8}" type="presParOf" srcId="{140FECA4-5206-47C1-8DA8-7F4EE798514B}" destId="{53369A9D-456A-4BEC-AF1C-F7E1CD7CDBD7}" srcOrd="0" destOrd="0" presId="urn:microsoft.com/office/officeart/2005/8/layout/process1"/>
    <dgm:cxn modelId="{78A07C1A-DEFB-44CA-84AF-803F01C1DE68}" type="presParOf" srcId="{7C45A338-E3EF-493F-B560-3C1DFAFEA6A0}" destId="{19112ABE-7AD1-443E-8DEA-88F84DF471AE}" srcOrd="10"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8A754-164B-447F-A4A1-D606D1B5D619}">
      <dsp:nvSpPr>
        <dsp:cNvPr id="0" name=""/>
        <dsp:cNvSpPr/>
      </dsp:nvSpPr>
      <dsp:spPr>
        <a:xfrm>
          <a:off x="0"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Develop Code</a:t>
          </a:r>
        </a:p>
      </dsp:txBody>
      <dsp:txXfrm>
        <a:off x="26998" y="803331"/>
        <a:ext cx="1482321" cy="867794"/>
      </dsp:txXfrm>
    </dsp:sp>
    <dsp:sp modelId="{95417490-B1C6-4F69-BB74-7DED4CDC458B}">
      <dsp:nvSpPr>
        <dsp:cNvPr id="0" name=""/>
        <dsp:cNvSpPr/>
      </dsp:nvSpPr>
      <dsp:spPr>
        <a:xfrm>
          <a:off x="1689949"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689949" y="1122926"/>
        <a:ext cx="227989" cy="228604"/>
      </dsp:txXfrm>
    </dsp:sp>
    <dsp:sp modelId="{1753935D-D092-4D4F-BD2F-EC88CD88A4AB}">
      <dsp:nvSpPr>
        <dsp:cNvPr id="0" name=""/>
        <dsp:cNvSpPr/>
      </dsp:nvSpPr>
      <dsp:spPr>
        <a:xfrm>
          <a:off x="2150844"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Check in code</a:t>
          </a:r>
        </a:p>
      </dsp:txBody>
      <dsp:txXfrm>
        <a:off x="2177842" y="803331"/>
        <a:ext cx="1482321" cy="867794"/>
      </dsp:txXfrm>
    </dsp:sp>
    <dsp:sp modelId="{2D2A76D4-3EC9-4D66-9D33-638A54A0B1FF}">
      <dsp:nvSpPr>
        <dsp:cNvPr id="0" name=""/>
        <dsp:cNvSpPr/>
      </dsp:nvSpPr>
      <dsp:spPr>
        <a:xfrm>
          <a:off x="3840793"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3840793" y="1122926"/>
        <a:ext cx="227989" cy="228604"/>
      </dsp:txXfrm>
    </dsp:sp>
    <dsp:sp modelId="{D844860D-B9CF-4484-823B-635D81C9E67A}">
      <dsp:nvSpPr>
        <dsp:cNvPr id="0" name=""/>
        <dsp:cNvSpPr/>
      </dsp:nvSpPr>
      <dsp:spPr>
        <a:xfrm>
          <a:off x="4301689"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Build code</a:t>
          </a:r>
        </a:p>
      </dsp:txBody>
      <dsp:txXfrm>
        <a:off x="4328687" y="803331"/>
        <a:ext cx="1482321" cy="867794"/>
      </dsp:txXfrm>
    </dsp:sp>
    <dsp:sp modelId="{5AD54F1A-AAC1-42D3-B1BE-DCF43F8ED1EC}">
      <dsp:nvSpPr>
        <dsp:cNvPr id="0" name=""/>
        <dsp:cNvSpPr/>
      </dsp:nvSpPr>
      <dsp:spPr>
        <a:xfrm>
          <a:off x="5991638"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5991638" y="1122926"/>
        <a:ext cx="227989" cy="228604"/>
      </dsp:txXfrm>
    </dsp:sp>
    <dsp:sp modelId="{62354D95-54B3-4919-A357-E2FE93C5E0A6}">
      <dsp:nvSpPr>
        <dsp:cNvPr id="0" name=""/>
        <dsp:cNvSpPr/>
      </dsp:nvSpPr>
      <dsp:spPr>
        <a:xfrm>
          <a:off x="6452533"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Test code</a:t>
          </a:r>
        </a:p>
      </dsp:txBody>
      <dsp:txXfrm>
        <a:off x="6479531" y="803331"/>
        <a:ext cx="1482321" cy="867794"/>
      </dsp:txXfrm>
    </dsp:sp>
    <dsp:sp modelId="{A92043C0-BBE8-4B16-AF96-964AD1877971}">
      <dsp:nvSpPr>
        <dsp:cNvPr id="0" name=""/>
        <dsp:cNvSpPr/>
      </dsp:nvSpPr>
      <dsp:spPr>
        <a:xfrm>
          <a:off x="8142482"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8142482" y="1122926"/>
        <a:ext cx="227989" cy="228604"/>
      </dsp:txXfrm>
    </dsp:sp>
    <dsp:sp modelId="{A3DC5054-BB4F-42F3-AB47-5AF714810554}">
      <dsp:nvSpPr>
        <dsp:cNvPr id="0" name=""/>
        <dsp:cNvSpPr/>
      </dsp:nvSpPr>
      <dsp:spPr>
        <a:xfrm>
          <a:off x="8603378"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Deploy </a:t>
          </a:r>
        </a:p>
      </dsp:txBody>
      <dsp:txXfrm>
        <a:off x="8630376" y="803331"/>
        <a:ext cx="1482321" cy="867794"/>
      </dsp:txXfrm>
    </dsp:sp>
    <dsp:sp modelId="{140FECA4-5206-47C1-8DA8-7F4EE798514B}">
      <dsp:nvSpPr>
        <dsp:cNvPr id="0" name=""/>
        <dsp:cNvSpPr/>
      </dsp:nvSpPr>
      <dsp:spPr>
        <a:xfrm>
          <a:off x="10293327"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10293327" y="1122926"/>
        <a:ext cx="227989" cy="228604"/>
      </dsp:txXfrm>
    </dsp:sp>
    <dsp:sp modelId="{19112ABE-7AD1-443E-8DEA-88F84DF471AE}">
      <dsp:nvSpPr>
        <dsp:cNvPr id="0" name=""/>
        <dsp:cNvSpPr/>
      </dsp:nvSpPr>
      <dsp:spPr>
        <a:xfrm>
          <a:off x="10754222"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a:solidFill>
                <a:schemeClr val="tx1"/>
              </a:solidFill>
              <a:latin typeface="Amazon Ember" panose="02000000000000000000" pitchFamily="2" charset="0"/>
              <a:ea typeface="Amazon Ember" panose="02000000000000000000" pitchFamily="2" charset="0"/>
            </a:rPr>
            <a:t>Monitor</a:t>
          </a:r>
          <a:endParaRPr lang="en-US" sz="2000" b="0" kern="1200" dirty="0">
            <a:solidFill>
              <a:schemeClr val="tx1"/>
            </a:solidFill>
            <a:latin typeface="Amazon Ember" panose="02000000000000000000" pitchFamily="2" charset="0"/>
            <a:ea typeface="Amazon Ember" panose="02000000000000000000" pitchFamily="2" charset="0"/>
          </a:endParaRPr>
        </a:p>
      </dsp:txBody>
      <dsp:txXfrm>
        <a:off x="10781220" y="803331"/>
        <a:ext cx="1482321" cy="867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8A754-164B-447F-A4A1-D606D1B5D619}">
      <dsp:nvSpPr>
        <dsp:cNvPr id="0" name=""/>
        <dsp:cNvSpPr/>
      </dsp:nvSpPr>
      <dsp:spPr>
        <a:xfrm>
          <a:off x="0"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Develop Code</a:t>
          </a:r>
        </a:p>
      </dsp:txBody>
      <dsp:txXfrm>
        <a:off x="26998" y="803331"/>
        <a:ext cx="1482321" cy="867794"/>
      </dsp:txXfrm>
    </dsp:sp>
    <dsp:sp modelId="{95417490-B1C6-4F69-BB74-7DED4CDC458B}">
      <dsp:nvSpPr>
        <dsp:cNvPr id="0" name=""/>
        <dsp:cNvSpPr/>
      </dsp:nvSpPr>
      <dsp:spPr>
        <a:xfrm>
          <a:off x="1689949"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689949" y="1122926"/>
        <a:ext cx="227989" cy="228604"/>
      </dsp:txXfrm>
    </dsp:sp>
    <dsp:sp modelId="{1753935D-D092-4D4F-BD2F-EC88CD88A4AB}">
      <dsp:nvSpPr>
        <dsp:cNvPr id="0" name=""/>
        <dsp:cNvSpPr/>
      </dsp:nvSpPr>
      <dsp:spPr>
        <a:xfrm>
          <a:off x="2150844"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Source code</a:t>
          </a:r>
        </a:p>
      </dsp:txBody>
      <dsp:txXfrm>
        <a:off x="2177842" y="803331"/>
        <a:ext cx="1482321" cy="867794"/>
      </dsp:txXfrm>
    </dsp:sp>
    <dsp:sp modelId="{2D2A76D4-3EC9-4D66-9D33-638A54A0B1FF}">
      <dsp:nvSpPr>
        <dsp:cNvPr id="0" name=""/>
        <dsp:cNvSpPr/>
      </dsp:nvSpPr>
      <dsp:spPr>
        <a:xfrm>
          <a:off x="3840793"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3840793" y="1122926"/>
        <a:ext cx="227989" cy="228604"/>
      </dsp:txXfrm>
    </dsp:sp>
    <dsp:sp modelId="{D844860D-B9CF-4484-823B-635D81C9E67A}">
      <dsp:nvSpPr>
        <dsp:cNvPr id="0" name=""/>
        <dsp:cNvSpPr/>
      </dsp:nvSpPr>
      <dsp:spPr>
        <a:xfrm>
          <a:off x="4301689"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Build code</a:t>
          </a:r>
        </a:p>
      </dsp:txBody>
      <dsp:txXfrm>
        <a:off x="4328687" y="803331"/>
        <a:ext cx="1482321" cy="867794"/>
      </dsp:txXfrm>
    </dsp:sp>
    <dsp:sp modelId="{5AD54F1A-AAC1-42D3-B1BE-DCF43F8ED1EC}">
      <dsp:nvSpPr>
        <dsp:cNvPr id="0" name=""/>
        <dsp:cNvSpPr/>
      </dsp:nvSpPr>
      <dsp:spPr>
        <a:xfrm>
          <a:off x="5991638"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5991638" y="1122926"/>
        <a:ext cx="227989" cy="228604"/>
      </dsp:txXfrm>
    </dsp:sp>
    <dsp:sp modelId="{62354D95-54B3-4919-A357-E2FE93C5E0A6}">
      <dsp:nvSpPr>
        <dsp:cNvPr id="0" name=""/>
        <dsp:cNvSpPr/>
      </dsp:nvSpPr>
      <dsp:spPr>
        <a:xfrm>
          <a:off x="6452533"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Test code</a:t>
          </a:r>
        </a:p>
      </dsp:txBody>
      <dsp:txXfrm>
        <a:off x="6479531" y="803331"/>
        <a:ext cx="1482321" cy="867794"/>
      </dsp:txXfrm>
    </dsp:sp>
    <dsp:sp modelId="{A92043C0-BBE8-4B16-AF96-964AD1877971}">
      <dsp:nvSpPr>
        <dsp:cNvPr id="0" name=""/>
        <dsp:cNvSpPr/>
      </dsp:nvSpPr>
      <dsp:spPr>
        <a:xfrm>
          <a:off x="8142482"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8142482" y="1122926"/>
        <a:ext cx="227989" cy="228604"/>
      </dsp:txXfrm>
    </dsp:sp>
    <dsp:sp modelId="{A3DC5054-BB4F-42F3-AB47-5AF714810554}">
      <dsp:nvSpPr>
        <dsp:cNvPr id="0" name=""/>
        <dsp:cNvSpPr/>
      </dsp:nvSpPr>
      <dsp:spPr>
        <a:xfrm>
          <a:off x="8603378"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Deploy </a:t>
          </a:r>
        </a:p>
      </dsp:txBody>
      <dsp:txXfrm>
        <a:off x="8630376" y="803331"/>
        <a:ext cx="1482321" cy="867794"/>
      </dsp:txXfrm>
    </dsp:sp>
    <dsp:sp modelId="{140FECA4-5206-47C1-8DA8-7F4EE798514B}">
      <dsp:nvSpPr>
        <dsp:cNvPr id="0" name=""/>
        <dsp:cNvSpPr/>
      </dsp:nvSpPr>
      <dsp:spPr>
        <a:xfrm>
          <a:off x="10293327" y="1046725"/>
          <a:ext cx="325699" cy="381006"/>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latin typeface="Amazon Ember" panose="02000000000000000000" pitchFamily="2" charset="0"/>
            <a:ea typeface="Amazon Ember" panose="02000000000000000000" pitchFamily="2" charset="0"/>
          </a:endParaRPr>
        </a:p>
      </dsp:txBody>
      <dsp:txXfrm>
        <a:off x="10293327" y="1122926"/>
        <a:ext cx="227989" cy="228604"/>
      </dsp:txXfrm>
    </dsp:sp>
    <dsp:sp modelId="{19112ABE-7AD1-443E-8DEA-88F84DF471AE}">
      <dsp:nvSpPr>
        <dsp:cNvPr id="0" name=""/>
        <dsp:cNvSpPr/>
      </dsp:nvSpPr>
      <dsp:spPr>
        <a:xfrm>
          <a:off x="10754222" y="776333"/>
          <a:ext cx="1536317" cy="92179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Amazon Ember" panose="02000000000000000000" pitchFamily="2" charset="0"/>
              <a:ea typeface="Amazon Ember" panose="02000000000000000000" pitchFamily="2" charset="0"/>
            </a:rPr>
            <a:t>Monitor</a:t>
          </a:r>
        </a:p>
      </dsp:txBody>
      <dsp:txXfrm>
        <a:off x="10781220" y="803331"/>
        <a:ext cx="1482321" cy="8677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A152D-2352-43D4-B54C-2F347C5EE05E}" type="datetimeFigureOut">
              <a:rPr lang="en-US" smtClean="0"/>
              <a:t>9/23/2020</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27CF2-43D9-4177-B1E6-91F4D2A9287E}" type="slidenum">
              <a:rPr lang="en-US" smtClean="0"/>
              <a:t>‹#›</a:t>
            </a:fld>
            <a:endParaRPr lang="en-US" dirty="0"/>
          </a:p>
        </p:txBody>
      </p:sp>
    </p:spTree>
    <p:extLst>
      <p:ext uri="{BB962C8B-B14F-4D97-AF65-F5344CB8AC3E}">
        <p14:creationId xmlns:p14="http://schemas.microsoft.com/office/powerpoint/2010/main" val="237806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4985373"/>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476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Tree>
    <p:extLst>
      <p:ext uri="{BB962C8B-B14F-4D97-AF65-F5344CB8AC3E}">
        <p14:creationId xmlns:p14="http://schemas.microsoft.com/office/powerpoint/2010/main" val="3599980087"/>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919109099"/>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3597271105"/>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527728"/>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00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781597129"/>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202018241"/>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1872011597"/>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10" name="Slide Number Placeholder 9"/>
          <p:cNvSpPr>
            <a:spLocks noGrp="1"/>
          </p:cNvSpPr>
          <p:nvPr>
            <p:ph type="sldNum" sz="quarter" idx="17"/>
          </p:nvPr>
        </p:nvSpPr>
        <p:spPr>
          <a:xfrm>
            <a:off x="13590205" y="6843454"/>
            <a:ext cx="360005" cy="216646"/>
          </a:xfrm>
          <a:prstGeom prst="rect">
            <a:avLst/>
          </a:prstGeom>
        </p:spPr>
        <p:txBody>
          <a:bodyPr/>
          <a:lstStyle/>
          <a:p>
            <a:fld id="{4F9AC08D-23A9-440E-BCB9-AA1E9877CC38}" type="slidenum">
              <a:rPr lang="en-US" smtClean="0"/>
              <a:pPr/>
              <a:t>‹#›</a:t>
            </a:fld>
            <a:endParaRPr lang="en-US" dirty="0"/>
          </a:p>
        </p:txBody>
      </p:sp>
      <p:sp>
        <p:nvSpPr>
          <p:cNvPr id="11" name="Title 10"/>
          <p:cNvSpPr>
            <a:spLocks noGrp="1"/>
          </p:cNvSpPr>
          <p:nvPr>
            <p:ph type="title"/>
          </p:nvPr>
        </p:nvSpPr>
        <p:spPr/>
        <p:txBody>
          <a:bodyPr/>
          <a:lstStyle/>
          <a:p>
            <a:r>
              <a:rPr lang="en-US" dirty="0"/>
              <a:t>Click to edit Master title style</a:t>
            </a:r>
          </a:p>
        </p:txBody>
      </p:sp>
      <p:sp>
        <p:nvSpPr>
          <p:cNvPr id="5" name="Footer Placeholder 1">
            <a:extLst>
              <a:ext uri="{FF2B5EF4-FFF2-40B4-BE49-F238E27FC236}">
                <a16:creationId xmlns:a16="http://schemas.microsoft.com/office/drawing/2014/main" id="{E59041CF-919B-4138-B495-900C5F8EC477}"/>
              </a:ext>
            </a:extLst>
          </p:cNvPr>
          <p:cNvSpPr>
            <a:spLocks noGrp="1"/>
          </p:cNvSpPr>
          <p:nvPr>
            <p:ph type="ftr" sz="quarter" idx="16"/>
          </p:nvPr>
        </p:nvSpPr>
        <p:spPr>
          <a:xfrm>
            <a:off x="450010" y="6843454"/>
            <a:ext cx="6750098" cy="216646"/>
          </a:xfrm>
          <a:prstGeom prst="rect">
            <a:avLst/>
          </a:prstGeom>
        </p:spPr>
        <p:txBody>
          <a:bodyPr/>
          <a:lstStyle/>
          <a:p>
            <a:r>
              <a:rPr lang="en-US" dirty="0"/>
              <a:t>Copyright © 2020 Accenture. All rights reserved.</a:t>
            </a:r>
          </a:p>
        </p:txBody>
      </p:sp>
    </p:spTree>
    <p:extLst>
      <p:ext uri="{BB962C8B-B14F-4D97-AF65-F5344CB8AC3E}">
        <p14:creationId xmlns:p14="http://schemas.microsoft.com/office/powerpoint/2010/main" val="303770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1794830"/>
            <a:ext cx="12420184" cy="2994714"/>
          </a:xfrm>
        </p:spPr>
        <p:txBody>
          <a:bodyPr anchor="b"/>
          <a:lstStyle>
            <a:lvl1pPr>
              <a:defRPr sz="6299"/>
            </a:lvl1pPr>
          </a:lstStyle>
          <a:p>
            <a:r>
              <a:rPr lang="en-US"/>
              <a:t>Click to edit Master title style</a:t>
            </a:r>
            <a:endParaRPr lang="en-US" dirty="0"/>
          </a:p>
        </p:txBody>
      </p:sp>
      <p:sp>
        <p:nvSpPr>
          <p:cNvPr id="3" name="Text Placeholder 2"/>
          <p:cNvSpPr>
            <a:spLocks noGrp="1"/>
          </p:cNvSpPr>
          <p:nvPr>
            <p:ph type="body" idx="1"/>
          </p:nvPr>
        </p:nvSpPr>
        <p:spPr>
          <a:xfrm>
            <a:off x="982514" y="4817875"/>
            <a:ext cx="12420184" cy="1574849"/>
          </a:xfrm>
        </p:spPr>
        <p:txBody>
          <a:bodyPr/>
          <a:lstStyle>
            <a:lvl1pPr marL="0" indent="0">
              <a:buNone/>
              <a:defRPr sz="2520">
                <a:solidFill>
                  <a:schemeClr val="tx1">
                    <a:tint val="75000"/>
                  </a:schemeClr>
                </a:solidFill>
              </a:defRPr>
            </a:lvl1pPr>
            <a:lvl2pPr marL="479969" indent="0">
              <a:buNone/>
              <a:defRPr sz="2100">
                <a:solidFill>
                  <a:schemeClr val="tx1">
                    <a:tint val="75000"/>
                  </a:schemeClr>
                </a:solidFill>
              </a:defRPr>
            </a:lvl2pPr>
            <a:lvl3pPr marL="959937" indent="0">
              <a:buNone/>
              <a:defRPr sz="1890">
                <a:solidFill>
                  <a:schemeClr val="tx1">
                    <a:tint val="75000"/>
                  </a:schemeClr>
                </a:solidFill>
              </a:defRPr>
            </a:lvl3pPr>
            <a:lvl4pPr marL="1439906" indent="0">
              <a:buNone/>
              <a:defRPr sz="1680">
                <a:solidFill>
                  <a:schemeClr val="tx1">
                    <a:tint val="75000"/>
                  </a:schemeClr>
                </a:solidFill>
              </a:defRPr>
            </a:lvl4pPr>
            <a:lvl5pPr marL="1919874" indent="0">
              <a:buNone/>
              <a:defRPr sz="1680">
                <a:solidFill>
                  <a:schemeClr val="tx1">
                    <a:tint val="75000"/>
                  </a:schemeClr>
                </a:solidFill>
              </a:defRPr>
            </a:lvl5pPr>
            <a:lvl6pPr marL="2399843" indent="0">
              <a:buNone/>
              <a:defRPr sz="1680">
                <a:solidFill>
                  <a:schemeClr val="tx1">
                    <a:tint val="75000"/>
                  </a:schemeClr>
                </a:solidFill>
              </a:defRPr>
            </a:lvl6pPr>
            <a:lvl7pPr marL="2879811" indent="0">
              <a:buNone/>
              <a:defRPr sz="1680">
                <a:solidFill>
                  <a:schemeClr val="tx1">
                    <a:tint val="75000"/>
                  </a:schemeClr>
                </a:solidFill>
              </a:defRPr>
            </a:lvl7pPr>
            <a:lvl8pPr marL="3359780" indent="0">
              <a:buNone/>
              <a:defRPr sz="1680">
                <a:solidFill>
                  <a:schemeClr val="tx1">
                    <a:tint val="75000"/>
                  </a:schemeClr>
                </a:solidFill>
              </a:defRPr>
            </a:lvl8pPr>
            <a:lvl9pPr marL="3839748"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9/23/2020</a:t>
            </a:fld>
            <a:endParaRPr lang="en-US" dirty="0"/>
          </a:p>
        </p:txBody>
      </p:sp>
      <p:sp>
        <p:nvSpPr>
          <p:cNvPr id="5" name="Footer Placeholder 4"/>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3089115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9/23/2020</a:t>
            </a:fld>
            <a:endParaRPr lang="en-US" dirty="0"/>
          </a:p>
        </p:txBody>
      </p:sp>
      <p:sp>
        <p:nvSpPr>
          <p:cNvPr id="3" name="Footer Placeholder 2"/>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1017379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C2197FA3-5B99-4628-AF84-433B48753126}"/>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8D19DBD-E973-44C3-8B09-B108FC95C381}"/>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84073C86-2D3D-4B84-8D9E-0812FB0289AC}"/>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202E3485-7BC5-41AE-8D69-F09B4D378FB6}"/>
                  </a:ext>
                </a:extLst>
              </p:cNvPr>
              <p:cNvPicPr>
                <a:picLocks noChangeAspect="1"/>
              </p:cNvPicPr>
              <p:nvPr/>
            </p:nvPicPr>
            <p:blipFill rotWithShape="1">
              <a:blip r:embed="rId7"/>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EE303FE2-D2C1-4374-8309-61C0C78D8621}"/>
                  </a:ext>
                </a:extLst>
              </p:cNvPr>
              <p:cNvPicPr>
                <a:picLocks noChangeAspect="1"/>
              </p:cNvPicPr>
              <p:nvPr/>
            </p:nvPicPr>
            <p:blipFill rotWithShape="1">
              <a:blip r:embed="rId7"/>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76C758B9-802A-48BF-9F27-C4292E2C5718}"/>
                </a:ext>
              </a:extLst>
            </p:cNvPr>
            <p:cNvPicPr>
              <a:picLocks noChangeAspect="1"/>
            </p:cNvPicPr>
            <p:nvPr/>
          </p:nvPicPr>
          <p:blipFill rotWithShape="1">
            <a:blip r:embed="rId7"/>
            <a:srcRect r="4037" b="60744"/>
            <a:stretch/>
          </p:blipFill>
          <p:spPr>
            <a:xfrm>
              <a:off x="9690100" y="5791200"/>
              <a:ext cx="4710113" cy="1408113"/>
            </a:xfrm>
            <a:prstGeom prst="rect">
              <a:avLst/>
            </a:prstGeom>
          </p:spPr>
        </p:pic>
      </p:grpSp>
      <p:sp>
        <p:nvSpPr>
          <p:cNvPr id="16" name="Rectangle 15">
            <a:extLst>
              <a:ext uri="{FF2B5EF4-FFF2-40B4-BE49-F238E27FC236}">
                <a16:creationId xmlns:a16="http://schemas.microsoft.com/office/drawing/2014/main" id="{9F7B7C6E-9A57-4D9F-BF37-625FCF543F78}"/>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5746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1DD628D9-A607-4FF2-A355-5E83EDE42EA9}"/>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grpSp>
        <p:nvGrpSpPr>
          <p:cNvPr id="11" name="Group 10">
            <a:extLst>
              <a:ext uri="{FF2B5EF4-FFF2-40B4-BE49-F238E27FC236}">
                <a16:creationId xmlns:a16="http://schemas.microsoft.com/office/drawing/2014/main" id="{07DD19EF-A0B7-4813-8B14-379C4D3C1C3E}"/>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38B02556-23E9-4398-9BBE-E28F901B1599}"/>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A274144B-D7C0-47C0-97B1-F9394434E5CC}"/>
                  </a:ext>
                </a:extLst>
              </p:cNvPr>
              <p:cNvPicPr>
                <a:picLocks noChangeAspect="1"/>
              </p:cNvPicPr>
              <p:nvPr/>
            </p:nvPicPr>
            <p:blipFill rotWithShape="1">
              <a:blip r:embed="rId10"/>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CFBA7F5D-3FE6-40B2-B98B-8894B276CFEE}"/>
                  </a:ext>
                </a:extLst>
              </p:cNvPr>
              <p:cNvPicPr>
                <a:picLocks noChangeAspect="1"/>
              </p:cNvPicPr>
              <p:nvPr/>
            </p:nvPicPr>
            <p:blipFill rotWithShape="1">
              <a:blip r:embed="rId10"/>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65B04B85-4A00-4598-BAB5-0F7F75E3FCE0}"/>
                </a:ext>
              </a:extLst>
            </p:cNvPr>
            <p:cNvPicPr>
              <a:picLocks noChangeAspect="1"/>
            </p:cNvPicPr>
            <p:nvPr/>
          </p:nvPicPr>
          <p:blipFill rotWithShape="1">
            <a:blip r:embed="rId10"/>
            <a:srcRect r="4037" b="60744"/>
            <a:stretch/>
          </p:blipFill>
          <p:spPr>
            <a:xfrm>
              <a:off x="9690100" y="5791200"/>
              <a:ext cx="4710113" cy="1408113"/>
            </a:xfrm>
            <a:prstGeom prst="rect">
              <a:avLst/>
            </a:prstGeom>
          </p:spPr>
        </p:pic>
      </p:grpSp>
      <p:sp>
        <p:nvSpPr>
          <p:cNvPr id="10" name="Rectangle 9">
            <a:extLst>
              <a:ext uri="{FF2B5EF4-FFF2-40B4-BE49-F238E27FC236}">
                <a16:creationId xmlns:a16="http://schemas.microsoft.com/office/drawing/2014/main" id="{8072F825-4C55-4DA7-BBA1-81872DDCE9B1}"/>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06213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713" r:id="rId7"/>
    <p:sldLayoutId id="2147483714" r:id="rId8"/>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1.awsstatic.com/training-and-certification/docs-dev-associate/AWS-Certified-Developer-Associate_Exam-Guide.pdf"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diagramLayout" Target="../diagrams/layout2.xml"/><Relationship Id="rId3" Type="http://schemas.openxmlformats.org/officeDocument/2006/relationships/image" Target="../media/image8.tiff"/><Relationship Id="rId7" Type="http://schemas.openxmlformats.org/officeDocument/2006/relationships/image" Target="../media/image12.png"/><Relationship Id="rId12" Type="http://schemas.openxmlformats.org/officeDocument/2006/relationships/diagramData" Target="../diagrams/data2.xml"/><Relationship Id="rId2" Type="http://schemas.openxmlformats.org/officeDocument/2006/relationships/image" Target="../media/image7.png"/><Relationship Id="rId16" Type="http://schemas.microsoft.com/office/2007/relationships/diagramDrawing" Target="../diagrams/drawing2.xml"/><Relationship Id="rId1" Type="http://schemas.openxmlformats.org/officeDocument/2006/relationships/slideLayout" Target="../slideLayouts/slideLayout11.xml"/><Relationship Id="rId6" Type="http://schemas.openxmlformats.org/officeDocument/2006/relationships/image" Target="../media/image11.tiff"/><Relationship Id="rId11" Type="http://schemas.openxmlformats.org/officeDocument/2006/relationships/image" Target="../media/image16.png"/><Relationship Id="rId5" Type="http://schemas.openxmlformats.org/officeDocument/2006/relationships/image" Target="../media/image10.tiff"/><Relationship Id="rId15" Type="http://schemas.openxmlformats.org/officeDocument/2006/relationships/diagramColors" Target="../diagrams/colors2.xml"/><Relationship Id="rId10" Type="http://schemas.openxmlformats.org/officeDocument/2006/relationships/image" Target="../media/image15.png"/><Relationship Id="rId4" Type="http://schemas.openxmlformats.org/officeDocument/2006/relationships/image" Target="../media/image9.tiff"/><Relationship Id="rId9" Type="http://schemas.openxmlformats.org/officeDocument/2006/relationships/image" Target="../media/image14.png"/><Relationship Id="rId1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1.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EDF-0238-4F9E-8067-974A03278C02}"/>
              </a:ext>
            </a:extLst>
          </p:cNvPr>
          <p:cNvSpPr>
            <a:spLocks noGrp="1"/>
          </p:cNvSpPr>
          <p:nvPr>
            <p:ph type="ctrTitle"/>
          </p:nvPr>
        </p:nvSpPr>
        <p:spPr>
          <a:xfrm>
            <a:off x="94741" y="2920692"/>
            <a:ext cx="10032485" cy="983764"/>
          </a:xfrm>
        </p:spPr>
        <p:txBody>
          <a:bodyPr/>
          <a:lstStyle/>
          <a:p>
            <a:br>
              <a:rPr lang="en-IN" sz="2000" dirty="0"/>
            </a:br>
            <a:r>
              <a:rPr lang="en-IN" sz="2400" dirty="0"/>
              <a:t>Cloud Elevate –Exam Readiness </a:t>
            </a:r>
            <a:r>
              <a:rPr lang="en-US" sz="2400" dirty="0"/>
              <a:t>workshop</a:t>
            </a:r>
            <a:br>
              <a:rPr lang="en-US" sz="2400" dirty="0"/>
            </a:br>
            <a:br>
              <a:rPr lang="en-US" sz="2400" dirty="0"/>
            </a:br>
            <a:r>
              <a:rPr lang="en-US" sz="2400" dirty="0"/>
              <a:t>  AWS Certified Developer - Associate</a:t>
            </a:r>
            <a:endParaRPr lang="en-IN" sz="2400" dirty="0"/>
          </a:p>
        </p:txBody>
      </p:sp>
      <p:sp>
        <p:nvSpPr>
          <p:cNvPr id="3" name="Text Placeholder 2">
            <a:extLst>
              <a:ext uri="{FF2B5EF4-FFF2-40B4-BE49-F238E27FC236}">
                <a16:creationId xmlns:a16="http://schemas.microsoft.com/office/drawing/2014/main" id="{5056235A-690C-493E-9A78-BBEFE510A133}"/>
              </a:ext>
            </a:extLst>
          </p:cNvPr>
          <p:cNvSpPr>
            <a:spLocks noGrp="1"/>
          </p:cNvSpPr>
          <p:nvPr>
            <p:ph type="body" sz="quarter" idx="13"/>
          </p:nvPr>
        </p:nvSpPr>
        <p:spPr>
          <a:xfrm>
            <a:off x="94741" y="5025149"/>
            <a:ext cx="5063855" cy="983765"/>
          </a:xfrm>
        </p:spPr>
        <p:txBody>
          <a:bodyPr>
            <a:normAutofit/>
          </a:bodyPr>
          <a:lstStyle/>
          <a:p>
            <a:r>
              <a:rPr lang="en-US" sz="2400" dirty="0"/>
              <a:t>Developing and Deepening </a:t>
            </a:r>
          </a:p>
          <a:p>
            <a:r>
              <a:rPr lang="en-US" sz="2400" dirty="0"/>
              <a:t>Cloud skills @ATCI</a:t>
            </a:r>
          </a:p>
        </p:txBody>
      </p:sp>
    </p:spTree>
    <p:extLst>
      <p:ext uri="{BB962C8B-B14F-4D97-AF65-F5344CB8AC3E}">
        <p14:creationId xmlns:p14="http://schemas.microsoft.com/office/powerpoint/2010/main" val="970403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37BC98-1B5E-418E-9453-30AF408D4067}"/>
              </a:ext>
            </a:extLst>
          </p:cNvPr>
          <p:cNvSpPr/>
          <p:nvPr/>
        </p:nvSpPr>
        <p:spPr>
          <a:xfrm>
            <a:off x="1393089" y="6704497"/>
            <a:ext cx="4594528" cy="378565"/>
          </a:xfrm>
          <a:prstGeom prst="rect">
            <a:avLst/>
          </a:prstGeom>
        </p:spPr>
        <p:txBody>
          <a:bodyPr wrap="none">
            <a:spAutoFit/>
          </a:bodyPr>
          <a:lstStyle/>
          <a:p>
            <a:r>
              <a:rPr lang="en-US" sz="1860" i="1" dirty="0">
                <a:latin typeface="Graphik Medium" panose="020B0603030202060203" pitchFamily="34" charset="0"/>
              </a:rPr>
              <a:t>https://aws.amazon.com/certification/</a:t>
            </a:r>
          </a:p>
        </p:txBody>
      </p:sp>
      <p:sp>
        <p:nvSpPr>
          <p:cNvPr id="4" name="TextBox 3">
            <a:extLst>
              <a:ext uri="{FF2B5EF4-FFF2-40B4-BE49-F238E27FC236}">
                <a16:creationId xmlns:a16="http://schemas.microsoft.com/office/drawing/2014/main" id="{7DD052C8-8862-4872-823F-32DD9632586B}"/>
              </a:ext>
            </a:extLst>
          </p:cNvPr>
          <p:cNvSpPr txBox="1"/>
          <p:nvPr/>
        </p:nvSpPr>
        <p:spPr>
          <a:xfrm>
            <a:off x="285637" y="132966"/>
            <a:ext cx="5852884" cy="584775"/>
          </a:xfrm>
          <a:prstGeom prst="rect">
            <a:avLst/>
          </a:prstGeom>
          <a:noFill/>
        </p:spPr>
        <p:txBody>
          <a:bodyPr wrap="none" rtlCol="0">
            <a:spAutoFit/>
          </a:bodyPr>
          <a:lstStyle/>
          <a:p>
            <a:r>
              <a:rPr lang="en-US" sz="3200" b="1" dirty="0">
                <a:solidFill>
                  <a:schemeClr val="bg1"/>
                </a:solidFill>
                <a:latin typeface="Graphik Black" panose="020B0A03030202060203" pitchFamily="34" charset="0"/>
              </a:rPr>
              <a:t>AWS CERTIFICATION PATH</a:t>
            </a:r>
          </a:p>
        </p:txBody>
      </p:sp>
      <p:sp>
        <p:nvSpPr>
          <p:cNvPr id="5" name="Slide Number Placeholder 2">
            <a:extLst>
              <a:ext uri="{FF2B5EF4-FFF2-40B4-BE49-F238E27FC236}">
                <a16:creationId xmlns:a16="http://schemas.microsoft.com/office/drawing/2014/main" id="{D63F9090-E8F4-4ACC-98F1-7C76216DC883}"/>
              </a:ext>
            </a:extLst>
          </p:cNvPr>
          <p:cNvSpPr txBox="1">
            <a:spLocks/>
          </p:cNvSpPr>
          <p:nvPr/>
        </p:nvSpPr>
        <p:spPr>
          <a:xfrm>
            <a:off x="13480027" y="6794090"/>
            <a:ext cx="470184" cy="2660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a:t>
            </a:fld>
            <a:endParaRPr lang="en-US" dirty="0"/>
          </a:p>
        </p:txBody>
      </p:sp>
      <p:pic>
        <p:nvPicPr>
          <p:cNvPr id="8" name="Picture 7">
            <a:extLst>
              <a:ext uri="{FF2B5EF4-FFF2-40B4-BE49-F238E27FC236}">
                <a16:creationId xmlns:a16="http://schemas.microsoft.com/office/drawing/2014/main" id="{F90B2B95-EB5F-4581-AC0D-03C133D9968F}"/>
              </a:ext>
            </a:extLst>
          </p:cNvPr>
          <p:cNvPicPr>
            <a:picLocks noChangeAspect="1"/>
          </p:cNvPicPr>
          <p:nvPr/>
        </p:nvPicPr>
        <p:blipFill>
          <a:blip r:embed="rId2"/>
          <a:stretch>
            <a:fillRect/>
          </a:stretch>
        </p:blipFill>
        <p:spPr>
          <a:xfrm>
            <a:off x="2637631" y="1037431"/>
            <a:ext cx="9124950" cy="5124450"/>
          </a:xfrm>
          <a:prstGeom prst="rect">
            <a:avLst/>
          </a:prstGeom>
        </p:spPr>
      </p:pic>
    </p:spTree>
    <p:extLst>
      <p:ext uri="{BB962C8B-B14F-4D97-AF65-F5344CB8AC3E}">
        <p14:creationId xmlns:p14="http://schemas.microsoft.com/office/powerpoint/2010/main" val="313044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1946-F966-47FE-81CD-76094796A66C}"/>
              </a:ext>
            </a:extLst>
          </p:cNvPr>
          <p:cNvSpPr>
            <a:spLocks noGrp="1"/>
          </p:cNvSpPr>
          <p:nvPr>
            <p:ph type="sldNum" sz="quarter" idx="17"/>
          </p:nvPr>
        </p:nvSpPr>
        <p:spPr/>
        <p:txBody>
          <a:bodyPr/>
          <a:lstStyle/>
          <a:p>
            <a:fld id="{4F9AC08D-23A9-440E-BCB9-AA1E9877CC38}" type="slidenum">
              <a:rPr lang="en-US" smtClean="0"/>
              <a:pPr/>
              <a:t>3</a:t>
            </a:fld>
            <a:endParaRPr lang="en-US" dirty="0"/>
          </a:p>
        </p:txBody>
      </p:sp>
      <p:sp>
        <p:nvSpPr>
          <p:cNvPr id="3" name="Title 2">
            <a:extLst>
              <a:ext uri="{FF2B5EF4-FFF2-40B4-BE49-F238E27FC236}">
                <a16:creationId xmlns:a16="http://schemas.microsoft.com/office/drawing/2014/main" id="{D19D177A-2CB7-416C-867F-3904525059FE}"/>
              </a:ext>
            </a:extLst>
          </p:cNvPr>
          <p:cNvSpPr>
            <a:spLocks noGrp="1"/>
          </p:cNvSpPr>
          <p:nvPr>
            <p:ph type="title"/>
          </p:nvPr>
        </p:nvSpPr>
        <p:spPr>
          <a:xfrm>
            <a:off x="450010" y="284929"/>
            <a:ext cx="13500200" cy="1359871"/>
          </a:xfrm>
        </p:spPr>
        <p:txBody>
          <a:bodyPr/>
          <a:lstStyle/>
          <a:p>
            <a:r>
              <a:rPr lang="en-US" dirty="0">
                <a:solidFill>
                  <a:schemeClr val="bg1"/>
                </a:solidFill>
              </a:rPr>
              <a:t>AWS Developer - associate</a:t>
            </a:r>
          </a:p>
        </p:txBody>
      </p:sp>
      <p:sp>
        <p:nvSpPr>
          <p:cNvPr id="4" name="Footer Placeholder 3">
            <a:extLst>
              <a:ext uri="{FF2B5EF4-FFF2-40B4-BE49-F238E27FC236}">
                <a16:creationId xmlns:a16="http://schemas.microsoft.com/office/drawing/2014/main" id="{F6ACBA3A-B6F1-4D55-85C8-0264E2858170}"/>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5" name="Table Placeholder 3">
            <a:extLst>
              <a:ext uri="{FF2B5EF4-FFF2-40B4-BE49-F238E27FC236}">
                <a16:creationId xmlns:a16="http://schemas.microsoft.com/office/drawing/2014/main" id="{D8D71FBA-C419-45E2-AA89-CFF7460CE5DE}"/>
              </a:ext>
            </a:extLst>
          </p:cNvPr>
          <p:cNvGraphicFramePr>
            <a:graphicFrameLocks/>
          </p:cNvGraphicFramePr>
          <p:nvPr>
            <p:extLst>
              <p:ext uri="{D42A27DB-BD31-4B8C-83A1-F6EECF244321}">
                <p14:modId xmlns:p14="http://schemas.microsoft.com/office/powerpoint/2010/main" val="829509063"/>
              </p:ext>
            </p:extLst>
          </p:nvPr>
        </p:nvGraphicFramePr>
        <p:xfrm>
          <a:off x="3215148" y="1759836"/>
          <a:ext cx="7285704" cy="3326112"/>
        </p:xfrm>
        <a:graphic>
          <a:graphicData uri="http://schemas.openxmlformats.org/drawingml/2006/table">
            <a:tbl>
              <a:tblPr firstRow="1" bandRow="1">
                <a:tableStyleId>{F2DE63D5-997A-4646-A377-4702673A728D}</a:tableStyleId>
              </a:tblPr>
              <a:tblGrid>
                <a:gridCol w="5399224">
                  <a:extLst>
                    <a:ext uri="{9D8B030D-6E8A-4147-A177-3AD203B41FA5}">
                      <a16:colId xmlns:a16="http://schemas.microsoft.com/office/drawing/2014/main" val="20000"/>
                    </a:ext>
                  </a:extLst>
                </a:gridCol>
                <a:gridCol w="1886480">
                  <a:extLst>
                    <a:ext uri="{9D8B030D-6E8A-4147-A177-3AD203B41FA5}">
                      <a16:colId xmlns:a16="http://schemas.microsoft.com/office/drawing/2014/main" val="20001"/>
                    </a:ext>
                  </a:extLst>
                </a:gridCol>
              </a:tblGrid>
              <a:tr h="544751">
                <a:tc>
                  <a:txBody>
                    <a:bodyPr/>
                    <a:lstStyle/>
                    <a:p>
                      <a:pPr algn="ctr"/>
                      <a:r>
                        <a:rPr lang="en-US" sz="1800" dirty="0"/>
                        <a:t>Domain</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pPr algn="ctr"/>
                      <a:r>
                        <a:rPr lang="en-US" sz="1800" dirty="0"/>
                        <a:t>% of Exam</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10000"/>
                  </a:ext>
                </a:extLst>
              </a:tr>
              <a:tr h="425350">
                <a:tc>
                  <a:txBody>
                    <a:bodyPr/>
                    <a:lstStyle/>
                    <a:p>
                      <a:r>
                        <a:rPr lang="en-US" sz="2400" kern="1200" dirty="0" err="1">
                          <a:solidFill>
                            <a:schemeClr val="tx1"/>
                          </a:solidFill>
                          <a:latin typeface="+mn-lt"/>
                          <a:ea typeface="+mn-ea"/>
                          <a:cs typeface="+mn-cs"/>
                        </a:rPr>
                        <a:t>A.Deployment</a:t>
                      </a:r>
                      <a:endParaRPr lang="en-US" sz="2400" kern="1200" dirty="0">
                        <a:solidFill>
                          <a:schemeClr val="tx1"/>
                        </a:solidFill>
                        <a:latin typeface="+mn-lt"/>
                        <a:ea typeface="+mn-ea"/>
                        <a:cs typeface="+mn-cs"/>
                      </a:endParaRP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22%</a:t>
                      </a:r>
                    </a:p>
                  </a:txBody>
                  <a:tcPr/>
                </a:tc>
                <a:extLst>
                  <a:ext uri="{0D108BD9-81ED-4DB2-BD59-A6C34878D82A}">
                    <a16:rowId xmlns:a16="http://schemas.microsoft.com/office/drawing/2014/main" val="10001"/>
                  </a:ext>
                </a:extLst>
              </a:tr>
              <a:tr h="374717">
                <a:tc>
                  <a:txBody>
                    <a:bodyPr/>
                    <a:lstStyle/>
                    <a:p>
                      <a:r>
                        <a:rPr lang="en-US" sz="2400" kern="1200" dirty="0" err="1">
                          <a:solidFill>
                            <a:schemeClr val="tx1"/>
                          </a:solidFill>
                          <a:latin typeface="+mn-lt"/>
                          <a:ea typeface="+mn-ea"/>
                          <a:cs typeface="+mn-cs"/>
                        </a:rPr>
                        <a:t>B.Security</a:t>
                      </a:r>
                      <a:endParaRPr lang="en-US" sz="2400" kern="1200" dirty="0">
                        <a:solidFill>
                          <a:schemeClr val="tx1"/>
                        </a:solidFill>
                        <a:latin typeface="+mn-lt"/>
                        <a:ea typeface="+mn-ea"/>
                        <a:cs typeface="+mn-cs"/>
                      </a:endParaRP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26%</a:t>
                      </a:r>
                    </a:p>
                  </a:txBody>
                  <a:tcPr/>
                </a:tc>
                <a:extLst>
                  <a:ext uri="{0D108BD9-81ED-4DB2-BD59-A6C34878D82A}">
                    <a16:rowId xmlns:a16="http://schemas.microsoft.com/office/drawing/2014/main" val="10002"/>
                  </a:ext>
                </a:extLst>
              </a:tr>
              <a:tr h="468766">
                <a:tc>
                  <a:txBody>
                    <a:bodyPr/>
                    <a:lstStyle/>
                    <a:p>
                      <a:r>
                        <a:rPr lang="en-US" sz="2400" kern="1200" dirty="0" err="1">
                          <a:solidFill>
                            <a:schemeClr val="tx1"/>
                          </a:solidFill>
                          <a:latin typeface="+mn-lt"/>
                          <a:ea typeface="+mn-ea"/>
                          <a:cs typeface="+mn-cs"/>
                        </a:rPr>
                        <a:t>C.Development</a:t>
                      </a:r>
                      <a:r>
                        <a:rPr lang="en-US" sz="2400" kern="1200" dirty="0">
                          <a:solidFill>
                            <a:schemeClr val="tx1"/>
                          </a:solidFill>
                          <a:latin typeface="+mn-lt"/>
                          <a:ea typeface="+mn-ea"/>
                          <a:cs typeface="+mn-cs"/>
                        </a:rPr>
                        <a:t> with AWS</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30%</a:t>
                      </a:r>
                    </a:p>
                  </a:txBody>
                  <a:tcPr/>
                </a:tc>
                <a:extLst>
                  <a:ext uri="{0D108BD9-81ED-4DB2-BD59-A6C34878D82A}">
                    <a16:rowId xmlns:a16="http://schemas.microsoft.com/office/drawing/2014/main" val="10003"/>
                  </a:ext>
                </a:extLst>
              </a:tr>
              <a:tr h="408435">
                <a:tc>
                  <a:txBody>
                    <a:bodyPr/>
                    <a:lstStyle/>
                    <a:p>
                      <a:r>
                        <a:rPr lang="en-US" sz="2400" kern="1200" dirty="0" err="1">
                          <a:solidFill>
                            <a:schemeClr val="tx1"/>
                          </a:solidFill>
                          <a:latin typeface="+mn-lt"/>
                          <a:ea typeface="+mn-ea"/>
                          <a:cs typeface="+mn-cs"/>
                        </a:rPr>
                        <a:t>D.Refactoring</a:t>
                      </a:r>
                      <a:endParaRPr lang="en-US" sz="2400" kern="1200" dirty="0">
                        <a:solidFill>
                          <a:schemeClr val="tx1"/>
                        </a:solidFill>
                        <a:latin typeface="+mn-lt"/>
                        <a:ea typeface="+mn-ea"/>
                        <a:cs typeface="+mn-cs"/>
                      </a:endParaRP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a:t>
                      </a:r>
                    </a:p>
                  </a:txBody>
                  <a:tcPr/>
                </a:tc>
                <a:extLst>
                  <a:ext uri="{0D108BD9-81ED-4DB2-BD59-A6C34878D82A}">
                    <a16:rowId xmlns:a16="http://schemas.microsoft.com/office/drawing/2014/main" val="10004"/>
                  </a:ext>
                </a:extLst>
              </a:tr>
              <a:tr h="483795">
                <a:tc>
                  <a:txBody>
                    <a:bodyPr/>
                    <a:lstStyle/>
                    <a:p>
                      <a:r>
                        <a:rPr lang="en-US" sz="2400" kern="1200" dirty="0">
                          <a:solidFill>
                            <a:schemeClr val="tx1"/>
                          </a:solidFill>
                          <a:latin typeface="+mn-lt"/>
                          <a:ea typeface="+mn-ea"/>
                          <a:cs typeface="+mn-cs"/>
                        </a:rPr>
                        <a:t>5: Monitoring and Troubleshooting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12%</a:t>
                      </a:r>
                    </a:p>
                  </a:txBody>
                  <a:tcPr/>
                </a:tc>
                <a:extLst>
                  <a:ext uri="{0D108BD9-81ED-4DB2-BD59-A6C34878D82A}">
                    <a16:rowId xmlns:a16="http://schemas.microsoft.com/office/drawing/2014/main" val="10005"/>
                  </a:ext>
                </a:extLst>
              </a:tr>
              <a:tr h="374717">
                <a:tc>
                  <a:txBody>
                    <a:bodyPr/>
                    <a:lstStyle/>
                    <a:p>
                      <a:r>
                        <a:rPr lang="en-US" sz="2400" kern="1200" dirty="0">
                          <a:solidFill>
                            <a:schemeClr val="tx1"/>
                          </a:solidFill>
                          <a:latin typeface="+mn-lt"/>
                          <a:ea typeface="+mn-ea"/>
                          <a:cs typeface="+mn-cs"/>
                        </a:rPr>
                        <a:t>Total</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100%</a:t>
                      </a:r>
                    </a:p>
                  </a:txBody>
                  <a:tcPr/>
                </a:tc>
                <a:extLst>
                  <a:ext uri="{0D108BD9-81ED-4DB2-BD59-A6C34878D82A}">
                    <a16:rowId xmlns:a16="http://schemas.microsoft.com/office/drawing/2014/main" val="2417361994"/>
                  </a:ext>
                </a:extLst>
              </a:tr>
            </a:tbl>
          </a:graphicData>
        </a:graphic>
      </p:graphicFrame>
      <p:sp>
        <p:nvSpPr>
          <p:cNvPr id="7" name="TextBox 6">
            <a:extLst>
              <a:ext uri="{FF2B5EF4-FFF2-40B4-BE49-F238E27FC236}">
                <a16:creationId xmlns:a16="http://schemas.microsoft.com/office/drawing/2014/main" id="{8BB6F6C4-B3B4-425B-9A33-28E114F5DE89}"/>
              </a:ext>
            </a:extLst>
          </p:cNvPr>
          <p:cNvSpPr txBox="1"/>
          <p:nvPr/>
        </p:nvSpPr>
        <p:spPr>
          <a:xfrm>
            <a:off x="2610695" y="1114266"/>
            <a:ext cx="10161408" cy="415498"/>
          </a:xfrm>
          <a:prstGeom prst="rect">
            <a:avLst/>
          </a:prstGeom>
          <a:noFill/>
        </p:spPr>
        <p:txBody>
          <a:bodyPr wrap="square" lIns="0" tIns="0" rIns="0" bIns="45720" rtlCol="0">
            <a:spAutoFit/>
          </a:bodyPr>
          <a:lstStyle/>
          <a:p>
            <a:r>
              <a:rPr lang="en-IN" sz="2400" dirty="0">
                <a:hlinkClick r:id="rId2"/>
              </a:rPr>
              <a:t>AWS Developer - Associate Exam Guide (Exam Blueprint)</a:t>
            </a:r>
            <a:endParaRPr lang="en-IN" sz="2400" dirty="0"/>
          </a:p>
        </p:txBody>
      </p:sp>
    </p:spTree>
    <p:extLst>
      <p:ext uri="{BB962C8B-B14F-4D97-AF65-F5344CB8AC3E}">
        <p14:creationId xmlns:p14="http://schemas.microsoft.com/office/powerpoint/2010/main" val="966166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A1651B-B2A3-4006-AE85-6053D28B5230}"/>
              </a:ext>
            </a:extLst>
          </p:cNvPr>
          <p:cNvSpPr>
            <a:spLocks noGrp="1"/>
          </p:cNvSpPr>
          <p:nvPr>
            <p:ph type="sldNum" sz="quarter" idx="17"/>
          </p:nvPr>
        </p:nvSpPr>
        <p:spPr/>
        <p:txBody>
          <a:bodyPr/>
          <a:lstStyle/>
          <a:p>
            <a:fld id="{4F9AC08D-23A9-440E-BCB9-AA1E9877CC38}" type="slidenum">
              <a:rPr lang="en-US" smtClean="0"/>
              <a:pPr/>
              <a:t>4</a:t>
            </a:fld>
            <a:endParaRPr lang="en-US" dirty="0"/>
          </a:p>
        </p:txBody>
      </p:sp>
      <p:sp>
        <p:nvSpPr>
          <p:cNvPr id="3" name="Title 2">
            <a:extLst>
              <a:ext uri="{FF2B5EF4-FFF2-40B4-BE49-F238E27FC236}">
                <a16:creationId xmlns:a16="http://schemas.microsoft.com/office/drawing/2014/main" id="{C7A8400E-E28F-47CE-B016-C956283F7257}"/>
              </a:ext>
            </a:extLst>
          </p:cNvPr>
          <p:cNvSpPr>
            <a:spLocks noGrp="1"/>
          </p:cNvSpPr>
          <p:nvPr>
            <p:ph type="title"/>
          </p:nvPr>
        </p:nvSpPr>
        <p:spPr>
          <a:xfrm>
            <a:off x="450009" y="281978"/>
            <a:ext cx="13500200" cy="1359871"/>
          </a:xfrm>
        </p:spPr>
        <p:txBody>
          <a:bodyPr/>
          <a:lstStyle/>
          <a:p>
            <a:r>
              <a:rPr lang="en-US" sz="4400" dirty="0">
                <a:solidFill>
                  <a:schemeClr val="bg1"/>
                </a:solidFill>
              </a:rPr>
              <a:t>Deployment– 22%</a:t>
            </a:r>
            <a:endParaRPr lang="en-US" dirty="0">
              <a:solidFill>
                <a:schemeClr val="bg1"/>
              </a:solidFill>
            </a:endParaRPr>
          </a:p>
        </p:txBody>
      </p:sp>
      <p:sp>
        <p:nvSpPr>
          <p:cNvPr id="4" name="Footer Placeholder 3">
            <a:extLst>
              <a:ext uri="{FF2B5EF4-FFF2-40B4-BE49-F238E27FC236}">
                <a16:creationId xmlns:a16="http://schemas.microsoft.com/office/drawing/2014/main" id="{A0F06007-E1B0-4FC8-B99E-A6DAAA0A68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1ABA7AC-4BE9-4CDE-8207-931F4FA3B9CF}"/>
              </a:ext>
            </a:extLst>
          </p:cNvPr>
          <p:cNvSpPr/>
          <p:nvPr/>
        </p:nvSpPr>
        <p:spPr>
          <a:xfrm>
            <a:off x="450004" y="1162610"/>
            <a:ext cx="12656395" cy="2446824"/>
          </a:xfrm>
          <a:prstGeom prst="rect">
            <a:avLst/>
          </a:prstGeom>
        </p:spPr>
        <p:txBody>
          <a:bodyPr wrap="square">
            <a:spAutoFit/>
          </a:bodyPr>
          <a:lstStyle/>
          <a:p>
            <a:pPr>
              <a:lnSpc>
                <a:spcPct val="150000"/>
              </a:lnSpc>
            </a:pPr>
            <a:r>
              <a:rPr lang="en-US" dirty="0">
                <a:solidFill>
                  <a:srgbClr val="18537D"/>
                </a:solidFill>
              </a:rPr>
              <a:t>Objectives</a:t>
            </a:r>
          </a:p>
          <a:p>
            <a:pPr marL="742950" lvl="1" indent="-285750">
              <a:lnSpc>
                <a:spcPct val="150000"/>
              </a:lnSpc>
              <a:buFont typeface="Arial" panose="020B0604020202020204" pitchFamily="34" charset="0"/>
              <a:buChar char="•"/>
            </a:pPr>
            <a:r>
              <a:rPr lang="en-US" dirty="0">
                <a:solidFill>
                  <a:srgbClr val="18537D"/>
                </a:solidFill>
              </a:rPr>
              <a:t>Deploy written code in AWS using CI/CD pipelines, processes, and patterns</a:t>
            </a:r>
          </a:p>
          <a:p>
            <a:pPr marL="742950" lvl="1" indent="-285750">
              <a:lnSpc>
                <a:spcPct val="150000"/>
              </a:lnSpc>
              <a:buFont typeface="Arial" panose="020B0604020202020204" pitchFamily="34" charset="0"/>
              <a:buChar char="•"/>
            </a:pPr>
            <a:r>
              <a:rPr lang="en-US" dirty="0">
                <a:solidFill>
                  <a:srgbClr val="18537D"/>
                </a:solidFill>
              </a:rPr>
              <a:t>Deploy applications using AWS Elastic Beanstalk</a:t>
            </a:r>
          </a:p>
          <a:p>
            <a:pPr marL="742950" lvl="1" indent="-285750">
              <a:lnSpc>
                <a:spcPct val="150000"/>
              </a:lnSpc>
              <a:buFont typeface="Arial" panose="020B0604020202020204" pitchFamily="34" charset="0"/>
              <a:buChar char="•"/>
            </a:pPr>
            <a:r>
              <a:rPr lang="en-US" dirty="0">
                <a:solidFill>
                  <a:srgbClr val="18537D"/>
                </a:solidFill>
              </a:rPr>
              <a:t>Prepare the application package to be deployed to AWS</a:t>
            </a:r>
          </a:p>
          <a:p>
            <a:pPr marL="742950" lvl="1" indent="-285750">
              <a:lnSpc>
                <a:spcPct val="150000"/>
              </a:lnSpc>
              <a:buFont typeface="Arial" panose="020B0604020202020204" pitchFamily="34" charset="0"/>
              <a:buChar char="•"/>
            </a:pPr>
            <a:r>
              <a:rPr lang="en-US" dirty="0">
                <a:solidFill>
                  <a:srgbClr val="18537D"/>
                </a:solidFill>
              </a:rPr>
              <a:t>Deploy serverless applications</a:t>
            </a:r>
          </a:p>
          <a:p>
            <a:endParaRPr lang="en-US" dirty="0"/>
          </a:p>
        </p:txBody>
      </p:sp>
    </p:spTree>
    <p:extLst>
      <p:ext uri="{BB962C8B-B14F-4D97-AF65-F5344CB8AC3E}">
        <p14:creationId xmlns:p14="http://schemas.microsoft.com/office/powerpoint/2010/main" val="744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4F1518-275E-4146-9EDD-43380D66C22A}"/>
              </a:ext>
            </a:extLst>
          </p:cNvPr>
          <p:cNvSpPr>
            <a:spLocks noGrp="1"/>
          </p:cNvSpPr>
          <p:nvPr>
            <p:ph type="sldNum" sz="quarter" idx="17"/>
          </p:nvPr>
        </p:nvSpPr>
        <p:spPr/>
        <p:txBody>
          <a:bodyPr/>
          <a:lstStyle/>
          <a:p>
            <a:fld id="{4F9AC08D-23A9-440E-BCB9-AA1E9877CC38}" type="slidenum">
              <a:rPr lang="en-US" smtClean="0"/>
              <a:pPr/>
              <a:t>5</a:t>
            </a:fld>
            <a:endParaRPr lang="en-US" dirty="0"/>
          </a:p>
        </p:txBody>
      </p:sp>
      <p:sp>
        <p:nvSpPr>
          <p:cNvPr id="3" name="Title 2">
            <a:extLst>
              <a:ext uri="{FF2B5EF4-FFF2-40B4-BE49-F238E27FC236}">
                <a16:creationId xmlns:a16="http://schemas.microsoft.com/office/drawing/2014/main" id="{13D2A14B-A14B-46AC-8939-4DF03C83A84E}"/>
              </a:ext>
            </a:extLst>
          </p:cNvPr>
          <p:cNvSpPr>
            <a:spLocks noGrp="1"/>
          </p:cNvSpPr>
          <p:nvPr>
            <p:ph type="title"/>
          </p:nvPr>
        </p:nvSpPr>
        <p:spPr>
          <a:xfrm>
            <a:off x="450009" y="340971"/>
            <a:ext cx="13500200" cy="1359871"/>
          </a:xfrm>
        </p:spPr>
        <p:txBody>
          <a:bodyPr/>
          <a:lstStyle/>
          <a:p>
            <a:r>
              <a:rPr lang="en-US" sz="4000" dirty="0">
                <a:solidFill>
                  <a:schemeClr val="bg1"/>
                </a:solidFill>
              </a:rPr>
              <a:t>Deployment – 22%</a:t>
            </a:r>
            <a:endParaRPr lang="en-US" dirty="0"/>
          </a:p>
        </p:txBody>
      </p:sp>
      <p:sp>
        <p:nvSpPr>
          <p:cNvPr id="4" name="Footer Placeholder 3">
            <a:extLst>
              <a:ext uri="{FF2B5EF4-FFF2-40B4-BE49-F238E27FC236}">
                <a16:creationId xmlns:a16="http://schemas.microsoft.com/office/drawing/2014/main" id="{3D46655A-9CF2-4EA3-8978-E6409A5E50C6}"/>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737C1EE4-4962-4858-96D2-AEE67EAF5929}"/>
              </a:ext>
            </a:extLst>
          </p:cNvPr>
          <p:cNvSpPr/>
          <p:nvPr/>
        </p:nvSpPr>
        <p:spPr>
          <a:xfrm>
            <a:off x="450004" y="1162610"/>
            <a:ext cx="12656395" cy="2117311"/>
          </a:xfrm>
          <a:prstGeom prst="rect">
            <a:avLst/>
          </a:prstGeom>
        </p:spPr>
        <p:txBody>
          <a:bodyPr wrap="square">
            <a:spAutoFit/>
          </a:bodyPr>
          <a:lstStyle/>
          <a:p>
            <a:pPr>
              <a:lnSpc>
                <a:spcPct val="150000"/>
              </a:lnSpc>
            </a:pPr>
            <a:r>
              <a:rPr lang="en-US" dirty="0">
                <a:solidFill>
                  <a:srgbClr val="18537D"/>
                </a:solidFill>
              </a:rPr>
              <a:t>Key AWS Services</a:t>
            </a:r>
          </a:p>
          <a:p>
            <a:pPr marL="742950" lvl="1" indent="-285750">
              <a:lnSpc>
                <a:spcPct val="150000"/>
              </a:lnSpc>
              <a:buFont typeface="Arial" panose="020B0604020202020204" pitchFamily="34" charset="0"/>
              <a:buChar char="•"/>
            </a:pPr>
            <a:r>
              <a:rPr lang="en-US" dirty="0">
                <a:solidFill>
                  <a:srgbClr val="18537D"/>
                </a:solidFill>
              </a:rPr>
              <a:t>Developer Tools to implement CI/CD</a:t>
            </a:r>
          </a:p>
          <a:p>
            <a:pPr marL="742950" lvl="1" indent="-285750">
              <a:lnSpc>
                <a:spcPct val="150000"/>
              </a:lnSpc>
              <a:buFont typeface="Arial" panose="020B0604020202020204" pitchFamily="34" charset="0"/>
              <a:buChar char="•"/>
            </a:pPr>
            <a:r>
              <a:rPr lang="en-US" dirty="0">
                <a:solidFill>
                  <a:srgbClr val="18537D"/>
                </a:solidFill>
              </a:rPr>
              <a:t>AWS Elastic Beanstalk</a:t>
            </a:r>
          </a:p>
          <a:p>
            <a:pPr marL="742950" lvl="1" indent="-285750">
              <a:lnSpc>
                <a:spcPct val="150000"/>
              </a:lnSpc>
              <a:buFont typeface="Arial" panose="020B0604020202020204" pitchFamily="34" charset="0"/>
              <a:buChar char="•"/>
            </a:pPr>
            <a:r>
              <a:rPr lang="en-US" dirty="0">
                <a:solidFill>
                  <a:srgbClr val="18537D"/>
                </a:solidFill>
              </a:rPr>
              <a:t>AWS CloudFormation </a:t>
            </a:r>
          </a:p>
          <a:p>
            <a:pPr marL="742950" lvl="1" indent="-285750">
              <a:lnSpc>
                <a:spcPct val="150000"/>
              </a:lnSpc>
              <a:buFont typeface="Arial" panose="020B0604020202020204" pitchFamily="34" charset="0"/>
              <a:buChar char="•"/>
            </a:pPr>
            <a:r>
              <a:rPr lang="en-US" dirty="0">
                <a:solidFill>
                  <a:srgbClr val="18537D"/>
                </a:solidFill>
              </a:rPr>
              <a:t>Serverless Architecture</a:t>
            </a:r>
          </a:p>
        </p:txBody>
      </p:sp>
    </p:spTree>
    <p:extLst>
      <p:ext uri="{BB962C8B-B14F-4D97-AF65-F5344CB8AC3E}">
        <p14:creationId xmlns:p14="http://schemas.microsoft.com/office/powerpoint/2010/main" val="3334814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34A8088B-26CA-4B21-AD0D-DDC6B3E9F3BA}"/>
              </a:ext>
            </a:extLst>
          </p:cNvPr>
          <p:cNvSpPr/>
          <p:nvPr/>
        </p:nvSpPr>
        <p:spPr>
          <a:xfrm>
            <a:off x="648929" y="2068145"/>
            <a:ext cx="10677832" cy="2638236"/>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6D02D8D-06BD-472A-9286-950BD1DDD904}"/>
              </a:ext>
            </a:extLst>
          </p:cNvPr>
          <p:cNvSpPr/>
          <p:nvPr/>
        </p:nvSpPr>
        <p:spPr>
          <a:xfrm>
            <a:off x="945703" y="2694039"/>
            <a:ext cx="6408825" cy="1848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EB8FB1D-A3AA-4419-BC4A-F1BA92308FD5}"/>
              </a:ext>
            </a:extLst>
          </p:cNvPr>
          <p:cNvSpPr>
            <a:spLocks noGrp="1"/>
          </p:cNvSpPr>
          <p:nvPr>
            <p:ph type="sldNum" sz="quarter" idx="17"/>
          </p:nvPr>
        </p:nvSpPr>
        <p:spPr/>
        <p:txBody>
          <a:bodyPr/>
          <a:lstStyle/>
          <a:p>
            <a:fld id="{4F9AC08D-23A9-440E-BCB9-AA1E9877CC38}" type="slidenum">
              <a:rPr lang="en-US" smtClean="0"/>
              <a:pPr/>
              <a:t>6</a:t>
            </a:fld>
            <a:endParaRPr lang="en-US" dirty="0"/>
          </a:p>
        </p:txBody>
      </p:sp>
      <p:sp>
        <p:nvSpPr>
          <p:cNvPr id="3" name="Title 2">
            <a:extLst>
              <a:ext uri="{FF2B5EF4-FFF2-40B4-BE49-F238E27FC236}">
                <a16:creationId xmlns:a16="http://schemas.microsoft.com/office/drawing/2014/main" id="{8B102F41-85BD-4364-83B5-9A07DA0890E3}"/>
              </a:ext>
            </a:extLst>
          </p:cNvPr>
          <p:cNvSpPr>
            <a:spLocks noGrp="1"/>
          </p:cNvSpPr>
          <p:nvPr>
            <p:ph type="title"/>
          </p:nvPr>
        </p:nvSpPr>
        <p:spPr>
          <a:xfrm>
            <a:off x="450010" y="286005"/>
            <a:ext cx="13500200" cy="1359871"/>
          </a:xfrm>
        </p:spPr>
        <p:txBody>
          <a:bodyPr/>
          <a:lstStyle/>
          <a:p>
            <a:r>
              <a:rPr lang="en-US" sz="4400">
                <a:solidFill>
                  <a:schemeClr val="bg1"/>
                </a:solidFill>
              </a:rPr>
              <a:t>Understanding CI &amp; CD</a:t>
            </a:r>
            <a:endParaRPr lang="en-US" sz="4400" dirty="0">
              <a:solidFill>
                <a:schemeClr val="bg1"/>
              </a:solidFill>
            </a:endParaRPr>
          </a:p>
        </p:txBody>
      </p:sp>
      <p:sp>
        <p:nvSpPr>
          <p:cNvPr id="4" name="Footer Placeholder 3">
            <a:extLst>
              <a:ext uri="{FF2B5EF4-FFF2-40B4-BE49-F238E27FC236}">
                <a16:creationId xmlns:a16="http://schemas.microsoft.com/office/drawing/2014/main" id="{E076774D-99FC-4CC0-827F-5C727068A982}"/>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7" name="Content Placeholder 3">
            <a:extLst>
              <a:ext uri="{FF2B5EF4-FFF2-40B4-BE49-F238E27FC236}">
                <a16:creationId xmlns:a16="http://schemas.microsoft.com/office/drawing/2014/main" id="{3D9D6EDD-ECC5-4394-9DF0-3C866219725F}"/>
              </a:ext>
            </a:extLst>
          </p:cNvPr>
          <p:cNvGraphicFramePr>
            <a:graphicFrameLocks/>
          </p:cNvGraphicFramePr>
          <p:nvPr/>
        </p:nvGraphicFramePr>
        <p:xfrm>
          <a:off x="1054836" y="2552827"/>
          <a:ext cx="12290540" cy="24744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ectangle 11">
            <a:extLst>
              <a:ext uri="{FF2B5EF4-FFF2-40B4-BE49-F238E27FC236}">
                <a16:creationId xmlns:a16="http://schemas.microsoft.com/office/drawing/2014/main" id="{2EAA5121-A200-44B2-9C21-E87949EC38F2}"/>
              </a:ext>
            </a:extLst>
          </p:cNvPr>
          <p:cNvSpPr/>
          <p:nvPr/>
        </p:nvSpPr>
        <p:spPr>
          <a:xfrm>
            <a:off x="1169696" y="2787015"/>
            <a:ext cx="2738250" cy="369332"/>
          </a:xfrm>
          <a:prstGeom prst="rect">
            <a:avLst/>
          </a:prstGeom>
        </p:spPr>
        <p:txBody>
          <a:bodyPr wrap="none">
            <a:spAutoFit/>
          </a:bodyPr>
          <a:lstStyle/>
          <a:p>
            <a:r>
              <a:rPr lang="en-US" dirty="0">
                <a:solidFill>
                  <a:schemeClr val="bg1"/>
                </a:solidFill>
              </a:rPr>
              <a:t>Continuous integration</a:t>
            </a:r>
          </a:p>
        </p:txBody>
      </p:sp>
      <p:sp>
        <p:nvSpPr>
          <p:cNvPr id="15" name="Rectangle 14">
            <a:extLst>
              <a:ext uri="{FF2B5EF4-FFF2-40B4-BE49-F238E27FC236}">
                <a16:creationId xmlns:a16="http://schemas.microsoft.com/office/drawing/2014/main" id="{56E2F4DC-2856-4C56-B532-0712A43CEA66}"/>
              </a:ext>
            </a:extLst>
          </p:cNvPr>
          <p:cNvSpPr/>
          <p:nvPr/>
        </p:nvSpPr>
        <p:spPr>
          <a:xfrm>
            <a:off x="1087171" y="2206549"/>
            <a:ext cx="3972562" cy="369332"/>
          </a:xfrm>
          <a:prstGeom prst="rect">
            <a:avLst/>
          </a:prstGeom>
        </p:spPr>
        <p:txBody>
          <a:bodyPr wrap="none">
            <a:spAutoFit/>
          </a:bodyPr>
          <a:lstStyle/>
          <a:p>
            <a:r>
              <a:rPr lang="en-US" dirty="0">
                <a:solidFill>
                  <a:schemeClr val="bg1"/>
                </a:solidFill>
              </a:rPr>
              <a:t>Continuous Delivery / Deployment</a:t>
            </a:r>
          </a:p>
        </p:txBody>
      </p:sp>
    </p:spTree>
    <p:extLst>
      <p:ext uri="{BB962C8B-B14F-4D97-AF65-F5344CB8AC3E}">
        <p14:creationId xmlns:p14="http://schemas.microsoft.com/office/powerpoint/2010/main" val="2540326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9EFE26-FD1E-4DBC-9537-98BCCBB64910}"/>
              </a:ext>
            </a:extLst>
          </p:cNvPr>
          <p:cNvSpPr>
            <a:spLocks noGrp="1"/>
          </p:cNvSpPr>
          <p:nvPr>
            <p:ph type="sldNum" sz="quarter" idx="17"/>
          </p:nvPr>
        </p:nvSpPr>
        <p:spPr/>
        <p:txBody>
          <a:bodyPr/>
          <a:lstStyle/>
          <a:p>
            <a:fld id="{4F9AC08D-23A9-440E-BCB9-AA1E9877CC38}" type="slidenum">
              <a:rPr lang="en-US" smtClean="0"/>
              <a:pPr/>
              <a:t>7</a:t>
            </a:fld>
            <a:endParaRPr lang="en-US" dirty="0"/>
          </a:p>
        </p:txBody>
      </p:sp>
      <p:sp>
        <p:nvSpPr>
          <p:cNvPr id="3" name="Title 2">
            <a:extLst>
              <a:ext uri="{FF2B5EF4-FFF2-40B4-BE49-F238E27FC236}">
                <a16:creationId xmlns:a16="http://schemas.microsoft.com/office/drawing/2014/main" id="{CDE5013C-DB61-42E5-AA09-E3D27C249F93}"/>
              </a:ext>
            </a:extLst>
          </p:cNvPr>
          <p:cNvSpPr>
            <a:spLocks noGrp="1"/>
          </p:cNvSpPr>
          <p:nvPr>
            <p:ph type="title"/>
          </p:nvPr>
        </p:nvSpPr>
        <p:spPr/>
        <p:txBody>
          <a:bodyPr/>
          <a:lstStyle/>
          <a:p>
            <a:r>
              <a:rPr lang="en-US" dirty="0">
                <a:solidFill>
                  <a:schemeClr val="bg1"/>
                </a:solidFill>
              </a:rPr>
              <a:t>Infrastructure Transformation</a:t>
            </a:r>
          </a:p>
        </p:txBody>
      </p:sp>
      <p:sp>
        <p:nvSpPr>
          <p:cNvPr id="4" name="Footer Placeholder 3">
            <a:extLst>
              <a:ext uri="{FF2B5EF4-FFF2-40B4-BE49-F238E27FC236}">
                <a16:creationId xmlns:a16="http://schemas.microsoft.com/office/drawing/2014/main" id="{016ED139-24BA-498B-98A7-E4F8FE2AC3AD}"/>
              </a:ext>
            </a:extLst>
          </p:cNvPr>
          <p:cNvSpPr>
            <a:spLocks noGrp="1"/>
          </p:cNvSpPr>
          <p:nvPr>
            <p:ph type="ftr" sz="quarter" idx="16"/>
          </p:nvPr>
        </p:nvSpPr>
        <p:spPr/>
        <p:txBody>
          <a:bodyPr/>
          <a:lstStyle/>
          <a:p>
            <a:r>
              <a:rPr lang="en-US"/>
              <a:t>Copyright © 2020 Accenture. All rights reserved.</a:t>
            </a:r>
            <a:endParaRPr lang="en-US" dirty="0"/>
          </a:p>
        </p:txBody>
      </p:sp>
      <p:pic>
        <p:nvPicPr>
          <p:cNvPr id="5" name="Picture 4">
            <a:extLst>
              <a:ext uri="{FF2B5EF4-FFF2-40B4-BE49-F238E27FC236}">
                <a16:creationId xmlns:a16="http://schemas.microsoft.com/office/drawing/2014/main" id="{D807B676-D6C1-42E9-958A-C32A14DEF127}"/>
              </a:ext>
            </a:extLst>
          </p:cNvPr>
          <p:cNvPicPr>
            <a:picLocks noChangeAspect="1"/>
          </p:cNvPicPr>
          <p:nvPr/>
        </p:nvPicPr>
        <p:blipFill rotWithShape="1">
          <a:blip r:embed="rId2"/>
          <a:srcRect r="49190"/>
          <a:stretch/>
        </p:blipFill>
        <p:spPr>
          <a:xfrm>
            <a:off x="1146815" y="1170781"/>
            <a:ext cx="4752540" cy="4857750"/>
          </a:xfrm>
          <a:prstGeom prst="rect">
            <a:avLst/>
          </a:prstGeom>
        </p:spPr>
      </p:pic>
      <p:pic>
        <p:nvPicPr>
          <p:cNvPr id="6" name="Picture 5">
            <a:extLst>
              <a:ext uri="{FF2B5EF4-FFF2-40B4-BE49-F238E27FC236}">
                <a16:creationId xmlns:a16="http://schemas.microsoft.com/office/drawing/2014/main" id="{C72BA292-C76C-4483-8CD1-935CC58E49E0}"/>
              </a:ext>
            </a:extLst>
          </p:cNvPr>
          <p:cNvPicPr>
            <a:picLocks noChangeAspect="1"/>
          </p:cNvPicPr>
          <p:nvPr/>
        </p:nvPicPr>
        <p:blipFill rotWithShape="1">
          <a:blip r:embed="rId2"/>
          <a:srcRect l="53543"/>
          <a:stretch/>
        </p:blipFill>
        <p:spPr>
          <a:xfrm>
            <a:off x="7865806" y="1170781"/>
            <a:ext cx="4345371" cy="4857750"/>
          </a:xfrm>
          <a:prstGeom prst="rect">
            <a:avLst/>
          </a:prstGeom>
        </p:spPr>
      </p:pic>
      <p:sp>
        <p:nvSpPr>
          <p:cNvPr id="7" name="Arrow: Right 6">
            <a:extLst>
              <a:ext uri="{FF2B5EF4-FFF2-40B4-BE49-F238E27FC236}">
                <a16:creationId xmlns:a16="http://schemas.microsoft.com/office/drawing/2014/main" id="{64CE2E3A-6587-443D-8FC8-FD240A49E23B}"/>
              </a:ext>
            </a:extLst>
          </p:cNvPr>
          <p:cNvSpPr/>
          <p:nvPr/>
        </p:nvSpPr>
        <p:spPr>
          <a:xfrm>
            <a:off x="6361471" y="3126658"/>
            <a:ext cx="1386348" cy="550607"/>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5581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254812-DD4F-4ED5-8682-A9AB59870AD1}"/>
              </a:ext>
            </a:extLst>
          </p:cNvPr>
          <p:cNvSpPr>
            <a:spLocks noGrp="1"/>
          </p:cNvSpPr>
          <p:nvPr>
            <p:ph type="sldNum" sz="quarter" idx="17"/>
          </p:nvPr>
        </p:nvSpPr>
        <p:spPr/>
        <p:txBody>
          <a:bodyPr/>
          <a:lstStyle/>
          <a:p>
            <a:fld id="{4F9AC08D-23A9-440E-BCB9-AA1E9877CC38}" type="slidenum">
              <a:rPr lang="en-US" smtClean="0"/>
              <a:pPr/>
              <a:t>8</a:t>
            </a:fld>
            <a:endParaRPr lang="en-US" dirty="0"/>
          </a:p>
        </p:txBody>
      </p:sp>
      <p:sp>
        <p:nvSpPr>
          <p:cNvPr id="3" name="Title 2">
            <a:extLst>
              <a:ext uri="{FF2B5EF4-FFF2-40B4-BE49-F238E27FC236}">
                <a16:creationId xmlns:a16="http://schemas.microsoft.com/office/drawing/2014/main" id="{A9FD390C-909C-448F-B88F-6BBB3803EA78}"/>
              </a:ext>
            </a:extLst>
          </p:cNvPr>
          <p:cNvSpPr>
            <a:spLocks noGrp="1"/>
          </p:cNvSpPr>
          <p:nvPr>
            <p:ph type="title"/>
          </p:nvPr>
        </p:nvSpPr>
        <p:spPr>
          <a:xfrm>
            <a:off x="450008" y="399965"/>
            <a:ext cx="13500200" cy="1359871"/>
          </a:xfrm>
        </p:spPr>
        <p:txBody>
          <a:bodyPr/>
          <a:lstStyle/>
          <a:p>
            <a:r>
              <a:rPr lang="en-US" dirty="0">
                <a:solidFill>
                  <a:schemeClr val="bg1"/>
                </a:solidFill>
              </a:rPr>
              <a:t>Developer tools</a:t>
            </a:r>
          </a:p>
        </p:txBody>
      </p:sp>
      <p:sp>
        <p:nvSpPr>
          <p:cNvPr id="4" name="Footer Placeholder 3">
            <a:extLst>
              <a:ext uri="{FF2B5EF4-FFF2-40B4-BE49-F238E27FC236}">
                <a16:creationId xmlns:a16="http://schemas.microsoft.com/office/drawing/2014/main" id="{41FC1772-488E-47BD-8D45-CE04E6DBCA8C}"/>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A4C3C955-F40E-4D9D-8A87-CFF3DDEB2838}"/>
              </a:ext>
            </a:extLst>
          </p:cNvPr>
          <p:cNvSpPr/>
          <p:nvPr/>
        </p:nvSpPr>
        <p:spPr>
          <a:xfrm>
            <a:off x="1001995" y="2615623"/>
            <a:ext cx="12831992" cy="3861735"/>
          </a:xfrm>
          <a:prstGeom prst="rect">
            <a:avLst/>
          </a:prstGeom>
          <a:solidFill>
            <a:schemeClr val="bg1">
              <a:lumMod val="20000"/>
              <a:lumOff val="80000"/>
              <a:alpha val="13000"/>
            </a:schemeClr>
          </a:solid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Left Brace 5">
            <a:extLst>
              <a:ext uri="{FF2B5EF4-FFF2-40B4-BE49-F238E27FC236}">
                <a16:creationId xmlns:a16="http://schemas.microsoft.com/office/drawing/2014/main" id="{513C20AB-AEF9-453D-A2E8-837D269FA018}"/>
              </a:ext>
            </a:extLst>
          </p:cNvPr>
          <p:cNvSpPr/>
          <p:nvPr/>
        </p:nvSpPr>
        <p:spPr>
          <a:xfrm rot="16200000">
            <a:off x="8171962" y="1707843"/>
            <a:ext cx="491203" cy="6841575"/>
          </a:xfrm>
          <a:prstGeom prst="leftBrace">
            <a:avLst>
              <a:gd name="adj1" fmla="val 8333"/>
              <a:gd name="adj2" fmla="val 49674"/>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7" name="Group 6">
            <a:extLst>
              <a:ext uri="{FF2B5EF4-FFF2-40B4-BE49-F238E27FC236}">
                <a16:creationId xmlns:a16="http://schemas.microsoft.com/office/drawing/2014/main" id="{951E947B-AB75-40ED-ACCF-5973ADDC7374}"/>
              </a:ext>
            </a:extLst>
          </p:cNvPr>
          <p:cNvGrpSpPr/>
          <p:nvPr/>
        </p:nvGrpSpPr>
        <p:grpSpPr>
          <a:xfrm>
            <a:off x="7624571" y="3626592"/>
            <a:ext cx="2000869" cy="1401507"/>
            <a:chOff x="4398904" y="2949819"/>
            <a:chExt cx="2316529" cy="1622608"/>
          </a:xfrm>
        </p:grpSpPr>
        <p:sp>
          <p:nvSpPr>
            <p:cNvPr id="8" name="TextBox 7">
              <a:extLst>
                <a:ext uri="{FF2B5EF4-FFF2-40B4-BE49-F238E27FC236}">
                  <a16:creationId xmlns:a16="http://schemas.microsoft.com/office/drawing/2014/main" id="{AB09DF2E-851D-4C9E-BF81-8A0B5B50EBAF}"/>
                </a:ext>
              </a:extLst>
            </p:cNvPr>
            <p:cNvSpPr txBox="1"/>
            <p:nvPr/>
          </p:nvSpPr>
          <p:spPr>
            <a:xfrm>
              <a:off x="4398904" y="3895398"/>
              <a:ext cx="2316529" cy="677029"/>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Customer’s favorite</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tools</a:t>
              </a:r>
            </a:p>
          </p:txBody>
        </p:sp>
        <p:pic>
          <p:nvPicPr>
            <p:cNvPr id="9" name="Picture 8">
              <a:extLst>
                <a:ext uri="{FF2B5EF4-FFF2-40B4-BE49-F238E27FC236}">
                  <a16:creationId xmlns:a16="http://schemas.microsoft.com/office/drawing/2014/main" id="{5FA5B59C-C2DD-4591-A061-D8C48F92407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070352" y="2949819"/>
              <a:ext cx="973623" cy="973623"/>
            </a:xfrm>
            <a:prstGeom prst="rect">
              <a:avLst/>
            </a:prstGeom>
          </p:spPr>
        </p:pic>
      </p:grpSp>
      <p:grpSp>
        <p:nvGrpSpPr>
          <p:cNvPr id="10" name="Group 9">
            <a:extLst>
              <a:ext uri="{FF2B5EF4-FFF2-40B4-BE49-F238E27FC236}">
                <a16:creationId xmlns:a16="http://schemas.microsoft.com/office/drawing/2014/main" id="{402D0DB4-DD3D-4702-A068-E6C37216321F}"/>
              </a:ext>
            </a:extLst>
          </p:cNvPr>
          <p:cNvGrpSpPr/>
          <p:nvPr/>
        </p:nvGrpSpPr>
        <p:grpSpPr>
          <a:xfrm>
            <a:off x="3159450" y="3598051"/>
            <a:ext cx="1904560" cy="1117717"/>
            <a:chOff x="4453409" y="1981242"/>
            <a:chExt cx="2616585" cy="1395981"/>
          </a:xfrm>
        </p:grpSpPr>
        <p:sp>
          <p:nvSpPr>
            <p:cNvPr id="11" name="TextBox 10">
              <a:extLst>
                <a:ext uri="{FF2B5EF4-FFF2-40B4-BE49-F238E27FC236}">
                  <a16:creationId xmlns:a16="http://schemas.microsoft.com/office/drawing/2014/main" id="{71BD2EC9-F94B-4A6A-8FE3-7E07411A2D10}"/>
                </a:ext>
              </a:extLst>
            </p:cNvPr>
            <p:cNvSpPr txBox="1"/>
            <p:nvPr/>
          </p:nvSpPr>
          <p:spPr>
            <a:xfrm>
              <a:off x="4453409" y="2954383"/>
              <a:ext cx="2616585" cy="422840"/>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AWS</a:t>
              </a:r>
              <a:r>
                <a:rPr lang="en-US" sz="1600" b="1"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CodeCommit</a:t>
              </a:r>
            </a:p>
          </p:txBody>
        </p:sp>
        <p:pic>
          <p:nvPicPr>
            <p:cNvPr id="12" name="Picture 11">
              <a:extLst>
                <a:ext uri="{FF2B5EF4-FFF2-40B4-BE49-F238E27FC236}">
                  <a16:creationId xmlns:a16="http://schemas.microsoft.com/office/drawing/2014/main" id="{D269BF27-4C67-41BA-A6A3-30059787F6B9}"/>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5196804" y="1981242"/>
              <a:ext cx="1129797" cy="1081569"/>
            </a:xfrm>
            <a:prstGeom prst="rect">
              <a:avLst/>
            </a:prstGeom>
          </p:spPr>
        </p:pic>
      </p:grpSp>
      <p:grpSp>
        <p:nvGrpSpPr>
          <p:cNvPr id="13" name="Group 12">
            <a:extLst>
              <a:ext uri="{FF2B5EF4-FFF2-40B4-BE49-F238E27FC236}">
                <a16:creationId xmlns:a16="http://schemas.microsoft.com/office/drawing/2014/main" id="{86A5189F-C8E0-45CE-A1A6-BFADBF3B1651}"/>
              </a:ext>
            </a:extLst>
          </p:cNvPr>
          <p:cNvGrpSpPr/>
          <p:nvPr/>
        </p:nvGrpSpPr>
        <p:grpSpPr>
          <a:xfrm>
            <a:off x="5479888" y="3584728"/>
            <a:ext cx="1651285" cy="1216375"/>
            <a:chOff x="6966787" y="1906407"/>
            <a:chExt cx="2001634" cy="1474451"/>
          </a:xfrm>
        </p:grpSpPr>
        <p:sp>
          <p:nvSpPr>
            <p:cNvPr id="14" name="TextBox 13">
              <a:extLst>
                <a:ext uri="{FF2B5EF4-FFF2-40B4-BE49-F238E27FC236}">
                  <a16:creationId xmlns:a16="http://schemas.microsoft.com/office/drawing/2014/main" id="{0CE7072A-9234-481B-BE32-3323DAFA8473}"/>
                </a:ext>
              </a:extLst>
            </p:cNvPr>
            <p:cNvSpPr txBox="1"/>
            <p:nvPr/>
          </p:nvSpPr>
          <p:spPr>
            <a:xfrm>
              <a:off x="6966787" y="2970474"/>
              <a:ext cx="2001634" cy="410384"/>
            </a:xfrm>
            <a:prstGeom prst="rect">
              <a:avLst/>
            </a:prstGeom>
            <a:noFill/>
          </p:spPr>
          <p:txBody>
            <a:bodyPr wrap="non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CodeBuild</a:t>
              </a:r>
            </a:p>
          </p:txBody>
        </p:sp>
        <p:pic>
          <p:nvPicPr>
            <p:cNvPr id="15" name="Picture 14">
              <a:extLst>
                <a:ext uri="{FF2B5EF4-FFF2-40B4-BE49-F238E27FC236}">
                  <a16:creationId xmlns:a16="http://schemas.microsoft.com/office/drawing/2014/main" id="{5A344F3D-5906-48BB-BADA-A4BECB2E1021}"/>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7394571" y="1906407"/>
              <a:ext cx="1146068" cy="1189528"/>
            </a:xfrm>
            <a:prstGeom prst="rect">
              <a:avLst/>
            </a:prstGeom>
          </p:spPr>
        </p:pic>
      </p:grpSp>
      <p:grpSp>
        <p:nvGrpSpPr>
          <p:cNvPr id="16" name="Group 15">
            <a:extLst>
              <a:ext uri="{FF2B5EF4-FFF2-40B4-BE49-F238E27FC236}">
                <a16:creationId xmlns:a16="http://schemas.microsoft.com/office/drawing/2014/main" id="{CA5B5D4A-FB77-41C9-A9A0-7E892A11F7B4}"/>
              </a:ext>
            </a:extLst>
          </p:cNvPr>
          <p:cNvGrpSpPr/>
          <p:nvPr/>
        </p:nvGrpSpPr>
        <p:grpSpPr>
          <a:xfrm>
            <a:off x="10004323" y="3626592"/>
            <a:ext cx="1834027" cy="1191134"/>
            <a:chOff x="2517743" y="2387727"/>
            <a:chExt cx="2119667" cy="1376647"/>
          </a:xfrm>
        </p:grpSpPr>
        <p:sp>
          <p:nvSpPr>
            <p:cNvPr id="17" name="TextBox 16">
              <a:extLst>
                <a:ext uri="{FF2B5EF4-FFF2-40B4-BE49-F238E27FC236}">
                  <a16:creationId xmlns:a16="http://schemas.microsoft.com/office/drawing/2014/main" id="{A4B06BCB-611B-4C1C-BE68-75F72980227F}"/>
                </a:ext>
              </a:extLst>
            </p:cNvPr>
            <p:cNvSpPr txBox="1"/>
            <p:nvPr/>
          </p:nvSpPr>
          <p:spPr>
            <a:xfrm>
              <a:off x="2517743" y="3373092"/>
              <a:ext cx="2119667" cy="391282"/>
            </a:xfrm>
            <a:prstGeom prst="rect">
              <a:avLst/>
            </a:prstGeom>
            <a:noFill/>
          </p:spPr>
          <p:txBody>
            <a:bodyPr wrap="non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a:t>
              </a:r>
              <a:r>
                <a:rPr lang="en-US" sz="1600" b="1"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CodeDeploy</a:t>
              </a:r>
            </a:p>
          </p:txBody>
        </p:sp>
        <p:pic>
          <p:nvPicPr>
            <p:cNvPr id="18" name="Picture 17">
              <a:extLst>
                <a:ext uri="{FF2B5EF4-FFF2-40B4-BE49-F238E27FC236}">
                  <a16:creationId xmlns:a16="http://schemas.microsoft.com/office/drawing/2014/main" id="{2FD9057B-2345-49B2-A5FB-2D9A34AF2B54}"/>
                </a:ext>
              </a:extLst>
            </p:cNvPr>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3030526" y="2387727"/>
              <a:ext cx="1094100" cy="1031060"/>
            </a:xfrm>
            <a:prstGeom prst="rect">
              <a:avLst/>
            </a:prstGeom>
          </p:spPr>
        </p:pic>
      </p:grpSp>
      <p:grpSp>
        <p:nvGrpSpPr>
          <p:cNvPr id="19" name="Group 18">
            <a:extLst>
              <a:ext uri="{FF2B5EF4-FFF2-40B4-BE49-F238E27FC236}">
                <a16:creationId xmlns:a16="http://schemas.microsoft.com/office/drawing/2014/main" id="{0D752F71-BB06-4584-90A9-22E099F4A4F7}"/>
              </a:ext>
            </a:extLst>
          </p:cNvPr>
          <p:cNvGrpSpPr/>
          <p:nvPr/>
        </p:nvGrpSpPr>
        <p:grpSpPr>
          <a:xfrm>
            <a:off x="7617622" y="5469030"/>
            <a:ext cx="1846979" cy="1078027"/>
            <a:chOff x="1671297" y="2351703"/>
            <a:chExt cx="2520021" cy="1470860"/>
          </a:xfrm>
        </p:grpSpPr>
        <p:sp>
          <p:nvSpPr>
            <p:cNvPr id="20" name="TextBox 19">
              <a:extLst>
                <a:ext uri="{FF2B5EF4-FFF2-40B4-BE49-F238E27FC236}">
                  <a16:creationId xmlns:a16="http://schemas.microsoft.com/office/drawing/2014/main" id="{CBDAFA2B-A37E-4F5B-863A-1730109D2C51}"/>
                </a:ext>
              </a:extLst>
            </p:cNvPr>
            <p:cNvSpPr txBox="1"/>
            <p:nvPr/>
          </p:nvSpPr>
          <p:spPr>
            <a:xfrm>
              <a:off x="1671297" y="3360640"/>
              <a:ext cx="2520021" cy="461923"/>
            </a:xfrm>
            <a:prstGeom prst="rect">
              <a:avLst/>
            </a:prstGeom>
            <a:noFill/>
          </p:spPr>
          <p:txBody>
            <a:bodyPr wrap="non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a:t>
              </a:r>
              <a:r>
                <a:rPr lang="en-US" sz="1600" b="1"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CodePipeline</a:t>
              </a:r>
            </a:p>
          </p:txBody>
        </p:sp>
        <p:pic>
          <p:nvPicPr>
            <p:cNvPr id="21" name="Picture 20">
              <a:extLst>
                <a:ext uri="{FF2B5EF4-FFF2-40B4-BE49-F238E27FC236}">
                  <a16:creationId xmlns:a16="http://schemas.microsoft.com/office/drawing/2014/main" id="{6710F1F0-74AB-4DF7-A57D-29A56FD6A431}"/>
                </a:ext>
              </a:extLst>
            </p:cNvPr>
            <p:cNvPicPr>
              <a:picLocks noChangeAspect="1"/>
            </p:cNvPicPr>
            <p:nvPr/>
          </p:nvPicPr>
          <p:blipFill rotWithShape="1">
            <a:blip r:embed="rId6">
              <a:extLst>
                <a:ext uri="{28A0092B-C50C-407E-A947-70E740481C1C}">
                  <a14:useLocalDpi xmlns:a14="http://schemas.microsoft.com/office/drawing/2010/main"/>
                </a:ext>
              </a:extLst>
            </a:blip>
            <a:srcRect/>
            <a:stretch/>
          </p:blipFill>
          <p:spPr>
            <a:xfrm>
              <a:off x="2270595" y="2351703"/>
              <a:ext cx="973138" cy="1047086"/>
            </a:xfrm>
            <a:prstGeom prst="rect">
              <a:avLst/>
            </a:prstGeom>
          </p:spPr>
        </p:pic>
      </p:grpSp>
      <p:pic>
        <p:nvPicPr>
          <p:cNvPr id="22" name="Picture 21">
            <a:extLst>
              <a:ext uri="{FF2B5EF4-FFF2-40B4-BE49-F238E27FC236}">
                <a16:creationId xmlns:a16="http://schemas.microsoft.com/office/drawing/2014/main" id="{4CB86F49-1B61-451F-98D4-13DF51A449CA}"/>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4913262" y="3767250"/>
            <a:ext cx="621821" cy="621821"/>
          </a:xfrm>
          <a:prstGeom prst="rect">
            <a:avLst/>
          </a:prstGeom>
        </p:spPr>
      </p:pic>
      <p:pic>
        <p:nvPicPr>
          <p:cNvPr id="23" name="Picture 22">
            <a:extLst>
              <a:ext uri="{FF2B5EF4-FFF2-40B4-BE49-F238E27FC236}">
                <a16:creationId xmlns:a16="http://schemas.microsoft.com/office/drawing/2014/main" id="{15B619FD-776C-4D53-8D22-609241B211E8}"/>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7045728" y="3846000"/>
            <a:ext cx="621821" cy="621821"/>
          </a:xfrm>
          <a:prstGeom prst="rect">
            <a:avLst/>
          </a:prstGeom>
        </p:spPr>
      </p:pic>
      <p:pic>
        <p:nvPicPr>
          <p:cNvPr id="24" name="Picture 23">
            <a:extLst>
              <a:ext uri="{FF2B5EF4-FFF2-40B4-BE49-F238E27FC236}">
                <a16:creationId xmlns:a16="http://schemas.microsoft.com/office/drawing/2014/main" id="{3C91F05F-3C60-4A67-B4AC-5271DBA32789}"/>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543408" y="3846000"/>
            <a:ext cx="621821" cy="621821"/>
          </a:xfrm>
          <a:prstGeom prst="rect">
            <a:avLst/>
          </a:prstGeom>
        </p:spPr>
      </p:pic>
      <p:sp>
        <p:nvSpPr>
          <p:cNvPr id="25" name="TextBox 24">
            <a:extLst>
              <a:ext uri="{FF2B5EF4-FFF2-40B4-BE49-F238E27FC236}">
                <a16:creationId xmlns:a16="http://schemas.microsoft.com/office/drawing/2014/main" id="{70C0A94E-AC12-4066-ACFB-5B35E50B458F}"/>
              </a:ext>
            </a:extLst>
          </p:cNvPr>
          <p:cNvSpPr txBox="1"/>
          <p:nvPr/>
        </p:nvSpPr>
        <p:spPr>
          <a:xfrm>
            <a:off x="6288114" y="1839048"/>
            <a:ext cx="1675781" cy="338554"/>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AWS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CodeStar</a:t>
            </a:r>
          </a:p>
        </p:txBody>
      </p:sp>
      <p:pic>
        <p:nvPicPr>
          <p:cNvPr id="26" name="Picture 25">
            <a:extLst>
              <a:ext uri="{FF2B5EF4-FFF2-40B4-BE49-F238E27FC236}">
                <a16:creationId xmlns:a16="http://schemas.microsoft.com/office/drawing/2014/main" id="{F178B8EC-E042-4AB7-B1EC-405991195E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96052" y="1097583"/>
            <a:ext cx="751719" cy="743457"/>
          </a:xfrm>
          <a:prstGeom prst="rect">
            <a:avLst/>
          </a:prstGeom>
          <a:solidFill>
            <a:srgbClr val="05AB74"/>
          </a:solidFill>
        </p:spPr>
      </p:pic>
      <p:sp>
        <p:nvSpPr>
          <p:cNvPr id="27" name="Up Arrow Callout 15">
            <a:extLst>
              <a:ext uri="{FF2B5EF4-FFF2-40B4-BE49-F238E27FC236}">
                <a16:creationId xmlns:a16="http://schemas.microsoft.com/office/drawing/2014/main" id="{11FA01CF-C152-4474-8E21-53C9493A1A27}"/>
              </a:ext>
            </a:extLst>
          </p:cNvPr>
          <p:cNvSpPr/>
          <p:nvPr/>
        </p:nvSpPr>
        <p:spPr>
          <a:xfrm>
            <a:off x="6493675" y="2182118"/>
            <a:ext cx="1244661" cy="347869"/>
          </a:xfrm>
          <a:prstGeom prst="upArrowCallout">
            <a:avLst>
              <a:gd name="adj1" fmla="val 19808"/>
              <a:gd name="adj2" fmla="val 25000"/>
              <a:gd name="adj3" fmla="val 50961"/>
              <a:gd name="adj4" fmla="val 64977"/>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29" name="Group 28">
            <a:extLst>
              <a:ext uri="{FF2B5EF4-FFF2-40B4-BE49-F238E27FC236}">
                <a16:creationId xmlns:a16="http://schemas.microsoft.com/office/drawing/2014/main" id="{0B87069C-3AF2-4AFB-9A62-40E3B84251E8}"/>
              </a:ext>
            </a:extLst>
          </p:cNvPr>
          <p:cNvGrpSpPr/>
          <p:nvPr/>
        </p:nvGrpSpPr>
        <p:grpSpPr>
          <a:xfrm>
            <a:off x="11926589" y="4826106"/>
            <a:ext cx="1739618" cy="1376014"/>
            <a:chOff x="-1572148" y="770136"/>
            <a:chExt cx="1108181" cy="1215026"/>
          </a:xfrm>
        </p:grpSpPr>
        <p:sp>
          <p:nvSpPr>
            <p:cNvPr id="30" name="TextBox 29">
              <a:extLst>
                <a:ext uri="{FF2B5EF4-FFF2-40B4-BE49-F238E27FC236}">
                  <a16:creationId xmlns:a16="http://schemas.microsoft.com/office/drawing/2014/main" id="{55E9C1B5-C147-4B56-B948-F30862F22834}"/>
                </a:ext>
              </a:extLst>
            </p:cNvPr>
            <p:cNvSpPr txBox="1"/>
            <p:nvPr/>
          </p:nvSpPr>
          <p:spPr>
            <a:xfrm>
              <a:off x="-1572148" y="1468803"/>
              <a:ext cx="1108181" cy="516359"/>
            </a:xfrm>
            <a:prstGeom prst="rect">
              <a:avLst/>
            </a:prstGeom>
            <a:noFill/>
          </p:spPr>
          <p:txBody>
            <a:bodyPr wrap="square" rtlCol="0">
              <a:spAutoFit/>
            </a:bodyPr>
            <a:lstStyle/>
            <a:p>
              <a:pPr algn="ctr" defTabSz="457189"/>
              <a:r>
                <a:rPr lang="en-US" sz="1600" dirty="0">
                  <a:latin typeface="Amazon Ember" panose="02000000000000000000" pitchFamily="2" charset="0"/>
                  <a:ea typeface="Amazon Ember" panose="02000000000000000000" pitchFamily="2" charset="0"/>
                </a:rPr>
                <a:t>Amazon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CloudWatch</a:t>
              </a:r>
            </a:p>
          </p:txBody>
        </p:sp>
        <p:pic>
          <p:nvPicPr>
            <p:cNvPr id="31" name="Picture 2" descr="Amazon CloudWatch">
              <a:extLst>
                <a:ext uri="{FF2B5EF4-FFF2-40B4-BE49-F238E27FC236}">
                  <a16:creationId xmlns:a16="http://schemas.microsoft.com/office/drawing/2014/main" id="{64BE257A-73C7-4532-A46E-A9FE23B793E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42532" y="770136"/>
              <a:ext cx="665705" cy="771662"/>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31">
            <a:extLst>
              <a:ext uri="{FF2B5EF4-FFF2-40B4-BE49-F238E27FC236}">
                <a16:creationId xmlns:a16="http://schemas.microsoft.com/office/drawing/2014/main" id="{17484F7D-4FA8-4562-9D7A-54CFAFEBE45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676647" y="3416428"/>
            <a:ext cx="2409584" cy="1182657"/>
          </a:xfrm>
          <a:prstGeom prst="rect">
            <a:avLst/>
          </a:prstGeom>
        </p:spPr>
      </p:pic>
      <p:sp>
        <p:nvSpPr>
          <p:cNvPr id="33" name="TextBox 32">
            <a:extLst>
              <a:ext uri="{FF2B5EF4-FFF2-40B4-BE49-F238E27FC236}">
                <a16:creationId xmlns:a16="http://schemas.microsoft.com/office/drawing/2014/main" id="{90DADB29-7F79-482A-9ABF-BE1467BC563C}"/>
              </a:ext>
            </a:extLst>
          </p:cNvPr>
          <p:cNvSpPr txBox="1"/>
          <p:nvPr/>
        </p:nvSpPr>
        <p:spPr>
          <a:xfrm>
            <a:off x="12053637" y="4418338"/>
            <a:ext cx="1485522" cy="338554"/>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AWS</a:t>
            </a:r>
            <a:r>
              <a:rPr lang="en-US" sz="1600" b="1" dirty="0">
                <a:latin typeface="Amazon Ember" panose="02000000000000000000" pitchFamily="2" charset="0"/>
                <a:ea typeface="Amazon Ember" panose="02000000000000000000" pitchFamily="2"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X-Ray</a:t>
            </a:r>
          </a:p>
        </p:txBody>
      </p:sp>
      <p:sp>
        <p:nvSpPr>
          <p:cNvPr id="36" name="TextBox 35">
            <a:extLst>
              <a:ext uri="{FF2B5EF4-FFF2-40B4-BE49-F238E27FC236}">
                <a16:creationId xmlns:a16="http://schemas.microsoft.com/office/drawing/2014/main" id="{5DD4E57C-29BD-4758-9B76-FA790D6C08EC}"/>
              </a:ext>
            </a:extLst>
          </p:cNvPr>
          <p:cNvSpPr txBox="1"/>
          <p:nvPr/>
        </p:nvSpPr>
        <p:spPr>
          <a:xfrm>
            <a:off x="1289146" y="4382477"/>
            <a:ext cx="1673856" cy="338554"/>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AWS</a:t>
            </a:r>
            <a:r>
              <a:rPr lang="en-US" sz="1600" b="1"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Cloud9 IDE</a:t>
            </a:r>
          </a:p>
        </p:txBody>
      </p:sp>
      <p:pic>
        <p:nvPicPr>
          <p:cNvPr id="1030" name="Picture 6" descr="App, application, code, developer, editor, ide, web icon">
            <a:extLst>
              <a:ext uri="{FF2B5EF4-FFF2-40B4-BE49-F238E27FC236}">
                <a16:creationId xmlns:a16="http://schemas.microsoft.com/office/drawing/2014/main" id="{54947910-B10C-4195-B8D1-9AB09E2B94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8339" y="3425260"/>
            <a:ext cx="945470" cy="9454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9" name="Content Placeholder 3">
            <a:extLst>
              <a:ext uri="{FF2B5EF4-FFF2-40B4-BE49-F238E27FC236}">
                <a16:creationId xmlns:a16="http://schemas.microsoft.com/office/drawing/2014/main" id="{05F73358-10AC-48C7-8AF1-060200A45297}"/>
              </a:ext>
            </a:extLst>
          </p:cNvPr>
          <p:cNvGraphicFramePr>
            <a:graphicFrameLocks/>
          </p:cNvGraphicFramePr>
          <p:nvPr/>
        </p:nvGraphicFramePr>
        <p:xfrm>
          <a:off x="1375667" y="1861334"/>
          <a:ext cx="12290540" cy="247445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519455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A4D294-F831-429C-AA9B-16631FA14691}"/>
              </a:ext>
            </a:extLst>
          </p:cNvPr>
          <p:cNvSpPr>
            <a:spLocks noGrp="1"/>
          </p:cNvSpPr>
          <p:nvPr>
            <p:ph type="sldNum" sz="quarter" idx="17"/>
          </p:nvPr>
        </p:nvSpPr>
        <p:spPr/>
        <p:txBody>
          <a:bodyPr/>
          <a:lstStyle/>
          <a:p>
            <a:fld id="{4F9AC08D-23A9-440E-BCB9-AA1E9877CC38}" type="slidenum">
              <a:rPr lang="en-US" smtClean="0"/>
              <a:pPr/>
              <a:t>9</a:t>
            </a:fld>
            <a:endParaRPr lang="en-US" dirty="0"/>
          </a:p>
        </p:txBody>
      </p:sp>
      <p:sp>
        <p:nvSpPr>
          <p:cNvPr id="3" name="Title 2">
            <a:extLst>
              <a:ext uri="{FF2B5EF4-FFF2-40B4-BE49-F238E27FC236}">
                <a16:creationId xmlns:a16="http://schemas.microsoft.com/office/drawing/2014/main" id="{1B23ADBE-6C08-4A32-AACE-B0A64B049195}"/>
              </a:ext>
            </a:extLst>
          </p:cNvPr>
          <p:cNvSpPr>
            <a:spLocks noGrp="1"/>
          </p:cNvSpPr>
          <p:nvPr>
            <p:ph type="title"/>
          </p:nvPr>
        </p:nvSpPr>
        <p:spPr/>
        <p:txBody>
          <a:bodyPr/>
          <a:lstStyle/>
          <a:p>
            <a:r>
              <a:rPr lang="en-US" dirty="0">
                <a:solidFill>
                  <a:schemeClr val="bg1"/>
                </a:solidFill>
              </a:rPr>
              <a:t>Code Star</a:t>
            </a:r>
          </a:p>
        </p:txBody>
      </p:sp>
      <p:sp>
        <p:nvSpPr>
          <p:cNvPr id="4" name="Footer Placeholder 3">
            <a:extLst>
              <a:ext uri="{FF2B5EF4-FFF2-40B4-BE49-F238E27FC236}">
                <a16:creationId xmlns:a16="http://schemas.microsoft.com/office/drawing/2014/main" id="{1D81E65E-C877-4B54-A4FF-4AF4C891FC34}"/>
              </a:ext>
            </a:extLst>
          </p:cNvPr>
          <p:cNvSpPr>
            <a:spLocks noGrp="1"/>
          </p:cNvSpPr>
          <p:nvPr>
            <p:ph type="ftr" sz="quarter" idx="16"/>
          </p:nvPr>
        </p:nvSpPr>
        <p:spPr/>
        <p:txBody>
          <a:bodyPr/>
          <a:lstStyle/>
          <a:p>
            <a:r>
              <a:rPr lang="en-US"/>
              <a:t>Copyright © 2020 Accenture. All rights reserved.</a:t>
            </a:r>
            <a:endParaRPr lang="en-US" dirty="0"/>
          </a:p>
        </p:txBody>
      </p:sp>
      <p:sp>
        <p:nvSpPr>
          <p:cNvPr id="5" name="TextBox 4">
            <a:extLst>
              <a:ext uri="{FF2B5EF4-FFF2-40B4-BE49-F238E27FC236}">
                <a16:creationId xmlns:a16="http://schemas.microsoft.com/office/drawing/2014/main" id="{02DAE63B-A5A0-48A9-B006-BC0178124E5F}"/>
              </a:ext>
            </a:extLst>
          </p:cNvPr>
          <p:cNvSpPr txBox="1"/>
          <p:nvPr/>
        </p:nvSpPr>
        <p:spPr>
          <a:xfrm>
            <a:off x="1977526" y="4154780"/>
            <a:ext cx="1994706" cy="400110"/>
          </a:xfrm>
          <a:prstGeom prst="rect">
            <a:avLst/>
          </a:prstGeom>
          <a:noFill/>
        </p:spPr>
        <p:txBody>
          <a:bodyPr wrap="square" rtlCol="0">
            <a:spAutoFit/>
          </a:bodyPr>
          <a:lstStyle/>
          <a:p>
            <a:r>
              <a:rPr lang="en-US" sz="2000" dirty="0">
                <a:latin typeface="Amazon Ember" panose="020B0603020204020204" pitchFamily="34" charset="0"/>
                <a:ea typeface="Amazon Ember" panose="020B0603020204020204" pitchFamily="34" charset="0"/>
                <a:cs typeface="Amazon Ember" panose="020B0603020204020204" pitchFamily="34" charset="0"/>
              </a:rPr>
              <a:t>AWS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CodeStar</a:t>
            </a:r>
          </a:p>
        </p:txBody>
      </p:sp>
      <p:pic>
        <p:nvPicPr>
          <p:cNvPr id="6" name="Picture 5">
            <a:extLst>
              <a:ext uri="{FF2B5EF4-FFF2-40B4-BE49-F238E27FC236}">
                <a16:creationId xmlns:a16="http://schemas.microsoft.com/office/drawing/2014/main" id="{ABBEACA2-BAF9-4F5D-A7CB-A188810A7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2327" y="2826826"/>
            <a:ext cx="1227790" cy="1214296"/>
          </a:xfrm>
          <a:prstGeom prst="rect">
            <a:avLst/>
          </a:prstGeom>
          <a:solidFill>
            <a:srgbClr val="05AB74"/>
          </a:solidFill>
        </p:spPr>
      </p:pic>
      <p:sp>
        <p:nvSpPr>
          <p:cNvPr id="7" name="Rectangle 6">
            <a:extLst>
              <a:ext uri="{FF2B5EF4-FFF2-40B4-BE49-F238E27FC236}">
                <a16:creationId xmlns:a16="http://schemas.microsoft.com/office/drawing/2014/main" id="{3F183341-C314-4C84-9F5D-FFC3F6339669}"/>
              </a:ext>
            </a:extLst>
          </p:cNvPr>
          <p:cNvSpPr/>
          <p:nvPr/>
        </p:nvSpPr>
        <p:spPr>
          <a:xfrm>
            <a:off x="5498075" y="2029995"/>
            <a:ext cx="7197725" cy="2893100"/>
          </a:xfrm>
          <a:prstGeom prst="rect">
            <a:avLst/>
          </a:prstGeom>
        </p:spPr>
        <p:txBody>
          <a:bodyPr>
            <a:spAutoFit/>
          </a:bodyPr>
          <a:lstStyle/>
          <a:p>
            <a:endParaRPr lang="en-US" sz="2000" dirty="0">
              <a:solidFill>
                <a:srgbClr val="000000"/>
              </a:solidFill>
            </a:endParaRPr>
          </a:p>
          <a:p>
            <a:pPr marL="342900" indent="-342900">
              <a:buFont typeface="Arial" panose="020B0604020202020204" pitchFamily="34" charset="0"/>
              <a:buChar char="•"/>
            </a:pPr>
            <a:r>
              <a:rPr lang="en-US" dirty="0">
                <a:solidFill>
                  <a:srgbClr val="18537D"/>
                </a:solidFill>
              </a:rPr>
              <a:t>Teams –manage users, permissions, and roles</a:t>
            </a:r>
          </a:p>
          <a:p>
            <a:pPr marL="342900" indent="-342900">
              <a:buFont typeface="Arial" panose="020B0604020202020204" pitchFamily="34" charset="0"/>
              <a:buChar char="•"/>
            </a:pPr>
            <a:endParaRPr lang="en-US" dirty="0">
              <a:solidFill>
                <a:srgbClr val="18537D"/>
              </a:solidFill>
            </a:endParaRPr>
          </a:p>
          <a:p>
            <a:pPr marL="342900" indent="-342900">
              <a:buFont typeface="Arial" panose="020B0604020202020204" pitchFamily="34" charset="0"/>
              <a:buChar char="•"/>
            </a:pPr>
            <a:r>
              <a:rPr lang="en-US" dirty="0">
                <a:solidFill>
                  <a:srgbClr val="18537D"/>
                </a:solidFill>
              </a:rPr>
              <a:t>Projects –create and manage applications</a:t>
            </a:r>
          </a:p>
          <a:p>
            <a:pPr marL="342900" indent="-342900">
              <a:buFont typeface="Arial" panose="020B0604020202020204" pitchFamily="34" charset="0"/>
              <a:buChar char="•"/>
            </a:pPr>
            <a:endParaRPr lang="en-US" dirty="0">
              <a:solidFill>
                <a:srgbClr val="18537D"/>
              </a:solidFill>
            </a:endParaRPr>
          </a:p>
          <a:p>
            <a:pPr marL="342900" indent="-342900">
              <a:buFont typeface="Arial" panose="020B0604020202020204" pitchFamily="34" charset="0"/>
              <a:buChar char="•"/>
            </a:pPr>
            <a:r>
              <a:rPr lang="en-US" dirty="0">
                <a:solidFill>
                  <a:srgbClr val="18537D"/>
                </a:solidFill>
              </a:rPr>
              <a:t>Integrations –Cloud9 IDE, GitHub, and Jira</a:t>
            </a:r>
          </a:p>
          <a:p>
            <a:pPr marL="342900" indent="-342900">
              <a:buFont typeface="Arial" panose="020B0604020202020204" pitchFamily="34" charset="0"/>
              <a:buChar char="•"/>
            </a:pPr>
            <a:endParaRPr lang="en-US" dirty="0">
              <a:solidFill>
                <a:srgbClr val="18537D"/>
              </a:solidFill>
            </a:endParaRPr>
          </a:p>
          <a:p>
            <a:pPr marL="342900" indent="-342900">
              <a:buFont typeface="Arial" panose="020B0604020202020204" pitchFamily="34" charset="0"/>
              <a:buChar char="•"/>
            </a:pPr>
            <a:r>
              <a:rPr lang="en-US" dirty="0">
                <a:solidFill>
                  <a:srgbClr val="18537D"/>
                </a:solidFill>
              </a:rPr>
              <a:t>Manage –centralized control for source control, build and deploy</a:t>
            </a:r>
          </a:p>
          <a:p>
            <a:endParaRPr lang="en-US" dirty="0"/>
          </a:p>
        </p:txBody>
      </p:sp>
      <p:sp>
        <p:nvSpPr>
          <p:cNvPr id="8" name="Rectangle 7">
            <a:extLst>
              <a:ext uri="{FF2B5EF4-FFF2-40B4-BE49-F238E27FC236}">
                <a16:creationId xmlns:a16="http://schemas.microsoft.com/office/drawing/2014/main" id="{BB04DDCE-9FAF-4BA3-ACE5-4FC1DF38C8EE}"/>
              </a:ext>
            </a:extLst>
          </p:cNvPr>
          <p:cNvSpPr/>
          <p:nvPr/>
        </p:nvSpPr>
        <p:spPr>
          <a:xfrm>
            <a:off x="1664545" y="1359726"/>
            <a:ext cx="11071122" cy="400110"/>
          </a:xfrm>
          <a:prstGeom prst="rect">
            <a:avLst/>
          </a:prstGeom>
        </p:spPr>
        <p:txBody>
          <a:bodyPr wrap="square">
            <a:spAutoFit/>
          </a:bodyPr>
          <a:lstStyle/>
          <a:p>
            <a:pPr algn="ctr"/>
            <a:r>
              <a:rPr lang="en-US" sz="2000" b="1" dirty="0">
                <a:solidFill>
                  <a:srgbClr val="18537D"/>
                </a:solidFill>
              </a:rPr>
              <a:t>AWS </a:t>
            </a:r>
            <a:r>
              <a:rPr lang="en-US" sz="2000" b="1" dirty="0" err="1">
                <a:solidFill>
                  <a:srgbClr val="18537D"/>
                </a:solidFill>
              </a:rPr>
              <a:t>CodeStar</a:t>
            </a:r>
            <a:r>
              <a:rPr lang="en-US" sz="2000" b="1" dirty="0">
                <a:solidFill>
                  <a:srgbClr val="18537D"/>
                </a:solidFill>
              </a:rPr>
              <a:t> enables you to quickly develop, build, and deploy applications on AWS</a:t>
            </a:r>
          </a:p>
        </p:txBody>
      </p:sp>
    </p:spTree>
    <p:extLst>
      <p:ext uri="{BB962C8B-B14F-4D97-AF65-F5344CB8AC3E}">
        <p14:creationId xmlns:p14="http://schemas.microsoft.com/office/powerpoint/2010/main" val="53301067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5CAA18-14A7-4906-B976-7F908B1DDCF2}"/>
              </a:ext>
            </a:extLst>
          </p:cNvPr>
          <p:cNvSpPr>
            <a:spLocks noGrp="1"/>
          </p:cNvSpPr>
          <p:nvPr>
            <p:ph type="sldNum" sz="quarter" idx="17"/>
          </p:nvPr>
        </p:nvSpPr>
        <p:spPr/>
        <p:txBody>
          <a:bodyPr/>
          <a:lstStyle/>
          <a:p>
            <a:fld id="{4F9AC08D-23A9-440E-BCB9-AA1E9877CC38}" type="slidenum">
              <a:rPr lang="en-US" smtClean="0"/>
              <a:pPr/>
              <a:t>10</a:t>
            </a:fld>
            <a:endParaRPr lang="en-US" dirty="0"/>
          </a:p>
        </p:txBody>
      </p:sp>
      <p:sp>
        <p:nvSpPr>
          <p:cNvPr id="3" name="Title 2">
            <a:extLst>
              <a:ext uri="{FF2B5EF4-FFF2-40B4-BE49-F238E27FC236}">
                <a16:creationId xmlns:a16="http://schemas.microsoft.com/office/drawing/2014/main" id="{924EBA7F-CDB1-4436-A01B-85F0C386251B}"/>
              </a:ext>
            </a:extLst>
          </p:cNvPr>
          <p:cNvSpPr>
            <a:spLocks noGrp="1"/>
          </p:cNvSpPr>
          <p:nvPr>
            <p:ph type="title"/>
          </p:nvPr>
        </p:nvSpPr>
        <p:spPr>
          <a:xfrm>
            <a:off x="450008" y="294329"/>
            <a:ext cx="13500200" cy="1359871"/>
          </a:xfrm>
        </p:spPr>
        <p:txBody>
          <a:bodyPr/>
          <a:lstStyle/>
          <a:p>
            <a:r>
              <a:rPr lang="en-US" dirty="0">
                <a:solidFill>
                  <a:schemeClr val="bg1"/>
                </a:solidFill>
              </a:rPr>
              <a:t>Code Star</a:t>
            </a:r>
          </a:p>
        </p:txBody>
      </p:sp>
      <p:sp>
        <p:nvSpPr>
          <p:cNvPr id="4" name="Footer Placeholder 3">
            <a:extLst>
              <a:ext uri="{FF2B5EF4-FFF2-40B4-BE49-F238E27FC236}">
                <a16:creationId xmlns:a16="http://schemas.microsoft.com/office/drawing/2014/main" id="{343ABCC1-8D25-4671-BF8E-C316A5E4EC6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B4F2AB55-AC6C-4318-AFC5-B8DFB2E5217B}"/>
              </a:ext>
            </a:extLst>
          </p:cNvPr>
          <p:cNvSpPr/>
          <p:nvPr/>
        </p:nvSpPr>
        <p:spPr>
          <a:xfrm>
            <a:off x="450005" y="1231436"/>
            <a:ext cx="4804520" cy="2671309"/>
          </a:xfrm>
          <a:prstGeom prst="rect">
            <a:avLst/>
          </a:prstGeom>
        </p:spPr>
        <p:txBody>
          <a:bodyPr wrap="none">
            <a:spAutoFit/>
          </a:bodyPr>
          <a:lstStyle/>
          <a:p>
            <a:r>
              <a:rPr lang="en-US" b="1" dirty="0">
                <a:solidFill>
                  <a:srgbClr val="18537D"/>
                </a:solidFill>
              </a:rPr>
              <a:t>Project Template Application Categories</a:t>
            </a:r>
          </a:p>
          <a:p>
            <a:endParaRPr lang="en-US" dirty="0"/>
          </a:p>
          <a:p>
            <a:pPr marL="285750" indent="-285750">
              <a:lnSpc>
                <a:spcPct val="150000"/>
              </a:lnSpc>
              <a:buFont typeface="Arial" panose="020B0604020202020204" pitchFamily="34" charset="0"/>
              <a:buChar char="•"/>
            </a:pPr>
            <a:r>
              <a:rPr lang="en-US" dirty="0">
                <a:solidFill>
                  <a:srgbClr val="18537D"/>
                </a:solidFill>
              </a:rPr>
              <a:t>Web application</a:t>
            </a:r>
          </a:p>
          <a:p>
            <a:pPr marL="285750" indent="-285750">
              <a:lnSpc>
                <a:spcPct val="150000"/>
              </a:lnSpc>
              <a:buFont typeface="Arial" panose="020B0604020202020204" pitchFamily="34" charset="0"/>
              <a:buChar char="•"/>
            </a:pPr>
            <a:r>
              <a:rPr lang="en-US" dirty="0">
                <a:solidFill>
                  <a:srgbClr val="18537D"/>
                </a:solidFill>
              </a:rPr>
              <a:t>Web service</a:t>
            </a:r>
          </a:p>
          <a:p>
            <a:pPr marL="285750" indent="-285750">
              <a:lnSpc>
                <a:spcPct val="150000"/>
              </a:lnSpc>
              <a:buFont typeface="Arial" panose="020B0604020202020204" pitchFamily="34" charset="0"/>
              <a:buChar char="•"/>
            </a:pPr>
            <a:r>
              <a:rPr lang="en-US" dirty="0">
                <a:solidFill>
                  <a:srgbClr val="18537D"/>
                </a:solidFill>
              </a:rPr>
              <a:t>Alexa skill</a:t>
            </a:r>
          </a:p>
          <a:p>
            <a:pPr marL="285750" indent="-285750">
              <a:lnSpc>
                <a:spcPct val="150000"/>
              </a:lnSpc>
              <a:buFont typeface="Arial" panose="020B0604020202020204" pitchFamily="34" charset="0"/>
              <a:buChar char="•"/>
            </a:pPr>
            <a:r>
              <a:rPr lang="en-US" dirty="0">
                <a:solidFill>
                  <a:srgbClr val="18537D"/>
                </a:solidFill>
              </a:rPr>
              <a:t>Static website</a:t>
            </a:r>
          </a:p>
          <a:p>
            <a:pPr marL="285750" indent="-285750">
              <a:lnSpc>
                <a:spcPct val="150000"/>
              </a:lnSpc>
              <a:buFont typeface="Arial" panose="020B0604020202020204" pitchFamily="34" charset="0"/>
              <a:buChar char="•"/>
            </a:pPr>
            <a:r>
              <a:rPr lang="en-US" dirty="0">
                <a:solidFill>
                  <a:srgbClr val="18537D"/>
                </a:solidFill>
              </a:rPr>
              <a:t>AWS Config rule</a:t>
            </a:r>
          </a:p>
        </p:txBody>
      </p:sp>
      <p:sp>
        <p:nvSpPr>
          <p:cNvPr id="6" name="Rectangle 5">
            <a:extLst>
              <a:ext uri="{FF2B5EF4-FFF2-40B4-BE49-F238E27FC236}">
                <a16:creationId xmlns:a16="http://schemas.microsoft.com/office/drawing/2014/main" id="{E14CE044-B288-49DF-965F-EE6B1B6C1C5A}"/>
              </a:ext>
            </a:extLst>
          </p:cNvPr>
          <p:cNvSpPr/>
          <p:nvPr/>
        </p:nvSpPr>
        <p:spPr>
          <a:xfrm>
            <a:off x="528664" y="4279436"/>
            <a:ext cx="4026094" cy="1840312"/>
          </a:xfrm>
          <a:prstGeom prst="rect">
            <a:avLst/>
          </a:prstGeom>
        </p:spPr>
        <p:txBody>
          <a:bodyPr wrap="square">
            <a:spAutoFit/>
          </a:bodyPr>
          <a:lstStyle/>
          <a:p>
            <a:r>
              <a:rPr lang="en-US" b="1" dirty="0">
                <a:solidFill>
                  <a:srgbClr val="18537D"/>
                </a:solidFill>
              </a:rPr>
              <a:t>Project Template AWS Services</a:t>
            </a:r>
          </a:p>
          <a:p>
            <a:endParaRPr lang="en-US" dirty="0">
              <a:solidFill>
                <a:srgbClr val="18537D"/>
              </a:solidFill>
            </a:endParaRPr>
          </a:p>
          <a:p>
            <a:pPr marL="285750" indent="-285750">
              <a:lnSpc>
                <a:spcPct val="150000"/>
              </a:lnSpc>
              <a:buFont typeface="Arial" panose="020B0604020202020204" pitchFamily="34" charset="0"/>
              <a:buChar char="•"/>
            </a:pPr>
            <a:r>
              <a:rPr lang="en-US" dirty="0">
                <a:solidFill>
                  <a:srgbClr val="18537D"/>
                </a:solidFill>
              </a:rPr>
              <a:t>AWS Elastic Beanstalk</a:t>
            </a:r>
          </a:p>
          <a:p>
            <a:pPr marL="285750" indent="-285750">
              <a:lnSpc>
                <a:spcPct val="150000"/>
              </a:lnSpc>
              <a:buFont typeface="Arial" panose="020B0604020202020204" pitchFamily="34" charset="0"/>
              <a:buChar char="•"/>
            </a:pPr>
            <a:r>
              <a:rPr lang="en-US" dirty="0">
                <a:solidFill>
                  <a:srgbClr val="18537D"/>
                </a:solidFill>
              </a:rPr>
              <a:t>Amazon EC2</a:t>
            </a:r>
          </a:p>
          <a:p>
            <a:pPr marL="285750" indent="-285750">
              <a:lnSpc>
                <a:spcPct val="150000"/>
              </a:lnSpc>
              <a:buFont typeface="Arial" panose="020B0604020202020204" pitchFamily="34" charset="0"/>
              <a:buChar char="•"/>
            </a:pPr>
            <a:r>
              <a:rPr lang="en-US" dirty="0">
                <a:solidFill>
                  <a:srgbClr val="18537D"/>
                </a:solidFill>
              </a:rPr>
              <a:t>AWS Lambda</a:t>
            </a:r>
          </a:p>
        </p:txBody>
      </p:sp>
      <p:sp>
        <p:nvSpPr>
          <p:cNvPr id="8" name="Rectangle 7">
            <a:extLst>
              <a:ext uri="{FF2B5EF4-FFF2-40B4-BE49-F238E27FC236}">
                <a16:creationId xmlns:a16="http://schemas.microsoft.com/office/drawing/2014/main" id="{F1FD7D5E-2522-40F1-B55A-D100D68ED748}"/>
              </a:ext>
            </a:extLst>
          </p:cNvPr>
          <p:cNvSpPr/>
          <p:nvPr/>
        </p:nvSpPr>
        <p:spPr>
          <a:xfrm>
            <a:off x="5778883" y="1231436"/>
            <a:ext cx="3823483" cy="3917804"/>
          </a:xfrm>
          <a:prstGeom prst="rect">
            <a:avLst/>
          </a:prstGeom>
        </p:spPr>
        <p:txBody>
          <a:bodyPr wrap="none">
            <a:spAutoFit/>
          </a:bodyPr>
          <a:lstStyle/>
          <a:p>
            <a:r>
              <a:rPr lang="en-US" b="1" dirty="0">
                <a:solidFill>
                  <a:srgbClr val="18537D"/>
                </a:solidFill>
              </a:rPr>
              <a:t>Project Template Programming </a:t>
            </a:r>
          </a:p>
          <a:p>
            <a:r>
              <a:rPr lang="en-US" b="1" dirty="0">
                <a:solidFill>
                  <a:srgbClr val="18537D"/>
                </a:solidFill>
              </a:rPr>
              <a:t>Languages</a:t>
            </a:r>
          </a:p>
          <a:p>
            <a:pPr indent="-285750">
              <a:lnSpc>
                <a:spcPct val="150000"/>
              </a:lnSpc>
              <a:buFont typeface="Arial" panose="020B0604020202020204" pitchFamily="34" charset="0"/>
              <a:buChar char="•"/>
            </a:pPr>
            <a:r>
              <a:rPr lang="en-US" dirty="0">
                <a:solidFill>
                  <a:srgbClr val="18537D"/>
                </a:solidFill>
              </a:rPr>
              <a:t>C#</a:t>
            </a:r>
          </a:p>
          <a:p>
            <a:pPr marL="285750" indent="-285750">
              <a:lnSpc>
                <a:spcPct val="150000"/>
              </a:lnSpc>
              <a:buFont typeface="Arial" panose="020B0604020202020204" pitchFamily="34" charset="0"/>
              <a:buChar char="•"/>
            </a:pPr>
            <a:r>
              <a:rPr lang="en-US" dirty="0">
                <a:solidFill>
                  <a:srgbClr val="18537D"/>
                </a:solidFill>
              </a:rPr>
              <a:t>Go</a:t>
            </a:r>
          </a:p>
          <a:p>
            <a:pPr marL="285750" indent="-285750">
              <a:lnSpc>
                <a:spcPct val="150000"/>
              </a:lnSpc>
              <a:buFont typeface="Arial" panose="020B0604020202020204" pitchFamily="34" charset="0"/>
              <a:buChar char="•"/>
            </a:pPr>
            <a:r>
              <a:rPr lang="en-US" dirty="0">
                <a:solidFill>
                  <a:srgbClr val="18537D"/>
                </a:solidFill>
              </a:rPr>
              <a:t>HTML.5</a:t>
            </a:r>
          </a:p>
          <a:p>
            <a:pPr marL="285750" indent="-285750">
              <a:lnSpc>
                <a:spcPct val="150000"/>
              </a:lnSpc>
              <a:buFont typeface="Arial" panose="020B0604020202020204" pitchFamily="34" charset="0"/>
              <a:buChar char="•"/>
            </a:pPr>
            <a:r>
              <a:rPr lang="en-US" dirty="0">
                <a:solidFill>
                  <a:srgbClr val="18537D"/>
                </a:solidFill>
              </a:rPr>
              <a:t>Java</a:t>
            </a:r>
          </a:p>
          <a:p>
            <a:pPr marL="285750" indent="-285750">
              <a:lnSpc>
                <a:spcPct val="150000"/>
              </a:lnSpc>
              <a:buFont typeface="Arial" panose="020B0604020202020204" pitchFamily="34" charset="0"/>
              <a:buChar char="•"/>
            </a:pPr>
            <a:r>
              <a:rPr lang="en-US" dirty="0">
                <a:solidFill>
                  <a:srgbClr val="18537D"/>
                </a:solidFill>
              </a:rPr>
              <a:t>Node.js</a:t>
            </a:r>
          </a:p>
          <a:p>
            <a:pPr marL="285750" indent="-285750">
              <a:lnSpc>
                <a:spcPct val="150000"/>
              </a:lnSpc>
              <a:buFont typeface="Arial" panose="020B0604020202020204" pitchFamily="34" charset="0"/>
              <a:buChar char="•"/>
            </a:pPr>
            <a:r>
              <a:rPr lang="en-US" dirty="0">
                <a:solidFill>
                  <a:srgbClr val="18537D"/>
                </a:solidFill>
              </a:rPr>
              <a:t>PHP</a:t>
            </a:r>
          </a:p>
          <a:p>
            <a:pPr marL="285750" indent="-285750">
              <a:lnSpc>
                <a:spcPct val="150000"/>
              </a:lnSpc>
              <a:buFont typeface="Arial" panose="020B0604020202020204" pitchFamily="34" charset="0"/>
              <a:buChar char="•"/>
            </a:pPr>
            <a:r>
              <a:rPr lang="en-US" dirty="0">
                <a:solidFill>
                  <a:srgbClr val="18537D"/>
                </a:solidFill>
              </a:rPr>
              <a:t>Python</a:t>
            </a:r>
          </a:p>
          <a:p>
            <a:pPr marL="285750" indent="-285750">
              <a:lnSpc>
                <a:spcPct val="150000"/>
              </a:lnSpc>
              <a:buFont typeface="Arial" panose="020B0604020202020204" pitchFamily="34" charset="0"/>
              <a:buChar char="•"/>
            </a:pPr>
            <a:r>
              <a:rPr lang="en-US" dirty="0">
                <a:solidFill>
                  <a:srgbClr val="18537D"/>
                </a:solidFill>
              </a:rPr>
              <a:t>Ruby</a:t>
            </a:r>
          </a:p>
        </p:txBody>
      </p:sp>
      <p:sp>
        <p:nvSpPr>
          <p:cNvPr id="10" name="Rectangle 9">
            <a:extLst>
              <a:ext uri="{FF2B5EF4-FFF2-40B4-BE49-F238E27FC236}">
                <a16:creationId xmlns:a16="http://schemas.microsoft.com/office/drawing/2014/main" id="{EA1FC526-B279-47C2-BA0B-C038D981416B}"/>
              </a:ext>
            </a:extLst>
          </p:cNvPr>
          <p:cNvSpPr/>
          <p:nvPr/>
        </p:nvSpPr>
        <p:spPr>
          <a:xfrm>
            <a:off x="10126724" y="1231436"/>
            <a:ext cx="2968856" cy="1563313"/>
          </a:xfrm>
          <a:prstGeom prst="rect">
            <a:avLst/>
          </a:prstGeom>
        </p:spPr>
        <p:txBody>
          <a:bodyPr wrap="square">
            <a:spAutoFit/>
          </a:bodyPr>
          <a:lstStyle/>
          <a:p>
            <a:r>
              <a:rPr lang="en-US" b="1" dirty="0">
                <a:solidFill>
                  <a:srgbClr val="18537D"/>
                </a:solidFill>
              </a:rPr>
              <a:t>Project Roles</a:t>
            </a:r>
          </a:p>
          <a:p>
            <a:pPr marL="285750" indent="-285750">
              <a:lnSpc>
                <a:spcPct val="150000"/>
              </a:lnSpc>
              <a:buFont typeface="Arial" panose="020B0604020202020204" pitchFamily="34" charset="0"/>
              <a:buChar char="•"/>
            </a:pPr>
            <a:r>
              <a:rPr lang="en-US" dirty="0">
                <a:solidFill>
                  <a:srgbClr val="18537D"/>
                </a:solidFill>
              </a:rPr>
              <a:t>Owner</a:t>
            </a:r>
          </a:p>
          <a:p>
            <a:pPr marL="285750" indent="-285750">
              <a:lnSpc>
                <a:spcPct val="150000"/>
              </a:lnSpc>
              <a:buFont typeface="Arial" panose="020B0604020202020204" pitchFamily="34" charset="0"/>
              <a:buChar char="•"/>
            </a:pPr>
            <a:r>
              <a:rPr lang="en-US" dirty="0">
                <a:solidFill>
                  <a:srgbClr val="18537D"/>
                </a:solidFill>
              </a:rPr>
              <a:t>Contributor</a:t>
            </a:r>
          </a:p>
          <a:p>
            <a:pPr marL="285750" indent="-285750">
              <a:lnSpc>
                <a:spcPct val="150000"/>
              </a:lnSpc>
              <a:buFont typeface="Arial" panose="020B0604020202020204" pitchFamily="34" charset="0"/>
              <a:buChar char="•"/>
            </a:pPr>
            <a:r>
              <a:rPr lang="en-US" dirty="0">
                <a:solidFill>
                  <a:srgbClr val="18537D"/>
                </a:solidFill>
              </a:rPr>
              <a:t>Viewer</a:t>
            </a:r>
          </a:p>
        </p:txBody>
      </p:sp>
    </p:spTree>
    <p:extLst>
      <p:ext uri="{BB962C8B-B14F-4D97-AF65-F5344CB8AC3E}">
        <p14:creationId xmlns:p14="http://schemas.microsoft.com/office/powerpoint/2010/main" val="554556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2138FD-397C-4124-8AD2-8A0A7CCF9A88}"/>
              </a:ext>
            </a:extLst>
          </p:cNvPr>
          <p:cNvSpPr>
            <a:spLocks noGrp="1"/>
          </p:cNvSpPr>
          <p:nvPr>
            <p:ph type="sldNum" sz="quarter" idx="17"/>
          </p:nvPr>
        </p:nvSpPr>
        <p:spPr/>
        <p:txBody>
          <a:bodyPr/>
          <a:lstStyle/>
          <a:p>
            <a:fld id="{4F9AC08D-23A9-440E-BCB9-AA1E9877CC38}" type="slidenum">
              <a:rPr lang="en-US" smtClean="0"/>
              <a:pPr/>
              <a:t>11</a:t>
            </a:fld>
            <a:endParaRPr lang="en-US" dirty="0"/>
          </a:p>
        </p:txBody>
      </p:sp>
      <p:sp>
        <p:nvSpPr>
          <p:cNvPr id="3" name="Title 2">
            <a:extLst>
              <a:ext uri="{FF2B5EF4-FFF2-40B4-BE49-F238E27FC236}">
                <a16:creationId xmlns:a16="http://schemas.microsoft.com/office/drawing/2014/main" id="{A868BD91-20C6-4DF2-A248-56622F448826}"/>
              </a:ext>
            </a:extLst>
          </p:cNvPr>
          <p:cNvSpPr>
            <a:spLocks noGrp="1"/>
          </p:cNvSpPr>
          <p:nvPr>
            <p:ph type="title"/>
          </p:nvPr>
        </p:nvSpPr>
        <p:spPr>
          <a:xfrm>
            <a:off x="450010" y="300157"/>
            <a:ext cx="13500200" cy="1359871"/>
          </a:xfrm>
        </p:spPr>
        <p:txBody>
          <a:bodyPr/>
          <a:lstStyle/>
          <a:p>
            <a:r>
              <a:rPr lang="en-US" dirty="0">
                <a:solidFill>
                  <a:schemeClr val="bg1"/>
                </a:solidFill>
              </a:rPr>
              <a:t>Cloud 9</a:t>
            </a:r>
          </a:p>
        </p:txBody>
      </p:sp>
      <p:sp>
        <p:nvSpPr>
          <p:cNvPr id="4" name="Footer Placeholder 3">
            <a:extLst>
              <a:ext uri="{FF2B5EF4-FFF2-40B4-BE49-F238E27FC236}">
                <a16:creationId xmlns:a16="http://schemas.microsoft.com/office/drawing/2014/main" id="{1072B3CD-5122-452E-B0CA-09D5607FB566}"/>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A1DD72F4-B301-424E-854D-23AF902C881C}"/>
              </a:ext>
            </a:extLst>
          </p:cNvPr>
          <p:cNvSpPr/>
          <p:nvPr/>
        </p:nvSpPr>
        <p:spPr>
          <a:xfrm>
            <a:off x="2615379" y="1291373"/>
            <a:ext cx="9433993" cy="400110"/>
          </a:xfrm>
          <a:prstGeom prst="rect">
            <a:avLst/>
          </a:prstGeom>
        </p:spPr>
        <p:txBody>
          <a:bodyPr wrap="none">
            <a:spAutoFit/>
          </a:bodyPr>
          <a:lstStyle/>
          <a:p>
            <a:r>
              <a:rPr lang="en-US" sz="2000" b="1" dirty="0">
                <a:solidFill>
                  <a:srgbClr val="18537D"/>
                </a:solidFill>
              </a:rPr>
              <a:t>AWS Cloud9 is a cloud-based integrated development environment (IDE)</a:t>
            </a:r>
          </a:p>
        </p:txBody>
      </p:sp>
      <p:sp>
        <p:nvSpPr>
          <p:cNvPr id="6" name="Rectangle 5">
            <a:extLst>
              <a:ext uri="{FF2B5EF4-FFF2-40B4-BE49-F238E27FC236}">
                <a16:creationId xmlns:a16="http://schemas.microsoft.com/office/drawing/2014/main" id="{D087FAA5-334D-437D-89F6-CC762BDB35C4}"/>
              </a:ext>
            </a:extLst>
          </p:cNvPr>
          <p:cNvSpPr/>
          <p:nvPr/>
        </p:nvSpPr>
        <p:spPr>
          <a:xfrm>
            <a:off x="5912940" y="2760956"/>
            <a:ext cx="7545655" cy="1880643"/>
          </a:xfrm>
          <a:prstGeom prst="rect">
            <a:avLst/>
          </a:prstGeom>
        </p:spPr>
        <p:txBody>
          <a:bodyPr wrap="none">
            <a:spAutoFit/>
          </a:bodyPr>
          <a:lstStyle/>
          <a:p>
            <a:pPr marL="342900" indent="-342900">
              <a:lnSpc>
                <a:spcPct val="150000"/>
              </a:lnSpc>
              <a:buFont typeface="Arial" panose="020B0604020202020204" pitchFamily="34" charset="0"/>
              <a:buChar char="•"/>
            </a:pPr>
            <a:r>
              <a:rPr lang="en-US" sz="2000" dirty="0">
                <a:solidFill>
                  <a:srgbClr val="18537D"/>
                </a:solidFill>
              </a:rPr>
              <a:t>Code with just a browser</a:t>
            </a:r>
          </a:p>
          <a:p>
            <a:pPr marL="342900" indent="-342900">
              <a:lnSpc>
                <a:spcPct val="150000"/>
              </a:lnSpc>
              <a:buFont typeface="Arial" panose="020B0604020202020204" pitchFamily="34" charset="0"/>
              <a:buChar char="•"/>
            </a:pPr>
            <a:r>
              <a:rPr lang="en-US" sz="2000" dirty="0">
                <a:solidFill>
                  <a:srgbClr val="18537D"/>
                </a:solidFill>
              </a:rPr>
              <a:t>Includes a code editor, debugger, and terminal</a:t>
            </a:r>
          </a:p>
          <a:p>
            <a:pPr marL="342900" indent="-342900">
              <a:lnSpc>
                <a:spcPct val="150000"/>
              </a:lnSpc>
              <a:buFont typeface="Arial" panose="020B0604020202020204" pitchFamily="34" charset="0"/>
              <a:buChar char="•"/>
            </a:pPr>
            <a:r>
              <a:rPr lang="en-US" sz="2000" dirty="0">
                <a:solidFill>
                  <a:srgbClr val="18537D"/>
                </a:solidFill>
              </a:rPr>
              <a:t>Share your development environment with your team</a:t>
            </a:r>
          </a:p>
          <a:p>
            <a:pPr marL="342900" indent="-342900">
              <a:lnSpc>
                <a:spcPct val="150000"/>
              </a:lnSpc>
              <a:buFont typeface="Arial" panose="020B0604020202020204" pitchFamily="34" charset="0"/>
              <a:buChar char="•"/>
            </a:pPr>
            <a:r>
              <a:rPr lang="en-US" sz="2000" dirty="0">
                <a:solidFill>
                  <a:srgbClr val="18537D"/>
                </a:solidFill>
              </a:rPr>
              <a:t>Work from anywhere using an internet-connected Device</a:t>
            </a:r>
          </a:p>
        </p:txBody>
      </p:sp>
      <p:pic>
        <p:nvPicPr>
          <p:cNvPr id="2050" name="Picture 2" descr="NEW LAUNCH! Introducing AWS Cloud9, a cloud IDE to write, run, &amp; debu…">
            <a:extLst>
              <a:ext uri="{FF2B5EF4-FFF2-40B4-BE49-F238E27FC236}">
                <a16:creationId xmlns:a16="http://schemas.microsoft.com/office/drawing/2014/main" id="{4501A8C3-A0D6-46A9-88C4-1B0D7B53F0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260" t="14885" r="8614" b="20363"/>
          <a:stretch/>
        </p:blipFill>
        <p:spPr bwMode="auto">
          <a:xfrm>
            <a:off x="1828799" y="2592355"/>
            <a:ext cx="2438400" cy="221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799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DED6E0-AE68-47FE-B350-E302B1DC6994}"/>
              </a:ext>
            </a:extLst>
          </p:cNvPr>
          <p:cNvSpPr>
            <a:spLocks noGrp="1"/>
          </p:cNvSpPr>
          <p:nvPr>
            <p:ph type="sldNum" sz="quarter" idx="17"/>
          </p:nvPr>
        </p:nvSpPr>
        <p:spPr/>
        <p:txBody>
          <a:bodyPr/>
          <a:lstStyle/>
          <a:p>
            <a:fld id="{4F9AC08D-23A9-440E-BCB9-AA1E9877CC38}" type="slidenum">
              <a:rPr lang="en-US" smtClean="0"/>
              <a:pPr/>
              <a:t>12</a:t>
            </a:fld>
            <a:endParaRPr lang="en-US" dirty="0"/>
          </a:p>
        </p:txBody>
      </p:sp>
      <p:sp>
        <p:nvSpPr>
          <p:cNvPr id="3" name="Title 2">
            <a:extLst>
              <a:ext uri="{FF2B5EF4-FFF2-40B4-BE49-F238E27FC236}">
                <a16:creationId xmlns:a16="http://schemas.microsoft.com/office/drawing/2014/main" id="{75E64E42-D1AD-4D10-80B2-51524EF12A20}"/>
              </a:ext>
            </a:extLst>
          </p:cNvPr>
          <p:cNvSpPr>
            <a:spLocks noGrp="1"/>
          </p:cNvSpPr>
          <p:nvPr>
            <p:ph type="title"/>
          </p:nvPr>
        </p:nvSpPr>
        <p:spPr>
          <a:xfrm>
            <a:off x="450010" y="278721"/>
            <a:ext cx="13500200" cy="1359871"/>
          </a:xfrm>
        </p:spPr>
        <p:txBody>
          <a:bodyPr/>
          <a:lstStyle/>
          <a:p>
            <a:r>
              <a:rPr lang="en-US" dirty="0">
                <a:solidFill>
                  <a:schemeClr val="bg1"/>
                </a:solidFill>
              </a:rPr>
              <a:t>Code commit</a:t>
            </a:r>
          </a:p>
        </p:txBody>
      </p:sp>
      <p:sp>
        <p:nvSpPr>
          <p:cNvPr id="4" name="Footer Placeholder 3">
            <a:extLst>
              <a:ext uri="{FF2B5EF4-FFF2-40B4-BE49-F238E27FC236}">
                <a16:creationId xmlns:a16="http://schemas.microsoft.com/office/drawing/2014/main" id="{771364DB-8FBE-46FE-8AF5-16D8B246792D}"/>
              </a:ext>
            </a:extLst>
          </p:cNvPr>
          <p:cNvSpPr>
            <a:spLocks noGrp="1"/>
          </p:cNvSpPr>
          <p:nvPr>
            <p:ph type="ftr" sz="quarter" idx="16"/>
          </p:nvPr>
        </p:nvSpPr>
        <p:spPr/>
        <p:txBody>
          <a:bodyPr/>
          <a:lstStyle/>
          <a:p>
            <a:r>
              <a:rPr lang="en-US"/>
              <a:t>Copyright © 2020 Accenture. All rights reserved.</a:t>
            </a:r>
            <a:endParaRPr lang="en-US" dirty="0"/>
          </a:p>
        </p:txBody>
      </p:sp>
      <p:grpSp>
        <p:nvGrpSpPr>
          <p:cNvPr id="6" name="Group 5">
            <a:extLst>
              <a:ext uri="{FF2B5EF4-FFF2-40B4-BE49-F238E27FC236}">
                <a16:creationId xmlns:a16="http://schemas.microsoft.com/office/drawing/2014/main" id="{06530A54-C5A5-4584-9463-89E9427FC99F}"/>
              </a:ext>
            </a:extLst>
          </p:cNvPr>
          <p:cNvGrpSpPr/>
          <p:nvPr/>
        </p:nvGrpSpPr>
        <p:grpSpPr>
          <a:xfrm>
            <a:off x="2140165" y="2628929"/>
            <a:ext cx="2278189" cy="1622992"/>
            <a:chOff x="4460903" y="1699028"/>
            <a:chExt cx="2601597" cy="1666090"/>
          </a:xfrm>
        </p:grpSpPr>
        <p:sp>
          <p:nvSpPr>
            <p:cNvPr id="7" name="TextBox 6">
              <a:extLst>
                <a:ext uri="{FF2B5EF4-FFF2-40B4-BE49-F238E27FC236}">
                  <a16:creationId xmlns:a16="http://schemas.microsoft.com/office/drawing/2014/main" id="{AAA94B2B-11FF-4423-99DA-52FD79078FCC}"/>
                </a:ext>
              </a:extLst>
            </p:cNvPr>
            <p:cNvSpPr txBox="1"/>
            <p:nvPr/>
          </p:nvSpPr>
          <p:spPr>
            <a:xfrm>
              <a:off x="4460903" y="2954383"/>
              <a:ext cx="2601597" cy="410735"/>
            </a:xfrm>
            <a:prstGeom prst="rect">
              <a:avLst/>
            </a:prstGeom>
            <a:noFill/>
          </p:spPr>
          <p:txBody>
            <a:bodyPr wrap="none" rtlCol="0">
              <a:spAutoFit/>
            </a:bodyPr>
            <a:lstStyle/>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AWS</a:t>
              </a:r>
              <a:r>
                <a:rPr lang="en-US" sz="2000" b="1"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CodeCommit</a:t>
              </a:r>
            </a:p>
          </p:txBody>
        </p:sp>
        <p:pic>
          <p:nvPicPr>
            <p:cNvPr id="8" name="Picture 7">
              <a:extLst>
                <a:ext uri="{FF2B5EF4-FFF2-40B4-BE49-F238E27FC236}">
                  <a16:creationId xmlns:a16="http://schemas.microsoft.com/office/drawing/2014/main" id="{F40AA467-2CC1-4AB3-8E82-EE5FBAA8CBB1}"/>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4983470" y="1699028"/>
              <a:ext cx="1311332" cy="1255355"/>
            </a:xfrm>
            <a:prstGeom prst="rect">
              <a:avLst/>
            </a:prstGeom>
          </p:spPr>
        </p:pic>
      </p:grpSp>
      <p:sp>
        <p:nvSpPr>
          <p:cNvPr id="9" name="Rectangle 8">
            <a:extLst>
              <a:ext uri="{FF2B5EF4-FFF2-40B4-BE49-F238E27FC236}">
                <a16:creationId xmlns:a16="http://schemas.microsoft.com/office/drawing/2014/main" id="{D732C874-CA5C-4038-A4DA-1B2AD947AE94}"/>
              </a:ext>
            </a:extLst>
          </p:cNvPr>
          <p:cNvSpPr/>
          <p:nvPr/>
        </p:nvSpPr>
        <p:spPr>
          <a:xfrm>
            <a:off x="5783212" y="2381770"/>
            <a:ext cx="7197725" cy="2342308"/>
          </a:xfrm>
          <a:prstGeom prst="rect">
            <a:avLst/>
          </a:prstGeom>
        </p:spPr>
        <p:txBody>
          <a:bodyPr>
            <a:spAutoFit/>
          </a:bodyPr>
          <a:lstStyle/>
          <a:p>
            <a:pPr marL="285750" indent="-285750">
              <a:lnSpc>
                <a:spcPct val="150000"/>
              </a:lnSpc>
              <a:buFont typeface="Arial" panose="020B0604020202020204" pitchFamily="34" charset="0"/>
              <a:buChar char="•"/>
            </a:pPr>
            <a:r>
              <a:rPr lang="en-US" sz="2000" dirty="0">
                <a:solidFill>
                  <a:srgbClr val="18537D"/>
                </a:solidFill>
              </a:rPr>
              <a:t>Highly available, scalable, and secured</a:t>
            </a:r>
          </a:p>
          <a:p>
            <a:pPr marL="285750" indent="-285750">
              <a:lnSpc>
                <a:spcPct val="150000"/>
              </a:lnSpc>
              <a:buFont typeface="Arial" panose="020B0604020202020204" pitchFamily="34" charset="0"/>
              <a:buChar char="•"/>
            </a:pPr>
            <a:r>
              <a:rPr lang="en-US" sz="2000" dirty="0">
                <a:solidFill>
                  <a:srgbClr val="18537D"/>
                </a:solidFill>
              </a:rPr>
              <a:t>No size limits</a:t>
            </a:r>
          </a:p>
          <a:p>
            <a:pPr marL="285750" indent="-285750">
              <a:lnSpc>
                <a:spcPct val="150000"/>
              </a:lnSpc>
              <a:buFont typeface="Arial" panose="020B0604020202020204" pitchFamily="34" charset="0"/>
              <a:buChar char="•"/>
            </a:pPr>
            <a:r>
              <a:rPr lang="en-US" sz="2000" dirty="0">
                <a:solidFill>
                  <a:srgbClr val="18537D"/>
                </a:solidFill>
              </a:rPr>
              <a:t>Collaboration with other users</a:t>
            </a:r>
          </a:p>
          <a:p>
            <a:pPr marL="285750" indent="-285750">
              <a:lnSpc>
                <a:spcPct val="150000"/>
              </a:lnSpc>
              <a:buFont typeface="Arial" panose="020B0604020202020204" pitchFamily="34" charset="0"/>
              <a:buChar char="•"/>
            </a:pPr>
            <a:r>
              <a:rPr lang="en-US" sz="2000" dirty="0">
                <a:solidFill>
                  <a:srgbClr val="18537D"/>
                </a:solidFill>
              </a:rPr>
              <a:t>Integrate with other AWS services</a:t>
            </a:r>
          </a:p>
          <a:p>
            <a:pPr marL="285750" indent="-285750">
              <a:lnSpc>
                <a:spcPct val="150000"/>
              </a:lnSpc>
              <a:buFont typeface="Arial" panose="020B0604020202020204" pitchFamily="34" charset="0"/>
              <a:buChar char="•"/>
            </a:pPr>
            <a:r>
              <a:rPr lang="en-US" sz="2000" dirty="0">
                <a:solidFill>
                  <a:srgbClr val="18537D"/>
                </a:solidFill>
              </a:rPr>
              <a:t>Interact using familiar git commands</a:t>
            </a:r>
          </a:p>
        </p:txBody>
      </p:sp>
      <p:sp>
        <p:nvSpPr>
          <p:cNvPr id="10" name="Rectangle 9">
            <a:extLst>
              <a:ext uri="{FF2B5EF4-FFF2-40B4-BE49-F238E27FC236}">
                <a16:creationId xmlns:a16="http://schemas.microsoft.com/office/drawing/2014/main" id="{215EDD16-4C36-41C7-8D9D-D8D6001D0358}"/>
              </a:ext>
            </a:extLst>
          </p:cNvPr>
          <p:cNvSpPr/>
          <p:nvPr/>
        </p:nvSpPr>
        <p:spPr>
          <a:xfrm>
            <a:off x="2941688" y="1217584"/>
            <a:ext cx="8060609" cy="646331"/>
          </a:xfrm>
          <a:prstGeom prst="rect">
            <a:avLst/>
          </a:prstGeom>
        </p:spPr>
        <p:txBody>
          <a:bodyPr wrap="square">
            <a:spAutoFit/>
          </a:bodyPr>
          <a:lstStyle/>
          <a:p>
            <a:pPr algn="ctr"/>
            <a:r>
              <a:rPr lang="en-US" b="1" dirty="0">
                <a:solidFill>
                  <a:srgbClr val="18537D"/>
                </a:solidFill>
              </a:rPr>
              <a:t>AWS </a:t>
            </a:r>
            <a:r>
              <a:rPr lang="en-US" b="1" dirty="0" err="1">
                <a:solidFill>
                  <a:srgbClr val="18537D"/>
                </a:solidFill>
              </a:rPr>
              <a:t>CodeCommit</a:t>
            </a:r>
            <a:r>
              <a:rPr lang="en-US" b="1" dirty="0">
                <a:solidFill>
                  <a:srgbClr val="18537D"/>
                </a:solidFill>
              </a:rPr>
              <a:t> is a fully-managed source control service that hosts secure Git-based repositories</a:t>
            </a:r>
          </a:p>
        </p:txBody>
      </p:sp>
    </p:spTree>
    <p:extLst>
      <p:ext uri="{BB962C8B-B14F-4D97-AF65-F5344CB8AC3E}">
        <p14:creationId xmlns:p14="http://schemas.microsoft.com/office/powerpoint/2010/main" val="1789570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00F207-3EA3-4B53-BE09-127543AB8D00}"/>
              </a:ext>
            </a:extLst>
          </p:cNvPr>
          <p:cNvSpPr>
            <a:spLocks noGrp="1"/>
          </p:cNvSpPr>
          <p:nvPr>
            <p:ph type="sldNum" sz="quarter" idx="17"/>
          </p:nvPr>
        </p:nvSpPr>
        <p:spPr/>
        <p:txBody>
          <a:bodyPr/>
          <a:lstStyle/>
          <a:p>
            <a:fld id="{4F9AC08D-23A9-440E-BCB9-AA1E9877CC38}" type="slidenum">
              <a:rPr lang="en-US" smtClean="0"/>
              <a:pPr/>
              <a:t>13</a:t>
            </a:fld>
            <a:endParaRPr lang="en-US" dirty="0"/>
          </a:p>
        </p:txBody>
      </p:sp>
      <p:sp>
        <p:nvSpPr>
          <p:cNvPr id="3" name="Title 2">
            <a:extLst>
              <a:ext uri="{FF2B5EF4-FFF2-40B4-BE49-F238E27FC236}">
                <a16:creationId xmlns:a16="http://schemas.microsoft.com/office/drawing/2014/main" id="{13A8EAC4-AEC7-4B35-82EA-69A33B1A0425}"/>
              </a:ext>
            </a:extLst>
          </p:cNvPr>
          <p:cNvSpPr>
            <a:spLocks noGrp="1"/>
          </p:cNvSpPr>
          <p:nvPr>
            <p:ph type="title"/>
          </p:nvPr>
        </p:nvSpPr>
        <p:spPr>
          <a:xfrm>
            <a:off x="450010" y="320209"/>
            <a:ext cx="13500200" cy="1359871"/>
          </a:xfrm>
        </p:spPr>
        <p:txBody>
          <a:bodyPr/>
          <a:lstStyle/>
          <a:p>
            <a:r>
              <a:rPr lang="en-US" dirty="0">
                <a:solidFill>
                  <a:schemeClr val="bg1"/>
                </a:solidFill>
              </a:rPr>
              <a:t>Code Build</a:t>
            </a:r>
          </a:p>
        </p:txBody>
      </p:sp>
      <p:sp>
        <p:nvSpPr>
          <p:cNvPr id="4" name="Footer Placeholder 3">
            <a:extLst>
              <a:ext uri="{FF2B5EF4-FFF2-40B4-BE49-F238E27FC236}">
                <a16:creationId xmlns:a16="http://schemas.microsoft.com/office/drawing/2014/main" id="{8368B94E-9AFB-416E-B820-E1691F28D4CE}"/>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3E44FB9A-4EE1-4022-8368-B9D71EBBFD0B}"/>
              </a:ext>
            </a:extLst>
          </p:cNvPr>
          <p:cNvSpPr/>
          <p:nvPr/>
        </p:nvSpPr>
        <p:spPr>
          <a:xfrm>
            <a:off x="6752483" y="2333251"/>
            <a:ext cx="7197725" cy="2803973"/>
          </a:xfrm>
          <a:prstGeom prst="rect">
            <a:avLst/>
          </a:prstGeom>
        </p:spPr>
        <p:txBody>
          <a:bodyPr>
            <a:spAutoFit/>
          </a:bodyPr>
          <a:lstStyle/>
          <a:p>
            <a:pPr marL="285750" indent="-285750">
              <a:lnSpc>
                <a:spcPct val="150000"/>
              </a:lnSpc>
              <a:buFont typeface="Arial" panose="020B0604020202020204" pitchFamily="34" charset="0"/>
              <a:buChar char="•"/>
            </a:pPr>
            <a:r>
              <a:rPr lang="en-US" sz="2000" dirty="0">
                <a:solidFill>
                  <a:srgbClr val="18537D"/>
                </a:solidFill>
              </a:rPr>
              <a:t>Fully managed build service</a:t>
            </a:r>
          </a:p>
          <a:p>
            <a:pPr marL="285750" indent="-285750">
              <a:lnSpc>
                <a:spcPct val="150000"/>
              </a:lnSpc>
              <a:buFont typeface="Arial" panose="020B0604020202020204" pitchFamily="34" charset="0"/>
              <a:buChar char="•"/>
            </a:pPr>
            <a:r>
              <a:rPr lang="en-US" sz="2000" dirty="0">
                <a:solidFill>
                  <a:srgbClr val="18537D"/>
                </a:solidFill>
              </a:rPr>
              <a:t>Elastic scaling</a:t>
            </a:r>
          </a:p>
          <a:p>
            <a:pPr marL="285750" indent="-285750">
              <a:lnSpc>
                <a:spcPct val="150000"/>
              </a:lnSpc>
              <a:buFont typeface="Arial" panose="020B0604020202020204" pitchFamily="34" charset="0"/>
              <a:buChar char="•"/>
            </a:pPr>
            <a:r>
              <a:rPr lang="en-US" sz="2000" dirty="0">
                <a:solidFill>
                  <a:srgbClr val="18537D"/>
                </a:solidFill>
              </a:rPr>
              <a:t>Pay only for build time used</a:t>
            </a:r>
          </a:p>
          <a:p>
            <a:pPr marL="285750" indent="-285750">
              <a:lnSpc>
                <a:spcPct val="150000"/>
              </a:lnSpc>
              <a:buFont typeface="Arial" panose="020B0604020202020204" pitchFamily="34" charset="0"/>
              <a:buChar char="•"/>
            </a:pPr>
            <a:r>
              <a:rPr lang="en-US" sz="2000" dirty="0">
                <a:solidFill>
                  <a:srgbClr val="18537D"/>
                </a:solidFill>
              </a:rPr>
              <a:t>CLI and API driven</a:t>
            </a:r>
          </a:p>
          <a:p>
            <a:pPr marL="285750" indent="-285750">
              <a:lnSpc>
                <a:spcPct val="150000"/>
              </a:lnSpc>
              <a:buFont typeface="Arial" panose="020B0604020202020204" pitchFamily="34" charset="0"/>
              <a:buChar char="•"/>
            </a:pPr>
            <a:r>
              <a:rPr lang="en-US" sz="2000" dirty="0">
                <a:solidFill>
                  <a:srgbClr val="18537D"/>
                </a:solidFill>
              </a:rPr>
              <a:t>Define builds as code</a:t>
            </a:r>
          </a:p>
          <a:p>
            <a:pPr marL="285750" indent="-285750">
              <a:lnSpc>
                <a:spcPct val="150000"/>
              </a:lnSpc>
              <a:buFont typeface="Arial" panose="020B0604020202020204" pitchFamily="34" charset="0"/>
              <a:buChar char="•"/>
            </a:pPr>
            <a:r>
              <a:rPr lang="en-US" sz="2000" dirty="0">
                <a:solidFill>
                  <a:srgbClr val="18537D"/>
                </a:solidFill>
              </a:rPr>
              <a:t>Tightly knit AWS integrations</a:t>
            </a:r>
          </a:p>
        </p:txBody>
      </p:sp>
      <p:sp>
        <p:nvSpPr>
          <p:cNvPr id="6" name="Rectangle 5">
            <a:extLst>
              <a:ext uri="{FF2B5EF4-FFF2-40B4-BE49-F238E27FC236}">
                <a16:creationId xmlns:a16="http://schemas.microsoft.com/office/drawing/2014/main" id="{AB16D06D-96F1-430C-A229-76A38B804C7F}"/>
              </a:ext>
            </a:extLst>
          </p:cNvPr>
          <p:cNvSpPr/>
          <p:nvPr/>
        </p:nvSpPr>
        <p:spPr>
          <a:xfrm>
            <a:off x="2288893" y="1113505"/>
            <a:ext cx="9822426" cy="646331"/>
          </a:xfrm>
          <a:prstGeom prst="rect">
            <a:avLst/>
          </a:prstGeom>
        </p:spPr>
        <p:txBody>
          <a:bodyPr wrap="square">
            <a:spAutoFit/>
          </a:bodyPr>
          <a:lstStyle/>
          <a:p>
            <a:pPr algn="ctr"/>
            <a:r>
              <a:rPr lang="en-US" b="1" dirty="0">
                <a:solidFill>
                  <a:srgbClr val="18537D"/>
                </a:solidFill>
              </a:rPr>
              <a:t>AWS </a:t>
            </a:r>
            <a:r>
              <a:rPr lang="en-US" b="1" dirty="0" err="1">
                <a:solidFill>
                  <a:srgbClr val="18537D"/>
                </a:solidFill>
              </a:rPr>
              <a:t>CodeBuild</a:t>
            </a:r>
            <a:r>
              <a:rPr lang="en-US" b="1" dirty="0">
                <a:solidFill>
                  <a:srgbClr val="18537D"/>
                </a:solidFill>
              </a:rPr>
              <a:t> is a fully managed continuous integration service that compiles source code, runs tests, and produces software packages that are ready to deploy</a:t>
            </a:r>
          </a:p>
        </p:txBody>
      </p:sp>
      <p:grpSp>
        <p:nvGrpSpPr>
          <p:cNvPr id="7" name="Group 6">
            <a:extLst>
              <a:ext uri="{FF2B5EF4-FFF2-40B4-BE49-F238E27FC236}">
                <a16:creationId xmlns:a16="http://schemas.microsoft.com/office/drawing/2014/main" id="{D39570B7-16CB-43F1-B002-3743FC5EDC23}"/>
              </a:ext>
            </a:extLst>
          </p:cNvPr>
          <p:cNvGrpSpPr/>
          <p:nvPr/>
        </p:nvGrpSpPr>
        <p:grpSpPr>
          <a:xfrm>
            <a:off x="2552221" y="2960194"/>
            <a:ext cx="1941558" cy="1554071"/>
            <a:chOff x="6790858" y="1571680"/>
            <a:chExt cx="2353494" cy="1883795"/>
          </a:xfrm>
        </p:grpSpPr>
        <p:sp>
          <p:nvSpPr>
            <p:cNvPr id="8" name="TextBox 7">
              <a:extLst>
                <a:ext uri="{FF2B5EF4-FFF2-40B4-BE49-F238E27FC236}">
                  <a16:creationId xmlns:a16="http://schemas.microsoft.com/office/drawing/2014/main" id="{9AF629B9-ABB3-4A1C-BEF5-BE991D332AF5}"/>
                </a:ext>
              </a:extLst>
            </p:cNvPr>
            <p:cNvSpPr txBox="1"/>
            <p:nvPr/>
          </p:nvSpPr>
          <p:spPr>
            <a:xfrm>
              <a:off x="6790858" y="2970474"/>
              <a:ext cx="2353494" cy="485001"/>
            </a:xfrm>
            <a:prstGeom prst="rect">
              <a:avLst/>
            </a:prstGeom>
            <a:noFill/>
          </p:spPr>
          <p:txBody>
            <a:bodyPr wrap="non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AWS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CodeBuild</a:t>
              </a:r>
            </a:p>
          </p:txBody>
        </p:sp>
        <p:pic>
          <p:nvPicPr>
            <p:cNvPr id="9" name="Picture 8">
              <a:extLst>
                <a:ext uri="{FF2B5EF4-FFF2-40B4-BE49-F238E27FC236}">
                  <a16:creationId xmlns:a16="http://schemas.microsoft.com/office/drawing/2014/main" id="{953FD69A-F571-44A2-95D0-15363A881580}"/>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168121" y="1571680"/>
              <a:ext cx="1427455" cy="1481585"/>
            </a:xfrm>
            <a:prstGeom prst="rect">
              <a:avLst/>
            </a:prstGeom>
          </p:spPr>
        </p:pic>
      </p:grpSp>
    </p:spTree>
    <p:extLst>
      <p:ext uri="{BB962C8B-B14F-4D97-AF65-F5344CB8AC3E}">
        <p14:creationId xmlns:p14="http://schemas.microsoft.com/office/powerpoint/2010/main" val="25674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BFFDEE-E6CE-4A11-8270-903ED4B88CD2}"/>
              </a:ext>
            </a:extLst>
          </p:cNvPr>
          <p:cNvSpPr>
            <a:spLocks noGrp="1"/>
          </p:cNvSpPr>
          <p:nvPr>
            <p:ph type="sldNum" sz="quarter" idx="17"/>
          </p:nvPr>
        </p:nvSpPr>
        <p:spPr/>
        <p:txBody>
          <a:bodyPr/>
          <a:lstStyle/>
          <a:p>
            <a:fld id="{4F9AC08D-23A9-440E-BCB9-AA1E9877CC38}" type="slidenum">
              <a:rPr lang="en-US" smtClean="0"/>
              <a:pPr/>
              <a:t>14</a:t>
            </a:fld>
            <a:endParaRPr lang="en-US" dirty="0"/>
          </a:p>
        </p:txBody>
      </p:sp>
      <p:sp>
        <p:nvSpPr>
          <p:cNvPr id="3" name="Title 2">
            <a:extLst>
              <a:ext uri="{FF2B5EF4-FFF2-40B4-BE49-F238E27FC236}">
                <a16:creationId xmlns:a16="http://schemas.microsoft.com/office/drawing/2014/main" id="{6F9A2FBC-4E6B-4F1A-AAF1-EC70324204AD}"/>
              </a:ext>
            </a:extLst>
          </p:cNvPr>
          <p:cNvSpPr>
            <a:spLocks noGrp="1"/>
          </p:cNvSpPr>
          <p:nvPr>
            <p:ph type="title"/>
          </p:nvPr>
        </p:nvSpPr>
        <p:spPr>
          <a:xfrm>
            <a:off x="450010" y="291116"/>
            <a:ext cx="13500200" cy="1359871"/>
          </a:xfrm>
        </p:spPr>
        <p:txBody>
          <a:bodyPr/>
          <a:lstStyle/>
          <a:p>
            <a:r>
              <a:rPr lang="en-US" dirty="0">
                <a:solidFill>
                  <a:schemeClr val="bg1"/>
                </a:solidFill>
              </a:rPr>
              <a:t>Code deploy</a:t>
            </a:r>
          </a:p>
        </p:txBody>
      </p:sp>
      <p:sp>
        <p:nvSpPr>
          <p:cNvPr id="4" name="Footer Placeholder 3">
            <a:extLst>
              <a:ext uri="{FF2B5EF4-FFF2-40B4-BE49-F238E27FC236}">
                <a16:creationId xmlns:a16="http://schemas.microsoft.com/office/drawing/2014/main" id="{23BF7167-1B1A-4B29-85B9-2847E1F6531B}"/>
              </a:ext>
            </a:extLst>
          </p:cNvPr>
          <p:cNvSpPr>
            <a:spLocks noGrp="1"/>
          </p:cNvSpPr>
          <p:nvPr>
            <p:ph type="ftr" sz="quarter" idx="16"/>
          </p:nvPr>
        </p:nvSpPr>
        <p:spPr/>
        <p:txBody>
          <a:bodyPr/>
          <a:lstStyle/>
          <a:p>
            <a:r>
              <a:rPr lang="en-US"/>
              <a:t>Copyright © 2020 Accenture. All rights reserved.</a:t>
            </a:r>
            <a:endParaRPr lang="en-US" dirty="0"/>
          </a:p>
        </p:txBody>
      </p:sp>
      <p:grpSp>
        <p:nvGrpSpPr>
          <p:cNvPr id="5" name="Group 4">
            <a:extLst>
              <a:ext uri="{FF2B5EF4-FFF2-40B4-BE49-F238E27FC236}">
                <a16:creationId xmlns:a16="http://schemas.microsoft.com/office/drawing/2014/main" id="{9D88E95F-2E7C-4A20-8F65-54F411DB997B}"/>
              </a:ext>
            </a:extLst>
          </p:cNvPr>
          <p:cNvGrpSpPr/>
          <p:nvPr/>
        </p:nvGrpSpPr>
        <p:grpSpPr>
          <a:xfrm>
            <a:off x="2226577" y="2778025"/>
            <a:ext cx="2169184" cy="1523619"/>
            <a:chOff x="2324065" y="2074602"/>
            <a:chExt cx="2507023" cy="1760915"/>
          </a:xfrm>
        </p:grpSpPr>
        <p:sp>
          <p:nvSpPr>
            <p:cNvPr id="6" name="TextBox 5">
              <a:extLst>
                <a:ext uri="{FF2B5EF4-FFF2-40B4-BE49-F238E27FC236}">
                  <a16:creationId xmlns:a16="http://schemas.microsoft.com/office/drawing/2014/main" id="{7718E3D0-584A-49F4-86FA-FA70F838D367}"/>
                </a:ext>
              </a:extLst>
            </p:cNvPr>
            <p:cNvSpPr txBox="1"/>
            <p:nvPr/>
          </p:nvSpPr>
          <p:spPr>
            <a:xfrm>
              <a:off x="2324065" y="3373092"/>
              <a:ext cx="2507023" cy="462425"/>
            </a:xfrm>
            <a:prstGeom prst="rect">
              <a:avLst/>
            </a:prstGeom>
            <a:noFill/>
          </p:spPr>
          <p:txBody>
            <a:bodyPr wrap="non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AWS</a:t>
              </a:r>
              <a:r>
                <a:rPr lang="en-US" sz="2000" b="1"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CodeDeploy</a:t>
              </a:r>
            </a:p>
          </p:txBody>
        </p:sp>
        <p:pic>
          <p:nvPicPr>
            <p:cNvPr id="7" name="Picture 6">
              <a:extLst>
                <a:ext uri="{FF2B5EF4-FFF2-40B4-BE49-F238E27FC236}">
                  <a16:creationId xmlns:a16="http://schemas.microsoft.com/office/drawing/2014/main" id="{795DF77F-C6A2-47E0-A604-5FC6DCD08FD0}"/>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2888636" y="2074602"/>
              <a:ext cx="1377881" cy="1298490"/>
            </a:xfrm>
            <a:prstGeom prst="rect">
              <a:avLst/>
            </a:prstGeom>
          </p:spPr>
        </p:pic>
      </p:grpSp>
      <p:sp>
        <p:nvSpPr>
          <p:cNvPr id="8" name="Rectangle 7">
            <a:extLst>
              <a:ext uri="{FF2B5EF4-FFF2-40B4-BE49-F238E27FC236}">
                <a16:creationId xmlns:a16="http://schemas.microsoft.com/office/drawing/2014/main" id="{93B9E539-9449-4137-88AD-D209B1214F25}"/>
              </a:ext>
            </a:extLst>
          </p:cNvPr>
          <p:cNvSpPr/>
          <p:nvPr/>
        </p:nvSpPr>
        <p:spPr>
          <a:xfrm>
            <a:off x="6097843" y="2371583"/>
            <a:ext cx="7197725" cy="2342308"/>
          </a:xfrm>
          <a:prstGeom prst="rect">
            <a:avLst/>
          </a:prstGeom>
        </p:spPr>
        <p:txBody>
          <a:bodyPr>
            <a:spAutoFit/>
          </a:bodyPr>
          <a:lstStyle/>
          <a:p>
            <a:pPr marL="285750" indent="-285750">
              <a:lnSpc>
                <a:spcPct val="150000"/>
              </a:lnSpc>
              <a:buFont typeface="Arial" panose="020B0604020202020204" pitchFamily="34" charset="0"/>
              <a:buChar char="•"/>
            </a:pPr>
            <a:r>
              <a:rPr lang="en-US" sz="2000" dirty="0">
                <a:solidFill>
                  <a:srgbClr val="18537D"/>
                </a:solidFill>
              </a:rPr>
              <a:t>Automate your deployments</a:t>
            </a:r>
          </a:p>
          <a:p>
            <a:pPr marL="285750" indent="-285750">
              <a:lnSpc>
                <a:spcPct val="150000"/>
              </a:lnSpc>
              <a:buFont typeface="Arial" panose="020B0604020202020204" pitchFamily="34" charset="0"/>
              <a:buChar char="•"/>
            </a:pPr>
            <a:r>
              <a:rPr lang="en-US" sz="2000" dirty="0">
                <a:solidFill>
                  <a:srgbClr val="18537D"/>
                </a:solidFill>
              </a:rPr>
              <a:t>Fully managed serverless service</a:t>
            </a:r>
          </a:p>
          <a:p>
            <a:pPr marL="285750" indent="-285750">
              <a:lnSpc>
                <a:spcPct val="150000"/>
              </a:lnSpc>
              <a:buFont typeface="Arial" panose="020B0604020202020204" pitchFamily="34" charset="0"/>
              <a:buChar char="•"/>
            </a:pPr>
            <a:r>
              <a:rPr lang="en-US" sz="2000" dirty="0">
                <a:solidFill>
                  <a:srgbClr val="18537D"/>
                </a:solidFill>
              </a:rPr>
              <a:t>Free within AWS</a:t>
            </a:r>
          </a:p>
          <a:p>
            <a:pPr marL="285750" indent="-285750">
              <a:lnSpc>
                <a:spcPct val="150000"/>
              </a:lnSpc>
              <a:buFont typeface="Arial" panose="020B0604020202020204" pitchFamily="34" charset="0"/>
              <a:buChar char="•"/>
            </a:pPr>
            <a:r>
              <a:rPr lang="en-US" sz="2000" dirty="0">
                <a:solidFill>
                  <a:srgbClr val="18537D"/>
                </a:solidFill>
              </a:rPr>
              <a:t>Centralize control</a:t>
            </a:r>
          </a:p>
          <a:p>
            <a:pPr marL="285750" indent="-285750">
              <a:lnSpc>
                <a:spcPct val="150000"/>
              </a:lnSpc>
              <a:buFont typeface="Arial" panose="020B0604020202020204" pitchFamily="34" charset="0"/>
              <a:buChar char="•"/>
            </a:pPr>
            <a:r>
              <a:rPr lang="en-US" sz="2000" dirty="0">
                <a:solidFill>
                  <a:srgbClr val="18537D"/>
                </a:solidFill>
              </a:rPr>
              <a:t>Versatile</a:t>
            </a:r>
          </a:p>
        </p:txBody>
      </p:sp>
      <p:sp>
        <p:nvSpPr>
          <p:cNvPr id="9" name="Rectangle 8">
            <a:extLst>
              <a:ext uri="{FF2B5EF4-FFF2-40B4-BE49-F238E27FC236}">
                <a16:creationId xmlns:a16="http://schemas.microsoft.com/office/drawing/2014/main" id="{B654F243-823B-4C13-9617-07C329E37DAB}"/>
              </a:ext>
            </a:extLst>
          </p:cNvPr>
          <p:cNvSpPr/>
          <p:nvPr/>
        </p:nvSpPr>
        <p:spPr>
          <a:xfrm>
            <a:off x="855406" y="1237489"/>
            <a:ext cx="12361173" cy="646331"/>
          </a:xfrm>
          <a:prstGeom prst="rect">
            <a:avLst/>
          </a:prstGeom>
        </p:spPr>
        <p:txBody>
          <a:bodyPr wrap="square">
            <a:spAutoFit/>
          </a:bodyPr>
          <a:lstStyle/>
          <a:p>
            <a:pPr algn="ctr"/>
            <a:r>
              <a:rPr lang="en-US" b="1" dirty="0">
                <a:solidFill>
                  <a:srgbClr val="18537D"/>
                </a:solidFill>
              </a:rPr>
              <a:t>AWS </a:t>
            </a:r>
            <a:r>
              <a:rPr lang="en-US" b="1" dirty="0" err="1">
                <a:solidFill>
                  <a:srgbClr val="18537D"/>
                </a:solidFill>
              </a:rPr>
              <a:t>CodeDeploy</a:t>
            </a:r>
            <a:r>
              <a:rPr lang="en-US" b="1" dirty="0">
                <a:solidFill>
                  <a:srgbClr val="18537D"/>
                </a:solidFill>
              </a:rPr>
              <a:t> is a fully managed deployment service that automates software deployments to a variety of compute services such as Amazon EC2, AWS </a:t>
            </a:r>
            <a:r>
              <a:rPr lang="en-US" b="1" dirty="0" err="1">
                <a:solidFill>
                  <a:srgbClr val="18537D"/>
                </a:solidFill>
              </a:rPr>
              <a:t>Fargate</a:t>
            </a:r>
            <a:r>
              <a:rPr lang="en-US" b="1" dirty="0">
                <a:solidFill>
                  <a:srgbClr val="18537D"/>
                </a:solidFill>
              </a:rPr>
              <a:t>, AWS Lambda, and your on-premises servers.</a:t>
            </a:r>
          </a:p>
        </p:txBody>
      </p:sp>
    </p:spTree>
    <p:extLst>
      <p:ext uri="{BB962C8B-B14F-4D97-AF65-F5344CB8AC3E}">
        <p14:creationId xmlns:p14="http://schemas.microsoft.com/office/powerpoint/2010/main" val="3822541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8DA3AA-D8D6-4A0D-BE4C-64CFD178D78E}"/>
              </a:ext>
            </a:extLst>
          </p:cNvPr>
          <p:cNvSpPr>
            <a:spLocks noGrp="1"/>
          </p:cNvSpPr>
          <p:nvPr>
            <p:ph type="sldNum" sz="quarter" idx="17"/>
          </p:nvPr>
        </p:nvSpPr>
        <p:spPr/>
        <p:txBody>
          <a:bodyPr/>
          <a:lstStyle/>
          <a:p>
            <a:fld id="{4F9AC08D-23A9-440E-BCB9-AA1E9877CC38}" type="slidenum">
              <a:rPr lang="en-US" smtClean="0"/>
              <a:pPr/>
              <a:t>15</a:t>
            </a:fld>
            <a:endParaRPr lang="en-US" dirty="0"/>
          </a:p>
        </p:txBody>
      </p:sp>
      <p:sp>
        <p:nvSpPr>
          <p:cNvPr id="3" name="Title 2">
            <a:extLst>
              <a:ext uri="{FF2B5EF4-FFF2-40B4-BE49-F238E27FC236}">
                <a16:creationId xmlns:a16="http://schemas.microsoft.com/office/drawing/2014/main" id="{8AA1F49B-B66C-4B5D-926E-56F60695D1BB}"/>
              </a:ext>
            </a:extLst>
          </p:cNvPr>
          <p:cNvSpPr>
            <a:spLocks noGrp="1"/>
          </p:cNvSpPr>
          <p:nvPr>
            <p:ph type="title"/>
          </p:nvPr>
        </p:nvSpPr>
        <p:spPr>
          <a:xfrm>
            <a:off x="450006" y="321835"/>
            <a:ext cx="13500200" cy="1359871"/>
          </a:xfrm>
        </p:spPr>
        <p:txBody>
          <a:bodyPr/>
          <a:lstStyle/>
          <a:p>
            <a:r>
              <a:rPr lang="en-US" dirty="0">
                <a:solidFill>
                  <a:schemeClr val="bg1"/>
                </a:solidFill>
              </a:rPr>
              <a:t>Blue/Green Deployment</a:t>
            </a:r>
          </a:p>
        </p:txBody>
      </p:sp>
      <p:sp>
        <p:nvSpPr>
          <p:cNvPr id="4" name="Footer Placeholder 3">
            <a:extLst>
              <a:ext uri="{FF2B5EF4-FFF2-40B4-BE49-F238E27FC236}">
                <a16:creationId xmlns:a16="http://schemas.microsoft.com/office/drawing/2014/main" id="{5461DAC0-DFD5-472A-99EB-2EE9F2ACCAC3}"/>
              </a:ext>
            </a:extLst>
          </p:cNvPr>
          <p:cNvSpPr>
            <a:spLocks noGrp="1"/>
          </p:cNvSpPr>
          <p:nvPr>
            <p:ph type="ftr" sz="quarter" idx="16"/>
          </p:nvPr>
        </p:nvSpPr>
        <p:spPr/>
        <p:txBody>
          <a:bodyPr/>
          <a:lstStyle/>
          <a:p>
            <a:r>
              <a:rPr lang="en-US"/>
              <a:t>Copyright © 2020 Accenture. All rights reserved.</a:t>
            </a:r>
            <a:endParaRPr lang="en-US" dirty="0"/>
          </a:p>
        </p:txBody>
      </p:sp>
      <p:sp>
        <p:nvSpPr>
          <p:cNvPr id="5" name="Content Placeholder 2">
            <a:extLst>
              <a:ext uri="{FF2B5EF4-FFF2-40B4-BE49-F238E27FC236}">
                <a16:creationId xmlns:a16="http://schemas.microsoft.com/office/drawing/2014/main" id="{1E60F2A9-4D14-4089-BACB-EF9A8D674385}"/>
              </a:ext>
            </a:extLst>
          </p:cNvPr>
          <p:cNvSpPr txBox="1">
            <a:spLocks/>
          </p:cNvSpPr>
          <p:nvPr/>
        </p:nvSpPr>
        <p:spPr>
          <a:xfrm>
            <a:off x="1297241" y="1517605"/>
            <a:ext cx="3256844" cy="4525963"/>
          </a:xfrm>
          <a:prstGeom prst="rect">
            <a:avLst/>
          </a:prstGeom>
        </p:spPr>
        <p:txBody>
          <a:bodyPr/>
          <a:lst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a:lstStyle>
          <a:p>
            <a:r>
              <a:rPr lang="en-US" sz="2800" dirty="0"/>
              <a:t>“</a:t>
            </a:r>
            <a:r>
              <a:rPr lang="en-US" sz="2800" dirty="0">
                <a:solidFill>
                  <a:srgbClr val="0432FF"/>
                </a:solidFill>
              </a:rPr>
              <a:t>Blue</a:t>
            </a:r>
            <a:r>
              <a:rPr lang="en-US" sz="2800" dirty="0"/>
              <a:t>”</a:t>
            </a:r>
          </a:p>
          <a:p>
            <a:endParaRPr lang="en-US" sz="2000" b="0" dirty="0">
              <a:solidFill>
                <a:srgbClr val="18537D"/>
              </a:solidFill>
            </a:endParaRPr>
          </a:p>
          <a:p>
            <a:r>
              <a:rPr lang="en-US" sz="2000" b="0"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000" b="0" cap="none"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Existing production environment)</a:t>
            </a:r>
          </a:p>
          <a:p>
            <a:endParaRPr lang="en-US" dirty="0"/>
          </a:p>
        </p:txBody>
      </p:sp>
      <p:sp>
        <p:nvSpPr>
          <p:cNvPr id="6" name="Content Placeholder 3">
            <a:extLst>
              <a:ext uri="{FF2B5EF4-FFF2-40B4-BE49-F238E27FC236}">
                <a16:creationId xmlns:a16="http://schemas.microsoft.com/office/drawing/2014/main" id="{02FF7F31-8273-457B-B667-BA789E2F815F}"/>
              </a:ext>
            </a:extLst>
          </p:cNvPr>
          <p:cNvSpPr txBox="1">
            <a:spLocks/>
          </p:cNvSpPr>
          <p:nvPr/>
        </p:nvSpPr>
        <p:spPr>
          <a:xfrm>
            <a:off x="4624920" y="1561101"/>
            <a:ext cx="3586468" cy="4525963"/>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latin typeface="Amazon Ember" charset="0"/>
                <a:ea typeface="Amazon Ember" charset="0"/>
                <a:cs typeface="Amazon Ember" charset="0"/>
              </a:rPr>
              <a:t>“</a:t>
            </a:r>
            <a:r>
              <a:rPr lang="en-US" b="1" dirty="0">
                <a:solidFill>
                  <a:srgbClr val="00B050"/>
                </a:solidFill>
                <a:latin typeface="Amazon Ember" charset="0"/>
                <a:ea typeface="Amazon Ember" charset="0"/>
                <a:cs typeface="Amazon Ember" charset="0"/>
              </a:rPr>
              <a:t>Green</a:t>
            </a:r>
            <a:r>
              <a:rPr lang="en-US" dirty="0">
                <a:latin typeface="Amazon Ember" charset="0"/>
                <a:ea typeface="Amazon Ember" charset="0"/>
                <a:cs typeface="Amazon Ember" charset="0"/>
              </a:rPr>
              <a:t>”</a:t>
            </a:r>
          </a:p>
          <a:p>
            <a:pPr marL="0" indent="0">
              <a:buNone/>
            </a:pPr>
            <a:r>
              <a:rPr lang="en-US" sz="2133"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(parallel environment running a different version of the application)</a:t>
            </a:r>
          </a:p>
          <a:p>
            <a:endParaRPr lang="en-US" dirty="0"/>
          </a:p>
        </p:txBody>
      </p:sp>
      <p:sp>
        <p:nvSpPr>
          <p:cNvPr id="7" name="Content Placeholder 4">
            <a:extLst>
              <a:ext uri="{FF2B5EF4-FFF2-40B4-BE49-F238E27FC236}">
                <a16:creationId xmlns:a16="http://schemas.microsoft.com/office/drawing/2014/main" id="{A7DDAA0E-C4BB-4FA6-B5DE-4DB5CFCB35F8}"/>
              </a:ext>
            </a:extLst>
          </p:cNvPr>
          <p:cNvSpPr txBox="1">
            <a:spLocks/>
          </p:cNvSpPr>
          <p:nvPr/>
        </p:nvSpPr>
        <p:spPr>
          <a:xfrm>
            <a:off x="8397277" y="1561100"/>
            <a:ext cx="4593967" cy="4525963"/>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latin typeface="Amazon Ember" panose="02000000000000000000" pitchFamily="2" charset="0"/>
                <a:ea typeface="Amazon Ember" panose="02000000000000000000" pitchFamily="2" charset="0"/>
                <a:cs typeface="Amazon Ember" charset="0"/>
              </a:rPr>
              <a:t>“Deployment”</a:t>
            </a:r>
          </a:p>
          <a:p>
            <a:pPr marL="0" indent="0">
              <a:buNone/>
            </a:pPr>
            <a:r>
              <a:rPr lang="en-US" sz="2133"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(ability to switch traffic between the two environments)</a:t>
            </a:r>
          </a:p>
          <a:p>
            <a:endParaRPr lang="en-US" dirty="0"/>
          </a:p>
        </p:txBody>
      </p:sp>
      <p:sp>
        <p:nvSpPr>
          <p:cNvPr id="8" name="Left Brace 7">
            <a:extLst>
              <a:ext uri="{FF2B5EF4-FFF2-40B4-BE49-F238E27FC236}">
                <a16:creationId xmlns:a16="http://schemas.microsoft.com/office/drawing/2014/main" id="{21F8010B-00AC-42E9-A44E-9979D04E329C}"/>
              </a:ext>
            </a:extLst>
          </p:cNvPr>
          <p:cNvSpPr/>
          <p:nvPr/>
        </p:nvSpPr>
        <p:spPr>
          <a:xfrm rot="16200000">
            <a:off x="4496030" y="205176"/>
            <a:ext cx="560552" cy="647554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9" name="Left Brace 8">
            <a:extLst>
              <a:ext uri="{FF2B5EF4-FFF2-40B4-BE49-F238E27FC236}">
                <a16:creationId xmlns:a16="http://schemas.microsoft.com/office/drawing/2014/main" id="{86BE1A92-D530-4995-8F21-A629A89F87B3}"/>
              </a:ext>
            </a:extLst>
          </p:cNvPr>
          <p:cNvSpPr/>
          <p:nvPr/>
        </p:nvSpPr>
        <p:spPr>
          <a:xfrm rot="16200000">
            <a:off x="10437274" y="1137862"/>
            <a:ext cx="560552" cy="4611145"/>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10" name="Content Placeholder 2">
            <a:extLst>
              <a:ext uri="{FF2B5EF4-FFF2-40B4-BE49-F238E27FC236}">
                <a16:creationId xmlns:a16="http://schemas.microsoft.com/office/drawing/2014/main" id="{6C5E7D1A-4799-43D6-9265-39F38727DA0F}"/>
              </a:ext>
            </a:extLst>
          </p:cNvPr>
          <p:cNvSpPr txBox="1">
            <a:spLocks/>
          </p:cNvSpPr>
          <p:nvPr/>
        </p:nvSpPr>
        <p:spPr>
          <a:xfrm>
            <a:off x="1995421" y="3633031"/>
            <a:ext cx="6179955" cy="1337228"/>
          </a:xfrm>
          <a:prstGeom prst="rect">
            <a:avLst/>
          </a:prstGeom>
        </p:spPr>
        <p:txBody>
          <a:bodyPr vert="horz" lIns="121920" tIns="60960" rIns="121920" bIns="60960" rtlCol="0">
            <a:normAutofit lnSpcReduction="10000"/>
          </a:bodyPr>
          <a:lstStyle>
            <a:lvl1pPr marL="0" indent="0" algn="l" defTabSz="457200" rtl="0" eaLnBrk="1" latinLnBrk="0" hangingPunct="1">
              <a:spcBef>
                <a:spcPct val="20000"/>
              </a:spcBef>
              <a:buFontTx/>
              <a:buNone/>
              <a:defRPr sz="20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18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endParaRPr lang="en-US" sz="2667" dirty="0"/>
          </a:p>
          <a:p>
            <a:r>
              <a:rPr lang="en-US" sz="2667" dirty="0">
                <a:solidFill>
                  <a:srgbClr val="18537D"/>
                </a:solidFill>
                <a:latin typeface="Amazon Ember" charset="0"/>
                <a:ea typeface="Amazon Ember" charset="0"/>
                <a:cs typeface="Amazon Ember" charset="0"/>
              </a:rPr>
              <a:t>App component, app server, and microservice.</a:t>
            </a:r>
          </a:p>
        </p:txBody>
      </p:sp>
      <p:sp>
        <p:nvSpPr>
          <p:cNvPr id="11" name="Content Placeholder 2">
            <a:extLst>
              <a:ext uri="{FF2B5EF4-FFF2-40B4-BE49-F238E27FC236}">
                <a16:creationId xmlns:a16="http://schemas.microsoft.com/office/drawing/2014/main" id="{4EE73D59-B9FC-46F7-9DA3-7293095C0BCA}"/>
              </a:ext>
            </a:extLst>
          </p:cNvPr>
          <p:cNvSpPr txBox="1">
            <a:spLocks/>
          </p:cNvSpPr>
          <p:nvPr/>
        </p:nvSpPr>
        <p:spPr>
          <a:xfrm>
            <a:off x="8668596" y="3780587"/>
            <a:ext cx="4322648" cy="2256512"/>
          </a:xfrm>
          <a:prstGeom prst="rect">
            <a:avLst/>
          </a:prstGeom>
        </p:spPr>
        <p:txBody>
          <a:bodyPr vert="horz" lIns="121920" tIns="60960" rIns="121920" bIns="60960" rtlCol="0">
            <a:normAutofit/>
          </a:bodyPr>
          <a:lstStyle>
            <a:lvl1pPr marL="0" indent="0" algn="l" defTabSz="457200" rtl="0" eaLnBrk="1" latinLnBrk="0" hangingPunct="1">
              <a:spcBef>
                <a:spcPct val="20000"/>
              </a:spcBef>
              <a:buFontTx/>
              <a:buNone/>
              <a:defRPr sz="20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18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sz="2533" dirty="0">
                <a:solidFill>
                  <a:srgbClr val="18537D"/>
                </a:solidFill>
                <a:latin typeface="Amazon Ember" charset="0"/>
                <a:ea typeface="Amazon Ember" charset="0"/>
                <a:cs typeface="Amazon Ember" charset="0"/>
              </a:rPr>
              <a:t>DNS, load balancer, Amazon EC2 Auto Scaling</a:t>
            </a:r>
          </a:p>
        </p:txBody>
      </p:sp>
      <p:pic>
        <p:nvPicPr>
          <p:cNvPr id="12" name="Picture 11" descr="Deck_File-Code1.png">
            <a:extLst>
              <a:ext uri="{FF2B5EF4-FFF2-40B4-BE49-F238E27FC236}">
                <a16:creationId xmlns:a16="http://schemas.microsoft.com/office/drawing/2014/main" id="{E61BAFB6-283E-4DE2-857E-D290AFDE1F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36717" y="4647504"/>
            <a:ext cx="1336749" cy="1336749"/>
          </a:xfrm>
          <a:prstGeom prst="rect">
            <a:avLst/>
          </a:prstGeom>
        </p:spPr>
      </p:pic>
      <p:pic>
        <p:nvPicPr>
          <p:cNvPr id="13" name="Picture 12" descr="Deck_File-Code1.png">
            <a:extLst>
              <a:ext uri="{FF2B5EF4-FFF2-40B4-BE49-F238E27FC236}">
                <a16:creationId xmlns:a16="http://schemas.microsoft.com/office/drawing/2014/main" id="{D76F4566-2E4F-4D18-8693-7A8710C136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6092" y="4646515"/>
            <a:ext cx="1336749" cy="1336749"/>
          </a:xfrm>
          <a:prstGeom prst="rect">
            <a:avLst/>
          </a:prstGeom>
        </p:spPr>
      </p:pic>
      <p:sp>
        <p:nvSpPr>
          <p:cNvPr id="14" name="Left-Right Arrow 55">
            <a:extLst>
              <a:ext uri="{FF2B5EF4-FFF2-40B4-BE49-F238E27FC236}">
                <a16:creationId xmlns:a16="http://schemas.microsoft.com/office/drawing/2014/main" id="{796F21E5-754A-44A5-A85B-ABAA5EBE90DB}"/>
              </a:ext>
            </a:extLst>
          </p:cNvPr>
          <p:cNvSpPr/>
          <p:nvPr/>
        </p:nvSpPr>
        <p:spPr>
          <a:xfrm>
            <a:off x="10044301" y="5161876"/>
            <a:ext cx="977987" cy="408779"/>
          </a:xfrm>
          <a:prstGeom prst="leftRightArrow">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762719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25E6C3-DB11-4881-81C8-3216B6A7E304}"/>
              </a:ext>
            </a:extLst>
          </p:cNvPr>
          <p:cNvSpPr>
            <a:spLocks noGrp="1"/>
          </p:cNvSpPr>
          <p:nvPr>
            <p:ph type="sldNum" sz="quarter" idx="17"/>
          </p:nvPr>
        </p:nvSpPr>
        <p:spPr/>
        <p:txBody>
          <a:bodyPr/>
          <a:lstStyle/>
          <a:p>
            <a:fld id="{4F9AC08D-23A9-440E-BCB9-AA1E9877CC38}" type="slidenum">
              <a:rPr lang="en-US" smtClean="0"/>
              <a:pPr/>
              <a:t>16</a:t>
            </a:fld>
            <a:endParaRPr lang="en-US" dirty="0"/>
          </a:p>
        </p:txBody>
      </p:sp>
      <p:sp>
        <p:nvSpPr>
          <p:cNvPr id="3" name="Title 2">
            <a:extLst>
              <a:ext uri="{FF2B5EF4-FFF2-40B4-BE49-F238E27FC236}">
                <a16:creationId xmlns:a16="http://schemas.microsoft.com/office/drawing/2014/main" id="{9DF313D7-5222-4011-BB40-563CE156FE17}"/>
              </a:ext>
            </a:extLst>
          </p:cNvPr>
          <p:cNvSpPr>
            <a:spLocks noGrp="1"/>
          </p:cNvSpPr>
          <p:nvPr>
            <p:ph type="title"/>
          </p:nvPr>
        </p:nvSpPr>
        <p:spPr>
          <a:xfrm>
            <a:off x="450006" y="322483"/>
            <a:ext cx="13500200" cy="1359871"/>
          </a:xfrm>
        </p:spPr>
        <p:txBody>
          <a:bodyPr/>
          <a:lstStyle/>
          <a:p>
            <a:r>
              <a:rPr lang="en-US" dirty="0">
                <a:solidFill>
                  <a:schemeClr val="bg1"/>
                </a:solidFill>
              </a:rPr>
              <a:t>Code Pipeline</a:t>
            </a:r>
          </a:p>
        </p:txBody>
      </p:sp>
      <p:sp>
        <p:nvSpPr>
          <p:cNvPr id="4" name="Footer Placeholder 3">
            <a:extLst>
              <a:ext uri="{FF2B5EF4-FFF2-40B4-BE49-F238E27FC236}">
                <a16:creationId xmlns:a16="http://schemas.microsoft.com/office/drawing/2014/main" id="{90A80B26-F9F8-45E0-8E9F-8DEE6127400D}"/>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F1055C34-0413-4EFF-A194-BA2F7C7778AF}"/>
              </a:ext>
            </a:extLst>
          </p:cNvPr>
          <p:cNvSpPr/>
          <p:nvPr/>
        </p:nvSpPr>
        <p:spPr>
          <a:xfrm>
            <a:off x="1514168" y="1079900"/>
            <a:ext cx="10953135" cy="646331"/>
          </a:xfrm>
          <a:prstGeom prst="rect">
            <a:avLst/>
          </a:prstGeom>
        </p:spPr>
        <p:txBody>
          <a:bodyPr wrap="square">
            <a:spAutoFit/>
          </a:bodyPr>
          <a:lstStyle/>
          <a:p>
            <a:pPr algn="ctr"/>
            <a:r>
              <a:rPr lang="en-US" b="1" dirty="0">
                <a:solidFill>
                  <a:srgbClr val="18537D"/>
                </a:solidFill>
              </a:rPr>
              <a:t>AWS </a:t>
            </a:r>
            <a:r>
              <a:rPr lang="en-US" b="1" dirty="0" err="1">
                <a:solidFill>
                  <a:srgbClr val="18537D"/>
                </a:solidFill>
              </a:rPr>
              <a:t>CodePipeline</a:t>
            </a:r>
            <a:r>
              <a:rPr lang="en-US" b="1" dirty="0">
                <a:solidFill>
                  <a:srgbClr val="18537D"/>
                </a:solidFill>
              </a:rPr>
              <a:t> is a fully managed continuous delivery service that helps you automate your release pipelines for fast and reliable application and infrastructure updates. </a:t>
            </a:r>
          </a:p>
        </p:txBody>
      </p:sp>
      <p:sp>
        <p:nvSpPr>
          <p:cNvPr id="6" name="Rectangle 5">
            <a:extLst>
              <a:ext uri="{FF2B5EF4-FFF2-40B4-BE49-F238E27FC236}">
                <a16:creationId xmlns:a16="http://schemas.microsoft.com/office/drawing/2014/main" id="{23E7B636-EDC5-41C4-AD8B-8930318EAAC9}"/>
              </a:ext>
            </a:extLst>
          </p:cNvPr>
          <p:cNvSpPr/>
          <p:nvPr/>
        </p:nvSpPr>
        <p:spPr>
          <a:xfrm>
            <a:off x="6827475" y="2548958"/>
            <a:ext cx="4775666" cy="2342308"/>
          </a:xfrm>
          <a:prstGeom prst="rect">
            <a:avLst/>
          </a:prstGeom>
        </p:spPr>
        <p:txBody>
          <a:bodyPr wrap="none">
            <a:spAutoFit/>
          </a:bodyPr>
          <a:lstStyle/>
          <a:p>
            <a:pPr marL="285750" indent="-285750">
              <a:lnSpc>
                <a:spcPct val="150000"/>
              </a:lnSpc>
              <a:buFont typeface="Arial" panose="020B0604020202020204" pitchFamily="34" charset="0"/>
              <a:buChar char="•"/>
            </a:pPr>
            <a:r>
              <a:rPr lang="en-US" sz="2000" dirty="0">
                <a:solidFill>
                  <a:srgbClr val="18537D"/>
                </a:solidFill>
              </a:rPr>
              <a:t>Automated CI service </a:t>
            </a:r>
          </a:p>
          <a:p>
            <a:pPr marL="285750" indent="-285750">
              <a:lnSpc>
                <a:spcPct val="150000"/>
              </a:lnSpc>
              <a:buFont typeface="Arial" panose="020B0604020202020204" pitchFamily="34" charset="0"/>
              <a:buChar char="•"/>
            </a:pPr>
            <a:r>
              <a:rPr lang="en-US" sz="2000" dirty="0">
                <a:solidFill>
                  <a:srgbClr val="18537D"/>
                </a:solidFill>
              </a:rPr>
              <a:t>Workflow definition</a:t>
            </a:r>
          </a:p>
          <a:p>
            <a:pPr marL="285750" indent="-285750">
              <a:lnSpc>
                <a:spcPct val="150000"/>
              </a:lnSpc>
              <a:buFont typeface="Arial" panose="020B0604020202020204" pitchFamily="34" charset="0"/>
              <a:buChar char="•"/>
            </a:pPr>
            <a:r>
              <a:rPr lang="en-US" sz="2000" dirty="0">
                <a:solidFill>
                  <a:srgbClr val="18537D"/>
                </a:solidFill>
              </a:rPr>
              <a:t>Triggered from source control</a:t>
            </a:r>
          </a:p>
          <a:p>
            <a:pPr marL="285750" indent="-285750">
              <a:lnSpc>
                <a:spcPct val="150000"/>
              </a:lnSpc>
              <a:buFont typeface="Arial" panose="020B0604020202020204" pitchFamily="34" charset="0"/>
              <a:buChar char="•"/>
            </a:pPr>
            <a:r>
              <a:rPr lang="en-US" sz="2000" dirty="0">
                <a:solidFill>
                  <a:srgbClr val="18537D"/>
                </a:solidFill>
              </a:rPr>
              <a:t>Low barrier to entry for AWS teams</a:t>
            </a:r>
          </a:p>
          <a:p>
            <a:pPr marL="285750" indent="-285750">
              <a:lnSpc>
                <a:spcPct val="150000"/>
              </a:lnSpc>
              <a:buFont typeface="Arial" panose="020B0604020202020204" pitchFamily="34" charset="0"/>
              <a:buChar char="•"/>
            </a:pPr>
            <a:r>
              <a:rPr lang="en-US" sz="2000" dirty="0">
                <a:solidFill>
                  <a:srgbClr val="18537D"/>
                </a:solidFill>
              </a:rPr>
              <a:t>Easy setup for AWS applications</a:t>
            </a:r>
          </a:p>
        </p:txBody>
      </p:sp>
      <p:grpSp>
        <p:nvGrpSpPr>
          <p:cNvPr id="7" name="Group 6">
            <a:extLst>
              <a:ext uri="{FF2B5EF4-FFF2-40B4-BE49-F238E27FC236}">
                <a16:creationId xmlns:a16="http://schemas.microsoft.com/office/drawing/2014/main" id="{A703FDE1-2957-482B-B5DE-E378D20C6E03}"/>
              </a:ext>
            </a:extLst>
          </p:cNvPr>
          <p:cNvGrpSpPr/>
          <p:nvPr/>
        </p:nvGrpSpPr>
        <p:grpSpPr>
          <a:xfrm>
            <a:off x="2692377" y="2892864"/>
            <a:ext cx="2265364" cy="1654496"/>
            <a:chOff x="1385875" y="1649156"/>
            <a:chExt cx="3090866" cy="2257394"/>
          </a:xfrm>
        </p:grpSpPr>
        <p:sp>
          <p:nvSpPr>
            <p:cNvPr id="8" name="TextBox 7">
              <a:extLst>
                <a:ext uri="{FF2B5EF4-FFF2-40B4-BE49-F238E27FC236}">
                  <a16:creationId xmlns:a16="http://schemas.microsoft.com/office/drawing/2014/main" id="{F929FA42-4C5D-4503-986E-F8C44416D154}"/>
                </a:ext>
              </a:extLst>
            </p:cNvPr>
            <p:cNvSpPr txBox="1"/>
            <p:nvPr/>
          </p:nvSpPr>
          <p:spPr>
            <a:xfrm>
              <a:off x="1385875" y="3360640"/>
              <a:ext cx="3090866" cy="545910"/>
            </a:xfrm>
            <a:prstGeom prst="rect">
              <a:avLst/>
            </a:prstGeom>
            <a:noFill/>
          </p:spPr>
          <p:txBody>
            <a:bodyPr wrap="non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AWS</a:t>
              </a:r>
              <a:r>
                <a:rPr lang="en-US" sz="2000" b="1"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CodePipeline</a:t>
              </a:r>
            </a:p>
          </p:txBody>
        </p:sp>
        <p:pic>
          <p:nvPicPr>
            <p:cNvPr id="9" name="Picture 8">
              <a:extLst>
                <a:ext uri="{FF2B5EF4-FFF2-40B4-BE49-F238E27FC236}">
                  <a16:creationId xmlns:a16="http://schemas.microsoft.com/office/drawing/2014/main" id="{3618FB1D-3AE5-4CF3-B18D-CB7B0C4F9098}"/>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2136000" y="1649156"/>
              <a:ext cx="1590615" cy="1711484"/>
            </a:xfrm>
            <a:prstGeom prst="rect">
              <a:avLst/>
            </a:prstGeom>
          </p:spPr>
        </p:pic>
      </p:grpSp>
    </p:spTree>
    <p:extLst>
      <p:ext uri="{BB962C8B-B14F-4D97-AF65-F5344CB8AC3E}">
        <p14:creationId xmlns:p14="http://schemas.microsoft.com/office/powerpoint/2010/main" val="405558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7DB551-F2C0-452E-B030-B11D604EB052}"/>
              </a:ext>
            </a:extLst>
          </p:cNvPr>
          <p:cNvSpPr>
            <a:spLocks noGrp="1"/>
          </p:cNvSpPr>
          <p:nvPr>
            <p:ph type="sldNum" sz="quarter" idx="17"/>
          </p:nvPr>
        </p:nvSpPr>
        <p:spPr/>
        <p:txBody>
          <a:bodyPr/>
          <a:lstStyle/>
          <a:p>
            <a:fld id="{4F9AC08D-23A9-440E-BCB9-AA1E9877CC38}" type="slidenum">
              <a:rPr lang="en-US" smtClean="0"/>
              <a:pPr/>
              <a:t>17</a:t>
            </a:fld>
            <a:endParaRPr lang="en-US" dirty="0"/>
          </a:p>
        </p:txBody>
      </p:sp>
      <p:sp>
        <p:nvSpPr>
          <p:cNvPr id="3" name="Title 2">
            <a:extLst>
              <a:ext uri="{FF2B5EF4-FFF2-40B4-BE49-F238E27FC236}">
                <a16:creationId xmlns:a16="http://schemas.microsoft.com/office/drawing/2014/main" id="{FE79D8A4-7B45-4D6A-ABF3-F69B847F132B}"/>
              </a:ext>
            </a:extLst>
          </p:cNvPr>
          <p:cNvSpPr>
            <a:spLocks noGrp="1"/>
          </p:cNvSpPr>
          <p:nvPr>
            <p:ph type="title"/>
          </p:nvPr>
        </p:nvSpPr>
        <p:spPr>
          <a:xfrm>
            <a:off x="450010" y="211319"/>
            <a:ext cx="13500200" cy="1359871"/>
          </a:xfrm>
        </p:spPr>
        <p:txBody>
          <a:bodyPr/>
          <a:lstStyle/>
          <a:p>
            <a:r>
              <a:rPr lang="en-US" dirty="0" err="1">
                <a:solidFill>
                  <a:schemeClr val="bg1"/>
                </a:solidFill>
              </a:rPr>
              <a:t>xray</a:t>
            </a:r>
            <a:endParaRPr lang="en-US" dirty="0">
              <a:solidFill>
                <a:schemeClr val="bg1"/>
              </a:solidFill>
            </a:endParaRPr>
          </a:p>
        </p:txBody>
      </p:sp>
      <p:sp>
        <p:nvSpPr>
          <p:cNvPr id="4" name="Footer Placeholder 3">
            <a:extLst>
              <a:ext uri="{FF2B5EF4-FFF2-40B4-BE49-F238E27FC236}">
                <a16:creationId xmlns:a16="http://schemas.microsoft.com/office/drawing/2014/main" id="{0E1E0E55-15D6-4213-9664-884DF45AA75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085FCD8-2035-4178-AB86-606BE5372DA2}"/>
              </a:ext>
            </a:extLst>
          </p:cNvPr>
          <p:cNvSpPr/>
          <p:nvPr/>
        </p:nvSpPr>
        <p:spPr>
          <a:xfrm>
            <a:off x="5625895" y="2467519"/>
            <a:ext cx="7197725" cy="2264274"/>
          </a:xfrm>
          <a:prstGeom prst="rect">
            <a:avLst/>
          </a:prstGeom>
        </p:spPr>
        <p:txBody>
          <a:bodyPr>
            <a:spAutoFit/>
          </a:bodyPr>
          <a:lstStyle/>
          <a:p>
            <a:pPr marL="285750" indent="-285750">
              <a:buFont typeface="Arial" panose="020B0604020202020204" pitchFamily="34" charset="0"/>
              <a:buChar char="•"/>
            </a:pPr>
            <a:r>
              <a:rPr lang="en-US" dirty="0">
                <a:solidFill>
                  <a:srgbClr val="18537D"/>
                </a:solidFill>
                <a:latin typeface="Amazon Ember" panose="020B0603020204020204" pitchFamily="34" charset="0"/>
                <a:ea typeface="Amazon Ember" panose="020B0603020204020204" pitchFamily="34" charset="0"/>
                <a:cs typeface="Amazon Ember" panose="020B0603020204020204" pitchFamily="34" charset="0"/>
              </a:rPr>
              <a:t>Helps developers analyze and debug production, distributed applications</a:t>
            </a:r>
            <a:endParaRPr lang="en-US" sz="2400" dirty="0">
              <a:solidFill>
                <a:srgbClr val="18537D"/>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lnSpc>
                <a:spcPct val="150000"/>
              </a:lnSpc>
              <a:buFont typeface="Arial" panose="020B0604020202020204" pitchFamily="34" charset="0"/>
              <a:buChar char="•"/>
            </a:pPr>
            <a:r>
              <a:rPr lang="en-US" dirty="0">
                <a:solidFill>
                  <a:srgbClr val="18537D"/>
                </a:solidFill>
              </a:rPr>
              <a:t>Create a service map</a:t>
            </a:r>
          </a:p>
          <a:p>
            <a:pPr marL="457200" indent="-457200">
              <a:lnSpc>
                <a:spcPct val="150000"/>
              </a:lnSpc>
              <a:buFont typeface="Arial" panose="020B0604020202020204" pitchFamily="34" charset="0"/>
              <a:buChar char="•"/>
            </a:pPr>
            <a:r>
              <a:rPr lang="en-US" dirty="0">
                <a:solidFill>
                  <a:srgbClr val="18537D"/>
                </a:solidFill>
              </a:rPr>
              <a:t>Identify errors and bugs</a:t>
            </a:r>
          </a:p>
          <a:p>
            <a:pPr marL="457200" indent="-457200">
              <a:lnSpc>
                <a:spcPct val="150000"/>
              </a:lnSpc>
              <a:buFont typeface="Arial" panose="020B0604020202020204" pitchFamily="34" charset="0"/>
              <a:buChar char="•"/>
            </a:pPr>
            <a:r>
              <a:rPr lang="en-US" dirty="0">
                <a:solidFill>
                  <a:srgbClr val="18537D"/>
                </a:solidFill>
              </a:rPr>
              <a:t>Identify performance bottlenecks</a:t>
            </a:r>
          </a:p>
          <a:p>
            <a:pPr marL="457200" indent="-457200">
              <a:lnSpc>
                <a:spcPct val="150000"/>
              </a:lnSpc>
              <a:buFont typeface="Arial" panose="020B0604020202020204" pitchFamily="34" charset="0"/>
              <a:buChar char="•"/>
            </a:pPr>
            <a:r>
              <a:rPr lang="en-US" dirty="0">
                <a:solidFill>
                  <a:srgbClr val="18537D"/>
                </a:solidFill>
              </a:rPr>
              <a:t>Build your own analysis and visualization applications</a:t>
            </a:r>
            <a:endParaRPr lang="en-US" dirty="0">
              <a:solidFill>
                <a:srgbClr val="18537D"/>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 name="Picture 6">
            <a:extLst>
              <a:ext uri="{FF2B5EF4-FFF2-40B4-BE49-F238E27FC236}">
                <a16:creationId xmlns:a16="http://schemas.microsoft.com/office/drawing/2014/main" id="{12701373-6498-4F86-BECB-7E4FF4C59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898" y="2590451"/>
            <a:ext cx="2939873" cy="1442930"/>
          </a:xfrm>
          <a:prstGeom prst="rect">
            <a:avLst/>
          </a:prstGeom>
        </p:spPr>
      </p:pic>
      <p:sp>
        <p:nvSpPr>
          <p:cNvPr id="8" name="TextBox 7">
            <a:extLst>
              <a:ext uri="{FF2B5EF4-FFF2-40B4-BE49-F238E27FC236}">
                <a16:creationId xmlns:a16="http://schemas.microsoft.com/office/drawing/2014/main" id="{F530CAD2-40B7-4431-B300-51D326773651}"/>
              </a:ext>
            </a:extLst>
          </p:cNvPr>
          <p:cNvSpPr txBox="1"/>
          <p:nvPr/>
        </p:nvSpPr>
        <p:spPr>
          <a:xfrm>
            <a:off x="2483073" y="3886197"/>
            <a:ext cx="1485522" cy="400110"/>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rPr>
              <a:t>AWS</a:t>
            </a:r>
            <a:r>
              <a:rPr lang="en-US" sz="2000" b="1" dirty="0">
                <a:latin typeface="Amazon Ember" panose="02000000000000000000" pitchFamily="2" charset="0"/>
                <a:ea typeface="Amazon Ember" panose="02000000000000000000" pitchFamily="2"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X-Ray</a:t>
            </a:r>
          </a:p>
        </p:txBody>
      </p:sp>
      <p:sp>
        <p:nvSpPr>
          <p:cNvPr id="9" name="Rectangle 8">
            <a:extLst>
              <a:ext uri="{FF2B5EF4-FFF2-40B4-BE49-F238E27FC236}">
                <a16:creationId xmlns:a16="http://schemas.microsoft.com/office/drawing/2014/main" id="{CE1B4FB3-B84A-4AF0-98DD-4C74A79F26BB}"/>
              </a:ext>
            </a:extLst>
          </p:cNvPr>
          <p:cNvSpPr/>
          <p:nvPr/>
        </p:nvSpPr>
        <p:spPr>
          <a:xfrm>
            <a:off x="2489405" y="1144181"/>
            <a:ext cx="8542389" cy="646331"/>
          </a:xfrm>
          <a:prstGeom prst="rect">
            <a:avLst/>
          </a:prstGeom>
        </p:spPr>
        <p:txBody>
          <a:bodyPr wrap="square">
            <a:spAutoFit/>
          </a:bodyPr>
          <a:lstStyle/>
          <a:p>
            <a:pPr algn="ctr"/>
            <a:r>
              <a:rPr lang="en-US" b="1" dirty="0">
                <a:solidFill>
                  <a:srgbClr val="18537D"/>
                </a:solidFill>
              </a:rPr>
              <a:t>AWS X-Ray helps developers analyze and debug production, distributed applications, such as those built using a microservices architecture</a:t>
            </a:r>
          </a:p>
        </p:txBody>
      </p:sp>
    </p:spTree>
    <p:extLst>
      <p:ext uri="{BB962C8B-B14F-4D97-AF65-F5344CB8AC3E}">
        <p14:creationId xmlns:p14="http://schemas.microsoft.com/office/powerpoint/2010/main" val="3391126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1CFA9-7036-4987-8F47-48ADD2144D17}"/>
              </a:ext>
            </a:extLst>
          </p:cNvPr>
          <p:cNvSpPr>
            <a:spLocks noGrp="1"/>
          </p:cNvSpPr>
          <p:nvPr>
            <p:ph type="sldNum" sz="quarter" idx="17"/>
          </p:nvPr>
        </p:nvSpPr>
        <p:spPr/>
        <p:txBody>
          <a:bodyPr/>
          <a:lstStyle/>
          <a:p>
            <a:fld id="{4F9AC08D-23A9-440E-BCB9-AA1E9877CC38}" type="slidenum">
              <a:rPr lang="en-US" smtClean="0"/>
              <a:pPr/>
              <a:t>18</a:t>
            </a:fld>
            <a:endParaRPr lang="en-US" dirty="0"/>
          </a:p>
        </p:txBody>
      </p:sp>
      <p:sp>
        <p:nvSpPr>
          <p:cNvPr id="3" name="Title 2">
            <a:extLst>
              <a:ext uri="{FF2B5EF4-FFF2-40B4-BE49-F238E27FC236}">
                <a16:creationId xmlns:a16="http://schemas.microsoft.com/office/drawing/2014/main" id="{1B4FFAC2-CDFA-46FD-9DF7-3C3CD61BEEBA}"/>
              </a:ext>
            </a:extLst>
          </p:cNvPr>
          <p:cNvSpPr>
            <a:spLocks noGrp="1"/>
          </p:cNvSpPr>
          <p:nvPr>
            <p:ph type="title"/>
          </p:nvPr>
        </p:nvSpPr>
        <p:spPr>
          <a:xfrm>
            <a:off x="450006" y="321306"/>
            <a:ext cx="13500200" cy="1359871"/>
          </a:xfrm>
        </p:spPr>
        <p:txBody>
          <a:bodyPr>
            <a:normAutofit fontScale="90000"/>
          </a:bodyPr>
          <a:lstStyle/>
          <a:p>
            <a:r>
              <a:rPr lang="en-US" dirty="0">
                <a:solidFill>
                  <a:schemeClr val="bg1"/>
                </a:solidFill>
              </a:rPr>
              <a:t>AWS Elastic Beanstalk</a:t>
            </a:r>
            <a:br>
              <a:rPr lang="en-US" dirty="0">
                <a:solidFill>
                  <a:schemeClr val="bg1"/>
                </a:solidFill>
              </a:rPr>
            </a:br>
            <a:br>
              <a:rPr lang="en-US" dirty="0">
                <a:solidFill>
                  <a:schemeClr val="bg1"/>
                </a:solidFill>
              </a:rPr>
            </a:br>
            <a:endParaRPr lang="en-US" dirty="0">
              <a:solidFill>
                <a:schemeClr val="bg1"/>
              </a:solidFill>
            </a:endParaRPr>
          </a:p>
        </p:txBody>
      </p:sp>
      <p:sp>
        <p:nvSpPr>
          <p:cNvPr id="4" name="Footer Placeholder 3">
            <a:extLst>
              <a:ext uri="{FF2B5EF4-FFF2-40B4-BE49-F238E27FC236}">
                <a16:creationId xmlns:a16="http://schemas.microsoft.com/office/drawing/2014/main" id="{F5147406-2EAB-40AF-BC5B-908A949489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F8EB0CD0-6551-4D5F-80A5-72F248387B8C}"/>
              </a:ext>
            </a:extLst>
          </p:cNvPr>
          <p:cNvSpPr/>
          <p:nvPr/>
        </p:nvSpPr>
        <p:spPr>
          <a:xfrm>
            <a:off x="450006" y="1260933"/>
            <a:ext cx="12656395" cy="2446824"/>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Elastic Beanstalk automatically handles the deployment</a:t>
            </a:r>
          </a:p>
          <a:p>
            <a:pPr marL="285750" indent="-285750">
              <a:lnSpc>
                <a:spcPct val="150000"/>
              </a:lnSpc>
              <a:buFont typeface="Arial" panose="020B0604020202020204" pitchFamily="34" charset="0"/>
              <a:buChar char="•"/>
            </a:pPr>
            <a:r>
              <a:rPr lang="en-US" dirty="0">
                <a:solidFill>
                  <a:srgbClr val="18537D"/>
                </a:solidFill>
              </a:rPr>
              <a:t>Applications running in EBS can easily scale up and down.</a:t>
            </a:r>
          </a:p>
          <a:p>
            <a:pPr marL="285750" indent="-285750">
              <a:lnSpc>
                <a:spcPct val="150000"/>
              </a:lnSpc>
              <a:buFont typeface="Arial" panose="020B0604020202020204" pitchFamily="34" charset="0"/>
              <a:buChar char="•"/>
            </a:pPr>
            <a:r>
              <a:rPr lang="en-US" dirty="0">
                <a:solidFill>
                  <a:srgbClr val="18537D"/>
                </a:solidFill>
              </a:rPr>
              <a:t>It is one of the fastest and simplest way to deploy applications in AWS.</a:t>
            </a:r>
          </a:p>
          <a:p>
            <a:pPr marL="285750" indent="-285750">
              <a:lnSpc>
                <a:spcPct val="150000"/>
              </a:lnSpc>
              <a:buFont typeface="Arial" panose="020B0604020202020204" pitchFamily="34" charset="0"/>
              <a:buChar char="•"/>
            </a:pPr>
            <a:r>
              <a:rPr lang="en-US" dirty="0">
                <a:solidFill>
                  <a:srgbClr val="18537D"/>
                </a:solidFill>
              </a:rPr>
              <a:t>It is integrated with Cloud watch and X-Ray for monitoring and metrics.</a:t>
            </a:r>
          </a:p>
          <a:p>
            <a:pPr marL="285750" indent="-285750">
              <a:lnSpc>
                <a:spcPct val="150000"/>
              </a:lnSpc>
              <a:buFont typeface="Arial" panose="020B0604020202020204" pitchFamily="34" charset="0"/>
              <a:buChar char="•"/>
            </a:pPr>
            <a:r>
              <a:rPr lang="en-US" dirty="0">
                <a:solidFill>
                  <a:srgbClr val="18537D"/>
                </a:solidFill>
              </a:rPr>
              <a:t>It also provisions the underlying resources for application deployment.</a:t>
            </a:r>
          </a:p>
          <a:p>
            <a:endParaRPr lang="en-US" dirty="0"/>
          </a:p>
        </p:txBody>
      </p:sp>
      <p:grpSp>
        <p:nvGrpSpPr>
          <p:cNvPr id="6" name="Group 5">
            <a:extLst>
              <a:ext uri="{FF2B5EF4-FFF2-40B4-BE49-F238E27FC236}">
                <a16:creationId xmlns:a16="http://schemas.microsoft.com/office/drawing/2014/main" id="{EF770D0D-9313-4795-BCF4-0D3E8E3D4A65}"/>
              </a:ext>
            </a:extLst>
          </p:cNvPr>
          <p:cNvGrpSpPr/>
          <p:nvPr/>
        </p:nvGrpSpPr>
        <p:grpSpPr>
          <a:xfrm>
            <a:off x="8160774" y="1465007"/>
            <a:ext cx="5899355" cy="4100051"/>
            <a:chOff x="6578545" y="2139903"/>
            <a:chExt cx="4916239" cy="3519361"/>
          </a:xfrm>
        </p:grpSpPr>
        <p:grpSp>
          <p:nvGrpSpPr>
            <p:cNvPr id="7" name="Group 6">
              <a:extLst>
                <a:ext uri="{FF2B5EF4-FFF2-40B4-BE49-F238E27FC236}">
                  <a16:creationId xmlns:a16="http://schemas.microsoft.com/office/drawing/2014/main" id="{7DB35095-6857-4019-AB63-A7437290C1D3}"/>
                </a:ext>
              </a:extLst>
            </p:cNvPr>
            <p:cNvGrpSpPr/>
            <p:nvPr/>
          </p:nvGrpSpPr>
          <p:grpSpPr>
            <a:xfrm>
              <a:off x="6578545" y="2139903"/>
              <a:ext cx="4916239" cy="3519361"/>
              <a:chOff x="4120426" y="1393239"/>
              <a:chExt cx="4916239" cy="3519361"/>
            </a:xfrm>
          </p:grpSpPr>
          <p:grpSp>
            <p:nvGrpSpPr>
              <p:cNvPr id="9" name="Group 8">
                <a:extLst>
                  <a:ext uri="{FF2B5EF4-FFF2-40B4-BE49-F238E27FC236}">
                    <a16:creationId xmlns:a16="http://schemas.microsoft.com/office/drawing/2014/main" id="{38791739-498A-4799-8A63-DEC5FCC4ECE5}"/>
                  </a:ext>
                </a:extLst>
              </p:cNvPr>
              <p:cNvGrpSpPr/>
              <p:nvPr/>
            </p:nvGrpSpPr>
            <p:grpSpPr>
              <a:xfrm>
                <a:off x="4120426" y="3363600"/>
                <a:ext cx="4916239" cy="1549000"/>
                <a:chOff x="1168773" y="3378413"/>
                <a:chExt cx="4916239" cy="1549000"/>
              </a:xfrm>
            </p:grpSpPr>
            <p:sp>
              <p:nvSpPr>
                <p:cNvPr id="17" name="Rounded Rectangle 15">
                  <a:extLst>
                    <a:ext uri="{FF2B5EF4-FFF2-40B4-BE49-F238E27FC236}">
                      <a16:creationId xmlns:a16="http://schemas.microsoft.com/office/drawing/2014/main" id="{5BFA1295-CCA2-4BC0-8181-14EECF822152}"/>
                    </a:ext>
                  </a:extLst>
                </p:cNvPr>
                <p:cNvSpPr/>
                <p:nvPr/>
              </p:nvSpPr>
              <p:spPr>
                <a:xfrm>
                  <a:off x="1168773" y="3378413"/>
                  <a:ext cx="4916239" cy="568672"/>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400" dirty="0">
                      <a:ea typeface="Amazon Ember" panose="020B0603020204020204" pitchFamily="34" charset="0"/>
                      <a:cs typeface="Amazon Ember" panose="020B0603020204020204" pitchFamily="34" charset="0"/>
                    </a:rPr>
                    <a:t>Platform</a:t>
                  </a:r>
                </a:p>
                <a:p>
                  <a:pPr algn="ctr" defTabSz="913650">
                    <a:defRPr/>
                  </a:pPr>
                  <a:r>
                    <a:rPr lang="en-SG" sz="1400" dirty="0">
                      <a:ea typeface="Amazon Ember" panose="020B0603020204020204" pitchFamily="34" charset="0"/>
                      <a:cs typeface="Amazon Ember" panose="020B0603020204020204" pitchFamily="34" charset="0"/>
                    </a:rPr>
                    <a:t>(</a:t>
                  </a:r>
                  <a:r>
                    <a:rPr lang="en-US" sz="1400" dirty="0">
                      <a:ea typeface="Amazon Ember" panose="020B0603020204020204" pitchFamily="34" charset="0"/>
                      <a:cs typeface="Amazon Ember" panose="020B0603020204020204" pitchFamily="34" charset="0"/>
                    </a:rPr>
                    <a:t>Go, Java, .NET, Node.js, PHP, Python, Ruby, and Docker)</a:t>
                  </a:r>
                  <a:endParaRPr lang="en-SG" sz="1400" dirty="0">
                    <a:ea typeface="Amazon Ember" panose="020B0603020204020204" pitchFamily="34" charset="0"/>
                    <a:cs typeface="Amazon Ember" panose="020B0603020204020204" pitchFamily="34" charset="0"/>
                  </a:endParaRPr>
                </a:p>
              </p:txBody>
            </p:sp>
            <p:sp>
              <p:nvSpPr>
                <p:cNvPr id="18" name="Rounded Rectangle 16">
                  <a:extLst>
                    <a:ext uri="{FF2B5EF4-FFF2-40B4-BE49-F238E27FC236}">
                      <a16:creationId xmlns:a16="http://schemas.microsoft.com/office/drawing/2014/main" id="{8D3E7929-E9E2-4245-AA8C-7DD496A18AE5}"/>
                    </a:ext>
                  </a:extLst>
                </p:cNvPr>
                <p:cNvSpPr/>
                <p:nvPr/>
              </p:nvSpPr>
              <p:spPr>
                <a:xfrm>
                  <a:off x="1168773" y="4195893"/>
                  <a:ext cx="2286000" cy="731520"/>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Web</a:t>
                  </a:r>
                  <a:r>
                    <a:rPr lang="en-SG" sz="1600" dirty="0">
                      <a:latin typeface="Amazon Ember" charset="0"/>
                      <a:ea typeface="Amazon Ember" charset="0"/>
                      <a:cs typeface="Amazon Ember" charset="0"/>
                    </a:rPr>
                    <a:t> </a:t>
                  </a:r>
                  <a:r>
                    <a:rPr lang="en-SG" sz="1600" dirty="0">
                      <a:solidFill>
                        <a:srgbClr val="000000"/>
                      </a:solidFill>
                      <a:ea typeface="Amazon Ember" charset="0"/>
                      <a:cs typeface="Amazon Ember" charset="0"/>
                    </a:rPr>
                    <a:t>server</a:t>
                  </a:r>
                </a:p>
              </p:txBody>
            </p:sp>
            <p:sp>
              <p:nvSpPr>
                <p:cNvPr id="19" name="Rounded Rectangle 17">
                  <a:extLst>
                    <a:ext uri="{FF2B5EF4-FFF2-40B4-BE49-F238E27FC236}">
                      <a16:creationId xmlns:a16="http://schemas.microsoft.com/office/drawing/2014/main" id="{F949C134-2084-4D9B-A3D5-27C3F44A9B4D}"/>
                    </a:ext>
                  </a:extLst>
                </p:cNvPr>
                <p:cNvSpPr/>
                <p:nvPr/>
              </p:nvSpPr>
              <p:spPr>
                <a:xfrm>
                  <a:off x="3799012" y="4195893"/>
                  <a:ext cx="2286000" cy="731520"/>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Worker</a:t>
                  </a:r>
                </a:p>
              </p:txBody>
            </p:sp>
          </p:grpSp>
          <p:grpSp>
            <p:nvGrpSpPr>
              <p:cNvPr id="10" name="Group 9">
                <a:extLst>
                  <a:ext uri="{FF2B5EF4-FFF2-40B4-BE49-F238E27FC236}">
                    <a16:creationId xmlns:a16="http://schemas.microsoft.com/office/drawing/2014/main" id="{B5751C80-1C9F-4D71-A2FB-E27DA0CF9A24}"/>
                  </a:ext>
                </a:extLst>
              </p:cNvPr>
              <p:cNvGrpSpPr/>
              <p:nvPr/>
            </p:nvGrpSpPr>
            <p:grpSpPr>
              <a:xfrm>
                <a:off x="4780255" y="2061720"/>
                <a:ext cx="3596582" cy="1077438"/>
                <a:chOff x="5001473" y="2075991"/>
                <a:chExt cx="3596582" cy="1077438"/>
              </a:xfrm>
            </p:grpSpPr>
            <p:sp>
              <p:nvSpPr>
                <p:cNvPr id="12" name="Rounded Rectangle 10">
                  <a:extLst>
                    <a:ext uri="{FF2B5EF4-FFF2-40B4-BE49-F238E27FC236}">
                      <a16:creationId xmlns:a16="http://schemas.microsoft.com/office/drawing/2014/main" id="{FD9FDA2C-C739-446A-843B-BB49D686B105}"/>
                    </a:ext>
                  </a:extLst>
                </p:cNvPr>
                <p:cNvSpPr/>
                <p:nvPr/>
              </p:nvSpPr>
              <p:spPr>
                <a:xfrm>
                  <a:off x="5001473" y="2082896"/>
                  <a:ext cx="1460742" cy="1057654"/>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Configuration</a:t>
                  </a:r>
                </a:p>
              </p:txBody>
            </p:sp>
            <p:sp>
              <p:nvSpPr>
                <p:cNvPr id="13" name="Rounded Rectangle 11">
                  <a:extLst>
                    <a:ext uri="{FF2B5EF4-FFF2-40B4-BE49-F238E27FC236}">
                      <a16:creationId xmlns:a16="http://schemas.microsoft.com/office/drawing/2014/main" id="{2CEAAFCD-B257-4617-9432-0799B257D8CC}"/>
                    </a:ext>
                  </a:extLst>
                </p:cNvPr>
                <p:cNvSpPr/>
                <p:nvPr/>
              </p:nvSpPr>
              <p:spPr>
                <a:xfrm>
                  <a:off x="6542844" y="2075991"/>
                  <a:ext cx="2045850" cy="309725"/>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Environment</a:t>
                  </a:r>
                  <a:r>
                    <a:rPr lang="en-SG" sz="1600" dirty="0">
                      <a:latin typeface="Amazon Ember" charset="0"/>
                      <a:ea typeface="Amazon Ember" charset="0"/>
                      <a:cs typeface="Amazon Ember" charset="0"/>
                    </a:rPr>
                    <a:t> </a:t>
                  </a:r>
                  <a:r>
                    <a:rPr lang="en-SG" sz="1600" dirty="0">
                      <a:solidFill>
                        <a:srgbClr val="000000"/>
                      </a:solidFill>
                      <a:ea typeface="Amazon Ember" charset="0"/>
                      <a:cs typeface="Amazon Ember" charset="0"/>
                    </a:rPr>
                    <a:t>Name</a:t>
                  </a:r>
                </a:p>
              </p:txBody>
            </p:sp>
            <p:sp>
              <p:nvSpPr>
                <p:cNvPr id="14" name="Rounded Rectangle 12">
                  <a:extLst>
                    <a:ext uri="{FF2B5EF4-FFF2-40B4-BE49-F238E27FC236}">
                      <a16:creationId xmlns:a16="http://schemas.microsoft.com/office/drawing/2014/main" id="{7207F339-7F92-4494-A03E-073FC4ED1EDF}"/>
                    </a:ext>
                  </a:extLst>
                </p:cNvPr>
                <p:cNvSpPr/>
                <p:nvPr/>
              </p:nvSpPr>
              <p:spPr>
                <a:xfrm>
                  <a:off x="6542844" y="2442730"/>
                  <a:ext cx="2055211" cy="309725"/>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Domain</a:t>
                  </a:r>
                  <a:r>
                    <a:rPr lang="en-SG" sz="1600" dirty="0">
                      <a:latin typeface="Amazon Ember" charset="0"/>
                      <a:ea typeface="Amazon Ember" charset="0"/>
                      <a:cs typeface="Amazon Ember" charset="0"/>
                    </a:rPr>
                    <a:t> </a:t>
                  </a:r>
                  <a:r>
                    <a:rPr lang="en-SG" sz="1600" dirty="0">
                      <a:solidFill>
                        <a:srgbClr val="000000"/>
                      </a:solidFill>
                      <a:ea typeface="Amazon Ember" charset="0"/>
                      <a:cs typeface="Amazon Ember" charset="0"/>
                    </a:rPr>
                    <a:t>Name</a:t>
                  </a:r>
                </a:p>
              </p:txBody>
            </p:sp>
            <p:sp>
              <p:nvSpPr>
                <p:cNvPr id="15" name="Rounded Rectangle 13">
                  <a:extLst>
                    <a:ext uri="{FF2B5EF4-FFF2-40B4-BE49-F238E27FC236}">
                      <a16:creationId xmlns:a16="http://schemas.microsoft.com/office/drawing/2014/main" id="{D5A29741-1EBA-4549-A49C-15326FD4FCAA}"/>
                    </a:ext>
                  </a:extLst>
                </p:cNvPr>
                <p:cNvSpPr/>
                <p:nvPr/>
              </p:nvSpPr>
              <p:spPr>
                <a:xfrm>
                  <a:off x="6542843" y="2798628"/>
                  <a:ext cx="972833" cy="341922"/>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VPC</a:t>
                  </a:r>
                </a:p>
              </p:txBody>
            </p:sp>
            <p:sp>
              <p:nvSpPr>
                <p:cNvPr id="16" name="Rounded Rectangle 14">
                  <a:extLst>
                    <a:ext uri="{FF2B5EF4-FFF2-40B4-BE49-F238E27FC236}">
                      <a16:creationId xmlns:a16="http://schemas.microsoft.com/office/drawing/2014/main" id="{A97B9AA7-A6CD-4ACE-833E-E0E987C700FE}"/>
                    </a:ext>
                  </a:extLst>
                </p:cNvPr>
                <p:cNvSpPr/>
                <p:nvPr/>
              </p:nvSpPr>
              <p:spPr>
                <a:xfrm>
                  <a:off x="7541435" y="2799888"/>
                  <a:ext cx="1047259" cy="353541"/>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Database</a:t>
                  </a:r>
                </a:p>
              </p:txBody>
            </p:sp>
          </p:grpSp>
          <p:sp>
            <p:nvSpPr>
              <p:cNvPr id="11" name="Rounded Rectangle 9">
                <a:extLst>
                  <a:ext uri="{FF2B5EF4-FFF2-40B4-BE49-F238E27FC236}">
                    <a16:creationId xmlns:a16="http://schemas.microsoft.com/office/drawing/2014/main" id="{9BA8FD7B-429C-4DF9-A1F7-A1D1625ACAF7}"/>
                  </a:ext>
                </a:extLst>
              </p:cNvPr>
              <p:cNvSpPr/>
              <p:nvPr/>
            </p:nvSpPr>
            <p:spPr>
              <a:xfrm>
                <a:off x="5437059" y="1393239"/>
                <a:ext cx="2286000" cy="365760"/>
              </a:xfrm>
              <a:prstGeom prst="roundRect">
                <a:avLst>
                  <a:gd name="adj" fmla="val 7316"/>
                </a:avLst>
              </a:prstGeom>
              <a:ln/>
            </p:spPr>
            <p:style>
              <a:lnRef idx="2">
                <a:schemeClr val="accent4">
                  <a:shade val="50000"/>
                </a:schemeClr>
              </a:lnRef>
              <a:fillRef idx="1">
                <a:schemeClr val="accent4"/>
              </a:fillRef>
              <a:effectRef idx="0">
                <a:schemeClr val="accent4"/>
              </a:effectRef>
              <a:fontRef idx="minor">
                <a:schemeClr val="lt1"/>
              </a:fontRef>
            </p:style>
            <p:txBody>
              <a:bodyPr lIns="91372" tIns="45686" rIns="91372" bIns="45686" spcCol="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913650">
                  <a:defRPr/>
                </a:pPr>
                <a:r>
                  <a:rPr lang="en-SG" sz="1600" dirty="0">
                    <a:solidFill>
                      <a:srgbClr val="000000"/>
                    </a:solidFill>
                    <a:ea typeface="Amazon Ember" charset="0"/>
                    <a:cs typeface="Amazon Ember" charset="0"/>
                  </a:rPr>
                  <a:t>Application</a:t>
                </a:r>
                <a:r>
                  <a:rPr lang="en-SG" sz="1600" dirty="0">
                    <a:ea typeface="Amazon Ember" charset="0"/>
                    <a:cs typeface="Amazon Ember" charset="0"/>
                  </a:rPr>
                  <a:t> code</a:t>
                </a:r>
              </a:p>
            </p:txBody>
          </p:sp>
        </p:grpSp>
        <p:sp>
          <p:nvSpPr>
            <p:cNvPr id="8" name="TextBox 7">
              <a:extLst>
                <a:ext uri="{FF2B5EF4-FFF2-40B4-BE49-F238E27FC236}">
                  <a16:creationId xmlns:a16="http://schemas.microsoft.com/office/drawing/2014/main" id="{229F1845-DE9A-4EF2-83AC-89BBCE6578CE}"/>
                </a:ext>
              </a:extLst>
            </p:cNvPr>
            <p:cNvSpPr txBox="1"/>
            <p:nvPr/>
          </p:nvSpPr>
          <p:spPr>
            <a:xfrm>
              <a:off x="8838534" y="5081776"/>
              <a:ext cx="380232" cy="290605"/>
            </a:xfrm>
            <a:prstGeom prst="rect">
              <a:avLst/>
            </a:prstGeom>
            <a:noFill/>
            <a:ln>
              <a:noFill/>
            </a:ln>
          </p:spPr>
          <p:style>
            <a:lnRef idx="0">
              <a:scrgbClr r="0" g="0" b="0"/>
            </a:lnRef>
            <a:fillRef idx="0">
              <a:scrgbClr r="0" g="0" b="0"/>
            </a:fillRef>
            <a:effectRef idx="0">
              <a:scrgbClr r="0" g="0" b="0"/>
            </a:effectRef>
            <a:fontRef idx="minor">
              <a:schemeClr val="accent4"/>
            </a:fontRef>
          </p:style>
          <p:txBody>
            <a:bodyPr wrap="square" rtlCol="0">
              <a:spAutoFit/>
            </a:bodyPr>
            <a:lstStyle/>
            <a:p>
              <a:r>
                <a:rPr lang="en-US" sz="1600" dirty="0">
                  <a:solidFill>
                    <a:srgbClr val="000000"/>
                  </a:solidFill>
                  <a:ea typeface="Amazon Ember" charset="0"/>
                  <a:cs typeface="Amazon Ember" charset="0"/>
                </a:rPr>
                <a:t>or</a:t>
              </a:r>
            </a:p>
          </p:txBody>
        </p:sp>
      </p:grpSp>
    </p:spTree>
    <p:extLst>
      <p:ext uri="{BB962C8B-B14F-4D97-AF65-F5344CB8AC3E}">
        <p14:creationId xmlns:p14="http://schemas.microsoft.com/office/powerpoint/2010/main" val="331320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85EC0C-5957-4E6B-AEAD-5C6C937E2AD7}"/>
              </a:ext>
            </a:extLst>
          </p:cNvPr>
          <p:cNvSpPr>
            <a:spLocks noGrp="1"/>
          </p:cNvSpPr>
          <p:nvPr>
            <p:ph type="sldNum" sz="quarter" idx="17"/>
          </p:nvPr>
        </p:nvSpPr>
        <p:spPr/>
        <p:txBody>
          <a:bodyPr/>
          <a:lstStyle/>
          <a:p>
            <a:fld id="{4F9AC08D-23A9-440E-BCB9-AA1E9877CC38}" type="slidenum">
              <a:rPr lang="en-US" smtClean="0"/>
              <a:pPr/>
              <a:t>19</a:t>
            </a:fld>
            <a:endParaRPr lang="en-US" dirty="0"/>
          </a:p>
        </p:txBody>
      </p:sp>
      <p:sp>
        <p:nvSpPr>
          <p:cNvPr id="3" name="Title 2">
            <a:extLst>
              <a:ext uri="{FF2B5EF4-FFF2-40B4-BE49-F238E27FC236}">
                <a16:creationId xmlns:a16="http://schemas.microsoft.com/office/drawing/2014/main" id="{1D20462F-AF00-4F0D-A657-BE2E0FF04AA1}"/>
              </a:ext>
            </a:extLst>
          </p:cNvPr>
          <p:cNvSpPr>
            <a:spLocks noGrp="1"/>
          </p:cNvSpPr>
          <p:nvPr>
            <p:ph type="title"/>
          </p:nvPr>
        </p:nvSpPr>
        <p:spPr>
          <a:xfrm>
            <a:off x="450008" y="331139"/>
            <a:ext cx="13500200" cy="1359871"/>
          </a:xfrm>
        </p:spPr>
        <p:txBody>
          <a:bodyPr/>
          <a:lstStyle/>
          <a:p>
            <a:r>
              <a:rPr lang="en-US" dirty="0">
                <a:solidFill>
                  <a:schemeClr val="bg1"/>
                </a:solidFill>
              </a:rPr>
              <a:t>AWS CloudFormation</a:t>
            </a:r>
          </a:p>
        </p:txBody>
      </p:sp>
      <p:sp>
        <p:nvSpPr>
          <p:cNvPr id="4" name="Footer Placeholder 3">
            <a:extLst>
              <a:ext uri="{FF2B5EF4-FFF2-40B4-BE49-F238E27FC236}">
                <a16:creationId xmlns:a16="http://schemas.microsoft.com/office/drawing/2014/main" id="{F6552A4E-DD65-4B1E-B3C9-3EAD7CDD5945}"/>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075274F9-665F-4291-818C-D7F2EDAF2BC0}"/>
              </a:ext>
            </a:extLst>
          </p:cNvPr>
          <p:cNvSpPr/>
          <p:nvPr/>
        </p:nvSpPr>
        <p:spPr>
          <a:xfrm>
            <a:off x="450005" y="1113505"/>
            <a:ext cx="13049685" cy="6601807"/>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AWS CloudFormation users can easily create and manage a collection of related AWS resources.</a:t>
            </a:r>
          </a:p>
          <a:p>
            <a:pPr marL="285750" indent="-285750">
              <a:lnSpc>
                <a:spcPct val="150000"/>
              </a:lnSpc>
              <a:buFont typeface="Arial" panose="020B0604020202020204" pitchFamily="34" charset="0"/>
              <a:buChar char="•"/>
            </a:pPr>
            <a:r>
              <a:rPr lang="en-US" dirty="0">
                <a:solidFill>
                  <a:srgbClr val="18537D"/>
                </a:solidFill>
              </a:rPr>
              <a:t>CloudFormation allows you to use a single JSON/YAML file to model and provision all the infrastructure resources needed for your applications across all regions and accounts.</a:t>
            </a:r>
          </a:p>
          <a:p>
            <a:pPr marL="285750" indent="-285750">
              <a:lnSpc>
                <a:spcPct val="150000"/>
              </a:lnSpc>
              <a:buFont typeface="Arial" panose="020B0604020202020204" pitchFamily="34" charset="0"/>
              <a:buChar char="•"/>
            </a:pPr>
            <a:r>
              <a:rPr lang="en-US" dirty="0">
                <a:solidFill>
                  <a:srgbClr val="18537D"/>
                </a:solidFill>
              </a:rPr>
              <a:t>It is available at no additional charge and you only pay for the resources needed to run your applications</a:t>
            </a:r>
          </a:p>
          <a:p>
            <a:pPr marL="285750" indent="-285750">
              <a:lnSpc>
                <a:spcPct val="150000"/>
              </a:lnSpc>
              <a:buFont typeface="Arial" panose="020B0604020202020204" pitchFamily="34" charset="0"/>
              <a:buChar char="•"/>
            </a:pPr>
            <a:r>
              <a:rPr lang="en-US" dirty="0">
                <a:solidFill>
                  <a:srgbClr val="18537D"/>
                </a:solidFill>
              </a:rPr>
              <a:t>Things can be automated easily in CloudFormation so it requires less time and effort.</a:t>
            </a:r>
          </a:p>
          <a:p>
            <a:pPr marL="285750" indent="-285750">
              <a:lnSpc>
                <a:spcPct val="150000"/>
              </a:lnSpc>
              <a:buFont typeface="Arial" panose="020B0604020202020204" pitchFamily="34" charset="0"/>
              <a:buChar char="•"/>
            </a:pPr>
            <a:r>
              <a:rPr lang="en-US" dirty="0">
                <a:solidFill>
                  <a:srgbClr val="18537D"/>
                </a:solidFill>
              </a:rPr>
              <a:t>Major Concepts of CloudFormation</a:t>
            </a:r>
          </a:p>
          <a:p>
            <a:pPr marL="742950" lvl="1" indent="-285750">
              <a:lnSpc>
                <a:spcPct val="150000"/>
              </a:lnSpc>
              <a:buFont typeface="Arial" panose="020B0604020202020204" pitchFamily="34" charset="0"/>
              <a:buChar char="•"/>
            </a:pPr>
            <a:r>
              <a:rPr lang="en-US" b="1" dirty="0">
                <a:solidFill>
                  <a:srgbClr val="18537D"/>
                </a:solidFill>
              </a:rPr>
              <a:t>Template: </a:t>
            </a:r>
            <a:r>
              <a:rPr lang="en-US" dirty="0">
                <a:solidFill>
                  <a:srgbClr val="18537D"/>
                </a:solidFill>
              </a:rPr>
              <a:t>It is a YAML/JSON format text based file which describes the set up. It is being defined initially and then users can make changes to it for later updates. </a:t>
            </a:r>
          </a:p>
          <a:p>
            <a:pPr marL="742950" lvl="1" indent="-285750">
              <a:lnSpc>
                <a:spcPct val="150000"/>
              </a:lnSpc>
              <a:buFont typeface="Arial" panose="020B0604020202020204" pitchFamily="34" charset="0"/>
              <a:buChar char="•"/>
            </a:pPr>
            <a:r>
              <a:rPr lang="en-US" b="1" dirty="0">
                <a:solidFill>
                  <a:srgbClr val="18537D"/>
                </a:solidFill>
              </a:rPr>
              <a:t>Stack</a:t>
            </a:r>
            <a:r>
              <a:rPr lang="en-US" dirty="0">
                <a:solidFill>
                  <a:srgbClr val="18537D"/>
                </a:solidFill>
              </a:rPr>
              <a:t>: It is the implementation of the template. When users upload their stack to AWS ,it will turn into the infrastructure user requested. All the resources can be created, updated, deleted by creating, updating and deleting the stacks.</a:t>
            </a:r>
          </a:p>
          <a:p>
            <a:pPr marL="742950" lvl="1" indent="-285750">
              <a:lnSpc>
                <a:spcPct val="150000"/>
              </a:lnSpc>
              <a:buFont typeface="Arial" panose="020B0604020202020204" pitchFamily="34" charset="0"/>
              <a:buChar char="•"/>
            </a:pPr>
            <a:r>
              <a:rPr lang="en-US" dirty="0">
                <a:solidFill>
                  <a:srgbClr val="18537D"/>
                </a:solidFill>
              </a:rPr>
              <a:t> </a:t>
            </a:r>
            <a:r>
              <a:rPr lang="en-US" b="1" dirty="0">
                <a:solidFill>
                  <a:srgbClr val="18537D"/>
                </a:solidFill>
              </a:rPr>
              <a:t>Changesets</a:t>
            </a:r>
            <a:r>
              <a:rPr lang="en-US" dirty="0">
                <a:solidFill>
                  <a:srgbClr val="18537D"/>
                </a:solidFill>
              </a:rPr>
              <a:t>: Change set allows users to see the impact of changes on running resources before implementing them. </a:t>
            </a:r>
          </a:p>
          <a:p>
            <a:pPr marL="742950" lvl="1" indent="-285750">
              <a:lnSpc>
                <a:spcPct val="150000"/>
              </a:lnSpc>
              <a:buFont typeface="Arial" panose="020B0604020202020204" pitchFamily="34" charset="0"/>
              <a:buChar char="•"/>
            </a:pPr>
            <a:endParaRPr lang="en-US" dirty="0">
              <a:solidFill>
                <a:srgbClr val="18537D"/>
              </a:solidFill>
            </a:endParaRPr>
          </a:p>
          <a:p>
            <a:pPr marL="285750" indent="-285750">
              <a:lnSpc>
                <a:spcPct val="150000"/>
              </a:lnSpc>
              <a:buFont typeface="Arial" panose="020B0604020202020204" pitchFamily="34" charset="0"/>
              <a:buChar char="•"/>
            </a:pPr>
            <a:endParaRPr lang="en-US" dirty="0">
              <a:solidFill>
                <a:srgbClr val="18537D"/>
              </a:solidFill>
            </a:endParaRPr>
          </a:p>
          <a:p>
            <a:r>
              <a:rPr lang="en-US" dirty="0"/>
              <a:t> </a:t>
            </a:r>
          </a:p>
        </p:txBody>
      </p:sp>
    </p:spTree>
    <p:extLst>
      <p:ext uri="{BB962C8B-B14F-4D97-AF65-F5344CB8AC3E}">
        <p14:creationId xmlns:p14="http://schemas.microsoft.com/office/powerpoint/2010/main" val="34257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9A7DDB-6BDB-41FF-8CA6-375EF1A17CDB}"/>
              </a:ext>
            </a:extLst>
          </p:cNvPr>
          <p:cNvSpPr>
            <a:spLocks noGrp="1"/>
          </p:cNvSpPr>
          <p:nvPr>
            <p:ph type="sldNum" sz="quarter" idx="17"/>
          </p:nvPr>
        </p:nvSpPr>
        <p:spPr/>
        <p:txBody>
          <a:bodyPr/>
          <a:lstStyle/>
          <a:p>
            <a:fld id="{4F9AC08D-23A9-440E-BCB9-AA1E9877CC38}" type="slidenum">
              <a:rPr lang="en-US" smtClean="0"/>
              <a:pPr/>
              <a:t>20</a:t>
            </a:fld>
            <a:endParaRPr lang="en-US" dirty="0"/>
          </a:p>
        </p:txBody>
      </p:sp>
      <p:sp>
        <p:nvSpPr>
          <p:cNvPr id="3" name="Title 2">
            <a:extLst>
              <a:ext uri="{FF2B5EF4-FFF2-40B4-BE49-F238E27FC236}">
                <a16:creationId xmlns:a16="http://schemas.microsoft.com/office/drawing/2014/main" id="{47E7B34F-13F1-4843-83B6-A5AA044C1403}"/>
              </a:ext>
            </a:extLst>
          </p:cNvPr>
          <p:cNvSpPr>
            <a:spLocks noGrp="1"/>
          </p:cNvSpPr>
          <p:nvPr>
            <p:ph type="title"/>
          </p:nvPr>
        </p:nvSpPr>
        <p:spPr>
          <a:xfrm>
            <a:off x="450010" y="321306"/>
            <a:ext cx="13500200" cy="1359871"/>
          </a:xfrm>
        </p:spPr>
        <p:txBody>
          <a:bodyPr/>
          <a:lstStyle/>
          <a:p>
            <a:r>
              <a:rPr lang="en-US" dirty="0">
                <a:solidFill>
                  <a:schemeClr val="bg1"/>
                </a:solidFill>
              </a:rPr>
              <a:t>AWS </a:t>
            </a:r>
            <a:r>
              <a:rPr lang="en-US" dirty="0" err="1">
                <a:solidFill>
                  <a:schemeClr val="bg1"/>
                </a:solidFill>
              </a:rPr>
              <a:t>Cloudformation</a:t>
            </a:r>
            <a:endParaRPr lang="en-US" dirty="0">
              <a:solidFill>
                <a:schemeClr val="bg1"/>
              </a:solidFill>
            </a:endParaRPr>
          </a:p>
        </p:txBody>
      </p:sp>
      <p:sp>
        <p:nvSpPr>
          <p:cNvPr id="4" name="Footer Placeholder 3">
            <a:extLst>
              <a:ext uri="{FF2B5EF4-FFF2-40B4-BE49-F238E27FC236}">
                <a16:creationId xmlns:a16="http://schemas.microsoft.com/office/drawing/2014/main" id="{849AF0A7-4911-4334-8643-BC4740E196C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827971A1-8E06-4FFD-B065-F52DF6078969}"/>
              </a:ext>
            </a:extLst>
          </p:cNvPr>
          <p:cNvSpPr/>
          <p:nvPr/>
        </p:nvSpPr>
        <p:spPr>
          <a:xfrm>
            <a:off x="755771" y="2986055"/>
            <a:ext cx="2045110"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CloudFormation Template</a:t>
            </a:r>
          </a:p>
        </p:txBody>
      </p:sp>
      <p:sp>
        <p:nvSpPr>
          <p:cNvPr id="6" name="Rectangle 5">
            <a:extLst>
              <a:ext uri="{FF2B5EF4-FFF2-40B4-BE49-F238E27FC236}">
                <a16:creationId xmlns:a16="http://schemas.microsoft.com/office/drawing/2014/main" id="{60FEA299-9EB6-4839-A989-ECC21CF08DFE}"/>
              </a:ext>
            </a:extLst>
          </p:cNvPr>
          <p:cNvSpPr/>
          <p:nvPr/>
        </p:nvSpPr>
        <p:spPr>
          <a:xfrm>
            <a:off x="5461819" y="2969342"/>
            <a:ext cx="2045110"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Amazon Ember Light" charset="0"/>
                <a:cs typeface="Amazon Ember Light" charset="0"/>
              </a:rPr>
              <a:t>Stack</a:t>
            </a:r>
            <a:endParaRPr lang="en-US" dirty="0"/>
          </a:p>
        </p:txBody>
      </p:sp>
      <p:sp>
        <p:nvSpPr>
          <p:cNvPr id="7" name="TextBox 6">
            <a:extLst>
              <a:ext uri="{FF2B5EF4-FFF2-40B4-BE49-F238E27FC236}">
                <a16:creationId xmlns:a16="http://schemas.microsoft.com/office/drawing/2014/main" id="{AC216367-E862-4529-9643-BD7E5022F0E1}"/>
              </a:ext>
            </a:extLst>
          </p:cNvPr>
          <p:cNvSpPr txBox="1"/>
          <p:nvPr/>
        </p:nvSpPr>
        <p:spPr>
          <a:xfrm>
            <a:off x="2968407" y="2892253"/>
            <a:ext cx="2325885" cy="338554"/>
          </a:xfrm>
          <a:prstGeom prst="rect">
            <a:avLst/>
          </a:prstGeom>
          <a:noFill/>
        </p:spPr>
        <p:txBody>
          <a:bodyPr wrap="square" rtlCol="0">
            <a:spAutoFit/>
          </a:bodyPr>
          <a:lstStyle/>
          <a:p>
            <a:pPr algn="ctr"/>
            <a:r>
              <a:rPr lang="en-US" sz="1600" dirty="0">
                <a:ea typeface="Amazon Ember Light" charset="0"/>
                <a:cs typeface="Amazon Ember Light" charset="0"/>
              </a:rPr>
              <a:t>Create/update/delete</a:t>
            </a:r>
          </a:p>
        </p:txBody>
      </p:sp>
      <p:sp>
        <p:nvSpPr>
          <p:cNvPr id="9" name="Cloud 8">
            <a:extLst>
              <a:ext uri="{FF2B5EF4-FFF2-40B4-BE49-F238E27FC236}">
                <a16:creationId xmlns:a16="http://schemas.microsoft.com/office/drawing/2014/main" id="{153D37C0-12E5-4FFC-9E52-920F14D12F37}"/>
              </a:ext>
            </a:extLst>
          </p:cNvPr>
          <p:cNvSpPr/>
          <p:nvPr/>
        </p:nvSpPr>
        <p:spPr>
          <a:xfrm>
            <a:off x="9684775" y="1999456"/>
            <a:ext cx="3959668" cy="308382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Amazon Ember Light" charset="0"/>
                <a:cs typeface="Amazon Ember Light" charset="0"/>
              </a:rPr>
              <a:t>Create/update/delete AWS resources</a:t>
            </a:r>
          </a:p>
          <a:p>
            <a:pPr algn="ctr"/>
            <a:endParaRPr lang="en-US" dirty="0"/>
          </a:p>
        </p:txBody>
      </p:sp>
      <p:sp>
        <p:nvSpPr>
          <p:cNvPr id="10" name="Arrow: Right 9">
            <a:extLst>
              <a:ext uri="{FF2B5EF4-FFF2-40B4-BE49-F238E27FC236}">
                <a16:creationId xmlns:a16="http://schemas.microsoft.com/office/drawing/2014/main" id="{D28333C8-8CCE-4FDA-B773-84067F519FDF}"/>
              </a:ext>
            </a:extLst>
          </p:cNvPr>
          <p:cNvSpPr/>
          <p:nvPr/>
        </p:nvSpPr>
        <p:spPr>
          <a:xfrm>
            <a:off x="3087329" y="3372464"/>
            <a:ext cx="2206963" cy="3385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CAD33F46-27BD-41FF-84DC-E9E408562978}"/>
              </a:ext>
            </a:extLst>
          </p:cNvPr>
          <p:cNvSpPr/>
          <p:nvPr/>
        </p:nvSpPr>
        <p:spPr>
          <a:xfrm>
            <a:off x="7865807" y="3311313"/>
            <a:ext cx="1686232" cy="3385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694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497DA9-2CD2-49E9-A56E-1BC082ED5932}"/>
              </a:ext>
            </a:extLst>
          </p:cNvPr>
          <p:cNvSpPr>
            <a:spLocks noGrp="1"/>
          </p:cNvSpPr>
          <p:nvPr>
            <p:ph type="sldNum" sz="quarter" idx="17"/>
          </p:nvPr>
        </p:nvSpPr>
        <p:spPr/>
        <p:txBody>
          <a:bodyPr/>
          <a:lstStyle/>
          <a:p>
            <a:fld id="{4F9AC08D-23A9-440E-BCB9-AA1E9877CC38}" type="slidenum">
              <a:rPr lang="en-US" smtClean="0"/>
              <a:pPr/>
              <a:t>21</a:t>
            </a:fld>
            <a:endParaRPr lang="en-US" dirty="0"/>
          </a:p>
        </p:txBody>
      </p:sp>
      <p:sp>
        <p:nvSpPr>
          <p:cNvPr id="3" name="Title 2">
            <a:extLst>
              <a:ext uri="{FF2B5EF4-FFF2-40B4-BE49-F238E27FC236}">
                <a16:creationId xmlns:a16="http://schemas.microsoft.com/office/drawing/2014/main" id="{4DD780FE-9F02-429D-B2F5-4A303971D7E0}"/>
              </a:ext>
            </a:extLst>
          </p:cNvPr>
          <p:cNvSpPr>
            <a:spLocks noGrp="1"/>
          </p:cNvSpPr>
          <p:nvPr>
            <p:ph type="title"/>
          </p:nvPr>
        </p:nvSpPr>
        <p:spPr>
          <a:xfrm>
            <a:off x="450010" y="281978"/>
            <a:ext cx="13500200" cy="1359871"/>
          </a:xfrm>
        </p:spPr>
        <p:txBody>
          <a:bodyPr/>
          <a:lstStyle/>
          <a:p>
            <a:r>
              <a:rPr lang="en-US" dirty="0">
                <a:solidFill>
                  <a:schemeClr val="bg1"/>
                </a:solidFill>
              </a:rPr>
              <a:t>Structure of a cloud formation template</a:t>
            </a:r>
          </a:p>
        </p:txBody>
      </p:sp>
      <p:sp>
        <p:nvSpPr>
          <p:cNvPr id="4" name="Footer Placeholder 3">
            <a:extLst>
              <a:ext uri="{FF2B5EF4-FFF2-40B4-BE49-F238E27FC236}">
                <a16:creationId xmlns:a16="http://schemas.microsoft.com/office/drawing/2014/main" id="{A6339B69-EC57-4F27-A8DB-C6D20ED9FFB7}"/>
              </a:ext>
            </a:extLst>
          </p:cNvPr>
          <p:cNvSpPr>
            <a:spLocks noGrp="1"/>
          </p:cNvSpPr>
          <p:nvPr>
            <p:ph type="ftr" sz="quarter" idx="16"/>
          </p:nvPr>
        </p:nvSpPr>
        <p:spPr/>
        <p:txBody>
          <a:bodyPr/>
          <a:lstStyle/>
          <a:p>
            <a:r>
              <a:rPr lang="en-US"/>
              <a:t>Copyright © 2020 Accenture. All rights reserved.</a:t>
            </a:r>
            <a:endParaRPr lang="en-US" dirty="0"/>
          </a:p>
        </p:txBody>
      </p:sp>
      <p:sp>
        <p:nvSpPr>
          <p:cNvPr id="7" name="Rectangle 6">
            <a:extLst>
              <a:ext uri="{FF2B5EF4-FFF2-40B4-BE49-F238E27FC236}">
                <a16:creationId xmlns:a16="http://schemas.microsoft.com/office/drawing/2014/main" id="{969162CE-72F9-4ED9-9F1A-08F74522FD4B}"/>
              </a:ext>
            </a:extLst>
          </p:cNvPr>
          <p:cNvSpPr/>
          <p:nvPr/>
        </p:nvSpPr>
        <p:spPr>
          <a:xfrm>
            <a:off x="1024399" y="1091243"/>
            <a:ext cx="5297743" cy="5047536"/>
          </a:xfrm>
          <a:prstGeom prst="rect">
            <a:avLst/>
          </a:prstGeom>
        </p:spPr>
        <p:txBody>
          <a:bodyPr wrap="square">
            <a:spAutoFit/>
          </a:bodyPr>
          <a:lstStyle/>
          <a:p>
            <a:pPr marL="171450" indent="-171450">
              <a:buFont typeface="Arial" panose="020B0604020202020204" pitchFamily="34" charset="0"/>
              <a:buChar char="•"/>
            </a:pPr>
            <a:r>
              <a:rPr lang="en-US" sz="1400" b="1" dirty="0">
                <a:solidFill>
                  <a:srgbClr val="18537D"/>
                </a:solidFill>
              </a:rPr>
              <a:t>Parameters</a:t>
            </a:r>
            <a:br>
              <a:rPr lang="en-US" sz="1400" dirty="0">
                <a:solidFill>
                  <a:srgbClr val="18537D"/>
                </a:solidFill>
              </a:rPr>
            </a:br>
            <a:endParaRPr lang="en-US" sz="1400" dirty="0">
              <a:solidFill>
                <a:srgbClr val="18537D"/>
              </a:solidFill>
            </a:endParaRPr>
          </a:p>
          <a:p>
            <a:pPr marL="171450" indent="-171450">
              <a:buFont typeface="Arial" panose="020B0604020202020204" pitchFamily="34" charset="0"/>
              <a:buChar char="•"/>
            </a:pPr>
            <a:r>
              <a:rPr lang="en-US" sz="1400" dirty="0">
                <a:solidFill>
                  <a:srgbClr val="18537D"/>
                </a:solidFill>
              </a:rPr>
              <a:t> </a:t>
            </a:r>
            <a:r>
              <a:rPr lang="en-US" sz="1400" b="1" dirty="0">
                <a:solidFill>
                  <a:srgbClr val="18537D"/>
                </a:solidFill>
              </a:rPr>
              <a:t>Mappings</a:t>
            </a:r>
            <a:br>
              <a:rPr lang="en-US" sz="1400" dirty="0">
                <a:solidFill>
                  <a:srgbClr val="18537D"/>
                </a:solidFill>
              </a:rPr>
            </a:br>
            <a:endParaRPr lang="en-US" sz="1400" dirty="0">
              <a:solidFill>
                <a:srgbClr val="18537D"/>
              </a:solidFill>
            </a:endParaRPr>
          </a:p>
          <a:p>
            <a:pPr marL="171450" indent="-171450">
              <a:buFont typeface="Arial" panose="020B0604020202020204" pitchFamily="34" charset="0"/>
              <a:buChar char="•"/>
            </a:pPr>
            <a:r>
              <a:rPr lang="en-US" sz="1400" dirty="0">
                <a:solidFill>
                  <a:srgbClr val="18537D"/>
                </a:solidFill>
              </a:rPr>
              <a:t> </a:t>
            </a:r>
            <a:r>
              <a:rPr lang="en-US" sz="1400" b="1" dirty="0">
                <a:solidFill>
                  <a:srgbClr val="18537D"/>
                </a:solidFill>
              </a:rPr>
              <a:t>Resources</a:t>
            </a:r>
            <a:br>
              <a:rPr lang="en-US" sz="1400" dirty="0">
                <a:solidFill>
                  <a:srgbClr val="18537D"/>
                </a:solidFill>
              </a:rPr>
            </a:br>
            <a:endParaRPr lang="en-US" sz="1400" dirty="0">
              <a:solidFill>
                <a:srgbClr val="18537D"/>
              </a:solidFill>
            </a:endParaRPr>
          </a:p>
          <a:p>
            <a:r>
              <a:rPr lang="en-US" sz="1400" dirty="0">
                <a:solidFill>
                  <a:srgbClr val="18537D"/>
                </a:solidFill>
              </a:rPr>
              <a:t> 	AWS::EC2::Instance</a:t>
            </a:r>
          </a:p>
          <a:p>
            <a:pPr lvl="2"/>
            <a:r>
              <a:rPr lang="en-US" sz="1400" dirty="0">
                <a:solidFill>
                  <a:srgbClr val="18537D"/>
                </a:solidFill>
              </a:rPr>
              <a:t> Properties/</a:t>
            </a:r>
            <a:r>
              <a:rPr lang="en-US" sz="1400" dirty="0" err="1">
                <a:solidFill>
                  <a:srgbClr val="18537D"/>
                </a:solidFill>
              </a:rPr>
              <a:t>UserData</a:t>
            </a:r>
            <a:br>
              <a:rPr lang="en-US" sz="1400" dirty="0">
                <a:solidFill>
                  <a:srgbClr val="18537D"/>
                </a:solidFill>
              </a:rPr>
            </a:br>
            <a:r>
              <a:rPr lang="en-US" sz="1400" dirty="0">
                <a:solidFill>
                  <a:srgbClr val="18537D"/>
                </a:solidFill>
              </a:rPr>
              <a:t> Metadata/AWS::CloudFormation::</a:t>
            </a:r>
            <a:r>
              <a:rPr lang="en-US" sz="1400" b="1" dirty="0">
                <a:solidFill>
                  <a:srgbClr val="18537D"/>
                </a:solidFill>
              </a:rPr>
              <a:t>Init</a:t>
            </a:r>
          </a:p>
          <a:p>
            <a:pPr lvl="2"/>
            <a:r>
              <a:rPr lang="en-US" sz="1400" dirty="0">
                <a:solidFill>
                  <a:srgbClr val="18537D"/>
                </a:solidFill>
              </a:rPr>
              <a:t> Packages</a:t>
            </a:r>
          </a:p>
          <a:p>
            <a:pPr lvl="2"/>
            <a:r>
              <a:rPr lang="en-US" sz="1400" dirty="0">
                <a:solidFill>
                  <a:srgbClr val="18537D"/>
                </a:solidFill>
              </a:rPr>
              <a:t> Groups</a:t>
            </a:r>
          </a:p>
          <a:p>
            <a:pPr lvl="2"/>
            <a:r>
              <a:rPr lang="en-US" sz="1400" dirty="0">
                <a:solidFill>
                  <a:srgbClr val="18537D"/>
                </a:solidFill>
              </a:rPr>
              <a:t> Users</a:t>
            </a:r>
          </a:p>
          <a:p>
            <a:pPr lvl="2"/>
            <a:r>
              <a:rPr lang="en-US" sz="1400" dirty="0">
                <a:solidFill>
                  <a:srgbClr val="18537D"/>
                </a:solidFill>
              </a:rPr>
              <a:t> Sources</a:t>
            </a:r>
          </a:p>
          <a:p>
            <a:pPr lvl="2"/>
            <a:r>
              <a:rPr lang="en-US" sz="1400" dirty="0">
                <a:solidFill>
                  <a:srgbClr val="18537D"/>
                </a:solidFill>
              </a:rPr>
              <a:t> Files</a:t>
            </a:r>
          </a:p>
          <a:p>
            <a:pPr lvl="2"/>
            <a:r>
              <a:rPr lang="en-US" sz="1400" dirty="0">
                <a:solidFill>
                  <a:srgbClr val="18537D"/>
                </a:solidFill>
              </a:rPr>
              <a:t> Commands</a:t>
            </a:r>
          </a:p>
          <a:p>
            <a:pPr lvl="2"/>
            <a:r>
              <a:rPr lang="en-US" sz="1400" dirty="0">
                <a:solidFill>
                  <a:srgbClr val="18537D"/>
                </a:solidFill>
              </a:rPr>
              <a:t> Services</a:t>
            </a:r>
          </a:p>
          <a:p>
            <a:endParaRPr lang="en-US" sz="1400" dirty="0">
              <a:solidFill>
                <a:srgbClr val="18537D"/>
              </a:solidFill>
            </a:endParaRPr>
          </a:p>
          <a:p>
            <a:pPr marL="285750" indent="-285750">
              <a:buFont typeface="Arial" panose="020B0604020202020204" pitchFamily="34" charset="0"/>
              <a:buChar char="•"/>
            </a:pPr>
            <a:r>
              <a:rPr lang="en-US" sz="1400" dirty="0">
                <a:solidFill>
                  <a:srgbClr val="18537D"/>
                </a:solidFill>
              </a:rPr>
              <a:t>AWS::CloudFormation::</a:t>
            </a:r>
            <a:r>
              <a:rPr lang="en-US" sz="1400" b="1" dirty="0" err="1">
                <a:solidFill>
                  <a:srgbClr val="18537D"/>
                </a:solidFill>
              </a:rPr>
              <a:t>WaitCondition</a:t>
            </a:r>
            <a:endParaRPr lang="en-US" sz="1400" b="1" dirty="0">
              <a:solidFill>
                <a:srgbClr val="18537D"/>
              </a:solidFill>
            </a:endParaRPr>
          </a:p>
          <a:p>
            <a:r>
              <a:rPr lang="en-US" sz="1400" dirty="0">
                <a:solidFill>
                  <a:srgbClr val="18537D"/>
                </a:solidFill>
              </a:rPr>
              <a:t> 	</a:t>
            </a:r>
            <a:r>
              <a:rPr lang="en-US" sz="1400" dirty="0" err="1">
                <a:solidFill>
                  <a:srgbClr val="18537D"/>
                </a:solidFill>
              </a:rPr>
              <a:t>DependsOn</a:t>
            </a:r>
            <a:r>
              <a:rPr lang="en-US" sz="1400" dirty="0">
                <a:solidFill>
                  <a:srgbClr val="18537D"/>
                </a:solidFill>
              </a:rPr>
              <a:t>: EC2 Instance</a:t>
            </a:r>
            <a:br>
              <a:rPr lang="en-US" sz="1400" dirty="0">
                <a:solidFill>
                  <a:srgbClr val="18537D"/>
                </a:solidFill>
              </a:rPr>
            </a:br>
            <a:endParaRPr lang="en-US" sz="1400" dirty="0">
              <a:solidFill>
                <a:srgbClr val="18537D"/>
              </a:solidFill>
            </a:endParaRPr>
          </a:p>
          <a:p>
            <a:pPr marL="285750" indent="-285750">
              <a:buFont typeface="Arial" panose="020B0604020202020204" pitchFamily="34" charset="0"/>
              <a:buChar char="•"/>
            </a:pPr>
            <a:r>
              <a:rPr lang="en-US" sz="1400" dirty="0">
                <a:solidFill>
                  <a:srgbClr val="18537D"/>
                </a:solidFill>
              </a:rPr>
              <a:t>AWS::CloudFormation::</a:t>
            </a:r>
            <a:r>
              <a:rPr lang="en-US" sz="1400" dirty="0" err="1">
                <a:solidFill>
                  <a:srgbClr val="18537D"/>
                </a:solidFill>
              </a:rPr>
              <a:t>WaitConditionHandle</a:t>
            </a:r>
            <a:endParaRPr lang="en-US" sz="1400" dirty="0">
              <a:solidFill>
                <a:srgbClr val="18537D"/>
              </a:solidFill>
            </a:endParaRPr>
          </a:p>
          <a:p>
            <a:endParaRPr lang="en-US" sz="1400" dirty="0">
              <a:solidFill>
                <a:srgbClr val="18537D"/>
              </a:solidFill>
            </a:endParaRPr>
          </a:p>
          <a:p>
            <a:pPr marL="285750" indent="-285750">
              <a:buFont typeface="Arial" panose="020B0604020202020204" pitchFamily="34" charset="0"/>
              <a:buChar char="•"/>
            </a:pPr>
            <a:r>
              <a:rPr lang="en-US" sz="1400" dirty="0">
                <a:solidFill>
                  <a:srgbClr val="18537D"/>
                </a:solidFill>
              </a:rPr>
              <a:t>Outputs</a:t>
            </a:r>
          </a:p>
        </p:txBody>
      </p:sp>
      <p:sp>
        <p:nvSpPr>
          <p:cNvPr id="9" name="Rectangle 8">
            <a:extLst>
              <a:ext uri="{FF2B5EF4-FFF2-40B4-BE49-F238E27FC236}">
                <a16:creationId xmlns:a16="http://schemas.microsoft.com/office/drawing/2014/main" id="{E528CAC4-E56B-4A54-A557-8FF4F0A48BC4}"/>
              </a:ext>
            </a:extLst>
          </p:cNvPr>
          <p:cNvSpPr/>
          <p:nvPr/>
        </p:nvSpPr>
        <p:spPr>
          <a:xfrm>
            <a:off x="5924732" y="1091243"/>
            <a:ext cx="6971780" cy="5355312"/>
          </a:xfrm>
          <a:prstGeom prst="rect">
            <a:avLst/>
          </a:prstGeom>
        </p:spPr>
        <p:txBody>
          <a:bodyPr wrap="none">
            <a:spAutoFit/>
          </a:bodyPr>
          <a:lstStyle/>
          <a:p>
            <a:r>
              <a:rPr lang="en-US" b="1" dirty="0"/>
              <a:t>Parameters</a:t>
            </a:r>
            <a:r>
              <a:rPr lang="en-US" dirty="0"/>
              <a:t>: Inputs into template as Key and value at runtime</a:t>
            </a:r>
          </a:p>
          <a:p>
            <a:endParaRPr lang="en-US" dirty="0"/>
          </a:p>
          <a:p>
            <a:r>
              <a:rPr lang="en-US" b="1" dirty="0"/>
              <a:t>Mappings</a:t>
            </a:r>
            <a:r>
              <a:rPr lang="en-US" dirty="0"/>
              <a:t>: Static variables used to refer the string</a:t>
            </a:r>
          </a:p>
          <a:p>
            <a:endParaRPr lang="en-US" dirty="0"/>
          </a:p>
          <a:p>
            <a:r>
              <a:rPr lang="en-US" b="1" dirty="0"/>
              <a:t>Resources</a:t>
            </a:r>
            <a:r>
              <a:rPr lang="en-US" dirty="0"/>
              <a:t>: AWS objects that to create (EC2, S3 ,etc.,)</a:t>
            </a:r>
          </a:p>
          <a:p>
            <a:endParaRPr lang="en-US" b="1" dirty="0"/>
          </a:p>
          <a:p>
            <a:r>
              <a:rPr lang="en-US" b="1" dirty="0"/>
              <a:t>Init</a:t>
            </a:r>
            <a:r>
              <a:rPr lang="en-US" dirty="0"/>
              <a:t>: used to deploy applications at startup</a:t>
            </a:r>
          </a:p>
          <a:p>
            <a:endParaRPr lang="en-US" b="1" dirty="0"/>
          </a:p>
          <a:p>
            <a:endParaRPr lang="en-US" b="1" dirty="0"/>
          </a:p>
          <a:p>
            <a:endParaRPr lang="en-US" b="1" dirty="0"/>
          </a:p>
          <a:p>
            <a:endParaRPr lang="en-US" b="1" dirty="0"/>
          </a:p>
          <a:p>
            <a:endParaRPr lang="en-US" b="1" dirty="0"/>
          </a:p>
          <a:p>
            <a:endParaRPr lang="en-US" b="1" dirty="0"/>
          </a:p>
          <a:p>
            <a:r>
              <a:rPr lang="en-US" b="1" dirty="0" err="1"/>
              <a:t>WaitCondition</a:t>
            </a:r>
            <a:r>
              <a:rPr lang="en-US" dirty="0"/>
              <a:t>: Signal from instance that Init (user data)</a:t>
            </a:r>
          </a:p>
          <a:p>
            <a:r>
              <a:rPr lang="en-US" dirty="0"/>
              <a:t>                               has completed running</a:t>
            </a:r>
          </a:p>
          <a:p>
            <a:endParaRPr lang="en-US" b="1" dirty="0"/>
          </a:p>
          <a:p>
            <a:endParaRPr lang="en-US" b="1" dirty="0"/>
          </a:p>
          <a:p>
            <a:r>
              <a:rPr lang="en-US" b="1" dirty="0"/>
              <a:t>Outputs</a:t>
            </a:r>
            <a:r>
              <a:rPr lang="en-US" dirty="0"/>
              <a:t>: Values of custom resources return by template</a:t>
            </a:r>
          </a:p>
          <a:p>
            <a:endParaRPr lang="en-US" dirty="0"/>
          </a:p>
        </p:txBody>
      </p:sp>
    </p:spTree>
    <p:extLst>
      <p:ext uri="{BB962C8B-B14F-4D97-AF65-F5344CB8AC3E}">
        <p14:creationId xmlns:p14="http://schemas.microsoft.com/office/powerpoint/2010/main" val="720848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F7DD2-248C-4DBA-B8B4-A52065460AC1}"/>
              </a:ext>
            </a:extLst>
          </p:cNvPr>
          <p:cNvSpPr>
            <a:spLocks noGrp="1"/>
          </p:cNvSpPr>
          <p:nvPr>
            <p:ph type="sldNum" sz="quarter" idx="17"/>
          </p:nvPr>
        </p:nvSpPr>
        <p:spPr/>
        <p:txBody>
          <a:bodyPr/>
          <a:lstStyle/>
          <a:p>
            <a:fld id="{4F9AC08D-23A9-440E-BCB9-AA1E9877CC38}" type="slidenum">
              <a:rPr lang="en-US" smtClean="0"/>
              <a:pPr/>
              <a:t>22</a:t>
            </a:fld>
            <a:endParaRPr lang="en-US" dirty="0"/>
          </a:p>
        </p:txBody>
      </p:sp>
      <p:sp>
        <p:nvSpPr>
          <p:cNvPr id="3" name="Title 2">
            <a:extLst>
              <a:ext uri="{FF2B5EF4-FFF2-40B4-BE49-F238E27FC236}">
                <a16:creationId xmlns:a16="http://schemas.microsoft.com/office/drawing/2014/main" id="{491A72F8-F830-4B6E-99F2-0243C7CC29DC}"/>
              </a:ext>
            </a:extLst>
          </p:cNvPr>
          <p:cNvSpPr>
            <a:spLocks noGrp="1"/>
          </p:cNvSpPr>
          <p:nvPr>
            <p:ph type="title"/>
          </p:nvPr>
        </p:nvSpPr>
        <p:spPr>
          <a:xfrm>
            <a:off x="450010" y="301642"/>
            <a:ext cx="13500200" cy="1359871"/>
          </a:xfrm>
        </p:spPr>
        <p:txBody>
          <a:bodyPr/>
          <a:lstStyle/>
          <a:p>
            <a:r>
              <a:rPr lang="en-US" dirty="0">
                <a:solidFill>
                  <a:schemeClr val="bg1"/>
                </a:solidFill>
                <a:ea typeface="Amazon Ember" panose="020B0603020204020204" pitchFamily="34" charset="0"/>
                <a:cs typeface="Amazon Ember" panose="020B0603020204020204" pitchFamily="34" charset="0"/>
              </a:rPr>
              <a:t>Serverless Platform</a:t>
            </a:r>
            <a:endParaRPr lang="en-US" dirty="0">
              <a:solidFill>
                <a:schemeClr val="bg1"/>
              </a:solidFill>
            </a:endParaRPr>
          </a:p>
        </p:txBody>
      </p:sp>
      <p:sp>
        <p:nvSpPr>
          <p:cNvPr id="4" name="Footer Placeholder 3">
            <a:extLst>
              <a:ext uri="{FF2B5EF4-FFF2-40B4-BE49-F238E27FC236}">
                <a16:creationId xmlns:a16="http://schemas.microsoft.com/office/drawing/2014/main" id="{83FFD6EB-8F2D-49D8-B1A3-D3FCA0B9D940}"/>
              </a:ext>
            </a:extLst>
          </p:cNvPr>
          <p:cNvSpPr>
            <a:spLocks noGrp="1"/>
          </p:cNvSpPr>
          <p:nvPr>
            <p:ph type="ftr" sz="quarter" idx="16"/>
          </p:nvPr>
        </p:nvSpPr>
        <p:spPr/>
        <p:txBody>
          <a:bodyPr/>
          <a:lstStyle/>
          <a:p>
            <a:r>
              <a:rPr lang="en-US"/>
              <a:t>Copyright © 2020 Accenture. All rights reserved.</a:t>
            </a:r>
            <a:endParaRPr lang="en-US" dirty="0"/>
          </a:p>
        </p:txBody>
      </p:sp>
      <p:grpSp>
        <p:nvGrpSpPr>
          <p:cNvPr id="5" name="Group 4">
            <a:extLst>
              <a:ext uri="{FF2B5EF4-FFF2-40B4-BE49-F238E27FC236}">
                <a16:creationId xmlns:a16="http://schemas.microsoft.com/office/drawing/2014/main" id="{E1F266C4-B90B-4531-A857-8A4FE99EE3F7}"/>
              </a:ext>
            </a:extLst>
          </p:cNvPr>
          <p:cNvGrpSpPr/>
          <p:nvPr/>
        </p:nvGrpSpPr>
        <p:grpSpPr>
          <a:xfrm>
            <a:off x="1034851" y="1459623"/>
            <a:ext cx="3429144" cy="4715674"/>
            <a:chOff x="189277" y="1272810"/>
            <a:chExt cx="3429144" cy="4715674"/>
          </a:xfrm>
        </p:grpSpPr>
        <p:grpSp>
          <p:nvGrpSpPr>
            <p:cNvPr id="6" name="Group 5">
              <a:extLst>
                <a:ext uri="{FF2B5EF4-FFF2-40B4-BE49-F238E27FC236}">
                  <a16:creationId xmlns:a16="http://schemas.microsoft.com/office/drawing/2014/main" id="{6A60FF69-D925-4F51-A19C-AEB0030F989C}"/>
                </a:ext>
              </a:extLst>
            </p:cNvPr>
            <p:cNvGrpSpPr/>
            <p:nvPr/>
          </p:nvGrpSpPr>
          <p:grpSpPr>
            <a:xfrm>
              <a:off x="1104079" y="1272810"/>
              <a:ext cx="1656223" cy="2018585"/>
              <a:chOff x="689058" y="1286435"/>
              <a:chExt cx="1656223" cy="2018585"/>
            </a:xfrm>
          </p:grpSpPr>
          <p:sp>
            <p:nvSpPr>
              <p:cNvPr id="13" name="TextBox 12">
                <a:extLst>
                  <a:ext uri="{FF2B5EF4-FFF2-40B4-BE49-F238E27FC236}">
                    <a16:creationId xmlns:a16="http://schemas.microsoft.com/office/drawing/2014/main" id="{6E0E50C0-EA89-4A2D-9A10-93EF67558212}"/>
                  </a:ext>
                </a:extLst>
              </p:cNvPr>
              <p:cNvSpPr txBox="1"/>
              <p:nvPr/>
            </p:nvSpPr>
            <p:spPr>
              <a:xfrm>
                <a:off x="689058" y="2935688"/>
                <a:ext cx="1656223"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AWS Lambda</a:t>
                </a:r>
              </a:p>
            </p:txBody>
          </p:sp>
          <p:pic>
            <p:nvPicPr>
              <p:cNvPr id="14" name="Picture 13">
                <a:extLst>
                  <a:ext uri="{FF2B5EF4-FFF2-40B4-BE49-F238E27FC236}">
                    <a16:creationId xmlns:a16="http://schemas.microsoft.com/office/drawing/2014/main" id="{F5461388-418D-4972-9C55-1B8D7F2004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9359" y="1778318"/>
                <a:ext cx="918938" cy="1102725"/>
              </a:xfrm>
              <a:prstGeom prst="rect">
                <a:avLst/>
              </a:prstGeom>
            </p:spPr>
          </p:pic>
          <p:sp>
            <p:nvSpPr>
              <p:cNvPr id="15" name="TextBox 14">
                <a:extLst>
                  <a:ext uri="{FF2B5EF4-FFF2-40B4-BE49-F238E27FC236}">
                    <a16:creationId xmlns:a16="http://schemas.microsoft.com/office/drawing/2014/main" id="{9406AE9B-AC20-4CFE-B70E-A5426E60CE7D}"/>
                  </a:ext>
                </a:extLst>
              </p:cNvPr>
              <p:cNvSpPr txBox="1"/>
              <p:nvPr/>
            </p:nvSpPr>
            <p:spPr>
              <a:xfrm>
                <a:off x="756095" y="1286435"/>
                <a:ext cx="1465466"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Compute</a:t>
                </a:r>
              </a:p>
            </p:txBody>
          </p:sp>
        </p:grpSp>
        <p:grpSp>
          <p:nvGrpSpPr>
            <p:cNvPr id="7" name="Group 6">
              <a:extLst>
                <a:ext uri="{FF2B5EF4-FFF2-40B4-BE49-F238E27FC236}">
                  <a16:creationId xmlns:a16="http://schemas.microsoft.com/office/drawing/2014/main" id="{204501F7-0E8C-437A-8DA7-71B86F8C393A}"/>
                </a:ext>
              </a:extLst>
            </p:cNvPr>
            <p:cNvGrpSpPr/>
            <p:nvPr/>
          </p:nvGrpSpPr>
          <p:grpSpPr>
            <a:xfrm>
              <a:off x="189277" y="3729346"/>
              <a:ext cx="3429144" cy="2259138"/>
              <a:chOff x="189277" y="3796173"/>
              <a:chExt cx="3429144" cy="2259138"/>
            </a:xfrm>
          </p:grpSpPr>
          <p:sp>
            <p:nvSpPr>
              <p:cNvPr id="8" name="TextBox 7">
                <a:extLst>
                  <a:ext uri="{FF2B5EF4-FFF2-40B4-BE49-F238E27FC236}">
                    <a16:creationId xmlns:a16="http://schemas.microsoft.com/office/drawing/2014/main" id="{5E377935-F5DF-47A1-BB4D-D1AA6C8CC2D6}"/>
                  </a:ext>
                </a:extLst>
              </p:cNvPr>
              <p:cNvSpPr txBox="1"/>
              <p:nvPr/>
            </p:nvSpPr>
            <p:spPr>
              <a:xfrm>
                <a:off x="935475" y="5408980"/>
                <a:ext cx="2082621" cy="646331"/>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Amazon SNS and</a:t>
                </a:r>
              </a:p>
              <a:p>
                <a:pPr defTabSz="609585">
                  <a:defRPr/>
                </a:pPr>
                <a:r>
                  <a:rPr lang="en-US" dirty="0">
                    <a:ea typeface="Amazon Ember" panose="020B0603020204020204" pitchFamily="34" charset="0"/>
                    <a:cs typeface="Amazon Ember" panose="020B0603020204020204" pitchFamily="34" charset="0"/>
                  </a:rPr>
                  <a:t>Amazon SQS</a:t>
                </a:r>
              </a:p>
            </p:txBody>
          </p:sp>
          <p:grpSp>
            <p:nvGrpSpPr>
              <p:cNvPr id="9" name="Group 8">
                <a:extLst>
                  <a:ext uri="{FF2B5EF4-FFF2-40B4-BE49-F238E27FC236}">
                    <a16:creationId xmlns:a16="http://schemas.microsoft.com/office/drawing/2014/main" id="{E7C0D82D-08AA-406F-8B66-F78D96A6ABC5}"/>
                  </a:ext>
                </a:extLst>
              </p:cNvPr>
              <p:cNvGrpSpPr/>
              <p:nvPr/>
            </p:nvGrpSpPr>
            <p:grpSpPr>
              <a:xfrm>
                <a:off x="946712" y="4435517"/>
                <a:ext cx="1914274" cy="925028"/>
                <a:chOff x="724456" y="4566565"/>
                <a:chExt cx="1914274" cy="925028"/>
              </a:xfrm>
            </p:grpSpPr>
            <p:pic>
              <p:nvPicPr>
                <p:cNvPr id="11" name="Picture 10">
                  <a:extLst>
                    <a:ext uri="{FF2B5EF4-FFF2-40B4-BE49-F238E27FC236}">
                      <a16:creationId xmlns:a16="http://schemas.microsoft.com/office/drawing/2014/main" id="{B05A9952-9373-452D-B883-CA2C0EFF26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4456" y="4595148"/>
                  <a:ext cx="747038" cy="896445"/>
                </a:xfrm>
                <a:prstGeom prst="rect">
                  <a:avLst/>
                </a:prstGeom>
              </p:spPr>
            </p:pic>
            <p:pic>
              <p:nvPicPr>
                <p:cNvPr id="12" name="Picture 11">
                  <a:extLst>
                    <a:ext uri="{FF2B5EF4-FFF2-40B4-BE49-F238E27FC236}">
                      <a16:creationId xmlns:a16="http://schemas.microsoft.com/office/drawing/2014/main" id="{303927D3-5D12-4AE7-ABC7-E0F2597FF7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9272" y="4566565"/>
                  <a:ext cx="889458" cy="889458"/>
                </a:xfrm>
                <a:prstGeom prst="rect">
                  <a:avLst/>
                </a:prstGeom>
              </p:spPr>
            </p:pic>
          </p:grpSp>
          <p:sp>
            <p:nvSpPr>
              <p:cNvPr id="10" name="TextBox 9">
                <a:extLst>
                  <a:ext uri="{FF2B5EF4-FFF2-40B4-BE49-F238E27FC236}">
                    <a16:creationId xmlns:a16="http://schemas.microsoft.com/office/drawing/2014/main" id="{5F94C91C-C17C-4646-AAA5-EA978569EF91}"/>
                  </a:ext>
                </a:extLst>
              </p:cNvPr>
              <p:cNvSpPr txBox="1"/>
              <p:nvPr/>
            </p:nvSpPr>
            <p:spPr>
              <a:xfrm>
                <a:off x="189277" y="3796173"/>
                <a:ext cx="3429144"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Interprocess</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400" dirty="0">
                    <a:latin typeface="Amazon Ember" panose="02000000000000000000" pitchFamily="2" charset="0"/>
                    <a:ea typeface="Amazon Ember" panose="02000000000000000000" pitchFamily="2" charset="0"/>
                    <a:cs typeface="Amazon Ember Light" panose="020B0403020204020204" pitchFamily="34" charset="0"/>
                  </a:rPr>
                  <a:t>Messaging</a:t>
                </a:r>
              </a:p>
            </p:txBody>
          </p:sp>
        </p:grpSp>
      </p:grpSp>
      <p:grpSp>
        <p:nvGrpSpPr>
          <p:cNvPr id="16" name="Group 15">
            <a:extLst>
              <a:ext uri="{FF2B5EF4-FFF2-40B4-BE49-F238E27FC236}">
                <a16:creationId xmlns:a16="http://schemas.microsoft.com/office/drawing/2014/main" id="{4539E111-5187-431F-91CD-0A6029C5591B}"/>
              </a:ext>
            </a:extLst>
          </p:cNvPr>
          <p:cNvGrpSpPr/>
          <p:nvPr/>
        </p:nvGrpSpPr>
        <p:grpSpPr>
          <a:xfrm>
            <a:off x="4848097" y="1459623"/>
            <a:ext cx="2528256" cy="4524312"/>
            <a:chOff x="3387584" y="1272810"/>
            <a:chExt cx="2528256" cy="4524312"/>
          </a:xfrm>
        </p:grpSpPr>
        <p:grpSp>
          <p:nvGrpSpPr>
            <p:cNvPr id="17" name="Group 16">
              <a:extLst>
                <a:ext uri="{FF2B5EF4-FFF2-40B4-BE49-F238E27FC236}">
                  <a16:creationId xmlns:a16="http://schemas.microsoft.com/office/drawing/2014/main" id="{B922D953-9724-4692-915F-18C368354779}"/>
                </a:ext>
              </a:extLst>
            </p:cNvPr>
            <p:cNvGrpSpPr/>
            <p:nvPr/>
          </p:nvGrpSpPr>
          <p:grpSpPr>
            <a:xfrm>
              <a:off x="3387584" y="1272810"/>
              <a:ext cx="2528256" cy="2002850"/>
              <a:chOff x="3329985" y="1272810"/>
              <a:chExt cx="2528256" cy="2002850"/>
            </a:xfrm>
          </p:grpSpPr>
          <p:sp>
            <p:nvSpPr>
              <p:cNvPr id="22" name="TextBox 21">
                <a:extLst>
                  <a:ext uri="{FF2B5EF4-FFF2-40B4-BE49-F238E27FC236}">
                    <a16:creationId xmlns:a16="http://schemas.microsoft.com/office/drawing/2014/main" id="{768F58FD-0E3B-4F66-8ACB-9DD29F9C54CE}"/>
                  </a:ext>
                </a:extLst>
              </p:cNvPr>
              <p:cNvSpPr txBox="1"/>
              <p:nvPr/>
            </p:nvSpPr>
            <p:spPr>
              <a:xfrm>
                <a:off x="3329985" y="2906328"/>
                <a:ext cx="2528256"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Amazon</a:t>
                </a:r>
                <a:r>
                  <a:rPr lang="en-US" dirty="0">
                    <a:latin typeface="Amazon Ember" panose="020B0603020204020204" pitchFamily="34" charset="0"/>
                    <a:ea typeface="Amazon Ember" panose="020B0603020204020204" pitchFamily="34" charset="0"/>
                    <a:cs typeface="Amazon Ember" panose="020B0603020204020204" pitchFamily="34" charset="0"/>
                  </a:rPr>
                  <a:t> </a:t>
                </a:r>
                <a:r>
                  <a:rPr lang="en-US" dirty="0">
                    <a:ea typeface="Amazon Ember" panose="020B0603020204020204" pitchFamily="34" charset="0"/>
                    <a:cs typeface="Amazon Ember" panose="020B0603020204020204" pitchFamily="34" charset="0"/>
                  </a:rPr>
                  <a:t>API</a:t>
                </a:r>
                <a:r>
                  <a:rPr lang="en-US" dirty="0">
                    <a:latin typeface="Amazon Ember" panose="020B0603020204020204" pitchFamily="34" charset="0"/>
                    <a:ea typeface="Amazon Ember" panose="020B0603020204020204" pitchFamily="34" charset="0"/>
                    <a:cs typeface="Amazon Ember" panose="020B0603020204020204" pitchFamily="34" charset="0"/>
                  </a:rPr>
                  <a:t> </a:t>
                </a:r>
                <a:r>
                  <a:rPr lang="en-US" dirty="0">
                    <a:ea typeface="Amazon Ember" panose="020B0603020204020204" pitchFamily="34" charset="0"/>
                    <a:cs typeface="Amazon Ember" panose="020B0603020204020204" pitchFamily="34" charset="0"/>
                  </a:rPr>
                  <a:t>Gateway</a:t>
                </a:r>
              </a:p>
            </p:txBody>
          </p:sp>
          <p:pic>
            <p:nvPicPr>
              <p:cNvPr id="23" name="Picture 22">
                <a:extLst>
                  <a:ext uri="{FF2B5EF4-FFF2-40B4-BE49-F238E27FC236}">
                    <a16:creationId xmlns:a16="http://schemas.microsoft.com/office/drawing/2014/main" id="{19D3AB5A-3264-4EB6-B797-A24ACCFDDD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0516" y="1850123"/>
                <a:ext cx="787873" cy="945449"/>
              </a:xfrm>
              <a:prstGeom prst="rect">
                <a:avLst/>
              </a:prstGeom>
            </p:spPr>
          </p:pic>
          <p:sp>
            <p:nvSpPr>
              <p:cNvPr id="24" name="TextBox 23">
                <a:extLst>
                  <a:ext uri="{FF2B5EF4-FFF2-40B4-BE49-F238E27FC236}">
                    <a16:creationId xmlns:a16="http://schemas.microsoft.com/office/drawing/2014/main" id="{0167FB6F-DC36-489D-838D-873658A9BD0A}"/>
                  </a:ext>
                </a:extLst>
              </p:cNvPr>
              <p:cNvSpPr txBox="1"/>
              <p:nvPr/>
            </p:nvSpPr>
            <p:spPr>
              <a:xfrm>
                <a:off x="3827749" y="1272810"/>
                <a:ext cx="1433406" cy="461665"/>
              </a:xfrm>
              <a:prstGeom prst="rect">
                <a:avLst/>
              </a:prstGeom>
              <a:noFill/>
            </p:spPr>
            <p:txBody>
              <a:bodyPr wrap="none" rtlCol="0">
                <a:spAutoFit/>
              </a:bodyPr>
              <a:lstStyle/>
              <a:p>
                <a:pPr defTabSz="609585">
                  <a:defRPr/>
                </a:pPr>
                <a:r>
                  <a:rPr lang="en-US" sz="2400" dirty="0" err="1">
                    <a:latin typeface="Amazon Ember" panose="02000000000000000000" pitchFamily="2" charset="0"/>
                    <a:ea typeface="Amazon Ember" panose="02000000000000000000" pitchFamily="2" charset="0"/>
                    <a:cs typeface="Amazon Ember Light" panose="020B0403020204020204" pitchFamily="34" charset="0"/>
                  </a:rPr>
                  <a:t>APIProxy</a:t>
                </a:r>
                <a:endParaRPr lang="en-US" sz="2400" dirty="0">
                  <a:latin typeface="Amazon Ember" panose="02000000000000000000" pitchFamily="2" charset="0"/>
                  <a:ea typeface="Amazon Ember" panose="02000000000000000000" pitchFamily="2" charset="0"/>
                  <a:cs typeface="Amazon Ember Light" panose="020B0403020204020204" pitchFamily="34" charset="0"/>
                </a:endParaRPr>
              </a:p>
            </p:txBody>
          </p:sp>
        </p:grpSp>
        <p:grpSp>
          <p:nvGrpSpPr>
            <p:cNvPr id="18" name="Group 17">
              <a:extLst>
                <a:ext uri="{FF2B5EF4-FFF2-40B4-BE49-F238E27FC236}">
                  <a16:creationId xmlns:a16="http://schemas.microsoft.com/office/drawing/2014/main" id="{9AE46109-F94F-4357-95BA-188A7D632A94}"/>
                </a:ext>
              </a:extLst>
            </p:cNvPr>
            <p:cNvGrpSpPr/>
            <p:nvPr/>
          </p:nvGrpSpPr>
          <p:grpSpPr>
            <a:xfrm>
              <a:off x="3449620" y="3729346"/>
              <a:ext cx="2430474" cy="2067776"/>
              <a:chOff x="3569255" y="3779813"/>
              <a:chExt cx="2430474" cy="2067776"/>
            </a:xfrm>
          </p:grpSpPr>
          <p:sp>
            <p:nvSpPr>
              <p:cNvPr id="19" name="TextBox 18">
                <a:extLst>
                  <a:ext uri="{FF2B5EF4-FFF2-40B4-BE49-F238E27FC236}">
                    <a16:creationId xmlns:a16="http://schemas.microsoft.com/office/drawing/2014/main" id="{24C6B3AA-389E-4AB1-A930-69609E851697}"/>
                  </a:ext>
                </a:extLst>
              </p:cNvPr>
              <p:cNvSpPr txBox="1"/>
              <p:nvPr/>
            </p:nvSpPr>
            <p:spPr>
              <a:xfrm>
                <a:off x="3569255" y="5478257"/>
                <a:ext cx="2430474"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AWS</a:t>
                </a:r>
                <a:r>
                  <a:rPr lang="en-US" dirty="0">
                    <a:latin typeface="Amazon Ember" panose="020B0603020204020204" pitchFamily="34" charset="0"/>
                    <a:ea typeface="Amazon Ember" panose="020B0603020204020204" pitchFamily="34" charset="0"/>
                    <a:cs typeface="Amazon Ember" panose="020B0603020204020204" pitchFamily="34" charset="0"/>
                  </a:rPr>
                  <a:t> </a:t>
                </a:r>
                <a:r>
                  <a:rPr lang="en-US" dirty="0">
                    <a:ea typeface="Amazon Ember" panose="020B0603020204020204" pitchFamily="34" charset="0"/>
                    <a:cs typeface="Amazon Ember" panose="020B0603020204020204" pitchFamily="34" charset="0"/>
                  </a:rPr>
                  <a:t>Step</a:t>
                </a:r>
                <a:r>
                  <a:rPr lang="en-US" dirty="0">
                    <a:latin typeface="Amazon Ember" panose="020B0603020204020204" pitchFamily="34" charset="0"/>
                    <a:ea typeface="Amazon Ember" panose="020B0603020204020204" pitchFamily="34" charset="0"/>
                    <a:cs typeface="Amazon Ember" panose="020B0603020204020204" pitchFamily="34" charset="0"/>
                  </a:rPr>
                  <a:t> </a:t>
                </a:r>
                <a:r>
                  <a:rPr lang="en-US" dirty="0">
                    <a:ea typeface="Amazon Ember" panose="020B0603020204020204" pitchFamily="34" charset="0"/>
                    <a:cs typeface="Amazon Ember" panose="020B0603020204020204" pitchFamily="34" charset="0"/>
                  </a:rPr>
                  <a:t>Functions</a:t>
                </a:r>
              </a:p>
            </p:txBody>
          </p:sp>
          <p:pic>
            <p:nvPicPr>
              <p:cNvPr id="20" name="Picture 19">
                <a:extLst>
                  <a:ext uri="{FF2B5EF4-FFF2-40B4-BE49-F238E27FC236}">
                    <a16:creationId xmlns:a16="http://schemas.microsoft.com/office/drawing/2014/main" id="{FF08A3D5-2329-4103-AA2B-0C52C50C5B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03251" y="4260878"/>
                <a:ext cx="836870" cy="1009168"/>
              </a:xfrm>
              <a:prstGeom prst="rect">
                <a:avLst/>
              </a:prstGeom>
            </p:spPr>
          </p:pic>
          <p:sp>
            <p:nvSpPr>
              <p:cNvPr id="21" name="TextBox 20">
                <a:extLst>
                  <a:ext uri="{FF2B5EF4-FFF2-40B4-BE49-F238E27FC236}">
                    <a16:creationId xmlns:a16="http://schemas.microsoft.com/office/drawing/2014/main" id="{B4A762D9-0107-446E-993A-8768B60BFBC8}"/>
                  </a:ext>
                </a:extLst>
              </p:cNvPr>
              <p:cNvSpPr txBox="1"/>
              <p:nvPr/>
            </p:nvSpPr>
            <p:spPr>
              <a:xfrm>
                <a:off x="3665949" y="3779813"/>
                <a:ext cx="2111475"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Orchestration</a:t>
                </a:r>
              </a:p>
            </p:txBody>
          </p:sp>
        </p:grpSp>
      </p:grpSp>
      <p:grpSp>
        <p:nvGrpSpPr>
          <p:cNvPr id="25" name="Group 24">
            <a:extLst>
              <a:ext uri="{FF2B5EF4-FFF2-40B4-BE49-F238E27FC236}">
                <a16:creationId xmlns:a16="http://schemas.microsoft.com/office/drawing/2014/main" id="{C015733D-D923-4EB6-8690-768149784657}"/>
              </a:ext>
            </a:extLst>
          </p:cNvPr>
          <p:cNvGrpSpPr/>
          <p:nvPr/>
        </p:nvGrpSpPr>
        <p:grpSpPr>
          <a:xfrm>
            <a:off x="7661134" y="1459623"/>
            <a:ext cx="2174183" cy="4786163"/>
            <a:chOff x="6546783" y="1272810"/>
            <a:chExt cx="2174183" cy="4786163"/>
          </a:xfrm>
        </p:grpSpPr>
        <p:grpSp>
          <p:nvGrpSpPr>
            <p:cNvPr id="26" name="Group 25">
              <a:extLst>
                <a:ext uri="{FF2B5EF4-FFF2-40B4-BE49-F238E27FC236}">
                  <a16:creationId xmlns:a16="http://schemas.microsoft.com/office/drawing/2014/main" id="{B718AA0F-D218-4252-8496-F90E536209B8}"/>
                </a:ext>
              </a:extLst>
            </p:cNvPr>
            <p:cNvGrpSpPr/>
            <p:nvPr/>
          </p:nvGrpSpPr>
          <p:grpSpPr>
            <a:xfrm>
              <a:off x="6945224" y="1272810"/>
              <a:ext cx="1431802" cy="1996838"/>
              <a:chOff x="6826403" y="1278822"/>
              <a:chExt cx="1431802" cy="1996838"/>
            </a:xfrm>
          </p:grpSpPr>
          <p:sp>
            <p:nvSpPr>
              <p:cNvPr id="33" name="TextBox 32">
                <a:extLst>
                  <a:ext uri="{FF2B5EF4-FFF2-40B4-BE49-F238E27FC236}">
                    <a16:creationId xmlns:a16="http://schemas.microsoft.com/office/drawing/2014/main" id="{9B3577C9-C5F1-4745-93F2-D37F2A423848}"/>
                  </a:ext>
                </a:extLst>
              </p:cNvPr>
              <p:cNvSpPr txBox="1"/>
              <p:nvPr/>
            </p:nvSpPr>
            <p:spPr>
              <a:xfrm>
                <a:off x="6826403" y="2906328"/>
                <a:ext cx="1431802"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Amazon S3</a:t>
                </a:r>
              </a:p>
            </p:txBody>
          </p:sp>
          <p:pic>
            <p:nvPicPr>
              <p:cNvPr id="34" name="Picture 33">
                <a:extLst>
                  <a:ext uri="{FF2B5EF4-FFF2-40B4-BE49-F238E27FC236}">
                    <a16:creationId xmlns:a16="http://schemas.microsoft.com/office/drawing/2014/main" id="{09FE0884-90A9-4D74-BE5B-44443EC1BB7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14235" y="1777184"/>
                <a:ext cx="801637" cy="961964"/>
              </a:xfrm>
              <a:prstGeom prst="rect">
                <a:avLst/>
              </a:prstGeom>
            </p:spPr>
          </p:pic>
          <p:sp>
            <p:nvSpPr>
              <p:cNvPr id="35" name="TextBox 34">
                <a:extLst>
                  <a:ext uri="{FF2B5EF4-FFF2-40B4-BE49-F238E27FC236}">
                    <a16:creationId xmlns:a16="http://schemas.microsoft.com/office/drawing/2014/main" id="{A8A4FA97-C7E2-43B5-B959-68164851D8AB}"/>
                  </a:ext>
                </a:extLst>
              </p:cNvPr>
              <p:cNvSpPr txBox="1"/>
              <p:nvPr/>
            </p:nvSpPr>
            <p:spPr>
              <a:xfrm>
                <a:off x="6877699" y="1278822"/>
                <a:ext cx="1274708"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Storage</a:t>
                </a:r>
              </a:p>
            </p:txBody>
          </p:sp>
        </p:grpSp>
        <p:grpSp>
          <p:nvGrpSpPr>
            <p:cNvPr id="27" name="Group 26">
              <a:extLst>
                <a:ext uri="{FF2B5EF4-FFF2-40B4-BE49-F238E27FC236}">
                  <a16:creationId xmlns:a16="http://schemas.microsoft.com/office/drawing/2014/main" id="{75E51AF7-0B99-4164-B70F-04EC60F4FCEE}"/>
                </a:ext>
              </a:extLst>
            </p:cNvPr>
            <p:cNvGrpSpPr/>
            <p:nvPr/>
          </p:nvGrpSpPr>
          <p:grpSpPr>
            <a:xfrm>
              <a:off x="6546783" y="3729346"/>
              <a:ext cx="2174183" cy="2329627"/>
              <a:chOff x="6546783" y="3729346"/>
              <a:chExt cx="2174183" cy="2329627"/>
            </a:xfrm>
          </p:grpSpPr>
          <p:sp>
            <p:nvSpPr>
              <p:cNvPr id="28" name="TextBox 27">
                <a:extLst>
                  <a:ext uri="{FF2B5EF4-FFF2-40B4-BE49-F238E27FC236}">
                    <a16:creationId xmlns:a16="http://schemas.microsoft.com/office/drawing/2014/main" id="{90AD37C4-F82F-4D17-8527-D1A24E187C99}"/>
                  </a:ext>
                </a:extLst>
              </p:cNvPr>
              <p:cNvSpPr txBox="1"/>
              <p:nvPr/>
            </p:nvSpPr>
            <p:spPr>
              <a:xfrm>
                <a:off x="6714392" y="5412642"/>
                <a:ext cx="1928733" cy="646331"/>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Amazon Kinesis</a:t>
                </a:r>
              </a:p>
              <a:p>
                <a:pPr defTabSz="609585">
                  <a:defRPr/>
                </a:pPr>
                <a:r>
                  <a:rPr lang="en-US" dirty="0">
                    <a:ea typeface="Amazon Ember" panose="020B0603020204020204" pitchFamily="34" charset="0"/>
                    <a:cs typeface="Amazon Ember" panose="020B0603020204020204" pitchFamily="34" charset="0"/>
                  </a:rPr>
                  <a:t>Amazon Athena</a:t>
                </a:r>
              </a:p>
            </p:txBody>
          </p:sp>
          <p:grpSp>
            <p:nvGrpSpPr>
              <p:cNvPr id="29" name="Group 28">
                <a:extLst>
                  <a:ext uri="{FF2B5EF4-FFF2-40B4-BE49-F238E27FC236}">
                    <a16:creationId xmlns:a16="http://schemas.microsoft.com/office/drawing/2014/main" id="{F69467AA-6DB6-4749-B7E1-028D5A86B793}"/>
                  </a:ext>
                </a:extLst>
              </p:cNvPr>
              <p:cNvGrpSpPr/>
              <p:nvPr/>
            </p:nvGrpSpPr>
            <p:grpSpPr>
              <a:xfrm>
                <a:off x="6546783" y="4324344"/>
                <a:ext cx="2174183" cy="1018365"/>
                <a:chOff x="6513118" y="4455392"/>
                <a:chExt cx="2174183" cy="1018365"/>
              </a:xfrm>
            </p:grpSpPr>
            <p:pic>
              <p:nvPicPr>
                <p:cNvPr id="31" name="Picture 30">
                  <a:extLst>
                    <a:ext uri="{FF2B5EF4-FFF2-40B4-BE49-F238E27FC236}">
                      <a16:creationId xmlns:a16="http://schemas.microsoft.com/office/drawing/2014/main" id="{FF5ABA79-8DF5-41D9-A347-2F540A0ADD0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13118" y="4455392"/>
                  <a:ext cx="825232" cy="990278"/>
                </a:xfrm>
                <a:prstGeom prst="rect">
                  <a:avLst/>
                </a:prstGeom>
              </p:spPr>
            </p:pic>
            <p:pic>
              <p:nvPicPr>
                <p:cNvPr id="32" name="Picture 31">
                  <a:extLst>
                    <a:ext uri="{FF2B5EF4-FFF2-40B4-BE49-F238E27FC236}">
                      <a16:creationId xmlns:a16="http://schemas.microsoft.com/office/drawing/2014/main" id="{20D481F7-0BD7-4720-880D-EBCF6E52222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79993" y="4472375"/>
                  <a:ext cx="1007308" cy="1001382"/>
                </a:xfrm>
                <a:prstGeom prst="rect">
                  <a:avLst/>
                </a:prstGeom>
              </p:spPr>
            </p:pic>
          </p:grpSp>
          <p:sp>
            <p:nvSpPr>
              <p:cNvPr id="30" name="TextBox 29">
                <a:extLst>
                  <a:ext uri="{FF2B5EF4-FFF2-40B4-BE49-F238E27FC236}">
                    <a16:creationId xmlns:a16="http://schemas.microsoft.com/office/drawing/2014/main" id="{9BCA0278-76A0-4EDF-9C03-5B4E22053F1C}"/>
                  </a:ext>
                </a:extLst>
              </p:cNvPr>
              <p:cNvSpPr txBox="1"/>
              <p:nvPr/>
            </p:nvSpPr>
            <p:spPr>
              <a:xfrm>
                <a:off x="6912362" y="3729346"/>
                <a:ext cx="1443024"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Analytics</a:t>
                </a:r>
              </a:p>
            </p:txBody>
          </p:sp>
        </p:grpSp>
      </p:grpSp>
      <p:grpSp>
        <p:nvGrpSpPr>
          <p:cNvPr id="36" name="Group 35">
            <a:extLst>
              <a:ext uri="{FF2B5EF4-FFF2-40B4-BE49-F238E27FC236}">
                <a16:creationId xmlns:a16="http://schemas.microsoft.com/office/drawing/2014/main" id="{EFC03CE9-04A9-407D-97CE-B891F734EABF}"/>
              </a:ext>
            </a:extLst>
          </p:cNvPr>
          <p:cNvGrpSpPr/>
          <p:nvPr/>
        </p:nvGrpSpPr>
        <p:grpSpPr>
          <a:xfrm>
            <a:off x="10219419" y="1459623"/>
            <a:ext cx="2440091" cy="4486986"/>
            <a:chOff x="9373845" y="1272810"/>
            <a:chExt cx="2440091" cy="4486986"/>
          </a:xfrm>
        </p:grpSpPr>
        <p:grpSp>
          <p:nvGrpSpPr>
            <p:cNvPr id="37" name="Group 36">
              <a:extLst>
                <a:ext uri="{FF2B5EF4-FFF2-40B4-BE49-F238E27FC236}">
                  <a16:creationId xmlns:a16="http://schemas.microsoft.com/office/drawing/2014/main" id="{BC63BE34-EB39-4A8C-80C6-3774CDDB7C4E}"/>
                </a:ext>
              </a:extLst>
            </p:cNvPr>
            <p:cNvGrpSpPr/>
            <p:nvPr/>
          </p:nvGrpSpPr>
          <p:grpSpPr>
            <a:xfrm>
              <a:off x="9450789" y="1272810"/>
              <a:ext cx="2363147" cy="1987368"/>
              <a:chOff x="9269650" y="1300144"/>
              <a:chExt cx="2363147" cy="1987368"/>
            </a:xfrm>
          </p:grpSpPr>
          <p:sp>
            <p:nvSpPr>
              <p:cNvPr id="42" name="TextBox 41">
                <a:extLst>
                  <a:ext uri="{FF2B5EF4-FFF2-40B4-BE49-F238E27FC236}">
                    <a16:creationId xmlns:a16="http://schemas.microsoft.com/office/drawing/2014/main" id="{D7B334B1-C329-4A7B-B90D-C7CD2E0A7D79}"/>
                  </a:ext>
                </a:extLst>
              </p:cNvPr>
              <p:cNvSpPr txBox="1"/>
              <p:nvPr/>
            </p:nvSpPr>
            <p:spPr>
              <a:xfrm>
                <a:off x="9269650" y="2918180"/>
                <a:ext cx="2363147"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Amazon DynamoDB</a:t>
                </a:r>
              </a:p>
            </p:txBody>
          </p:sp>
          <p:pic>
            <p:nvPicPr>
              <p:cNvPr id="43" name="Picture 42">
                <a:extLst>
                  <a:ext uri="{FF2B5EF4-FFF2-40B4-BE49-F238E27FC236}">
                    <a16:creationId xmlns:a16="http://schemas.microsoft.com/office/drawing/2014/main" id="{1E94E8A3-C873-46A8-AD92-57EC7E1E321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035095" y="1867332"/>
                <a:ext cx="744093" cy="824227"/>
              </a:xfrm>
              <a:prstGeom prst="rect">
                <a:avLst/>
              </a:prstGeom>
            </p:spPr>
          </p:pic>
          <p:sp>
            <p:nvSpPr>
              <p:cNvPr id="44" name="TextBox 43">
                <a:extLst>
                  <a:ext uri="{FF2B5EF4-FFF2-40B4-BE49-F238E27FC236}">
                    <a16:creationId xmlns:a16="http://schemas.microsoft.com/office/drawing/2014/main" id="{7F2ABC48-6A17-4949-87C0-FF8321B550C8}"/>
                  </a:ext>
                </a:extLst>
              </p:cNvPr>
              <p:cNvSpPr txBox="1"/>
              <p:nvPr/>
            </p:nvSpPr>
            <p:spPr>
              <a:xfrm>
                <a:off x="9667195" y="1300144"/>
                <a:ext cx="1479892"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Database</a:t>
                </a:r>
              </a:p>
            </p:txBody>
          </p:sp>
        </p:grpSp>
        <p:grpSp>
          <p:nvGrpSpPr>
            <p:cNvPr id="38" name="Group 37">
              <a:extLst>
                <a:ext uri="{FF2B5EF4-FFF2-40B4-BE49-F238E27FC236}">
                  <a16:creationId xmlns:a16="http://schemas.microsoft.com/office/drawing/2014/main" id="{49DDABF8-A726-4B1F-924C-58E924DF7157}"/>
                </a:ext>
              </a:extLst>
            </p:cNvPr>
            <p:cNvGrpSpPr/>
            <p:nvPr/>
          </p:nvGrpSpPr>
          <p:grpSpPr>
            <a:xfrm>
              <a:off x="9373845" y="3729346"/>
              <a:ext cx="2428870" cy="2030450"/>
              <a:chOff x="9478041" y="3790623"/>
              <a:chExt cx="2428870" cy="2030450"/>
            </a:xfrm>
          </p:grpSpPr>
          <p:sp>
            <p:nvSpPr>
              <p:cNvPr id="39" name="TextBox 38">
                <a:extLst>
                  <a:ext uri="{FF2B5EF4-FFF2-40B4-BE49-F238E27FC236}">
                    <a16:creationId xmlns:a16="http://schemas.microsoft.com/office/drawing/2014/main" id="{DEBCD7CA-360F-4F88-B9D6-9F7C46D25EDB}"/>
                  </a:ext>
                </a:extLst>
              </p:cNvPr>
              <p:cNvSpPr txBox="1"/>
              <p:nvPr/>
            </p:nvSpPr>
            <p:spPr>
              <a:xfrm>
                <a:off x="10218629" y="5451741"/>
                <a:ext cx="1015021" cy="369332"/>
              </a:xfrm>
              <a:prstGeom prst="rect">
                <a:avLst/>
              </a:prstGeom>
              <a:noFill/>
            </p:spPr>
            <p:txBody>
              <a:bodyPr wrap="none" rtlCol="0">
                <a:spAutoFit/>
              </a:bodyPr>
              <a:lstStyle/>
              <a:p>
                <a:pPr defTabSz="609585">
                  <a:defRPr/>
                </a:pPr>
                <a:r>
                  <a:rPr lang="en-US" dirty="0">
                    <a:ea typeface="Amazon Ember" panose="020B0603020204020204" pitchFamily="34" charset="0"/>
                    <a:cs typeface="Amazon Ember" panose="020B0603020204020204" pitchFamily="34" charset="0"/>
                  </a:rPr>
                  <a:t>Tooling</a:t>
                </a:r>
              </a:p>
            </p:txBody>
          </p:sp>
          <p:pic>
            <p:nvPicPr>
              <p:cNvPr id="40" name="Picture 2" descr="Practice Continuous Integration and Continuous Delivery">
                <a:extLst>
                  <a:ext uri="{FF2B5EF4-FFF2-40B4-BE49-F238E27FC236}">
                    <a16:creationId xmlns:a16="http://schemas.microsoft.com/office/drawing/2014/main" id="{E2ACC2F2-644D-4F63-98DD-5EB862CCB8B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50185" y="4050846"/>
                <a:ext cx="1684582" cy="1443927"/>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5A867F99-AF2D-4F16-BA4C-CF1000764D9E}"/>
                  </a:ext>
                </a:extLst>
              </p:cNvPr>
              <p:cNvSpPr txBox="1"/>
              <p:nvPr/>
            </p:nvSpPr>
            <p:spPr>
              <a:xfrm>
                <a:off x="9478041" y="3790623"/>
                <a:ext cx="2428870" cy="461665"/>
              </a:xfrm>
              <a:prstGeom prst="rect">
                <a:avLst/>
              </a:prstGeom>
              <a:noFill/>
            </p:spPr>
            <p:txBody>
              <a:bodyPr wrap="none" rtlCol="0">
                <a:spAutoFit/>
              </a:bodyPr>
              <a:lstStyle/>
              <a:p>
                <a:pPr defTabSz="609585">
                  <a:defRPr/>
                </a:pPr>
                <a:r>
                  <a:rPr lang="en-US" sz="2400" dirty="0">
                    <a:latin typeface="Amazon Ember" panose="02000000000000000000" pitchFamily="2" charset="0"/>
                    <a:ea typeface="Amazon Ember" panose="02000000000000000000" pitchFamily="2" charset="0"/>
                    <a:cs typeface="Amazon Ember Light" panose="020B0403020204020204" pitchFamily="34" charset="0"/>
                  </a:rPr>
                  <a:t>Developer</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400" dirty="0">
                    <a:latin typeface="Amazon Ember" panose="02000000000000000000" pitchFamily="2" charset="0"/>
                    <a:ea typeface="Amazon Ember" panose="02000000000000000000" pitchFamily="2" charset="0"/>
                    <a:cs typeface="Amazon Ember Light" panose="020B0403020204020204" pitchFamily="34" charset="0"/>
                  </a:rPr>
                  <a:t>Tools</a:t>
                </a:r>
              </a:p>
            </p:txBody>
          </p:sp>
        </p:grpSp>
      </p:grpSp>
    </p:spTree>
    <p:extLst>
      <p:ext uri="{BB962C8B-B14F-4D97-AF65-F5344CB8AC3E}">
        <p14:creationId xmlns:p14="http://schemas.microsoft.com/office/powerpoint/2010/main" val="3403334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D0FC11-20ED-4E00-B848-236A4AFD3CA9}"/>
              </a:ext>
            </a:extLst>
          </p:cNvPr>
          <p:cNvSpPr>
            <a:spLocks noGrp="1"/>
          </p:cNvSpPr>
          <p:nvPr>
            <p:ph type="sldNum" sz="quarter" idx="17"/>
          </p:nvPr>
        </p:nvSpPr>
        <p:spPr/>
        <p:txBody>
          <a:bodyPr/>
          <a:lstStyle/>
          <a:p>
            <a:fld id="{4F9AC08D-23A9-440E-BCB9-AA1E9877CC38}" type="slidenum">
              <a:rPr lang="en-US" smtClean="0"/>
              <a:pPr/>
              <a:t>23</a:t>
            </a:fld>
            <a:endParaRPr lang="en-US" dirty="0"/>
          </a:p>
        </p:txBody>
      </p:sp>
      <p:sp>
        <p:nvSpPr>
          <p:cNvPr id="3" name="Title 2">
            <a:extLst>
              <a:ext uri="{FF2B5EF4-FFF2-40B4-BE49-F238E27FC236}">
                <a16:creationId xmlns:a16="http://schemas.microsoft.com/office/drawing/2014/main" id="{51EA8DE1-E14B-4874-B5D5-85D7D7AA2F43}"/>
              </a:ext>
            </a:extLst>
          </p:cNvPr>
          <p:cNvSpPr>
            <a:spLocks noGrp="1"/>
          </p:cNvSpPr>
          <p:nvPr>
            <p:ph type="title"/>
          </p:nvPr>
        </p:nvSpPr>
        <p:spPr>
          <a:xfrm>
            <a:off x="450010" y="311474"/>
            <a:ext cx="13500200" cy="1359871"/>
          </a:xfrm>
        </p:spPr>
        <p:txBody>
          <a:bodyPr/>
          <a:lstStyle/>
          <a:p>
            <a:r>
              <a:rPr lang="en-US" dirty="0">
                <a:solidFill>
                  <a:schemeClr val="bg1"/>
                </a:solidFill>
                <a:ea typeface="Amazon Ember" panose="020B0603020204020204" pitchFamily="34" charset="0"/>
                <a:cs typeface="Amazon Ember" panose="020B0603020204020204" pitchFamily="34" charset="0"/>
              </a:rPr>
              <a:t>Serverless Architecture</a:t>
            </a:r>
            <a:endParaRPr lang="en-US" dirty="0">
              <a:solidFill>
                <a:schemeClr val="bg1"/>
              </a:solidFill>
            </a:endParaRPr>
          </a:p>
        </p:txBody>
      </p:sp>
      <p:sp>
        <p:nvSpPr>
          <p:cNvPr id="4" name="Footer Placeholder 3">
            <a:extLst>
              <a:ext uri="{FF2B5EF4-FFF2-40B4-BE49-F238E27FC236}">
                <a16:creationId xmlns:a16="http://schemas.microsoft.com/office/drawing/2014/main" id="{329390F7-BBAB-428E-8C90-057D5B3035A5}"/>
              </a:ext>
            </a:extLst>
          </p:cNvPr>
          <p:cNvSpPr>
            <a:spLocks noGrp="1"/>
          </p:cNvSpPr>
          <p:nvPr>
            <p:ph type="ftr" sz="quarter" idx="16"/>
          </p:nvPr>
        </p:nvSpPr>
        <p:spPr/>
        <p:txBody>
          <a:bodyPr/>
          <a:lstStyle/>
          <a:p>
            <a:r>
              <a:rPr lang="en-US"/>
              <a:t>Copyright © 2020 Accenture. All rights reserved.</a:t>
            </a:r>
            <a:endParaRPr lang="en-US" dirty="0"/>
          </a:p>
        </p:txBody>
      </p:sp>
      <p:pic>
        <p:nvPicPr>
          <p:cNvPr id="5" name="Content Placeholder 6">
            <a:extLst>
              <a:ext uri="{FF2B5EF4-FFF2-40B4-BE49-F238E27FC236}">
                <a16:creationId xmlns:a16="http://schemas.microsoft.com/office/drawing/2014/main" id="{9BD8B10B-22C3-476D-B75C-EC0B61C47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385" y="1205992"/>
            <a:ext cx="10318137" cy="4782784"/>
          </a:xfrm>
          <a:prstGeom prst="rect">
            <a:avLst/>
          </a:prstGeom>
        </p:spPr>
      </p:pic>
      <p:sp>
        <p:nvSpPr>
          <p:cNvPr id="7" name="Rectangle 6">
            <a:extLst>
              <a:ext uri="{FF2B5EF4-FFF2-40B4-BE49-F238E27FC236}">
                <a16:creationId xmlns:a16="http://schemas.microsoft.com/office/drawing/2014/main" id="{107350A8-A8A8-41DF-850E-E5A81740AAD2}"/>
              </a:ext>
            </a:extLst>
          </p:cNvPr>
          <p:cNvSpPr/>
          <p:nvPr/>
        </p:nvSpPr>
        <p:spPr>
          <a:xfrm>
            <a:off x="3974076" y="6150558"/>
            <a:ext cx="6644763" cy="369332"/>
          </a:xfrm>
          <a:prstGeom prst="rect">
            <a:avLst/>
          </a:prstGeom>
        </p:spPr>
        <p:txBody>
          <a:bodyPr wrap="square">
            <a:spAutoFit/>
          </a:bodyPr>
          <a:lstStyle/>
          <a:p>
            <a:r>
              <a:rPr lang="en-US" dirty="0"/>
              <a:t>https://github.com/awslabs/serverless-application-model</a:t>
            </a:r>
          </a:p>
        </p:txBody>
      </p:sp>
    </p:spTree>
    <p:extLst>
      <p:ext uri="{BB962C8B-B14F-4D97-AF65-F5344CB8AC3E}">
        <p14:creationId xmlns:p14="http://schemas.microsoft.com/office/powerpoint/2010/main" val="701438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team of Developers have been assigned to a new project. The team will be collaborating on the</a:t>
            </a:r>
          </a:p>
          <a:p>
            <a:pPr>
              <a:lnSpc>
                <a:spcPct val="150000"/>
              </a:lnSpc>
            </a:pPr>
            <a:r>
              <a:rPr lang="en-US" dirty="0">
                <a:solidFill>
                  <a:srgbClr val="18537D"/>
                </a:solidFill>
              </a:rPr>
              <a:t>development and delivery of a new application and need </a:t>
            </a:r>
            <a:r>
              <a:rPr lang="en-US" b="1" dirty="0">
                <a:solidFill>
                  <a:srgbClr val="18537D"/>
                </a:solidFill>
              </a:rPr>
              <a:t>a centralized private repository for managing</a:t>
            </a:r>
          </a:p>
          <a:p>
            <a:pPr>
              <a:lnSpc>
                <a:spcPct val="150000"/>
              </a:lnSpc>
            </a:pPr>
            <a:r>
              <a:rPr lang="en-US" b="1" dirty="0">
                <a:solidFill>
                  <a:srgbClr val="18537D"/>
                </a:solidFill>
              </a:rPr>
              <a:t>source code.</a:t>
            </a:r>
            <a:r>
              <a:rPr lang="en-US" dirty="0">
                <a:solidFill>
                  <a:srgbClr val="18537D"/>
                </a:solidFill>
              </a:rPr>
              <a:t> The repository should support updates from multiple sources. Which AWS service should the</a:t>
            </a:r>
          </a:p>
          <a:p>
            <a:pPr>
              <a:lnSpc>
                <a:spcPct val="150000"/>
              </a:lnSpc>
            </a:pPr>
            <a:r>
              <a:rPr lang="en-US" dirty="0">
                <a:solidFill>
                  <a:srgbClr val="18537D"/>
                </a:solidFill>
              </a:rPr>
              <a:t>development team use?</a:t>
            </a:r>
          </a:p>
          <a:p>
            <a:pPr>
              <a:lnSpc>
                <a:spcPct val="150000"/>
              </a:lnSpc>
            </a:pPr>
            <a:endParaRPr lang="en-US" dirty="0">
              <a:solidFill>
                <a:srgbClr val="18537D"/>
              </a:solidFill>
            </a:endParaRPr>
          </a:p>
          <a:p>
            <a:pPr>
              <a:lnSpc>
                <a:spcPct val="150000"/>
              </a:lnSpc>
            </a:pPr>
            <a:r>
              <a:rPr lang="en-US" dirty="0">
                <a:solidFill>
                  <a:srgbClr val="18537D"/>
                </a:solidFill>
              </a:rPr>
              <a:t>A.AWS </a:t>
            </a:r>
            <a:r>
              <a:rPr lang="en-US" dirty="0" err="1">
                <a:solidFill>
                  <a:srgbClr val="18537D"/>
                </a:solidFill>
              </a:rPr>
              <a:t>CodeCommit</a:t>
            </a:r>
            <a:endParaRPr lang="en-US" dirty="0">
              <a:solidFill>
                <a:srgbClr val="18537D"/>
              </a:solidFill>
            </a:endParaRPr>
          </a:p>
          <a:p>
            <a:pPr>
              <a:lnSpc>
                <a:spcPct val="150000"/>
              </a:lnSpc>
            </a:pPr>
            <a:r>
              <a:rPr lang="en-US" dirty="0">
                <a:solidFill>
                  <a:srgbClr val="18537D"/>
                </a:solidFill>
              </a:rPr>
              <a:t>B.AWS </a:t>
            </a:r>
            <a:r>
              <a:rPr lang="en-US" dirty="0" err="1">
                <a:solidFill>
                  <a:srgbClr val="18537D"/>
                </a:solidFill>
              </a:rPr>
              <a:t>CodeBuild</a:t>
            </a:r>
            <a:endParaRPr lang="en-US" dirty="0">
              <a:solidFill>
                <a:srgbClr val="18537D"/>
              </a:solidFill>
            </a:endParaRPr>
          </a:p>
          <a:p>
            <a:pPr>
              <a:lnSpc>
                <a:spcPct val="150000"/>
              </a:lnSpc>
            </a:pPr>
            <a:r>
              <a:rPr lang="en-US" dirty="0">
                <a:solidFill>
                  <a:srgbClr val="18537D"/>
                </a:solidFill>
              </a:rPr>
              <a:t>C.AWS </a:t>
            </a:r>
            <a:r>
              <a:rPr lang="en-US" dirty="0" err="1">
                <a:solidFill>
                  <a:srgbClr val="18537D"/>
                </a:solidFill>
              </a:rPr>
              <a:t>CodeDeploy</a:t>
            </a:r>
            <a:endParaRPr lang="en-US" dirty="0">
              <a:solidFill>
                <a:srgbClr val="18537D"/>
              </a:solidFill>
            </a:endParaRPr>
          </a:p>
          <a:p>
            <a:pPr>
              <a:lnSpc>
                <a:spcPct val="150000"/>
              </a:lnSpc>
            </a:pPr>
            <a:r>
              <a:rPr lang="en-US" dirty="0">
                <a:solidFill>
                  <a:srgbClr val="18537D"/>
                </a:solidFill>
              </a:rPr>
              <a:t>D.AWS </a:t>
            </a:r>
            <a:r>
              <a:rPr lang="en-US" dirty="0" err="1">
                <a:solidFill>
                  <a:srgbClr val="18537D"/>
                </a:solidFill>
              </a:rPr>
              <a:t>CodePipeline</a:t>
            </a:r>
            <a:endParaRPr lang="en-US" dirty="0">
              <a:solidFill>
                <a:srgbClr val="18537D"/>
              </a:solidFill>
            </a:endParaRPr>
          </a:p>
        </p:txBody>
      </p:sp>
    </p:spTree>
    <p:extLst>
      <p:ext uri="{BB962C8B-B14F-4D97-AF65-F5344CB8AC3E}">
        <p14:creationId xmlns:p14="http://schemas.microsoft.com/office/powerpoint/2010/main" val="4004828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team of Developers have been assigned to a new project. The team will be collaborating on the</a:t>
            </a:r>
          </a:p>
          <a:p>
            <a:pPr>
              <a:lnSpc>
                <a:spcPct val="150000"/>
              </a:lnSpc>
            </a:pPr>
            <a:r>
              <a:rPr lang="en-US" dirty="0">
                <a:solidFill>
                  <a:srgbClr val="18537D"/>
                </a:solidFill>
              </a:rPr>
              <a:t>development and delivery of a new application and need </a:t>
            </a:r>
            <a:r>
              <a:rPr lang="en-US" b="1" dirty="0">
                <a:solidFill>
                  <a:srgbClr val="18537D"/>
                </a:solidFill>
              </a:rPr>
              <a:t>a centralized private repository for managing</a:t>
            </a:r>
          </a:p>
          <a:p>
            <a:pPr>
              <a:lnSpc>
                <a:spcPct val="150000"/>
              </a:lnSpc>
            </a:pPr>
            <a:r>
              <a:rPr lang="en-US" b="1" dirty="0">
                <a:solidFill>
                  <a:srgbClr val="18537D"/>
                </a:solidFill>
              </a:rPr>
              <a:t>source code.</a:t>
            </a:r>
            <a:r>
              <a:rPr lang="en-US" dirty="0">
                <a:solidFill>
                  <a:srgbClr val="18537D"/>
                </a:solidFill>
              </a:rPr>
              <a:t> The repository should support updates from multiple sources. Which AWS service should the</a:t>
            </a:r>
          </a:p>
          <a:p>
            <a:pPr>
              <a:lnSpc>
                <a:spcPct val="150000"/>
              </a:lnSpc>
            </a:pPr>
            <a:r>
              <a:rPr lang="en-US" dirty="0">
                <a:solidFill>
                  <a:srgbClr val="18537D"/>
                </a:solidFill>
              </a:rPr>
              <a:t>development team use?</a:t>
            </a:r>
          </a:p>
          <a:p>
            <a:pPr>
              <a:lnSpc>
                <a:spcPct val="150000"/>
              </a:lnSpc>
            </a:pPr>
            <a:endParaRPr lang="en-US" dirty="0">
              <a:solidFill>
                <a:srgbClr val="18537D"/>
              </a:solidFill>
            </a:endParaRPr>
          </a:p>
          <a:p>
            <a:pPr>
              <a:lnSpc>
                <a:spcPct val="150000"/>
              </a:lnSpc>
            </a:pPr>
            <a:r>
              <a:rPr lang="en-US" dirty="0">
                <a:solidFill>
                  <a:srgbClr val="18537D"/>
                </a:solidFill>
              </a:rPr>
              <a:t>A.</a:t>
            </a:r>
            <a:r>
              <a:rPr lang="en-US" b="1" dirty="0">
                <a:solidFill>
                  <a:srgbClr val="18537D"/>
                </a:solidFill>
              </a:rPr>
              <a:t>AWS </a:t>
            </a:r>
            <a:r>
              <a:rPr lang="en-US" b="1" dirty="0" err="1">
                <a:solidFill>
                  <a:srgbClr val="18537D"/>
                </a:solidFill>
              </a:rPr>
              <a:t>CodeCommit</a:t>
            </a:r>
            <a:endParaRPr lang="en-US" b="1" dirty="0">
              <a:solidFill>
                <a:srgbClr val="18537D"/>
              </a:solidFill>
            </a:endParaRPr>
          </a:p>
          <a:p>
            <a:pPr>
              <a:lnSpc>
                <a:spcPct val="150000"/>
              </a:lnSpc>
            </a:pPr>
            <a:r>
              <a:rPr lang="en-US" dirty="0">
                <a:solidFill>
                  <a:srgbClr val="18537D"/>
                </a:solidFill>
              </a:rPr>
              <a:t>B.AWS </a:t>
            </a:r>
            <a:r>
              <a:rPr lang="en-US" dirty="0" err="1">
                <a:solidFill>
                  <a:srgbClr val="18537D"/>
                </a:solidFill>
              </a:rPr>
              <a:t>CodeBuild</a:t>
            </a:r>
            <a:endParaRPr lang="en-US" dirty="0">
              <a:solidFill>
                <a:srgbClr val="18537D"/>
              </a:solidFill>
            </a:endParaRPr>
          </a:p>
          <a:p>
            <a:pPr>
              <a:lnSpc>
                <a:spcPct val="150000"/>
              </a:lnSpc>
            </a:pPr>
            <a:r>
              <a:rPr lang="en-US" dirty="0">
                <a:solidFill>
                  <a:srgbClr val="18537D"/>
                </a:solidFill>
              </a:rPr>
              <a:t>C.AWS </a:t>
            </a:r>
            <a:r>
              <a:rPr lang="en-US" dirty="0" err="1">
                <a:solidFill>
                  <a:srgbClr val="18537D"/>
                </a:solidFill>
              </a:rPr>
              <a:t>CodeDeploy</a:t>
            </a:r>
            <a:endParaRPr lang="en-US" dirty="0">
              <a:solidFill>
                <a:srgbClr val="18537D"/>
              </a:solidFill>
            </a:endParaRPr>
          </a:p>
          <a:p>
            <a:pPr>
              <a:lnSpc>
                <a:spcPct val="150000"/>
              </a:lnSpc>
            </a:pPr>
            <a:r>
              <a:rPr lang="en-US" dirty="0">
                <a:solidFill>
                  <a:srgbClr val="18537D"/>
                </a:solidFill>
              </a:rPr>
              <a:t>D.AWS </a:t>
            </a:r>
            <a:r>
              <a:rPr lang="en-US" dirty="0" err="1">
                <a:solidFill>
                  <a:srgbClr val="18537D"/>
                </a:solidFill>
              </a:rPr>
              <a:t>CodePipeline</a:t>
            </a:r>
            <a:endParaRPr lang="en-US" dirty="0">
              <a:solidFill>
                <a:srgbClr val="18537D"/>
              </a:solidFill>
            </a:endParaRPr>
          </a:p>
        </p:txBody>
      </p:sp>
    </p:spTree>
    <p:extLst>
      <p:ext uri="{BB962C8B-B14F-4D97-AF65-F5344CB8AC3E}">
        <p14:creationId xmlns:p14="http://schemas.microsoft.com/office/powerpoint/2010/main" val="3114960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Development team have moved their </a:t>
            </a:r>
            <a:r>
              <a:rPr lang="en-US" b="1" dirty="0">
                <a:solidFill>
                  <a:srgbClr val="18537D"/>
                </a:solidFill>
              </a:rPr>
              <a:t>continuous integration and delivery (CI/CD) pipeline </a:t>
            </a:r>
            <a:r>
              <a:rPr lang="en-US" dirty="0">
                <a:solidFill>
                  <a:srgbClr val="18537D"/>
                </a:solidFill>
              </a:rPr>
              <a:t>into the AWS</a:t>
            </a:r>
          </a:p>
          <a:p>
            <a:pPr>
              <a:lnSpc>
                <a:spcPct val="150000"/>
              </a:lnSpc>
            </a:pPr>
            <a:r>
              <a:rPr lang="en-US" dirty="0">
                <a:solidFill>
                  <a:srgbClr val="18537D"/>
                </a:solidFill>
              </a:rPr>
              <a:t>Cloud. The team is </a:t>
            </a:r>
            <a:r>
              <a:rPr lang="en-US" b="1" dirty="0">
                <a:solidFill>
                  <a:srgbClr val="18537D"/>
                </a:solidFill>
              </a:rPr>
              <a:t>leveraging</a:t>
            </a:r>
            <a:r>
              <a:rPr lang="en-US" dirty="0">
                <a:solidFill>
                  <a:srgbClr val="18537D"/>
                </a:solidFill>
              </a:rPr>
              <a:t> </a:t>
            </a:r>
            <a:r>
              <a:rPr lang="en-US" b="1" dirty="0">
                <a:solidFill>
                  <a:srgbClr val="18537D"/>
                </a:solidFill>
              </a:rPr>
              <a:t>AWS </a:t>
            </a:r>
            <a:r>
              <a:rPr lang="en-US" b="1" dirty="0" err="1">
                <a:solidFill>
                  <a:srgbClr val="18537D"/>
                </a:solidFill>
              </a:rPr>
              <a:t>CodeCommit</a:t>
            </a:r>
            <a:r>
              <a:rPr lang="en-US" b="1" dirty="0">
                <a:solidFill>
                  <a:srgbClr val="18537D"/>
                </a:solidFill>
              </a:rPr>
              <a:t> for management of source code</a:t>
            </a:r>
            <a:r>
              <a:rPr lang="en-US" dirty="0">
                <a:solidFill>
                  <a:srgbClr val="18537D"/>
                </a:solidFill>
              </a:rPr>
              <a:t>. The team </a:t>
            </a:r>
            <a:r>
              <a:rPr lang="en-US" b="1" dirty="0">
                <a:solidFill>
                  <a:srgbClr val="18537D"/>
                </a:solidFill>
              </a:rPr>
              <a:t>need to compile</a:t>
            </a:r>
          </a:p>
          <a:p>
            <a:pPr>
              <a:lnSpc>
                <a:spcPct val="150000"/>
              </a:lnSpc>
            </a:pPr>
            <a:r>
              <a:rPr lang="en-US" b="1" dirty="0">
                <a:solidFill>
                  <a:srgbClr val="18537D"/>
                </a:solidFill>
              </a:rPr>
              <a:t>their source code, run tests, and produce software packages that are ready for deployment</a:t>
            </a:r>
            <a:r>
              <a:rPr lang="en-US" dirty="0">
                <a:solidFill>
                  <a:srgbClr val="18537D"/>
                </a:solidFill>
              </a:rPr>
              <a:t>. Which AWS</a:t>
            </a:r>
          </a:p>
          <a:p>
            <a:pPr>
              <a:lnSpc>
                <a:spcPct val="150000"/>
              </a:lnSpc>
            </a:pPr>
            <a:r>
              <a:rPr lang="en-US" dirty="0">
                <a:solidFill>
                  <a:srgbClr val="18537D"/>
                </a:solidFill>
              </a:rPr>
              <a:t>service can deliver these outcomes?</a:t>
            </a:r>
          </a:p>
          <a:p>
            <a:pPr>
              <a:lnSpc>
                <a:spcPct val="150000"/>
              </a:lnSpc>
            </a:pPr>
            <a:endParaRPr lang="en-US" dirty="0">
              <a:solidFill>
                <a:srgbClr val="18537D"/>
              </a:solidFill>
            </a:endParaRPr>
          </a:p>
          <a:p>
            <a:pPr>
              <a:lnSpc>
                <a:spcPct val="150000"/>
              </a:lnSpc>
            </a:pPr>
            <a:r>
              <a:rPr lang="en-US" dirty="0">
                <a:solidFill>
                  <a:srgbClr val="18537D"/>
                </a:solidFill>
              </a:rPr>
              <a:t>A.AWS </a:t>
            </a:r>
            <a:r>
              <a:rPr lang="en-US" dirty="0" err="1">
                <a:solidFill>
                  <a:srgbClr val="18537D"/>
                </a:solidFill>
              </a:rPr>
              <a:t>CodePipeline</a:t>
            </a:r>
            <a:endParaRPr lang="en-US" dirty="0">
              <a:solidFill>
                <a:srgbClr val="18537D"/>
              </a:solidFill>
            </a:endParaRPr>
          </a:p>
          <a:p>
            <a:pPr>
              <a:lnSpc>
                <a:spcPct val="150000"/>
              </a:lnSpc>
            </a:pPr>
            <a:r>
              <a:rPr lang="en-US" dirty="0">
                <a:solidFill>
                  <a:srgbClr val="18537D"/>
                </a:solidFill>
              </a:rPr>
              <a:t>B.AWS </a:t>
            </a:r>
            <a:r>
              <a:rPr lang="en-US" dirty="0" err="1">
                <a:solidFill>
                  <a:srgbClr val="18537D"/>
                </a:solidFill>
              </a:rPr>
              <a:t>CodeCommit</a:t>
            </a:r>
            <a:endParaRPr lang="en-US" dirty="0">
              <a:solidFill>
                <a:srgbClr val="18537D"/>
              </a:solidFill>
            </a:endParaRPr>
          </a:p>
          <a:p>
            <a:pPr>
              <a:lnSpc>
                <a:spcPct val="150000"/>
              </a:lnSpc>
            </a:pPr>
            <a:r>
              <a:rPr lang="en-US" dirty="0">
                <a:solidFill>
                  <a:srgbClr val="18537D"/>
                </a:solidFill>
              </a:rPr>
              <a:t>C.AWS </a:t>
            </a:r>
            <a:r>
              <a:rPr lang="en-US" dirty="0" err="1">
                <a:solidFill>
                  <a:srgbClr val="18537D"/>
                </a:solidFill>
              </a:rPr>
              <a:t>CodeBuild</a:t>
            </a:r>
            <a:endParaRPr lang="en-US" dirty="0">
              <a:solidFill>
                <a:srgbClr val="18537D"/>
              </a:solidFill>
            </a:endParaRPr>
          </a:p>
          <a:p>
            <a:pPr>
              <a:lnSpc>
                <a:spcPct val="150000"/>
              </a:lnSpc>
            </a:pPr>
            <a:r>
              <a:rPr lang="en-US" dirty="0">
                <a:solidFill>
                  <a:srgbClr val="18537D"/>
                </a:solidFill>
              </a:rPr>
              <a:t>D.AWS Cloud9</a:t>
            </a:r>
          </a:p>
        </p:txBody>
      </p:sp>
    </p:spTree>
    <p:extLst>
      <p:ext uri="{BB962C8B-B14F-4D97-AF65-F5344CB8AC3E}">
        <p14:creationId xmlns:p14="http://schemas.microsoft.com/office/powerpoint/2010/main" val="3829080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Development team have moved their </a:t>
            </a:r>
            <a:r>
              <a:rPr lang="en-US" b="1" dirty="0">
                <a:solidFill>
                  <a:srgbClr val="18537D"/>
                </a:solidFill>
              </a:rPr>
              <a:t>continuous integration and delivery (CI/CD) pipeline </a:t>
            </a:r>
            <a:r>
              <a:rPr lang="en-US" dirty="0">
                <a:solidFill>
                  <a:srgbClr val="18537D"/>
                </a:solidFill>
              </a:rPr>
              <a:t>into the AWS</a:t>
            </a:r>
          </a:p>
          <a:p>
            <a:pPr>
              <a:lnSpc>
                <a:spcPct val="150000"/>
              </a:lnSpc>
            </a:pPr>
            <a:r>
              <a:rPr lang="en-US" dirty="0">
                <a:solidFill>
                  <a:srgbClr val="18537D"/>
                </a:solidFill>
              </a:rPr>
              <a:t>Cloud. The team is </a:t>
            </a:r>
            <a:r>
              <a:rPr lang="en-US" b="1" dirty="0">
                <a:solidFill>
                  <a:srgbClr val="18537D"/>
                </a:solidFill>
              </a:rPr>
              <a:t>leveraging</a:t>
            </a:r>
            <a:r>
              <a:rPr lang="en-US" dirty="0">
                <a:solidFill>
                  <a:srgbClr val="18537D"/>
                </a:solidFill>
              </a:rPr>
              <a:t> </a:t>
            </a:r>
            <a:r>
              <a:rPr lang="en-US" b="1" dirty="0">
                <a:solidFill>
                  <a:srgbClr val="18537D"/>
                </a:solidFill>
              </a:rPr>
              <a:t>AWS </a:t>
            </a:r>
            <a:r>
              <a:rPr lang="en-US" b="1" dirty="0" err="1">
                <a:solidFill>
                  <a:srgbClr val="18537D"/>
                </a:solidFill>
              </a:rPr>
              <a:t>CodeCommit</a:t>
            </a:r>
            <a:r>
              <a:rPr lang="en-US" b="1" dirty="0">
                <a:solidFill>
                  <a:srgbClr val="18537D"/>
                </a:solidFill>
              </a:rPr>
              <a:t> for management of source code</a:t>
            </a:r>
            <a:r>
              <a:rPr lang="en-US" dirty="0">
                <a:solidFill>
                  <a:srgbClr val="18537D"/>
                </a:solidFill>
              </a:rPr>
              <a:t>. The team </a:t>
            </a:r>
            <a:r>
              <a:rPr lang="en-US" b="1" dirty="0">
                <a:solidFill>
                  <a:srgbClr val="18537D"/>
                </a:solidFill>
              </a:rPr>
              <a:t>need to compile</a:t>
            </a:r>
          </a:p>
          <a:p>
            <a:pPr>
              <a:lnSpc>
                <a:spcPct val="150000"/>
              </a:lnSpc>
            </a:pPr>
            <a:r>
              <a:rPr lang="en-US" b="1" dirty="0">
                <a:solidFill>
                  <a:srgbClr val="18537D"/>
                </a:solidFill>
              </a:rPr>
              <a:t>their source code, run tests, and produce software packages that are ready for deployment</a:t>
            </a:r>
            <a:r>
              <a:rPr lang="en-US" dirty="0">
                <a:solidFill>
                  <a:srgbClr val="18537D"/>
                </a:solidFill>
              </a:rPr>
              <a:t>. Which AWS</a:t>
            </a:r>
          </a:p>
          <a:p>
            <a:pPr>
              <a:lnSpc>
                <a:spcPct val="150000"/>
              </a:lnSpc>
            </a:pPr>
            <a:r>
              <a:rPr lang="en-US" dirty="0">
                <a:solidFill>
                  <a:srgbClr val="18537D"/>
                </a:solidFill>
              </a:rPr>
              <a:t>service can deliver these outcomes?</a:t>
            </a:r>
          </a:p>
          <a:p>
            <a:pPr>
              <a:lnSpc>
                <a:spcPct val="150000"/>
              </a:lnSpc>
            </a:pPr>
            <a:endParaRPr lang="en-US" dirty="0">
              <a:solidFill>
                <a:srgbClr val="18537D"/>
              </a:solidFill>
            </a:endParaRPr>
          </a:p>
          <a:p>
            <a:pPr>
              <a:lnSpc>
                <a:spcPct val="150000"/>
              </a:lnSpc>
            </a:pPr>
            <a:r>
              <a:rPr lang="en-US" dirty="0">
                <a:solidFill>
                  <a:srgbClr val="18537D"/>
                </a:solidFill>
              </a:rPr>
              <a:t>A.AWS </a:t>
            </a:r>
            <a:r>
              <a:rPr lang="en-US" dirty="0" err="1">
                <a:solidFill>
                  <a:srgbClr val="18537D"/>
                </a:solidFill>
              </a:rPr>
              <a:t>CodePipeline</a:t>
            </a:r>
            <a:endParaRPr lang="en-US" dirty="0">
              <a:solidFill>
                <a:srgbClr val="18537D"/>
              </a:solidFill>
            </a:endParaRPr>
          </a:p>
          <a:p>
            <a:pPr>
              <a:lnSpc>
                <a:spcPct val="150000"/>
              </a:lnSpc>
            </a:pPr>
            <a:r>
              <a:rPr lang="en-US" dirty="0">
                <a:solidFill>
                  <a:srgbClr val="18537D"/>
                </a:solidFill>
              </a:rPr>
              <a:t>B.AWS </a:t>
            </a:r>
            <a:r>
              <a:rPr lang="en-US" dirty="0" err="1">
                <a:solidFill>
                  <a:srgbClr val="18537D"/>
                </a:solidFill>
              </a:rPr>
              <a:t>CodeCommit</a:t>
            </a:r>
            <a:endParaRPr lang="en-US" dirty="0">
              <a:solidFill>
                <a:srgbClr val="18537D"/>
              </a:solidFill>
            </a:endParaRPr>
          </a:p>
          <a:p>
            <a:pPr>
              <a:lnSpc>
                <a:spcPct val="150000"/>
              </a:lnSpc>
            </a:pPr>
            <a:r>
              <a:rPr lang="en-US" b="1" dirty="0">
                <a:solidFill>
                  <a:srgbClr val="18537D"/>
                </a:solidFill>
              </a:rPr>
              <a:t>C.AWS </a:t>
            </a:r>
            <a:r>
              <a:rPr lang="en-US" b="1" dirty="0" err="1">
                <a:solidFill>
                  <a:srgbClr val="18537D"/>
                </a:solidFill>
              </a:rPr>
              <a:t>CodeBuild</a:t>
            </a:r>
            <a:endParaRPr lang="en-US" b="1" dirty="0">
              <a:solidFill>
                <a:srgbClr val="18537D"/>
              </a:solidFill>
            </a:endParaRPr>
          </a:p>
          <a:p>
            <a:pPr>
              <a:lnSpc>
                <a:spcPct val="150000"/>
              </a:lnSpc>
            </a:pPr>
            <a:r>
              <a:rPr lang="en-US" dirty="0">
                <a:solidFill>
                  <a:srgbClr val="18537D"/>
                </a:solidFill>
              </a:rPr>
              <a:t>D.AWS Cloud9</a:t>
            </a:r>
          </a:p>
        </p:txBody>
      </p:sp>
    </p:spTree>
    <p:extLst>
      <p:ext uri="{BB962C8B-B14F-4D97-AF65-F5344CB8AC3E}">
        <p14:creationId xmlns:p14="http://schemas.microsoft.com/office/powerpoint/2010/main" val="2903839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2972"/>
          </a:xfrm>
          <a:prstGeom prst="rect">
            <a:avLst/>
          </a:prstGeom>
        </p:spPr>
        <p:txBody>
          <a:bodyPr wrap="square">
            <a:spAutoFit/>
          </a:bodyPr>
          <a:lstStyle/>
          <a:p>
            <a:pPr>
              <a:lnSpc>
                <a:spcPct val="150000"/>
              </a:lnSpc>
            </a:pPr>
            <a:r>
              <a:rPr lang="en-US" dirty="0">
                <a:solidFill>
                  <a:srgbClr val="18537D"/>
                </a:solidFill>
              </a:rPr>
              <a:t>A Developer has joined a team and needs to </a:t>
            </a:r>
            <a:r>
              <a:rPr lang="en-US" b="1" dirty="0">
                <a:solidFill>
                  <a:srgbClr val="18537D"/>
                </a:solidFill>
              </a:rPr>
              <a:t>connect to the AWS </a:t>
            </a:r>
            <a:r>
              <a:rPr lang="en-US" b="1" dirty="0" err="1">
                <a:solidFill>
                  <a:srgbClr val="18537D"/>
                </a:solidFill>
              </a:rPr>
              <a:t>CodeCommit</a:t>
            </a:r>
            <a:r>
              <a:rPr lang="en-US" b="1" dirty="0">
                <a:solidFill>
                  <a:srgbClr val="18537D"/>
                </a:solidFill>
              </a:rPr>
              <a:t> repository using SSH</a:t>
            </a:r>
            <a:r>
              <a:rPr lang="en-US" dirty="0">
                <a:solidFill>
                  <a:srgbClr val="18537D"/>
                </a:solidFill>
              </a:rPr>
              <a:t>. What</a:t>
            </a:r>
          </a:p>
          <a:p>
            <a:pPr>
              <a:lnSpc>
                <a:spcPct val="150000"/>
              </a:lnSpc>
            </a:pPr>
            <a:r>
              <a:rPr lang="en-US" dirty="0">
                <a:solidFill>
                  <a:srgbClr val="18537D"/>
                </a:solidFill>
              </a:rPr>
              <a:t>should the Developer do to configure access using Git?</a:t>
            </a:r>
          </a:p>
          <a:p>
            <a:pPr>
              <a:lnSpc>
                <a:spcPct val="150000"/>
              </a:lnSpc>
            </a:pPr>
            <a:endParaRPr lang="en-US" dirty="0">
              <a:solidFill>
                <a:srgbClr val="18537D"/>
              </a:solidFill>
            </a:endParaRPr>
          </a:p>
          <a:p>
            <a:pPr>
              <a:lnSpc>
                <a:spcPct val="150000"/>
              </a:lnSpc>
            </a:pPr>
            <a:r>
              <a:rPr lang="en-US" dirty="0" err="1">
                <a:solidFill>
                  <a:srgbClr val="18537D"/>
                </a:solidFill>
              </a:rPr>
              <a:t>A.On</a:t>
            </a:r>
            <a:r>
              <a:rPr lang="en-US" dirty="0">
                <a:solidFill>
                  <a:srgbClr val="18537D"/>
                </a:solidFill>
              </a:rPr>
              <a:t> the Developer’s IAM account, under security credentials, choose to create HTTPS Git credentials for AWS</a:t>
            </a:r>
          </a:p>
          <a:p>
            <a:pPr>
              <a:lnSpc>
                <a:spcPct val="150000"/>
              </a:lnSpc>
            </a:pPr>
            <a:r>
              <a:rPr lang="en-US" dirty="0" err="1">
                <a:solidFill>
                  <a:srgbClr val="18537D"/>
                </a:solidFill>
              </a:rPr>
              <a:t>CodeCommit</a:t>
            </a:r>
            <a:endParaRPr lang="en-US" dirty="0">
              <a:solidFill>
                <a:srgbClr val="18537D"/>
              </a:solidFill>
            </a:endParaRPr>
          </a:p>
          <a:p>
            <a:pPr>
              <a:lnSpc>
                <a:spcPct val="150000"/>
              </a:lnSpc>
            </a:pPr>
            <a:r>
              <a:rPr lang="en-US" dirty="0" err="1">
                <a:solidFill>
                  <a:srgbClr val="18537D"/>
                </a:solidFill>
              </a:rPr>
              <a:t>B.On</a:t>
            </a:r>
            <a:r>
              <a:rPr lang="en-US" dirty="0">
                <a:solidFill>
                  <a:srgbClr val="18537D"/>
                </a:solidFill>
              </a:rPr>
              <a:t> the Developer’s IAM account, under security credentials, choose to create an access key and secret ID</a:t>
            </a:r>
          </a:p>
          <a:p>
            <a:pPr>
              <a:lnSpc>
                <a:spcPct val="150000"/>
              </a:lnSpc>
            </a:pPr>
            <a:r>
              <a:rPr lang="en-US" dirty="0" err="1">
                <a:solidFill>
                  <a:srgbClr val="18537D"/>
                </a:solidFill>
              </a:rPr>
              <a:t>C.Create</a:t>
            </a:r>
            <a:r>
              <a:rPr lang="en-US" dirty="0">
                <a:solidFill>
                  <a:srgbClr val="18537D"/>
                </a:solidFill>
              </a:rPr>
              <a:t> an account on </a:t>
            </a:r>
            <a:r>
              <a:rPr lang="en-US" dirty="0" err="1">
                <a:solidFill>
                  <a:srgbClr val="18537D"/>
                </a:solidFill>
              </a:rPr>
              <a:t>Github</a:t>
            </a:r>
            <a:r>
              <a:rPr lang="en-US" dirty="0">
                <a:solidFill>
                  <a:srgbClr val="18537D"/>
                </a:solidFill>
              </a:rPr>
              <a:t> and user those login credentials to login to AWS </a:t>
            </a:r>
            <a:r>
              <a:rPr lang="en-US" dirty="0" err="1">
                <a:solidFill>
                  <a:srgbClr val="18537D"/>
                </a:solidFill>
              </a:rPr>
              <a:t>CodeCommit</a:t>
            </a:r>
            <a:endParaRPr lang="en-US" dirty="0">
              <a:solidFill>
                <a:srgbClr val="18537D"/>
              </a:solidFill>
            </a:endParaRPr>
          </a:p>
          <a:p>
            <a:pPr>
              <a:lnSpc>
                <a:spcPct val="150000"/>
              </a:lnSpc>
            </a:pPr>
            <a:r>
              <a:rPr lang="en-US" dirty="0" err="1">
                <a:solidFill>
                  <a:srgbClr val="18537D"/>
                </a:solidFill>
              </a:rPr>
              <a:t>D.Generate</a:t>
            </a:r>
            <a:r>
              <a:rPr lang="en-US" dirty="0">
                <a:solidFill>
                  <a:srgbClr val="18537D"/>
                </a:solidFill>
              </a:rPr>
              <a:t> an SSH public and private key. Upload the public key to the Developer’s IAM account</a:t>
            </a:r>
            <a:endParaRPr lang="en-US" b="1" dirty="0">
              <a:solidFill>
                <a:srgbClr val="18537D"/>
              </a:solidFill>
            </a:endParaRPr>
          </a:p>
        </p:txBody>
      </p:sp>
    </p:spTree>
    <p:extLst>
      <p:ext uri="{BB962C8B-B14F-4D97-AF65-F5344CB8AC3E}">
        <p14:creationId xmlns:p14="http://schemas.microsoft.com/office/powerpoint/2010/main" val="1277463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2972"/>
          </a:xfrm>
          <a:prstGeom prst="rect">
            <a:avLst/>
          </a:prstGeom>
        </p:spPr>
        <p:txBody>
          <a:bodyPr wrap="square">
            <a:spAutoFit/>
          </a:bodyPr>
          <a:lstStyle/>
          <a:p>
            <a:pPr>
              <a:lnSpc>
                <a:spcPct val="150000"/>
              </a:lnSpc>
            </a:pPr>
            <a:r>
              <a:rPr lang="en-US" dirty="0">
                <a:solidFill>
                  <a:srgbClr val="18537D"/>
                </a:solidFill>
              </a:rPr>
              <a:t>A Developer has joined a team and needs to </a:t>
            </a:r>
            <a:r>
              <a:rPr lang="en-US" b="1" dirty="0">
                <a:solidFill>
                  <a:srgbClr val="18537D"/>
                </a:solidFill>
              </a:rPr>
              <a:t>connect to the AWS </a:t>
            </a:r>
            <a:r>
              <a:rPr lang="en-US" b="1" dirty="0" err="1">
                <a:solidFill>
                  <a:srgbClr val="18537D"/>
                </a:solidFill>
              </a:rPr>
              <a:t>CodeCommit</a:t>
            </a:r>
            <a:r>
              <a:rPr lang="en-US" b="1" dirty="0">
                <a:solidFill>
                  <a:srgbClr val="18537D"/>
                </a:solidFill>
              </a:rPr>
              <a:t> repository using SSH</a:t>
            </a:r>
            <a:r>
              <a:rPr lang="en-US" dirty="0">
                <a:solidFill>
                  <a:srgbClr val="18537D"/>
                </a:solidFill>
              </a:rPr>
              <a:t>. What</a:t>
            </a:r>
          </a:p>
          <a:p>
            <a:pPr>
              <a:lnSpc>
                <a:spcPct val="150000"/>
              </a:lnSpc>
            </a:pPr>
            <a:r>
              <a:rPr lang="en-US" dirty="0">
                <a:solidFill>
                  <a:srgbClr val="18537D"/>
                </a:solidFill>
              </a:rPr>
              <a:t>should the Developer do to configure access using Git?</a:t>
            </a:r>
          </a:p>
          <a:p>
            <a:pPr>
              <a:lnSpc>
                <a:spcPct val="150000"/>
              </a:lnSpc>
            </a:pPr>
            <a:endParaRPr lang="en-US" dirty="0">
              <a:solidFill>
                <a:srgbClr val="18537D"/>
              </a:solidFill>
            </a:endParaRPr>
          </a:p>
          <a:p>
            <a:pPr>
              <a:lnSpc>
                <a:spcPct val="150000"/>
              </a:lnSpc>
            </a:pPr>
            <a:r>
              <a:rPr lang="en-US" dirty="0" err="1">
                <a:solidFill>
                  <a:srgbClr val="18537D"/>
                </a:solidFill>
              </a:rPr>
              <a:t>A.On</a:t>
            </a:r>
            <a:r>
              <a:rPr lang="en-US" dirty="0">
                <a:solidFill>
                  <a:srgbClr val="18537D"/>
                </a:solidFill>
              </a:rPr>
              <a:t> the Developer’s IAM account, under security credentials, choose to create HTTPS Git credentials for AWS</a:t>
            </a:r>
          </a:p>
          <a:p>
            <a:pPr>
              <a:lnSpc>
                <a:spcPct val="150000"/>
              </a:lnSpc>
            </a:pPr>
            <a:r>
              <a:rPr lang="en-US" dirty="0" err="1">
                <a:solidFill>
                  <a:srgbClr val="18537D"/>
                </a:solidFill>
              </a:rPr>
              <a:t>CodeCommit</a:t>
            </a:r>
            <a:endParaRPr lang="en-US" dirty="0">
              <a:solidFill>
                <a:srgbClr val="18537D"/>
              </a:solidFill>
            </a:endParaRPr>
          </a:p>
          <a:p>
            <a:pPr>
              <a:lnSpc>
                <a:spcPct val="150000"/>
              </a:lnSpc>
            </a:pPr>
            <a:r>
              <a:rPr lang="en-US" dirty="0" err="1">
                <a:solidFill>
                  <a:srgbClr val="18537D"/>
                </a:solidFill>
              </a:rPr>
              <a:t>B.On</a:t>
            </a:r>
            <a:r>
              <a:rPr lang="en-US" dirty="0">
                <a:solidFill>
                  <a:srgbClr val="18537D"/>
                </a:solidFill>
              </a:rPr>
              <a:t> the Developer’s IAM account, under security credentials, choose to create an access key and secret ID</a:t>
            </a:r>
          </a:p>
          <a:p>
            <a:pPr>
              <a:lnSpc>
                <a:spcPct val="150000"/>
              </a:lnSpc>
            </a:pPr>
            <a:r>
              <a:rPr lang="en-US" dirty="0" err="1">
                <a:solidFill>
                  <a:srgbClr val="18537D"/>
                </a:solidFill>
              </a:rPr>
              <a:t>C.Create</a:t>
            </a:r>
            <a:r>
              <a:rPr lang="en-US" dirty="0">
                <a:solidFill>
                  <a:srgbClr val="18537D"/>
                </a:solidFill>
              </a:rPr>
              <a:t> an account on </a:t>
            </a:r>
            <a:r>
              <a:rPr lang="en-US" dirty="0" err="1">
                <a:solidFill>
                  <a:srgbClr val="18537D"/>
                </a:solidFill>
              </a:rPr>
              <a:t>Github</a:t>
            </a:r>
            <a:r>
              <a:rPr lang="en-US" dirty="0">
                <a:solidFill>
                  <a:srgbClr val="18537D"/>
                </a:solidFill>
              </a:rPr>
              <a:t> and user those login credentials to login to AWS </a:t>
            </a:r>
            <a:r>
              <a:rPr lang="en-US" dirty="0" err="1">
                <a:solidFill>
                  <a:srgbClr val="18537D"/>
                </a:solidFill>
              </a:rPr>
              <a:t>CodeCommit</a:t>
            </a:r>
            <a:endParaRPr lang="en-US" dirty="0">
              <a:solidFill>
                <a:srgbClr val="18537D"/>
              </a:solidFill>
            </a:endParaRPr>
          </a:p>
          <a:p>
            <a:pPr>
              <a:lnSpc>
                <a:spcPct val="150000"/>
              </a:lnSpc>
            </a:pPr>
            <a:r>
              <a:rPr lang="en-US" b="1" dirty="0" err="1">
                <a:solidFill>
                  <a:srgbClr val="18537D"/>
                </a:solidFill>
              </a:rPr>
              <a:t>D.Generate</a:t>
            </a:r>
            <a:r>
              <a:rPr lang="en-US" b="1" dirty="0">
                <a:solidFill>
                  <a:srgbClr val="18537D"/>
                </a:solidFill>
              </a:rPr>
              <a:t> an SSH public and private key. Upload the public key to the Developer’s IAM account</a:t>
            </a:r>
          </a:p>
        </p:txBody>
      </p:sp>
    </p:spTree>
    <p:extLst>
      <p:ext uri="{BB962C8B-B14F-4D97-AF65-F5344CB8AC3E}">
        <p14:creationId xmlns:p14="http://schemas.microsoft.com/office/powerpoint/2010/main" val="310435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needs to access AWS </a:t>
            </a:r>
            <a:r>
              <a:rPr lang="en-US" dirty="0" err="1">
                <a:solidFill>
                  <a:srgbClr val="18537D"/>
                </a:solidFill>
              </a:rPr>
              <a:t>CodeCommit</a:t>
            </a:r>
            <a:r>
              <a:rPr lang="en-US" dirty="0">
                <a:solidFill>
                  <a:srgbClr val="18537D"/>
                </a:solidFill>
              </a:rPr>
              <a:t> over SSH. The Developer needs to </a:t>
            </a:r>
            <a:r>
              <a:rPr lang="en-US" b="1" dirty="0">
                <a:solidFill>
                  <a:srgbClr val="18537D"/>
                </a:solidFill>
              </a:rPr>
              <a:t>create/delete branches</a:t>
            </a:r>
            <a:r>
              <a:rPr lang="en-US" dirty="0">
                <a:solidFill>
                  <a:srgbClr val="18537D"/>
                </a:solidFill>
              </a:rPr>
              <a:t>. Which specific IAM permissions need to be added based on </a:t>
            </a:r>
            <a:r>
              <a:rPr lang="en-US" b="1" dirty="0">
                <a:solidFill>
                  <a:srgbClr val="18537D"/>
                </a:solidFill>
              </a:rPr>
              <a:t>the principle of least privilege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a:t>
            </a:r>
            <a:r>
              <a:rPr lang="en-US" dirty="0" err="1">
                <a:solidFill>
                  <a:srgbClr val="18537D"/>
                </a:solidFill>
              </a:rPr>
              <a:t>codecommit:CreateBranch</a:t>
            </a:r>
            <a:r>
              <a:rPr lang="en-US" dirty="0">
                <a:solidFill>
                  <a:srgbClr val="18537D"/>
                </a:solidFill>
              </a:rPr>
              <a:t>” and “</a:t>
            </a:r>
            <a:r>
              <a:rPr lang="en-US" dirty="0" err="1">
                <a:solidFill>
                  <a:srgbClr val="18537D"/>
                </a:solidFill>
              </a:rPr>
              <a:t>codecommit:DeleteBranch</a:t>
            </a:r>
            <a:r>
              <a:rPr lang="en-US" dirty="0">
                <a:solidFill>
                  <a:srgbClr val="18537D"/>
                </a:solidFill>
              </a:rPr>
              <a:t>”</a:t>
            </a:r>
          </a:p>
          <a:p>
            <a:pPr>
              <a:lnSpc>
                <a:spcPct val="150000"/>
              </a:lnSpc>
            </a:pPr>
            <a:r>
              <a:rPr lang="en-US" dirty="0">
                <a:solidFill>
                  <a:srgbClr val="18537D"/>
                </a:solidFill>
              </a:rPr>
              <a:t>B.“</a:t>
            </a:r>
            <a:r>
              <a:rPr lang="en-US" dirty="0" err="1">
                <a:solidFill>
                  <a:srgbClr val="18537D"/>
                </a:solidFill>
              </a:rPr>
              <a:t>codecommit:Put</a:t>
            </a:r>
            <a:r>
              <a:rPr lang="en-US" dirty="0">
                <a:solidFill>
                  <a:srgbClr val="18537D"/>
                </a:solidFill>
              </a:rPr>
              <a:t>*:”</a:t>
            </a:r>
          </a:p>
          <a:p>
            <a:pPr>
              <a:lnSpc>
                <a:spcPct val="150000"/>
              </a:lnSpc>
            </a:pPr>
            <a:r>
              <a:rPr lang="en-US" dirty="0">
                <a:solidFill>
                  <a:srgbClr val="18537D"/>
                </a:solidFill>
              </a:rPr>
              <a:t>C.“</a:t>
            </a:r>
            <a:r>
              <a:rPr lang="en-US" dirty="0" err="1">
                <a:solidFill>
                  <a:srgbClr val="18537D"/>
                </a:solidFill>
              </a:rPr>
              <a:t>codecommit:Update</a:t>
            </a:r>
            <a:r>
              <a:rPr lang="en-US" dirty="0">
                <a:solidFill>
                  <a:srgbClr val="18537D"/>
                </a:solidFill>
              </a:rPr>
              <a:t>*”</a:t>
            </a:r>
          </a:p>
          <a:p>
            <a:pPr>
              <a:lnSpc>
                <a:spcPct val="150000"/>
              </a:lnSpc>
            </a:pPr>
            <a:r>
              <a:rPr lang="en-US" dirty="0">
                <a:solidFill>
                  <a:srgbClr val="18537D"/>
                </a:solidFill>
              </a:rPr>
              <a:t>D.“</a:t>
            </a:r>
            <a:r>
              <a:rPr lang="en-US" dirty="0" err="1">
                <a:solidFill>
                  <a:srgbClr val="18537D"/>
                </a:solidFill>
              </a:rPr>
              <a:t>codecommit</a:t>
            </a:r>
            <a:r>
              <a:rPr lang="en-US" dirty="0">
                <a:solidFill>
                  <a:srgbClr val="18537D"/>
                </a:solidFill>
              </a:rPr>
              <a:t>:*”</a:t>
            </a:r>
          </a:p>
        </p:txBody>
      </p:sp>
    </p:spTree>
    <p:extLst>
      <p:ext uri="{BB962C8B-B14F-4D97-AF65-F5344CB8AC3E}">
        <p14:creationId xmlns:p14="http://schemas.microsoft.com/office/powerpoint/2010/main" val="3828784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needs to access AWS </a:t>
            </a:r>
            <a:r>
              <a:rPr lang="en-US" dirty="0" err="1">
                <a:solidFill>
                  <a:srgbClr val="18537D"/>
                </a:solidFill>
              </a:rPr>
              <a:t>CodeCommit</a:t>
            </a:r>
            <a:r>
              <a:rPr lang="en-US" dirty="0">
                <a:solidFill>
                  <a:srgbClr val="18537D"/>
                </a:solidFill>
              </a:rPr>
              <a:t> over SSH. The Developer needs to </a:t>
            </a:r>
            <a:r>
              <a:rPr lang="en-US" b="1" dirty="0">
                <a:solidFill>
                  <a:srgbClr val="18537D"/>
                </a:solidFill>
              </a:rPr>
              <a:t>create/delete branches</a:t>
            </a:r>
            <a:r>
              <a:rPr lang="en-US" dirty="0">
                <a:solidFill>
                  <a:srgbClr val="18537D"/>
                </a:solidFill>
              </a:rPr>
              <a:t>. Which specific IAM permissions need to be added based on </a:t>
            </a:r>
            <a:r>
              <a:rPr lang="en-US" b="1" dirty="0">
                <a:solidFill>
                  <a:srgbClr val="18537D"/>
                </a:solidFill>
              </a:rPr>
              <a:t>the principle of least privilege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a:t>
            </a:r>
            <a:r>
              <a:rPr lang="en-US" b="1" dirty="0" err="1">
                <a:solidFill>
                  <a:srgbClr val="18537D"/>
                </a:solidFill>
              </a:rPr>
              <a:t>codecommit:CreateBranch</a:t>
            </a:r>
            <a:r>
              <a:rPr lang="en-US" b="1" dirty="0">
                <a:solidFill>
                  <a:srgbClr val="18537D"/>
                </a:solidFill>
              </a:rPr>
              <a:t>” and “</a:t>
            </a:r>
            <a:r>
              <a:rPr lang="en-US" b="1" dirty="0" err="1">
                <a:solidFill>
                  <a:srgbClr val="18537D"/>
                </a:solidFill>
              </a:rPr>
              <a:t>codecommit:DeleteBranch</a:t>
            </a:r>
            <a:r>
              <a:rPr lang="en-US" b="1" dirty="0">
                <a:solidFill>
                  <a:srgbClr val="18537D"/>
                </a:solidFill>
              </a:rPr>
              <a:t>”</a:t>
            </a:r>
          </a:p>
          <a:p>
            <a:pPr>
              <a:lnSpc>
                <a:spcPct val="150000"/>
              </a:lnSpc>
            </a:pPr>
            <a:r>
              <a:rPr lang="en-US" dirty="0">
                <a:solidFill>
                  <a:srgbClr val="18537D"/>
                </a:solidFill>
              </a:rPr>
              <a:t>B.“</a:t>
            </a:r>
            <a:r>
              <a:rPr lang="en-US" dirty="0" err="1">
                <a:solidFill>
                  <a:srgbClr val="18537D"/>
                </a:solidFill>
              </a:rPr>
              <a:t>codecommit:Put</a:t>
            </a:r>
            <a:r>
              <a:rPr lang="en-US" dirty="0">
                <a:solidFill>
                  <a:srgbClr val="18537D"/>
                </a:solidFill>
              </a:rPr>
              <a:t>*:”</a:t>
            </a:r>
          </a:p>
          <a:p>
            <a:pPr>
              <a:lnSpc>
                <a:spcPct val="150000"/>
              </a:lnSpc>
            </a:pPr>
            <a:r>
              <a:rPr lang="en-US" dirty="0">
                <a:solidFill>
                  <a:srgbClr val="18537D"/>
                </a:solidFill>
              </a:rPr>
              <a:t>C.“</a:t>
            </a:r>
            <a:r>
              <a:rPr lang="en-US" dirty="0" err="1">
                <a:solidFill>
                  <a:srgbClr val="18537D"/>
                </a:solidFill>
              </a:rPr>
              <a:t>codecommit:Update</a:t>
            </a:r>
            <a:r>
              <a:rPr lang="en-US" dirty="0">
                <a:solidFill>
                  <a:srgbClr val="18537D"/>
                </a:solidFill>
              </a:rPr>
              <a:t>*”</a:t>
            </a:r>
          </a:p>
          <a:p>
            <a:pPr>
              <a:lnSpc>
                <a:spcPct val="150000"/>
              </a:lnSpc>
            </a:pPr>
            <a:r>
              <a:rPr lang="en-US" dirty="0">
                <a:solidFill>
                  <a:srgbClr val="18537D"/>
                </a:solidFill>
              </a:rPr>
              <a:t>D.“</a:t>
            </a:r>
            <a:r>
              <a:rPr lang="en-US" dirty="0" err="1">
                <a:solidFill>
                  <a:srgbClr val="18537D"/>
                </a:solidFill>
              </a:rPr>
              <a:t>codecommit</a:t>
            </a:r>
            <a:r>
              <a:rPr lang="en-US" dirty="0">
                <a:solidFill>
                  <a:srgbClr val="18537D"/>
                </a:solidFill>
              </a:rPr>
              <a:t>:*”</a:t>
            </a:r>
          </a:p>
        </p:txBody>
      </p:sp>
    </p:spTree>
    <p:extLst>
      <p:ext uri="{BB962C8B-B14F-4D97-AF65-F5344CB8AC3E}">
        <p14:creationId xmlns:p14="http://schemas.microsoft.com/office/powerpoint/2010/main" val="2700274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Developer is creating an </a:t>
            </a:r>
            <a:r>
              <a:rPr lang="en-US" b="1" dirty="0">
                <a:solidFill>
                  <a:srgbClr val="18537D"/>
                </a:solidFill>
              </a:rPr>
              <a:t>AWS Lambda function that generates a new file </a:t>
            </a:r>
            <a:r>
              <a:rPr lang="en-US" dirty="0">
                <a:solidFill>
                  <a:srgbClr val="18537D"/>
                </a:solidFill>
              </a:rPr>
              <a:t>each time it runs. Each new file</a:t>
            </a:r>
          </a:p>
          <a:p>
            <a:pPr>
              <a:lnSpc>
                <a:spcPct val="150000"/>
              </a:lnSpc>
            </a:pPr>
            <a:r>
              <a:rPr lang="en-US" dirty="0">
                <a:solidFill>
                  <a:srgbClr val="18537D"/>
                </a:solidFill>
              </a:rPr>
              <a:t>must be </a:t>
            </a:r>
            <a:r>
              <a:rPr lang="en-US" b="1" dirty="0">
                <a:solidFill>
                  <a:srgbClr val="18537D"/>
                </a:solidFill>
              </a:rPr>
              <a:t>checked into an AWS </a:t>
            </a:r>
            <a:r>
              <a:rPr lang="en-US" b="1" dirty="0" err="1">
                <a:solidFill>
                  <a:srgbClr val="18537D"/>
                </a:solidFill>
              </a:rPr>
              <a:t>CodeCommit</a:t>
            </a:r>
            <a:r>
              <a:rPr lang="en-US" b="1" dirty="0">
                <a:solidFill>
                  <a:srgbClr val="18537D"/>
                </a:solidFill>
              </a:rPr>
              <a:t> repository</a:t>
            </a:r>
            <a:r>
              <a:rPr lang="en-US" dirty="0">
                <a:solidFill>
                  <a:srgbClr val="18537D"/>
                </a:solidFill>
              </a:rPr>
              <a:t> hosted in the same AWS account. How should the</a:t>
            </a:r>
          </a:p>
          <a:p>
            <a:pPr>
              <a:lnSpc>
                <a:spcPct val="150000"/>
              </a:lnSpc>
            </a:pPr>
            <a:r>
              <a:rPr lang="en-US" dirty="0">
                <a:solidFill>
                  <a:srgbClr val="18537D"/>
                </a:solidFill>
              </a:rPr>
              <a:t>Developer accomplish this?</a:t>
            </a:r>
          </a:p>
          <a:p>
            <a:pPr>
              <a:lnSpc>
                <a:spcPct val="150000"/>
              </a:lnSpc>
            </a:pPr>
            <a:endParaRPr lang="en-US" dirty="0">
              <a:solidFill>
                <a:srgbClr val="18537D"/>
              </a:solidFill>
            </a:endParaRPr>
          </a:p>
          <a:p>
            <a:pPr>
              <a:lnSpc>
                <a:spcPct val="150000"/>
              </a:lnSpc>
            </a:pPr>
            <a:r>
              <a:rPr lang="en-US" dirty="0" err="1">
                <a:solidFill>
                  <a:srgbClr val="18537D"/>
                </a:solidFill>
              </a:rPr>
              <a:t>A.When</a:t>
            </a:r>
            <a:r>
              <a:rPr lang="en-US" dirty="0">
                <a:solidFill>
                  <a:srgbClr val="18537D"/>
                </a:solidFill>
              </a:rPr>
              <a:t> the Lambda function starts, use the Git CLI to clone the repository. Check the new file into the cloned</a:t>
            </a:r>
          </a:p>
          <a:p>
            <a:pPr>
              <a:lnSpc>
                <a:spcPct val="150000"/>
              </a:lnSpc>
            </a:pPr>
            <a:r>
              <a:rPr lang="en-US" dirty="0">
                <a:solidFill>
                  <a:srgbClr val="18537D"/>
                </a:solidFill>
              </a:rPr>
              <a:t>repository and push the change</a:t>
            </a:r>
          </a:p>
          <a:p>
            <a:pPr>
              <a:lnSpc>
                <a:spcPct val="150000"/>
              </a:lnSpc>
            </a:pPr>
            <a:r>
              <a:rPr lang="en-US" dirty="0" err="1">
                <a:solidFill>
                  <a:srgbClr val="18537D"/>
                </a:solidFill>
              </a:rPr>
              <a:t>B.After</a:t>
            </a:r>
            <a:r>
              <a:rPr lang="en-US" dirty="0">
                <a:solidFill>
                  <a:srgbClr val="18537D"/>
                </a:solidFill>
              </a:rPr>
              <a:t> the new file is created in Lambda, use </a:t>
            </a:r>
            <a:r>
              <a:rPr lang="en-US" dirty="0" err="1">
                <a:solidFill>
                  <a:srgbClr val="18537D"/>
                </a:solidFill>
              </a:rPr>
              <a:t>cURL</a:t>
            </a:r>
            <a:r>
              <a:rPr lang="en-US" dirty="0">
                <a:solidFill>
                  <a:srgbClr val="18537D"/>
                </a:solidFill>
              </a:rPr>
              <a:t> to invoke the </a:t>
            </a:r>
            <a:r>
              <a:rPr lang="en-US" dirty="0" err="1">
                <a:solidFill>
                  <a:srgbClr val="18537D"/>
                </a:solidFill>
              </a:rPr>
              <a:t>CodeCommit</a:t>
            </a:r>
            <a:r>
              <a:rPr lang="en-US" dirty="0">
                <a:solidFill>
                  <a:srgbClr val="18537D"/>
                </a:solidFill>
              </a:rPr>
              <a:t> API. Send the file to the</a:t>
            </a:r>
          </a:p>
          <a:p>
            <a:pPr>
              <a:lnSpc>
                <a:spcPct val="150000"/>
              </a:lnSpc>
            </a:pPr>
            <a:r>
              <a:rPr lang="en-US" dirty="0">
                <a:solidFill>
                  <a:srgbClr val="18537D"/>
                </a:solidFill>
              </a:rPr>
              <a:t>repository</a:t>
            </a:r>
          </a:p>
          <a:p>
            <a:pPr>
              <a:lnSpc>
                <a:spcPct val="150000"/>
              </a:lnSpc>
            </a:pPr>
            <a:r>
              <a:rPr lang="en-US" dirty="0" err="1">
                <a:solidFill>
                  <a:srgbClr val="18537D"/>
                </a:solidFill>
              </a:rPr>
              <a:t>C.Use</a:t>
            </a:r>
            <a:r>
              <a:rPr lang="en-US" dirty="0">
                <a:solidFill>
                  <a:srgbClr val="18537D"/>
                </a:solidFill>
              </a:rPr>
              <a:t> an AWS SDK to instantiate a </a:t>
            </a:r>
            <a:r>
              <a:rPr lang="en-US" dirty="0" err="1">
                <a:solidFill>
                  <a:srgbClr val="18537D"/>
                </a:solidFill>
              </a:rPr>
              <a:t>CodeCommit</a:t>
            </a:r>
            <a:r>
              <a:rPr lang="en-US" dirty="0">
                <a:solidFill>
                  <a:srgbClr val="18537D"/>
                </a:solidFill>
              </a:rPr>
              <a:t> client. Invoke the </a:t>
            </a:r>
            <a:r>
              <a:rPr lang="en-US" dirty="0" err="1">
                <a:solidFill>
                  <a:srgbClr val="18537D"/>
                </a:solidFill>
              </a:rPr>
              <a:t>put_file</a:t>
            </a:r>
            <a:r>
              <a:rPr lang="en-US" dirty="0">
                <a:solidFill>
                  <a:srgbClr val="18537D"/>
                </a:solidFill>
              </a:rPr>
              <a:t> method to add the file to the</a:t>
            </a:r>
          </a:p>
          <a:p>
            <a:pPr>
              <a:lnSpc>
                <a:spcPct val="150000"/>
              </a:lnSpc>
            </a:pPr>
            <a:r>
              <a:rPr lang="en-US" dirty="0">
                <a:solidFill>
                  <a:srgbClr val="18537D"/>
                </a:solidFill>
              </a:rPr>
              <a:t>repository</a:t>
            </a:r>
          </a:p>
          <a:p>
            <a:pPr>
              <a:lnSpc>
                <a:spcPct val="150000"/>
              </a:lnSpc>
            </a:pPr>
            <a:r>
              <a:rPr lang="en-US" dirty="0" err="1">
                <a:solidFill>
                  <a:srgbClr val="18537D"/>
                </a:solidFill>
              </a:rPr>
              <a:t>D.Upload</a:t>
            </a:r>
            <a:r>
              <a:rPr lang="en-US" dirty="0">
                <a:solidFill>
                  <a:srgbClr val="18537D"/>
                </a:solidFill>
              </a:rPr>
              <a:t> the new file to an Amazon S3 bucket. Create an AWS Step Function to accept S3 events. In the Step</a:t>
            </a:r>
          </a:p>
          <a:p>
            <a:pPr>
              <a:lnSpc>
                <a:spcPct val="150000"/>
              </a:lnSpc>
            </a:pPr>
            <a:r>
              <a:rPr lang="en-US" dirty="0">
                <a:solidFill>
                  <a:srgbClr val="18537D"/>
                </a:solidFill>
              </a:rPr>
              <a:t>Function, add the new file to the repository</a:t>
            </a:r>
          </a:p>
        </p:txBody>
      </p:sp>
    </p:spTree>
    <p:extLst>
      <p:ext uri="{BB962C8B-B14F-4D97-AF65-F5344CB8AC3E}">
        <p14:creationId xmlns:p14="http://schemas.microsoft.com/office/powerpoint/2010/main" val="4138658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Developer is creating an </a:t>
            </a:r>
            <a:r>
              <a:rPr lang="en-US" b="1" dirty="0">
                <a:solidFill>
                  <a:srgbClr val="18537D"/>
                </a:solidFill>
              </a:rPr>
              <a:t>AWS Lambda function that generates a new file </a:t>
            </a:r>
            <a:r>
              <a:rPr lang="en-US" dirty="0">
                <a:solidFill>
                  <a:srgbClr val="18537D"/>
                </a:solidFill>
              </a:rPr>
              <a:t>each time it runs. Each new file</a:t>
            </a:r>
          </a:p>
          <a:p>
            <a:pPr>
              <a:lnSpc>
                <a:spcPct val="150000"/>
              </a:lnSpc>
            </a:pPr>
            <a:r>
              <a:rPr lang="en-US" dirty="0">
                <a:solidFill>
                  <a:srgbClr val="18537D"/>
                </a:solidFill>
              </a:rPr>
              <a:t>must be </a:t>
            </a:r>
            <a:r>
              <a:rPr lang="en-US" b="1" dirty="0">
                <a:solidFill>
                  <a:srgbClr val="18537D"/>
                </a:solidFill>
              </a:rPr>
              <a:t>checked into an AWS </a:t>
            </a:r>
            <a:r>
              <a:rPr lang="en-US" b="1" dirty="0" err="1">
                <a:solidFill>
                  <a:srgbClr val="18537D"/>
                </a:solidFill>
              </a:rPr>
              <a:t>CodeCommit</a:t>
            </a:r>
            <a:r>
              <a:rPr lang="en-US" b="1" dirty="0">
                <a:solidFill>
                  <a:srgbClr val="18537D"/>
                </a:solidFill>
              </a:rPr>
              <a:t> repository</a:t>
            </a:r>
            <a:r>
              <a:rPr lang="en-US" dirty="0">
                <a:solidFill>
                  <a:srgbClr val="18537D"/>
                </a:solidFill>
              </a:rPr>
              <a:t> hosted in the same AWS account. How should the</a:t>
            </a:r>
          </a:p>
          <a:p>
            <a:pPr>
              <a:lnSpc>
                <a:spcPct val="150000"/>
              </a:lnSpc>
            </a:pPr>
            <a:r>
              <a:rPr lang="en-US" dirty="0">
                <a:solidFill>
                  <a:srgbClr val="18537D"/>
                </a:solidFill>
              </a:rPr>
              <a:t>Developer accomplish this?</a:t>
            </a:r>
          </a:p>
          <a:p>
            <a:pPr>
              <a:lnSpc>
                <a:spcPct val="150000"/>
              </a:lnSpc>
            </a:pPr>
            <a:endParaRPr lang="en-US" dirty="0">
              <a:solidFill>
                <a:srgbClr val="18537D"/>
              </a:solidFill>
            </a:endParaRPr>
          </a:p>
          <a:p>
            <a:pPr>
              <a:lnSpc>
                <a:spcPct val="150000"/>
              </a:lnSpc>
            </a:pPr>
            <a:r>
              <a:rPr lang="en-US" dirty="0" err="1">
                <a:solidFill>
                  <a:srgbClr val="18537D"/>
                </a:solidFill>
              </a:rPr>
              <a:t>A.When</a:t>
            </a:r>
            <a:r>
              <a:rPr lang="en-US" dirty="0">
                <a:solidFill>
                  <a:srgbClr val="18537D"/>
                </a:solidFill>
              </a:rPr>
              <a:t> the Lambda function starts, use the Git CLI to clone the repository. Check the new file into the cloned</a:t>
            </a:r>
          </a:p>
          <a:p>
            <a:pPr>
              <a:lnSpc>
                <a:spcPct val="150000"/>
              </a:lnSpc>
            </a:pPr>
            <a:r>
              <a:rPr lang="en-US" dirty="0">
                <a:solidFill>
                  <a:srgbClr val="18537D"/>
                </a:solidFill>
              </a:rPr>
              <a:t>repository and push the change</a:t>
            </a:r>
          </a:p>
          <a:p>
            <a:pPr>
              <a:lnSpc>
                <a:spcPct val="150000"/>
              </a:lnSpc>
            </a:pPr>
            <a:r>
              <a:rPr lang="en-US" dirty="0" err="1">
                <a:solidFill>
                  <a:srgbClr val="18537D"/>
                </a:solidFill>
              </a:rPr>
              <a:t>B.After</a:t>
            </a:r>
            <a:r>
              <a:rPr lang="en-US" dirty="0">
                <a:solidFill>
                  <a:srgbClr val="18537D"/>
                </a:solidFill>
              </a:rPr>
              <a:t> the new file is created in Lambda, use </a:t>
            </a:r>
            <a:r>
              <a:rPr lang="en-US" dirty="0" err="1">
                <a:solidFill>
                  <a:srgbClr val="18537D"/>
                </a:solidFill>
              </a:rPr>
              <a:t>cURL</a:t>
            </a:r>
            <a:r>
              <a:rPr lang="en-US" dirty="0">
                <a:solidFill>
                  <a:srgbClr val="18537D"/>
                </a:solidFill>
              </a:rPr>
              <a:t> to invoke the </a:t>
            </a:r>
            <a:r>
              <a:rPr lang="en-US" dirty="0" err="1">
                <a:solidFill>
                  <a:srgbClr val="18537D"/>
                </a:solidFill>
              </a:rPr>
              <a:t>CodeCommit</a:t>
            </a:r>
            <a:r>
              <a:rPr lang="en-US" dirty="0">
                <a:solidFill>
                  <a:srgbClr val="18537D"/>
                </a:solidFill>
              </a:rPr>
              <a:t> API. Send the file to the</a:t>
            </a:r>
          </a:p>
          <a:p>
            <a:pPr>
              <a:lnSpc>
                <a:spcPct val="150000"/>
              </a:lnSpc>
            </a:pPr>
            <a:r>
              <a:rPr lang="en-US" dirty="0">
                <a:solidFill>
                  <a:srgbClr val="18537D"/>
                </a:solidFill>
              </a:rPr>
              <a:t>repository</a:t>
            </a:r>
          </a:p>
          <a:p>
            <a:pPr>
              <a:lnSpc>
                <a:spcPct val="150000"/>
              </a:lnSpc>
            </a:pPr>
            <a:r>
              <a:rPr lang="en-US" b="1" dirty="0" err="1">
                <a:solidFill>
                  <a:srgbClr val="18537D"/>
                </a:solidFill>
              </a:rPr>
              <a:t>C.Use</a:t>
            </a:r>
            <a:r>
              <a:rPr lang="en-US" b="1" dirty="0">
                <a:solidFill>
                  <a:srgbClr val="18537D"/>
                </a:solidFill>
              </a:rPr>
              <a:t> an AWS SDK to instantiate a </a:t>
            </a:r>
            <a:r>
              <a:rPr lang="en-US" b="1" dirty="0" err="1">
                <a:solidFill>
                  <a:srgbClr val="18537D"/>
                </a:solidFill>
              </a:rPr>
              <a:t>CodeCommit</a:t>
            </a:r>
            <a:r>
              <a:rPr lang="en-US" b="1" dirty="0">
                <a:solidFill>
                  <a:srgbClr val="18537D"/>
                </a:solidFill>
              </a:rPr>
              <a:t> client. Invoke the </a:t>
            </a:r>
            <a:r>
              <a:rPr lang="en-US" b="1" dirty="0" err="1">
                <a:solidFill>
                  <a:srgbClr val="18537D"/>
                </a:solidFill>
              </a:rPr>
              <a:t>put_file</a:t>
            </a:r>
            <a:r>
              <a:rPr lang="en-US" b="1" dirty="0">
                <a:solidFill>
                  <a:srgbClr val="18537D"/>
                </a:solidFill>
              </a:rPr>
              <a:t> method to add the file to the</a:t>
            </a:r>
          </a:p>
          <a:p>
            <a:pPr>
              <a:lnSpc>
                <a:spcPct val="150000"/>
              </a:lnSpc>
            </a:pPr>
            <a:r>
              <a:rPr lang="en-US" b="1" dirty="0">
                <a:solidFill>
                  <a:srgbClr val="18537D"/>
                </a:solidFill>
              </a:rPr>
              <a:t>repository</a:t>
            </a:r>
          </a:p>
          <a:p>
            <a:pPr>
              <a:lnSpc>
                <a:spcPct val="150000"/>
              </a:lnSpc>
            </a:pPr>
            <a:r>
              <a:rPr lang="en-US" dirty="0" err="1">
                <a:solidFill>
                  <a:srgbClr val="18537D"/>
                </a:solidFill>
              </a:rPr>
              <a:t>D.Upload</a:t>
            </a:r>
            <a:r>
              <a:rPr lang="en-US" dirty="0">
                <a:solidFill>
                  <a:srgbClr val="18537D"/>
                </a:solidFill>
              </a:rPr>
              <a:t> the new file to an Amazon S3 bucket. Create an AWS Step Function to accept S3 events. In the Step</a:t>
            </a:r>
          </a:p>
          <a:p>
            <a:pPr>
              <a:lnSpc>
                <a:spcPct val="150000"/>
              </a:lnSpc>
            </a:pPr>
            <a:r>
              <a:rPr lang="en-US" dirty="0">
                <a:solidFill>
                  <a:srgbClr val="18537D"/>
                </a:solidFill>
              </a:rPr>
              <a:t>Function, add the new file to the repository</a:t>
            </a:r>
          </a:p>
        </p:txBody>
      </p:sp>
    </p:spTree>
    <p:extLst>
      <p:ext uri="{BB962C8B-B14F-4D97-AF65-F5344CB8AC3E}">
        <p14:creationId xmlns:p14="http://schemas.microsoft.com/office/powerpoint/2010/main" val="133883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serverless application composed of multiple Lambda functions has been deployed. A developer is setting</a:t>
            </a:r>
          </a:p>
          <a:p>
            <a:pPr>
              <a:lnSpc>
                <a:spcPct val="150000"/>
              </a:lnSpc>
            </a:pPr>
            <a:r>
              <a:rPr lang="en-US" dirty="0">
                <a:solidFill>
                  <a:srgbClr val="18537D"/>
                </a:solidFill>
              </a:rPr>
              <a:t>up </a:t>
            </a:r>
            <a:r>
              <a:rPr lang="en-US" b="1" dirty="0">
                <a:solidFill>
                  <a:srgbClr val="18537D"/>
                </a:solidFill>
              </a:rPr>
              <a:t>AWS </a:t>
            </a:r>
            <a:r>
              <a:rPr lang="en-US" b="1" dirty="0" err="1">
                <a:solidFill>
                  <a:srgbClr val="18537D"/>
                </a:solidFill>
              </a:rPr>
              <a:t>CodeDeploy</a:t>
            </a:r>
            <a:r>
              <a:rPr lang="en-US" b="1" dirty="0">
                <a:solidFill>
                  <a:srgbClr val="18537D"/>
                </a:solidFill>
              </a:rPr>
              <a:t> to manage the deployment </a:t>
            </a:r>
            <a:r>
              <a:rPr lang="en-US" dirty="0">
                <a:solidFill>
                  <a:srgbClr val="18537D"/>
                </a:solidFill>
              </a:rPr>
              <a:t>of code updates. The developer would like a </a:t>
            </a:r>
            <a:r>
              <a:rPr lang="en-US" b="1" dirty="0">
                <a:solidFill>
                  <a:srgbClr val="18537D"/>
                </a:solidFill>
              </a:rPr>
              <a:t>10% of the</a:t>
            </a:r>
          </a:p>
          <a:p>
            <a:pPr>
              <a:lnSpc>
                <a:spcPct val="150000"/>
              </a:lnSpc>
            </a:pPr>
            <a:r>
              <a:rPr lang="en-US" b="1" dirty="0">
                <a:solidFill>
                  <a:srgbClr val="18537D"/>
                </a:solidFill>
              </a:rPr>
              <a:t>traffic to be shifted to the new version in equal increments, 10 minutes apart</a:t>
            </a:r>
            <a:r>
              <a:rPr lang="en-US" dirty="0">
                <a:solidFill>
                  <a:srgbClr val="18537D"/>
                </a:solidFill>
              </a:rPr>
              <a:t>. Which setting should be</a:t>
            </a:r>
          </a:p>
          <a:p>
            <a:pPr>
              <a:lnSpc>
                <a:spcPct val="150000"/>
              </a:lnSpc>
            </a:pPr>
            <a:r>
              <a:rPr lang="en-US" dirty="0">
                <a:solidFill>
                  <a:srgbClr val="18537D"/>
                </a:solidFill>
              </a:rPr>
              <a:t>chosen for configuring how traffic is shifted?</a:t>
            </a:r>
          </a:p>
          <a:p>
            <a:pPr>
              <a:lnSpc>
                <a:spcPct val="150000"/>
              </a:lnSpc>
            </a:pPr>
            <a:endParaRPr lang="en-US" dirty="0">
              <a:solidFill>
                <a:srgbClr val="18537D"/>
              </a:solidFill>
            </a:endParaRPr>
          </a:p>
          <a:p>
            <a:pPr>
              <a:lnSpc>
                <a:spcPct val="150000"/>
              </a:lnSpc>
            </a:pPr>
            <a:r>
              <a:rPr lang="en-US" dirty="0" err="1">
                <a:solidFill>
                  <a:srgbClr val="18537D"/>
                </a:solidFill>
              </a:rPr>
              <a:t>A.Canary</a:t>
            </a:r>
            <a:endParaRPr lang="en-US" dirty="0">
              <a:solidFill>
                <a:srgbClr val="18537D"/>
              </a:solidFill>
            </a:endParaRPr>
          </a:p>
          <a:p>
            <a:pPr>
              <a:lnSpc>
                <a:spcPct val="150000"/>
              </a:lnSpc>
            </a:pPr>
            <a:r>
              <a:rPr lang="en-US" dirty="0" err="1">
                <a:solidFill>
                  <a:srgbClr val="18537D"/>
                </a:solidFill>
              </a:rPr>
              <a:t>B.Linear</a:t>
            </a:r>
            <a:endParaRPr lang="en-US" dirty="0">
              <a:solidFill>
                <a:srgbClr val="18537D"/>
              </a:solidFill>
            </a:endParaRPr>
          </a:p>
          <a:p>
            <a:pPr>
              <a:lnSpc>
                <a:spcPct val="150000"/>
              </a:lnSpc>
            </a:pPr>
            <a:r>
              <a:rPr lang="en-US" dirty="0" err="1">
                <a:solidFill>
                  <a:srgbClr val="18537D"/>
                </a:solidFill>
              </a:rPr>
              <a:t>C.All</a:t>
            </a:r>
            <a:r>
              <a:rPr lang="en-US" dirty="0">
                <a:solidFill>
                  <a:srgbClr val="18537D"/>
                </a:solidFill>
              </a:rPr>
              <a:t>-at-once</a:t>
            </a:r>
          </a:p>
          <a:p>
            <a:pPr>
              <a:lnSpc>
                <a:spcPct val="150000"/>
              </a:lnSpc>
            </a:pPr>
            <a:r>
              <a:rPr lang="en-US" dirty="0" err="1">
                <a:solidFill>
                  <a:srgbClr val="18537D"/>
                </a:solidFill>
              </a:rPr>
              <a:t>D.Blue</a:t>
            </a:r>
            <a:r>
              <a:rPr lang="en-US" dirty="0">
                <a:solidFill>
                  <a:srgbClr val="18537D"/>
                </a:solidFill>
              </a:rPr>
              <a:t>/green</a:t>
            </a:r>
          </a:p>
        </p:txBody>
      </p:sp>
    </p:spTree>
    <p:extLst>
      <p:ext uri="{BB962C8B-B14F-4D97-AF65-F5344CB8AC3E}">
        <p14:creationId xmlns:p14="http://schemas.microsoft.com/office/powerpoint/2010/main" val="2684031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serverless application composed of multiple Lambda functions has been deployed. A developer is setting</a:t>
            </a:r>
          </a:p>
          <a:p>
            <a:pPr>
              <a:lnSpc>
                <a:spcPct val="150000"/>
              </a:lnSpc>
            </a:pPr>
            <a:r>
              <a:rPr lang="en-US" dirty="0">
                <a:solidFill>
                  <a:srgbClr val="18537D"/>
                </a:solidFill>
              </a:rPr>
              <a:t>up </a:t>
            </a:r>
            <a:r>
              <a:rPr lang="en-US" b="1" dirty="0">
                <a:solidFill>
                  <a:srgbClr val="18537D"/>
                </a:solidFill>
              </a:rPr>
              <a:t>AWS </a:t>
            </a:r>
            <a:r>
              <a:rPr lang="en-US" b="1" dirty="0" err="1">
                <a:solidFill>
                  <a:srgbClr val="18537D"/>
                </a:solidFill>
              </a:rPr>
              <a:t>CodeDeploy</a:t>
            </a:r>
            <a:r>
              <a:rPr lang="en-US" b="1" dirty="0">
                <a:solidFill>
                  <a:srgbClr val="18537D"/>
                </a:solidFill>
              </a:rPr>
              <a:t> to manage the deployment </a:t>
            </a:r>
            <a:r>
              <a:rPr lang="en-US" dirty="0">
                <a:solidFill>
                  <a:srgbClr val="18537D"/>
                </a:solidFill>
              </a:rPr>
              <a:t>of code updates. The developer would like a </a:t>
            </a:r>
            <a:r>
              <a:rPr lang="en-US" b="1" dirty="0">
                <a:solidFill>
                  <a:srgbClr val="18537D"/>
                </a:solidFill>
              </a:rPr>
              <a:t>10% of the</a:t>
            </a:r>
          </a:p>
          <a:p>
            <a:pPr>
              <a:lnSpc>
                <a:spcPct val="150000"/>
              </a:lnSpc>
            </a:pPr>
            <a:r>
              <a:rPr lang="en-US" b="1" dirty="0">
                <a:solidFill>
                  <a:srgbClr val="18537D"/>
                </a:solidFill>
              </a:rPr>
              <a:t>traffic to be shifted to the new version in equal increments, 10 minutes apart</a:t>
            </a:r>
            <a:r>
              <a:rPr lang="en-US" dirty="0">
                <a:solidFill>
                  <a:srgbClr val="18537D"/>
                </a:solidFill>
              </a:rPr>
              <a:t>. Which setting should be</a:t>
            </a:r>
          </a:p>
          <a:p>
            <a:pPr>
              <a:lnSpc>
                <a:spcPct val="150000"/>
              </a:lnSpc>
            </a:pPr>
            <a:r>
              <a:rPr lang="en-US" dirty="0">
                <a:solidFill>
                  <a:srgbClr val="18537D"/>
                </a:solidFill>
              </a:rPr>
              <a:t>chosen for configuring how traffic is shifted?</a:t>
            </a:r>
          </a:p>
          <a:p>
            <a:pPr>
              <a:lnSpc>
                <a:spcPct val="150000"/>
              </a:lnSpc>
            </a:pPr>
            <a:endParaRPr lang="en-US" dirty="0">
              <a:solidFill>
                <a:srgbClr val="18537D"/>
              </a:solidFill>
            </a:endParaRPr>
          </a:p>
          <a:p>
            <a:pPr>
              <a:lnSpc>
                <a:spcPct val="150000"/>
              </a:lnSpc>
            </a:pPr>
            <a:r>
              <a:rPr lang="en-US" dirty="0" err="1">
                <a:solidFill>
                  <a:srgbClr val="18537D"/>
                </a:solidFill>
              </a:rPr>
              <a:t>A.Canary</a:t>
            </a:r>
            <a:endParaRPr lang="en-US" dirty="0">
              <a:solidFill>
                <a:srgbClr val="18537D"/>
              </a:solidFill>
            </a:endParaRPr>
          </a:p>
          <a:p>
            <a:pPr>
              <a:lnSpc>
                <a:spcPct val="150000"/>
              </a:lnSpc>
            </a:pPr>
            <a:r>
              <a:rPr lang="en-US" dirty="0" err="1">
                <a:solidFill>
                  <a:srgbClr val="18537D"/>
                </a:solidFill>
              </a:rPr>
              <a:t>B.</a:t>
            </a:r>
            <a:r>
              <a:rPr lang="en-US" b="1" dirty="0" err="1">
                <a:solidFill>
                  <a:srgbClr val="18537D"/>
                </a:solidFill>
              </a:rPr>
              <a:t>Linear</a:t>
            </a:r>
            <a:endParaRPr lang="en-US" b="1" dirty="0">
              <a:solidFill>
                <a:srgbClr val="18537D"/>
              </a:solidFill>
            </a:endParaRPr>
          </a:p>
          <a:p>
            <a:pPr>
              <a:lnSpc>
                <a:spcPct val="150000"/>
              </a:lnSpc>
            </a:pPr>
            <a:r>
              <a:rPr lang="en-US" dirty="0" err="1">
                <a:solidFill>
                  <a:srgbClr val="18537D"/>
                </a:solidFill>
              </a:rPr>
              <a:t>C.All</a:t>
            </a:r>
            <a:r>
              <a:rPr lang="en-US" dirty="0">
                <a:solidFill>
                  <a:srgbClr val="18537D"/>
                </a:solidFill>
              </a:rPr>
              <a:t>-at-once</a:t>
            </a:r>
          </a:p>
          <a:p>
            <a:pPr>
              <a:lnSpc>
                <a:spcPct val="150000"/>
              </a:lnSpc>
            </a:pPr>
            <a:r>
              <a:rPr lang="en-US" dirty="0" err="1">
                <a:solidFill>
                  <a:srgbClr val="18537D"/>
                </a:solidFill>
              </a:rPr>
              <a:t>D.Blue</a:t>
            </a:r>
            <a:r>
              <a:rPr lang="en-US" dirty="0">
                <a:solidFill>
                  <a:srgbClr val="18537D"/>
                </a:solidFill>
              </a:rPr>
              <a:t>/green</a:t>
            </a:r>
          </a:p>
        </p:txBody>
      </p:sp>
    </p:spTree>
    <p:extLst>
      <p:ext uri="{BB962C8B-B14F-4D97-AF65-F5344CB8AC3E}">
        <p14:creationId xmlns:p14="http://schemas.microsoft.com/office/powerpoint/2010/main" val="4247942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needs to update an Amazon ECS application that was deployed using AWS </a:t>
            </a:r>
            <a:r>
              <a:rPr lang="en-US" dirty="0" err="1">
                <a:solidFill>
                  <a:srgbClr val="18537D"/>
                </a:solidFill>
              </a:rPr>
              <a:t>CodeDeploy</a:t>
            </a:r>
            <a:r>
              <a:rPr lang="en-US" dirty="0">
                <a:solidFill>
                  <a:srgbClr val="18537D"/>
                </a:solidFill>
              </a:rPr>
              <a:t>. What</a:t>
            </a:r>
          </a:p>
          <a:p>
            <a:pPr>
              <a:lnSpc>
                <a:spcPct val="150000"/>
              </a:lnSpc>
            </a:pPr>
            <a:r>
              <a:rPr lang="en-US" b="1" dirty="0">
                <a:solidFill>
                  <a:srgbClr val="18537D"/>
                </a:solidFill>
              </a:rPr>
              <a:t>file does the Developer need to update to push the change through </a:t>
            </a:r>
            <a:r>
              <a:rPr lang="en-US" b="1" dirty="0" err="1">
                <a:solidFill>
                  <a:srgbClr val="18537D"/>
                </a:solidFill>
              </a:rPr>
              <a:t>CodeDeploy</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A.dockerrun.aws.json</a:t>
            </a:r>
            <a:endParaRPr lang="en-US" dirty="0">
              <a:solidFill>
                <a:srgbClr val="18537D"/>
              </a:solidFill>
            </a:endParaRPr>
          </a:p>
          <a:p>
            <a:pPr>
              <a:lnSpc>
                <a:spcPct val="150000"/>
              </a:lnSpc>
            </a:pPr>
            <a:r>
              <a:rPr lang="en-US" dirty="0" err="1">
                <a:solidFill>
                  <a:srgbClr val="18537D"/>
                </a:solidFill>
              </a:rPr>
              <a:t>B.buildspec.yml</a:t>
            </a:r>
            <a:endParaRPr lang="en-US" dirty="0">
              <a:solidFill>
                <a:srgbClr val="18537D"/>
              </a:solidFill>
            </a:endParaRPr>
          </a:p>
          <a:p>
            <a:pPr>
              <a:lnSpc>
                <a:spcPct val="150000"/>
              </a:lnSpc>
            </a:pPr>
            <a:r>
              <a:rPr lang="en-US" dirty="0" err="1">
                <a:solidFill>
                  <a:srgbClr val="18537D"/>
                </a:solidFill>
              </a:rPr>
              <a:t>C.appspec.yml</a:t>
            </a:r>
            <a:endParaRPr lang="en-US" dirty="0">
              <a:solidFill>
                <a:srgbClr val="18537D"/>
              </a:solidFill>
            </a:endParaRPr>
          </a:p>
          <a:p>
            <a:pPr>
              <a:lnSpc>
                <a:spcPct val="150000"/>
              </a:lnSpc>
            </a:pPr>
            <a:r>
              <a:rPr lang="en-US" dirty="0" err="1">
                <a:solidFill>
                  <a:srgbClr val="18537D"/>
                </a:solidFill>
              </a:rPr>
              <a:t>D.ebextensions.config</a:t>
            </a:r>
            <a:endParaRPr lang="en-US" dirty="0">
              <a:solidFill>
                <a:srgbClr val="18537D"/>
              </a:solidFill>
            </a:endParaRPr>
          </a:p>
        </p:txBody>
      </p:sp>
    </p:spTree>
    <p:extLst>
      <p:ext uri="{BB962C8B-B14F-4D97-AF65-F5344CB8AC3E}">
        <p14:creationId xmlns:p14="http://schemas.microsoft.com/office/powerpoint/2010/main" val="1901624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needs to update an Amazon ECS application that was deployed using AWS </a:t>
            </a:r>
            <a:r>
              <a:rPr lang="en-US" dirty="0" err="1">
                <a:solidFill>
                  <a:srgbClr val="18537D"/>
                </a:solidFill>
              </a:rPr>
              <a:t>CodeDeploy</a:t>
            </a:r>
            <a:r>
              <a:rPr lang="en-US" dirty="0">
                <a:solidFill>
                  <a:srgbClr val="18537D"/>
                </a:solidFill>
              </a:rPr>
              <a:t>. What</a:t>
            </a:r>
          </a:p>
          <a:p>
            <a:pPr>
              <a:lnSpc>
                <a:spcPct val="150000"/>
              </a:lnSpc>
            </a:pPr>
            <a:r>
              <a:rPr lang="en-US" b="1" dirty="0">
                <a:solidFill>
                  <a:srgbClr val="18537D"/>
                </a:solidFill>
              </a:rPr>
              <a:t>file does the Developer need to update to push the change through </a:t>
            </a:r>
            <a:r>
              <a:rPr lang="en-US" b="1" dirty="0" err="1">
                <a:solidFill>
                  <a:srgbClr val="18537D"/>
                </a:solidFill>
              </a:rPr>
              <a:t>CodeDeploy</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A.dockerrun.aws.json</a:t>
            </a:r>
            <a:endParaRPr lang="en-US" dirty="0">
              <a:solidFill>
                <a:srgbClr val="18537D"/>
              </a:solidFill>
            </a:endParaRPr>
          </a:p>
          <a:p>
            <a:pPr>
              <a:lnSpc>
                <a:spcPct val="150000"/>
              </a:lnSpc>
            </a:pPr>
            <a:r>
              <a:rPr lang="en-US" dirty="0" err="1">
                <a:solidFill>
                  <a:srgbClr val="18537D"/>
                </a:solidFill>
              </a:rPr>
              <a:t>B.buildspec.yml</a:t>
            </a:r>
            <a:endParaRPr lang="en-US" dirty="0">
              <a:solidFill>
                <a:srgbClr val="18537D"/>
              </a:solidFill>
            </a:endParaRPr>
          </a:p>
          <a:p>
            <a:pPr>
              <a:lnSpc>
                <a:spcPct val="150000"/>
              </a:lnSpc>
            </a:pPr>
            <a:r>
              <a:rPr lang="en-US" b="1" dirty="0" err="1">
                <a:solidFill>
                  <a:srgbClr val="18537D"/>
                </a:solidFill>
              </a:rPr>
              <a:t>C.appspec.yml</a:t>
            </a:r>
            <a:endParaRPr lang="en-US" b="1" dirty="0">
              <a:solidFill>
                <a:srgbClr val="18537D"/>
              </a:solidFill>
            </a:endParaRPr>
          </a:p>
          <a:p>
            <a:pPr>
              <a:lnSpc>
                <a:spcPct val="150000"/>
              </a:lnSpc>
            </a:pPr>
            <a:r>
              <a:rPr lang="en-US" dirty="0" err="1">
                <a:solidFill>
                  <a:srgbClr val="18537D"/>
                </a:solidFill>
              </a:rPr>
              <a:t>D.ebextensions.config</a:t>
            </a:r>
            <a:endParaRPr lang="en-US" dirty="0">
              <a:solidFill>
                <a:srgbClr val="18537D"/>
              </a:solidFill>
            </a:endParaRPr>
          </a:p>
        </p:txBody>
      </p:sp>
    </p:spTree>
    <p:extLst>
      <p:ext uri="{BB962C8B-B14F-4D97-AF65-F5344CB8AC3E}">
        <p14:creationId xmlns:p14="http://schemas.microsoft.com/office/powerpoint/2010/main" val="2185519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is deploying an Amazon </a:t>
            </a:r>
            <a:r>
              <a:rPr lang="en-US" b="1" dirty="0">
                <a:solidFill>
                  <a:srgbClr val="18537D"/>
                </a:solidFill>
              </a:rPr>
              <a:t>EC2 update using AWS </a:t>
            </a:r>
            <a:r>
              <a:rPr lang="en-US" b="1" dirty="0" err="1">
                <a:solidFill>
                  <a:srgbClr val="18537D"/>
                </a:solidFill>
              </a:rPr>
              <a:t>CodeDeploy</a:t>
            </a:r>
            <a:r>
              <a:rPr lang="en-US" dirty="0">
                <a:solidFill>
                  <a:srgbClr val="18537D"/>
                </a:solidFill>
              </a:rPr>
              <a:t>. In the </a:t>
            </a:r>
            <a:r>
              <a:rPr lang="en-US" b="1" dirty="0" err="1">
                <a:solidFill>
                  <a:srgbClr val="18537D"/>
                </a:solidFill>
              </a:rPr>
              <a:t>appspec.yml</a:t>
            </a:r>
            <a:r>
              <a:rPr lang="en-US" b="1" dirty="0">
                <a:solidFill>
                  <a:srgbClr val="18537D"/>
                </a:solidFill>
              </a:rPr>
              <a:t> file</a:t>
            </a:r>
            <a:r>
              <a:rPr lang="en-US" dirty="0">
                <a:solidFill>
                  <a:srgbClr val="18537D"/>
                </a:solidFill>
              </a:rPr>
              <a:t>, which of</a:t>
            </a:r>
          </a:p>
          <a:p>
            <a:pPr>
              <a:lnSpc>
                <a:spcPct val="150000"/>
              </a:lnSpc>
            </a:pPr>
            <a:r>
              <a:rPr lang="en-US" dirty="0">
                <a:solidFill>
                  <a:srgbClr val="18537D"/>
                </a:solidFill>
              </a:rPr>
              <a:t>the following is a </a:t>
            </a:r>
            <a:r>
              <a:rPr lang="en-US" b="1" dirty="0">
                <a:solidFill>
                  <a:srgbClr val="18537D"/>
                </a:solidFill>
              </a:rPr>
              <a:t>valid structure for the order of hooks that should be specified</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A.BeforeInstall</a:t>
            </a:r>
            <a:r>
              <a:rPr lang="en-US" dirty="0">
                <a:solidFill>
                  <a:srgbClr val="18537D"/>
                </a:solidFill>
              </a:rPr>
              <a:t> &gt; </a:t>
            </a:r>
            <a:r>
              <a:rPr lang="en-US" dirty="0" err="1">
                <a:solidFill>
                  <a:srgbClr val="18537D"/>
                </a:solidFill>
              </a:rPr>
              <a:t>AfterInstall</a:t>
            </a:r>
            <a:r>
              <a:rPr lang="en-US" dirty="0">
                <a:solidFill>
                  <a:srgbClr val="18537D"/>
                </a:solidFill>
              </a:rPr>
              <a:t> &gt; </a:t>
            </a:r>
            <a:r>
              <a:rPr lang="en-US" dirty="0" err="1">
                <a:solidFill>
                  <a:srgbClr val="18537D"/>
                </a:solidFill>
              </a:rPr>
              <a:t>AfterAllowTestTraffic</a:t>
            </a:r>
            <a:r>
              <a:rPr lang="en-US" dirty="0">
                <a:solidFill>
                  <a:srgbClr val="18537D"/>
                </a:solidFill>
              </a:rPr>
              <a:t> &gt; </a:t>
            </a:r>
            <a:r>
              <a:rPr lang="en-US" dirty="0" err="1">
                <a:solidFill>
                  <a:srgbClr val="18537D"/>
                </a:solidFill>
              </a:rPr>
              <a:t>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a:p>
            <a:pPr>
              <a:lnSpc>
                <a:spcPct val="150000"/>
              </a:lnSpc>
            </a:pPr>
            <a:r>
              <a:rPr lang="en-US" dirty="0" err="1">
                <a:solidFill>
                  <a:srgbClr val="18537D"/>
                </a:solidFill>
              </a:rPr>
              <a:t>B.BeforeInstall</a:t>
            </a:r>
            <a:r>
              <a:rPr lang="en-US" dirty="0">
                <a:solidFill>
                  <a:srgbClr val="18537D"/>
                </a:solidFill>
              </a:rPr>
              <a:t> &gt; </a:t>
            </a:r>
            <a:r>
              <a:rPr lang="en-US" dirty="0" err="1">
                <a:solidFill>
                  <a:srgbClr val="18537D"/>
                </a:solidFill>
              </a:rPr>
              <a:t>AfterInstall</a:t>
            </a:r>
            <a:r>
              <a:rPr lang="en-US" dirty="0">
                <a:solidFill>
                  <a:srgbClr val="18537D"/>
                </a:solidFill>
              </a:rPr>
              <a:t> &gt; </a:t>
            </a:r>
            <a:r>
              <a:rPr lang="en-US" dirty="0" err="1">
                <a:solidFill>
                  <a:srgbClr val="18537D"/>
                </a:solidFill>
              </a:rPr>
              <a:t>ApplicationStart</a:t>
            </a:r>
            <a:r>
              <a:rPr lang="en-US" dirty="0">
                <a:solidFill>
                  <a:srgbClr val="18537D"/>
                </a:solidFill>
              </a:rPr>
              <a:t> &gt; </a:t>
            </a:r>
            <a:r>
              <a:rPr lang="en-US" dirty="0" err="1">
                <a:solidFill>
                  <a:srgbClr val="18537D"/>
                </a:solidFill>
              </a:rPr>
              <a:t>ValidateService</a:t>
            </a:r>
            <a:endParaRPr lang="en-US" dirty="0">
              <a:solidFill>
                <a:srgbClr val="18537D"/>
              </a:solidFill>
            </a:endParaRPr>
          </a:p>
          <a:p>
            <a:pPr>
              <a:lnSpc>
                <a:spcPct val="150000"/>
              </a:lnSpc>
            </a:pPr>
            <a:r>
              <a:rPr lang="en-US" dirty="0" err="1">
                <a:solidFill>
                  <a:srgbClr val="18537D"/>
                </a:solidFill>
              </a:rPr>
              <a:t>C.BeforeAllowTraffic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a:p>
            <a:pPr>
              <a:lnSpc>
                <a:spcPct val="150000"/>
              </a:lnSpc>
            </a:pPr>
            <a:r>
              <a:rPr lang="en-US" dirty="0" err="1">
                <a:solidFill>
                  <a:srgbClr val="18537D"/>
                </a:solidFill>
              </a:rPr>
              <a:t>D.BeforeBlockTraffic</a:t>
            </a:r>
            <a:r>
              <a:rPr lang="en-US" dirty="0">
                <a:solidFill>
                  <a:srgbClr val="18537D"/>
                </a:solidFill>
              </a:rPr>
              <a:t> &gt; </a:t>
            </a:r>
            <a:r>
              <a:rPr lang="en-US" dirty="0" err="1">
                <a:solidFill>
                  <a:srgbClr val="18537D"/>
                </a:solidFill>
              </a:rPr>
              <a:t>AfterBlockTraffic</a:t>
            </a:r>
            <a:r>
              <a:rPr lang="en-US" dirty="0">
                <a:solidFill>
                  <a:srgbClr val="18537D"/>
                </a:solidFill>
              </a:rPr>
              <a:t> &gt; </a:t>
            </a:r>
            <a:r>
              <a:rPr lang="en-US" dirty="0" err="1">
                <a:solidFill>
                  <a:srgbClr val="18537D"/>
                </a:solidFill>
              </a:rPr>
              <a:t>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p:txBody>
      </p:sp>
    </p:spTree>
    <p:extLst>
      <p:ext uri="{BB962C8B-B14F-4D97-AF65-F5344CB8AC3E}">
        <p14:creationId xmlns:p14="http://schemas.microsoft.com/office/powerpoint/2010/main" val="13159980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Developer is deploying an Amazon </a:t>
            </a:r>
            <a:r>
              <a:rPr lang="en-US" b="1" dirty="0">
                <a:solidFill>
                  <a:srgbClr val="18537D"/>
                </a:solidFill>
              </a:rPr>
              <a:t>EC2 update using AWS </a:t>
            </a:r>
            <a:r>
              <a:rPr lang="en-US" b="1" dirty="0" err="1">
                <a:solidFill>
                  <a:srgbClr val="18537D"/>
                </a:solidFill>
              </a:rPr>
              <a:t>CodeDeploy</a:t>
            </a:r>
            <a:r>
              <a:rPr lang="en-US" dirty="0">
                <a:solidFill>
                  <a:srgbClr val="18537D"/>
                </a:solidFill>
              </a:rPr>
              <a:t>. In the </a:t>
            </a:r>
            <a:r>
              <a:rPr lang="en-US" b="1" dirty="0" err="1">
                <a:solidFill>
                  <a:srgbClr val="18537D"/>
                </a:solidFill>
              </a:rPr>
              <a:t>appspec.yml</a:t>
            </a:r>
            <a:r>
              <a:rPr lang="en-US" b="1" dirty="0">
                <a:solidFill>
                  <a:srgbClr val="18537D"/>
                </a:solidFill>
              </a:rPr>
              <a:t> file</a:t>
            </a:r>
            <a:r>
              <a:rPr lang="en-US" dirty="0">
                <a:solidFill>
                  <a:srgbClr val="18537D"/>
                </a:solidFill>
              </a:rPr>
              <a:t>, which of</a:t>
            </a:r>
          </a:p>
          <a:p>
            <a:pPr>
              <a:lnSpc>
                <a:spcPct val="150000"/>
              </a:lnSpc>
            </a:pPr>
            <a:r>
              <a:rPr lang="en-US" dirty="0">
                <a:solidFill>
                  <a:srgbClr val="18537D"/>
                </a:solidFill>
              </a:rPr>
              <a:t>the following is a </a:t>
            </a:r>
            <a:r>
              <a:rPr lang="en-US" b="1" dirty="0">
                <a:solidFill>
                  <a:srgbClr val="18537D"/>
                </a:solidFill>
              </a:rPr>
              <a:t>valid structure for the order of hooks that should be specified</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A.BeforeInstall</a:t>
            </a:r>
            <a:r>
              <a:rPr lang="en-US" dirty="0">
                <a:solidFill>
                  <a:srgbClr val="18537D"/>
                </a:solidFill>
              </a:rPr>
              <a:t> &gt; </a:t>
            </a:r>
            <a:r>
              <a:rPr lang="en-US" dirty="0" err="1">
                <a:solidFill>
                  <a:srgbClr val="18537D"/>
                </a:solidFill>
              </a:rPr>
              <a:t>AfterInstall</a:t>
            </a:r>
            <a:r>
              <a:rPr lang="en-US" dirty="0">
                <a:solidFill>
                  <a:srgbClr val="18537D"/>
                </a:solidFill>
              </a:rPr>
              <a:t> &gt; </a:t>
            </a:r>
            <a:r>
              <a:rPr lang="en-US" dirty="0" err="1">
                <a:solidFill>
                  <a:srgbClr val="18537D"/>
                </a:solidFill>
              </a:rPr>
              <a:t>AfterAllowTestTraffic</a:t>
            </a:r>
            <a:r>
              <a:rPr lang="en-US" dirty="0">
                <a:solidFill>
                  <a:srgbClr val="18537D"/>
                </a:solidFill>
              </a:rPr>
              <a:t> &gt; </a:t>
            </a:r>
            <a:r>
              <a:rPr lang="en-US" dirty="0" err="1">
                <a:solidFill>
                  <a:srgbClr val="18537D"/>
                </a:solidFill>
              </a:rPr>
              <a:t>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a:p>
            <a:pPr>
              <a:lnSpc>
                <a:spcPct val="150000"/>
              </a:lnSpc>
            </a:pPr>
            <a:r>
              <a:rPr lang="en-US" dirty="0" err="1">
                <a:solidFill>
                  <a:srgbClr val="18537D"/>
                </a:solidFill>
              </a:rPr>
              <a:t>B.</a:t>
            </a:r>
            <a:r>
              <a:rPr lang="en-US" b="1" dirty="0" err="1">
                <a:solidFill>
                  <a:srgbClr val="18537D"/>
                </a:solidFill>
              </a:rPr>
              <a:t>BeforeInstall</a:t>
            </a:r>
            <a:r>
              <a:rPr lang="en-US" b="1" dirty="0">
                <a:solidFill>
                  <a:srgbClr val="18537D"/>
                </a:solidFill>
              </a:rPr>
              <a:t> &gt; </a:t>
            </a:r>
            <a:r>
              <a:rPr lang="en-US" b="1" dirty="0" err="1">
                <a:solidFill>
                  <a:srgbClr val="18537D"/>
                </a:solidFill>
              </a:rPr>
              <a:t>AfterInstall</a:t>
            </a:r>
            <a:r>
              <a:rPr lang="en-US" b="1" dirty="0">
                <a:solidFill>
                  <a:srgbClr val="18537D"/>
                </a:solidFill>
              </a:rPr>
              <a:t> &gt; </a:t>
            </a:r>
            <a:r>
              <a:rPr lang="en-US" b="1" dirty="0" err="1">
                <a:solidFill>
                  <a:srgbClr val="18537D"/>
                </a:solidFill>
              </a:rPr>
              <a:t>ApplicationStart</a:t>
            </a:r>
            <a:r>
              <a:rPr lang="en-US" b="1" dirty="0">
                <a:solidFill>
                  <a:srgbClr val="18537D"/>
                </a:solidFill>
              </a:rPr>
              <a:t> &gt; </a:t>
            </a:r>
            <a:r>
              <a:rPr lang="en-US" b="1" dirty="0" err="1">
                <a:solidFill>
                  <a:srgbClr val="18537D"/>
                </a:solidFill>
              </a:rPr>
              <a:t>ValidateService</a:t>
            </a:r>
            <a:endParaRPr lang="en-US" b="1" dirty="0">
              <a:solidFill>
                <a:srgbClr val="18537D"/>
              </a:solidFill>
            </a:endParaRPr>
          </a:p>
          <a:p>
            <a:pPr>
              <a:lnSpc>
                <a:spcPct val="150000"/>
              </a:lnSpc>
            </a:pPr>
            <a:r>
              <a:rPr lang="en-US" dirty="0" err="1">
                <a:solidFill>
                  <a:srgbClr val="18537D"/>
                </a:solidFill>
              </a:rPr>
              <a:t>C.BeforeAllowTraffic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a:p>
            <a:pPr>
              <a:lnSpc>
                <a:spcPct val="150000"/>
              </a:lnSpc>
            </a:pPr>
            <a:r>
              <a:rPr lang="en-US" dirty="0" err="1">
                <a:solidFill>
                  <a:srgbClr val="18537D"/>
                </a:solidFill>
              </a:rPr>
              <a:t>D.BeforeBlockTraffic</a:t>
            </a:r>
            <a:r>
              <a:rPr lang="en-US" dirty="0">
                <a:solidFill>
                  <a:srgbClr val="18537D"/>
                </a:solidFill>
              </a:rPr>
              <a:t> &gt; </a:t>
            </a:r>
            <a:r>
              <a:rPr lang="en-US" dirty="0" err="1">
                <a:solidFill>
                  <a:srgbClr val="18537D"/>
                </a:solidFill>
              </a:rPr>
              <a:t>AfterBlockTraffic</a:t>
            </a:r>
            <a:r>
              <a:rPr lang="en-US" dirty="0">
                <a:solidFill>
                  <a:srgbClr val="18537D"/>
                </a:solidFill>
              </a:rPr>
              <a:t> &gt; </a:t>
            </a:r>
            <a:r>
              <a:rPr lang="en-US" dirty="0" err="1">
                <a:solidFill>
                  <a:srgbClr val="18537D"/>
                </a:solidFill>
              </a:rPr>
              <a:t>BeforeAllowTraffic</a:t>
            </a:r>
            <a:r>
              <a:rPr lang="en-US" dirty="0">
                <a:solidFill>
                  <a:srgbClr val="18537D"/>
                </a:solidFill>
              </a:rPr>
              <a:t> &gt; </a:t>
            </a:r>
            <a:r>
              <a:rPr lang="en-US" dirty="0" err="1">
                <a:solidFill>
                  <a:srgbClr val="18537D"/>
                </a:solidFill>
              </a:rPr>
              <a:t>AfterAllowTraffic</a:t>
            </a:r>
            <a:endParaRPr lang="en-US" dirty="0">
              <a:solidFill>
                <a:srgbClr val="18537D"/>
              </a:solidFill>
            </a:endParaRPr>
          </a:p>
        </p:txBody>
      </p:sp>
    </p:spTree>
    <p:extLst>
      <p:ext uri="{BB962C8B-B14F-4D97-AF65-F5344CB8AC3E}">
        <p14:creationId xmlns:p14="http://schemas.microsoft.com/office/powerpoint/2010/main" val="9849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application will be hosted on the AWS Cloud. Developers will be using an Agile software development</a:t>
            </a:r>
          </a:p>
          <a:p>
            <a:pPr>
              <a:lnSpc>
                <a:spcPct val="150000"/>
              </a:lnSpc>
            </a:pPr>
            <a:r>
              <a:rPr lang="en-US" dirty="0">
                <a:solidFill>
                  <a:srgbClr val="18537D"/>
                </a:solidFill>
              </a:rPr>
              <a:t>methodology with </a:t>
            </a:r>
            <a:r>
              <a:rPr lang="en-US" b="1" dirty="0">
                <a:solidFill>
                  <a:srgbClr val="18537D"/>
                </a:solidFill>
              </a:rPr>
              <a:t>regular updates deployed through a continuous integration and delivery (CI/CD) model</a:t>
            </a:r>
            <a:r>
              <a:rPr lang="en-US" dirty="0">
                <a:solidFill>
                  <a:srgbClr val="18537D"/>
                </a:solidFill>
              </a:rPr>
              <a:t>.</a:t>
            </a:r>
          </a:p>
          <a:p>
            <a:pPr>
              <a:lnSpc>
                <a:spcPct val="150000"/>
              </a:lnSpc>
            </a:pPr>
            <a:r>
              <a:rPr lang="en-US" dirty="0">
                <a:solidFill>
                  <a:srgbClr val="18537D"/>
                </a:solidFill>
              </a:rPr>
              <a:t>Which AWS service can assist the Developers with </a:t>
            </a:r>
            <a:r>
              <a:rPr lang="en-US" b="1" dirty="0">
                <a:solidFill>
                  <a:srgbClr val="18537D"/>
                </a:solidFill>
              </a:rPr>
              <a:t>automating the build, test, and deploy phases of the</a:t>
            </a:r>
          </a:p>
          <a:p>
            <a:pPr>
              <a:lnSpc>
                <a:spcPct val="150000"/>
              </a:lnSpc>
            </a:pPr>
            <a:r>
              <a:rPr lang="en-US" b="1" dirty="0">
                <a:solidFill>
                  <a:srgbClr val="18537D"/>
                </a:solidFill>
              </a:rPr>
              <a:t>release process every time there is a code change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A.AWS </a:t>
            </a:r>
            <a:r>
              <a:rPr lang="en-US" dirty="0" err="1">
                <a:solidFill>
                  <a:srgbClr val="18537D"/>
                </a:solidFill>
              </a:rPr>
              <a:t>CodeBuild</a:t>
            </a:r>
            <a:endParaRPr lang="en-US" dirty="0">
              <a:solidFill>
                <a:srgbClr val="18537D"/>
              </a:solidFill>
            </a:endParaRPr>
          </a:p>
          <a:p>
            <a:pPr>
              <a:lnSpc>
                <a:spcPct val="150000"/>
              </a:lnSpc>
            </a:pPr>
            <a:r>
              <a:rPr lang="en-US" dirty="0">
                <a:solidFill>
                  <a:srgbClr val="18537D"/>
                </a:solidFill>
              </a:rPr>
              <a:t>B.AWS CloudFormation</a:t>
            </a:r>
          </a:p>
          <a:p>
            <a:pPr>
              <a:lnSpc>
                <a:spcPct val="150000"/>
              </a:lnSpc>
            </a:pPr>
            <a:r>
              <a:rPr lang="en-US" dirty="0">
                <a:solidFill>
                  <a:srgbClr val="18537D"/>
                </a:solidFill>
              </a:rPr>
              <a:t>C.AWS Elastic Beanstalk</a:t>
            </a:r>
          </a:p>
          <a:p>
            <a:pPr>
              <a:lnSpc>
                <a:spcPct val="150000"/>
              </a:lnSpc>
            </a:pPr>
            <a:r>
              <a:rPr lang="en-US" dirty="0">
                <a:solidFill>
                  <a:srgbClr val="18537D"/>
                </a:solidFill>
              </a:rPr>
              <a:t>D.AWS </a:t>
            </a:r>
            <a:r>
              <a:rPr lang="en-US" dirty="0" err="1">
                <a:solidFill>
                  <a:srgbClr val="18537D"/>
                </a:solidFill>
              </a:rPr>
              <a:t>CodePipeline</a:t>
            </a:r>
            <a:endParaRPr lang="en-US" dirty="0">
              <a:solidFill>
                <a:srgbClr val="18537D"/>
              </a:solidFill>
            </a:endParaRPr>
          </a:p>
        </p:txBody>
      </p:sp>
    </p:spTree>
    <p:extLst>
      <p:ext uri="{BB962C8B-B14F-4D97-AF65-F5344CB8AC3E}">
        <p14:creationId xmlns:p14="http://schemas.microsoft.com/office/powerpoint/2010/main" val="1144107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application will be hosted on the AWS Cloud. Developers will be using an Agile software development</a:t>
            </a:r>
          </a:p>
          <a:p>
            <a:pPr>
              <a:lnSpc>
                <a:spcPct val="150000"/>
              </a:lnSpc>
            </a:pPr>
            <a:r>
              <a:rPr lang="en-US" dirty="0">
                <a:solidFill>
                  <a:srgbClr val="18537D"/>
                </a:solidFill>
              </a:rPr>
              <a:t>methodology with </a:t>
            </a:r>
            <a:r>
              <a:rPr lang="en-US" b="1" dirty="0">
                <a:solidFill>
                  <a:srgbClr val="18537D"/>
                </a:solidFill>
              </a:rPr>
              <a:t>regular updates deployed through a continuous integration and delivery (CI/CD) model</a:t>
            </a:r>
            <a:r>
              <a:rPr lang="en-US" dirty="0">
                <a:solidFill>
                  <a:srgbClr val="18537D"/>
                </a:solidFill>
              </a:rPr>
              <a:t>.</a:t>
            </a:r>
          </a:p>
          <a:p>
            <a:pPr>
              <a:lnSpc>
                <a:spcPct val="150000"/>
              </a:lnSpc>
            </a:pPr>
            <a:r>
              <a:rPr lang="en-US" dirty="0">
                <a:solidFill>
                  <a:srgbClr val="18537D"/>
                </a:solidFill>
              </a:rPr>
              <a:t>Which AWS service can assist the Developers with </a:t>
            </a:r>
            <a:r>
              <a:rPr lang="en-US" b="1" dirty="0">
                <a:solidFill>
                  <a:srgbClr val="18537D"/>
                </a:solidFill>
              </a:rPr>
              <a:t>automating the build, test, and deploy phases of the</a:t>
            </a:r>
          </a:p>
          <a:p>
            <a:pPr>
              <a:lnSpc>
                <a:spcPct val="150000"/>
              </a:lnSpc>
            </a:pPr>
            <a:r>
              <a:rPr lang="en-US" b="1" dirty="0">
                <a:solidFill>
                  <a:srgbClr val="18537D"/>
                </a:solidFill>
              </a:rPr>
              <a:t>release process every time there is a code change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A.AWS </a:t>
            </a:r>
            <a:r>
              <a:rPr lang="en-US" dirty="0" err="1">
                <a:solidFill>
                  <a:srgbClr val="18537D"/>
                </a:solidFill>
              </a:rPr>
              <a:t>CodeBuild</a:t>
            </a:r>
            <a:endParaRPr lang="en-US" dirty="0">
              <a:solidFill>
                <a:srgbClr val="18537D"/>
              </a:solidFill>
            </a:endParaRPr>
          </a:p>
          <a:p>
            <a:pPr>
              <a:lnSpc>
                <a:spcPct val="150000"/>
              </a:lnSpc>
            </a:pPr>
            <a:r>
              <a:rPr lang="en-US" dirty="0">
                <a:solidFill>
                  <a:srgbClr val="18537D"/>
                </a:solidFill>
              </a:rPr>
              <a:t>B.AWS CloudFormation</a:t>
            </a:r>
          </a:p>
          <a:p>
            <a:pPr>
              <a:lnSpc>
                <a:spcPct val="150000"/>
              </a:lnSpc>
            </a:pPr>
            <a:r>
              <a:rPr lang="en-US" dirty="0">
                <a:solidFill>
                  <a:srgbClr val="18537D"/>
                </a:solidFill>
              </a:rPr>
              <a:t>C.AWS Elastic Beanstalk</a:t>
            </a:r>
          </a:p>
          <a:p>
            <a:pPr>
              <a:lnSpc>
                <a:spcPct val="150000"/>
              </a:lnSpc>
            </a:pPr>
            <a:r>
              <a:rPr lang="en-US" dirty="0">
                <a:solidFill>
                  <a:srgbClr val="18537D"/>
                </a:solidFill>
              </a:rPr>
              <a:t>D.</a:t>
            </a:r>
            <a:r>
              <a:rPr lang="en-US" b="1" dirty="0">
                <a:solidFill>
                  <a:srgbClr val="18537D"/>
                </a:solidFill>
              </a:rPr>
              <a:t>AWS </a:t>
            </a:r>
            <a:r>
              <a:rPr lang="en-US" b="1" dirty="0" err="1">
                <a:solidFill>
                  <a:srgbClr val="18537D"/>
                </a:solidFill>
              </a:rPr>
              <a:t>CodePipeline</a:t>
            </a:r>
            <a:endParaRPr lang="en-US" b="1" dirty="0">
              <a:solidFill>
                <a:srgbClr val="18537D"/>
              </a:solidFill>
            </a:endParaRPr>
          </a:p>
        </p:txBody>
      </p:sp>
    </p:spTree>
    <p:extLst>
      <p:ext uri="{BB962C8B-B14F-4D97-AF65-F5344CB8AC3E}">
        <p14:creationId xmlns:p14="http://schemas.microsoft.com/office/powerpoint/2010/main" val="35996497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team of Developers need to deploy a website for a development environment. The team </a:t>
            </a:r>
            <a:r>
              <a:rPr lang="en-US" b="1" dirty="0">
                <a:solidFill>
                  <a:srgbClr val="18537D"/>
                </a:solidFill>
              </a:rPr>
              <a:t>do not want to</a:t>
            </a:r>
          </a:p>
          <a:p>
            <a:pPr>
              <a:lnSpc>
                <a:spcPct val="150000"/>
              </a:lnSpc>
            </a:pPr>
            <a:r>
              <a:rPr lang="en-US" b="1" dirty="0">
                <a:solidFill>
                  <a:srgbClr val="18537D"/>
                </a:solidFill>
              </a:rPr>
              <a:t>manage the infrastructure and just need to upload Node.js code </a:t>
            </a:r>
            <a:r>
              <a:rPr lang="en-US" dirty="0">
                <a:solidFill>
                  <a:srgbClr val="18537D"/>
                </a:solidFill>
              </a:rPr>
              <a:t>to the instances. Which AWS service should Developers do?</a:t>
            </a:r>
          </a:p>
          <a:p>
            <a:pPr>
              <a:lnSpc>
                <a:spcPct val="150000"/>
              </a:lnSpc>
            </a:pPr>
            <a:endParaRPr lang="en-US" dirty="0">
              <a:solidFill>
                <a:srgbClr val="18537D"/>
              </a:solidFill>
            </a:endParaRPr>
          </a:p>
          <a:p>
            <a:pPr>
              <a:lnSpc>
                <a:spcPct val="150000"/>
              </a:lnSpc>
            </a:pPr>
            <a:r>
              <a:rPr lang="en-US" dirty="0" err="1">
                <a:solidFill>
                  <a:srgbClr val="18537D"/>
                </a:solidFill>
              </a:rPr>
              <a:t>A.Create</a:t>
            </a:r>
            <a:r>
              <a:rPr lang="en-US" dirty="0">
                <a:solidFill>
                  <a:srgbClr val="18537D"/>
                </a:solidFill>
              </a:rPr>
              <a:t> an AWS CloudFormation template</a:t>
            </a:r>
          </a:p>
          <a:p>
            <a:pPr>
              <a:lnSpc>
                <a:spcPct val="150000"/>
              </a:lnSpc>
            </a:pPr>
            <a:r>
              <a:rPr lang="en-US" dirty="0" err="1">
                <a:solidFill>
                  <a:srgbClr val="18537D"/>
                </a:solidFill>
              </a:rPr>
              <a:t>B.Create</a:t>
            </a:r>
            <a:r>
              <a:rPr lang="en-US" dirty="0">
                <a:solidFill>
                  <a:srgbClr val="18537D"/>
                </a:solidFill>
              </a:rPr>
              <a:t> an AWS Elastic Beanstalk environment</a:t>
            </a:r>
          </a:p>
          <a:p>
            <a:pPr>
              <a:lnSpc>
                <a:spcPct val="150000"/>
              </a:lnSpc>
            </a:pPr>
            <a:r>
              <a:rPr lang="en-US" dirty="0" err="1">
                <a:solidFill>
                  <a:srgbClr val="18537D"/>
                </a:solidFill>
              </a:rPr>
              <a:t>C.Create</a:t>
            </a:r>
            <a:r>
              <a:rPr lang="en-US" dirty="0">
                <a:solidFill>
                  <a:srgbClr val="18537D"/>
                </a:solidFill>
              </a:rPr>
              <a:t> an AWS Lambda package</a:t>
            </a:r>
          </a:p>
          <a:p>
            <a:pPr>
              <a:lnSpc>
                <a:spcPct val="150000"/>
              </a:lnSpc>
            </a:pPr>
            <a:r>
              <a:rPr lang="en-US" dirty="0" err="1">
                <a:solidFill>
                  <a:srgbClr val="18537D"/>
                </a:solidFill>
              </a:rPr>
              <a:t>D.Launch</a:t>
            </a:r>
            <a:r>
              <a:rPr lang="en-US" dirty="0">
                <a:solidFill>
                  <a:srgbClr val="18537D"/>
                </a:solidFill>
              </a:rPr>
              <a:t> an Auto Scaling group of Amazon EC2 instances</a:t>
            </a:r>
          </a:p>
        </p:txBody>
      </p:sp>
    </p:spTree>
    <p:extLst>
      <p:ext uri="{BB962C8B-B14F-4D97-AF65-F5344CB8AC3E}">
        <p14:creationId xmlns:p14="http://schemas.microsoft.com/office/powerpoint/2010/main" val="2252202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team of Developers need to deploy a website for a development environment. The team </a:t>
            </a:r>
            <a:r>
              <a:rPr lang="en-US" b="1" dirty="0">
                <a:solidFill>
                  <a:srgbClr val="18537D"/>
                </a:solidFill>
              </a:rPr>
              <a:t>do not want to</a:t>
            </a:r>
          </a:p>
          <a:p>
            <a:pPr>
              <a:lnSpc>
                <a:spcPct val="150000"/>
              </a:lnSpc>
            </a:pPr>
            <a:r>
              <a:rPr lang="en-US" b="1" dirty="0">
                <a:solidFill>
                  <a:srgbClr val="18537D"/>
                </a:solidFill>
              </a:rPr>
              <a:t>manage the infrastructure and just need to upload Node.js code </a:t>
            </a:r>
            <a:r>
              <a:rPr lang="en-US" dirty="0">
                <a:solidFill>
                  <a:srgbClr val="18537D"/>
                </a:solidFill>
              </a:rPr>
              <a:t>to the instances. Which AWS service should Developers do?</a:t>
            </a:r>
          </a:p>
          <a:p>
            <a:pPr>
              <a:lnSpc>
                <a:spcPct val="150000"/>
              </a:lnSpc>
            </a:pPr>
            <a:endParaRPr lang="en-US" dirty="0">
              <a:solidFill>
                <a:srgbClr val="18537D"/>
              </a:solidFill>
            </a:endParaRPr>
          </a:p>
          <a:p>
            <a:pPr>
              <a:lnSpc>
                <a:spcPct val="150000"/>
              </a:lnSpc>
            </a:pPr>
            <a:r>
              <a:rPr lang="en-US" dirty="0" err="1">
                <a:solidFill>
                  <a:srgbClr val="18537D"/>
                </a:solidFill>
              </a:rPr>
              <a:t>A.Create</a:t>
            </a:r>
            <a:r>
              <a:rPr lang="en-US" dirty="0">
                <a:solidFill>
                  <a:srgbClr val="18537D"/>
                </a:solidFill>
              </a:rPr>
              <a:t> an AWS CloudFormation template</a:t>
            </a:r>
          </a:p>
          <a:p>
            <a:pPr>
              <a:lnSpc>
                <a:spcPct val="150000"/>
              </a:lnSpc>
            </a:pPr>
            <a:r>
              <a:rPr lang="en-US" b="1" dirty="0" err="1">
                <a:solidFill>
                  <a:srgbClr val="18537D"/>
                </a:solidFill>
              </a:rPr>
              <a:t>B.Create</a:t>
            </a:r>
            <a:r>
              <a:rPr lang="en-US" b="1" dirty="0">
                <a:solidFill>
                  <a:srgbClr val="18537D"/>
                </a:solidFill>
              </a:rPr>
              <a:t> an AWS Elastic Beanstalk environment</a:t>
            </a:r>
          </a:p>
          <a:p>
            <a:pPr>
              <a:lnSpc>
                <a:spcPct val="150000"/>
              </a:lnSpc>
            </a:pPr>
            <a:r>
              <a:rPr lang="en-US" dirty="0" err="1">
                <a:solidFill>
                  <a:srgbClr val="18537D"/>
                </a:solidFill>
              </a:rPr>
              <a:t>C.Create</a:t>
            </a:r>
            <a:r>
              <a:rPr lang="en-US" dirty="0">
                <a:solidFill>
                  <a:srgbClr val="18537D"/>
                </a:solidFill>
              </a:rPr>
              <a:t> an AWS Lambda package</a:t>
            </a:r>
          </a:p>
          <a:p>
            <a:pPr>
              <a:lnSpc>
                <a:spcPct val="150000"/>
              </a:lnSpc>
            </a:pPr>
            <a:r>
              <a:rPr lang="en-US" dirty="0" err="1">
                <a:solidFill>
                  <a:srgbClr val="18537D"/>
                </a:solidFill>
              </a:rPr>
              <a:t>D.Launch</a:t>
            </a:r>
            <a:r>
              <a:rPr lang="en-US" dirty="0">
                <a:solidFill>
                  <a:srgbClr val="18537D"/>
                </a:solidFill>
              </a:rPr>
              <a:t> an Auto Scaling group of Amazon EC2 instances</a:t>
            </a:r>
          </a:p>
        </p:txBody>
      </p:sp>
    </p:spTree>
    <p:extLst>
      <p:ext uri="{BB962C8B-B14F-4D97-AF65-F5344CB8AC3E}">
        <p14:creationId xmlns:p14="http://schemas.microsoft.com/office/powerpoint/2010/main" val="1066648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You’re developing an </a:t>
            </a:r>
            <a:r>
              <a:rPr lang="en-US" b="1" dirty="0">
                <a:solidFill>
                  <a:srgbClr val="18537D"/>
                </a:solidFill>
              </a:rPr>
              <a:t>AWS Lambda function </a:t>
            </a:r>
            <a:r>
              <a:rPr lang="en-US" dirty="0">
                <a:solidFill>
                  <a:srgbClr val="18537D"/>
                </a:solidFill>
              </a:rPr>
              <a:t>that is interacting </a:t>
            </a:r>
            <a:r>
              <a:rPr lang="en-US" b="1" dirty="0">
                <a:solidFill>
                  <a:srgbClr val="18537D"/>
                </a:solidFill>
              </a:rPr>
              <a:t>with a DynamoDB table</a:t>
            </a:r>
            <a:r>
              <a:rPr lang="en-US" dirty="0">
                <a:solidFill>
                  <a:srgbClr val="18537D"/>
                </a:solidFill>
              </a:rPr>
              <a:t>. The function was working well, but now is giving the </a:t>
            </a:r>
            <a:r>
              <a:rPr lang="en-US" b="1" dirty="0">
                <a:solidFill>
                  <a:srgbClr val="18537D"/>
                </a:solidFill>
              </a:rPr>
              <a:t>results with a time delay</a:t>
            </a:r>
            <a:r>
              <a:rPr lang="en-US" dirty="0">
                <a:solidFill>
                  <a:srgbClr val="18537D"/>
                </a:solidFill>
              </a:rPr>
              <a:t>. You need to </a:t>
            </a:r>
            <a:r>
              <a:rPr lang="en-US" b="1" dirty="0">
                <a:solidFill>
                  <a:srgbClr val="18537D"/>
                </a:solidFill>
              </a:rPr>
              <a:t>debug</a:t>
            </a:r>
            <a:r>
              <a:rPr lang="en-US" dirty="0">
                <a:solidFill>
                  <a:srgbClr val="18537D"/>
                </a:solidFill>
              </a:rPr>
              <a:t> the code to understand where the </a:t>
            </a:r>
            <a:r>
              <a:rPr lang="en-US" b="1" dirty="0">
                <a:solidFill>
                  <a:srgbClr val="18537D"/>
                </a:solidFill>
              </a:rPr>
              <a:t>bottleneck is which is causing the performance issue</a:t>
            </a:r>
            <a:r>
              <a:rPr lang="en-US" dirty="0">
                <a:solidFill>
                  <a:srgbClr val="18537D"/>
                </a:solidFill>
              </a:rPr>
              <a:t>. Which of the following is the ideal way to debug the code?</a:t>
            </a:r>
          </a:p>
          <a:p>
            <a:pPr>
              <a:lnSpc>
                <a:spcPct val="150000"/>
              </a:lnSpc>
            </a:pPr>
            <a:endParaRPr lang="en-US" dirty="0">
              <a:solidFill>
                <a:srgbClr val="18537D"/>
              </a:solidFill>
            </a:endParaRPr>
          </a:p>
          <a:p>
            <a:pPr>
              <a:lnSpc>
                <a:spcPct val="150000"/>
              </a:lnSpc>
            </a:pPr>
            <a:r>
              <a:rPr lang="en-US" dirty="0">
                <a:solidFill>
                  <a:srgbClr val="18537D"/>
                </a:solidFill>
              </a:rPr>
              <a:t>a. Use Log statements in the code to detect the delay</a:t>
            </a:r>
          </a:p>
          <a:p>
            <a:pPr>
              <a:lnSpc>
                <a:spcPct val="150000"/>
              </a:lnSpc>
            </a:pPr>
            <a:r>
              <a:rPr lang="en-US" dirty="0">
                <a:solidFill>
                  <a:srgbClr val="18537D"/>
                </a:solidFill>
              </a:rPr>
              <a:t>b. Use </a:t>
            </a:r>
            <a:r>
              <a:rPr lang="en-US" dirty="0" err="1">
                <a:solidFill>
                  <a:srgbClr val="18537D"/>
                </a:solidFill>
              </a:rPr>
              <a:t>Cloudwatch</a:t>
            </a:r>
            <a:r>
              <a:rPr lang="en-US" dirty="0">
                <a:solidFill>
                  <a:srgbClr val="18537D"/>
                </a:solidFill>
              </a:rPr>
              <a:t> logs to detect where the delay could be</a:t>
            </a:r>
          </a:p>
          <a:p>
            <a:pPr>
              <a:lnSpc>
                <a:spcPct val="150000"/>
              </a:lnSpc>
            </a:pPr>
            <a:r>
              <a:rPr lang="en-US" dirty="0">
                <a:solidFill>
                  <a:srgbClr val="18537D"/>
                </a:solidFill>
              </a:rPr>
              <a:t>c. Look at the throttling errors in </a:t>
            </a:r>
            <a:r>
              <a:rPr lang="en-US" dirty="0" err="1">
                <a:solidFill>
                  <a:srgbClr val="18537D"/>
                </a:solidFill>
              </a:rPr>
              <a:t>Cloudwatch</a:t>
            </a:r>
            <a:r>
              <a:rPr lang="en-US" dirty="0">
                <a:solidFill>
                  <a:srgbClr val="18537D"/>
                </a:solidFill>
              </a:rPr>
              <a:t> metrics</a:t>
            </a:r>
          </a:p>
          <a:p>
            <a:pPr>
              <a:lnSpc>
                <a:spcPct val="150000"/>
              </a:lnSpc>
            </a:pPr>
            <a:r>
              <a:rPr lang="en-US" dirty="0">
                <a:solidFill>
                  <a:srgbClr val="18537D"/>
                </a:solidFill>
              </a:rPr>
              <a:t>d. Use AWS X-Ray to see where the downstream delay could be</a:t>
            </a:r>
          </a:p>
        </p:txBody>
      </p:sp>
    </p:spTree>
    <p:extLst>
      <p:ext uri="{BB962C8B-B14F-4D97-AF65-F5344CB8AC3E}">
        <p14:creationId xmlns:p14="http://schemas.microsoft.com/office/powerpoint/2010/main" val="56513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You’re developing an </a:t>
            </a:r>
            <a:r>
              <a:rPr lang="en-US" b="1" dirty="0">
                <a:solidFill>
                  <a:srgbClr val="18537D"/>
                </a:solidFill>
              </a:rPr>
              <a:t>AWS Lambda function </a:t>
            </a:r>
            <a:r>
              <a:rPr lang="en-US" dirty="0">
                <a:solidFill>
                  <a:srgbClr val="18537D"/>
                </a:solidFill>
              </a:rPr>
              <a:t>that is interacting </a:t>
            </a:r>
            <a:r>
              <a:rPr lang="en-US" b="1" dirty="0">
                <a:solidFill>
                  <a:srgbClr val="18537D"/>
                </a:solidFill>
              </a:rPr>
              <a:t>with a DynamoDB table</a:t>
            </a:r>
            <a:r>
              <a:rPr lang="en-US" dirty="0">
                <a:solidFill>
                  <a:srgbClr val="18537D"/>
                </a:solidFill>
              </a:rPr>
              <a:t>. The function was working well, but now is giving the </a:t>
            </a:r>
            <a:r>
              <a:rPr lang="en-US" b="1" dirty="0">
                <a:solidFill>
                  <a:srgbClr val="18537D"/>
                </a:solidFill>
              </a:rPr>
              <a:t>results with a time delay</a:t>
            </a:r>
            <a:r>
              <a:rPr lang="en-US" dirty="0">
                <a:solidFill>
                  <a:srgbClr val="18537D"/>
                </a:solidFill>
              </a:rPr>
              <a:t>. You need to </a:t>
            </a:r>
            <a:r>
              <a:rPr lang="en-US" b="1" dirty="0">
                <a:solidFill>
                  <a:srgbClr val="18537D"/>
                </a:solidFill>
              </a:rPr>
              <a:t>debug</a:t>
            </a:r>
            <a:r>
              <a:rPr lang="en-US" dirty="0">
                <a:solidFill>
                  <a:srgbClr val="18537D"/>
                </a:solidFill>
              </a:rPr>
              <a:t> the code to understand where the </a:t>
            </a:r>
            <a:r>
              <a:rPr lang="en-US" b="1" dirty="0">
                <a:solidFill>
                  <a:srgbClr val="18537D"/>
                </a:solidFill>
              </a:rPr>
              <a:t>bottleneck is which is causing the performance issue</a:t>
            </a:r>
            <a:r>
              <a:rPr lang="en-US" dirty="0">
                <a:solidFill>
                  <a:srgbClr val="18537D"/>
                </a:solidFill>
              </a:rPr>
              <a:t>. Which of the following is the ideal way to debug the code?</a:t>
            </a:r>
          </a:p>
          <a:p>
            <a:pPr>
              <a:lnSpc>
                <a:spcPct val="150000"/>
              </a:lnSpc>
            </a:pPr>
            <a:endParaRPr lang="en-US" dirty="0">
              <a:solidFill>
                <a:srgbClr val="18537D"/>
              </a:solidFill>
            </a:endParaRPr>
          </a:p>
          <a:p>
            <a:pPr>
              <a:lnSpc>
                <a:spcPct val="150000"/>
              </a:lnSpc>
            </a:pPr>
            <a:r>
              <a:rPr lang="en-US" dirty="0">
                <a:solidFill>
                  <a:srgbClr val="18537D"/>
                </a:solidFill>
              </a:rPr>
              <a:t>a. Use Log statements in the code to detect the delay</a:t>
            </a:r>
          </a:p>
          <a:p>
            <a:pPr>
              <a:lnSpc>
                <a:spcPct val="150000"/>
              </a:lnSpc>
            </a:pPr>
            <a:r>
              <a:rPr lang="en-US" dirty="0">
                <a:solidFill>
                  <a:srgbClr val="18537D"/>
                </a:solidFill>
              </a:rPr>
              <a:t>b. Use </a:t>
            </a:r>
            <a:r>
              <a:rPr lang="en-US" dirty="0" err="1">
                <a:solidFill>
                  <a:srgbClr val="18537D"/>
                </a:solidFill>
              </a:rPr>
              <a:t>Cloudwatch</a:t>
            </a:r>
            <a:r>
              <a:rPr lang="en-US" dirty="0">
                <a:solidFill>
                  <a:srgbClr val="18537D"/>
                </a:solidFill>
              </a:rPr>
              <a:t> logs to detect where the delay could be</a:t>
            </a:r>
          </a:p>
          <a:p>
            <a:pPr>
              <a:lnSpc>
                <a:spcPct val="150000"/>
              </a:lnSpc>
            </a:pPr>
            <a:r>
              <a:rPr lang="en-US" dirty="0">
                <a:solidFill>
                  <a:srgbClr val="18537D"/>
                </a:solidFill>
              </a:rPr>
              <a:t>c. Look at the throttling errors in </a:t>
            </a:r>
            <a:r>
              <a:rPr lang="en-US" dirty="0" err="1">
                <a:solidFill>
                  <a:srgbClr val="18537D"/>
                </a:solidFill>
              </a:rPr>
              <a:t>Cloudwatch</a:t>
            </a:r>
            <a:r>
              <a:rPr lang="en-US" dirty="0">
                <a:solidFill>
                  <a:srgbClr val="18537D"/>
                </a:solidFill>
              </a:rPr>
              <a:t> metrics</a:t>
            </a:r>
          </a:p>
          <a:p>
            <a:pPr>
              <a:lnSpc>
                <a:spcPct val="150000"/>
              </a:lnSpc>
            </a:pPr>
            <a:r>
              <a:rPr lang="en-US" b="1" dirty="0">
                <a:solidFill>
                  <a:srgbClr val="18537D"/>
                </a:solidFill>
              </a:rPr>
              <a:t>d. Use AWS X-Ray to see where the downstream delay could be</a:t>
            </a:r>
          </a:p>
        </p:txBody>
      </p:sp>
    </p:spTree>
    <p:extLst>
      <p:ext uri="{BB962C8B-B14F-4D97-AF65-F5344CB8AC3E}">
        <p14:creationId xmlns:p14="http://schemas.microsoft.com/office/powerpoint/2010/main" val="1421104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532809"/>
          </a:xfrm>
          <a:prstGeom prst="rect">
            <a:avLst/>
          </a:prstGeom>
        </p:spPr>
        <p:txBody>
          <a:bodyPr wrap="square">
            <a:spAutoFit/>
          </a:bodyPr>
          <a:lstStyle/>
          <a:p>
            <a:pPr>
              <a:lnSpc>
                <a:spcPct val="150000"/>
              </a:lnSpc>
            </a:pPr>
            <a:r>
              <a:rPr lang="en-US" dirty="0">
                <a:solidFill>
                  <a:srgbClr val="18537D"/>
                </a:solidFill>
              </a:rPr>
              <a:t>You have created the stages in </a:t>
            </a:r>
            <a:r>
              <a:rPr lang="en-US" dirty="0" err="1">
                <a:solidFill>
                  <a:srgbClr val="18537D"/>
                </a:solidFill>
              </a:rPr>
              <a:t>CodePipeline</a:t>
            </a:r>
            <a:r>
              <a:rPr lang="en-US" dirty="0">
                <a:solidFill>
                  <a:srgbClr val="18537D"/>
                </a:solidFill>
              </a:rPr>
              <a:t>:  What happens if there is a failure detected in the "Build" stage?</a:t>
            </a:r>
          </a:p>
          <a:p>
            <a:pPr>
              <a:lnSpc>
                <a:spcPct val="150000"/>
              </a:lnSpc>
            </a:pPr>
            <a:endParaRPr lang="en-US" dirty="0">
              <a:solidFill>
                <a:srgbClr val="18537D"/>
              </a:solidFill>
            </a:endParaRPr>
          </a:p>
          <a:p>
            <a:pPr>
              <a:lnSpc>
                <a:spcPct val="150000"/>
              </a:lnSpc>
            </a:pPr>
            <a:r>
              <a:rPr lang="en-US" dirty="0">
                <a:solidFill>
                  <a:srgbClr val="18537D"/>
                </a:solidFill>
              </a:rPr>
              <a:t>a. A rollback will happen at the "Source" stage.</a:t>
            </a:r>
          </a:p>
          <a:p>
            <a:pPr>
              <a:lnSpc>
                <a:spcPct val="150000"/>
              </a:lnSpc>
            </a:pPr>
            <a:r>
              <a:rPr lang="en-US" dirty="0">
                <a:solidFill>
                  <a:srgbClr val="18537D"/>
                </a:solidFill>
              </a:rPr>
              <a:t>b. The "Build" step will be attempted again.</a:t>
            </a:r>
          </a:p>
          <a:p>
            <a:pPr>
              <a:lnSpc>
                <a:spcPct val="150000"/>
              </a:lnSpc>
            </a:pPr>
            <a:r>
              <a:rPr lang="en-US" dirty="0">
                <a:solidFill>
                  <a:srgbClr val="18537D"/>
                </a:solidFill>
              </a:rPr>
              <a:t>c. The "Build" step will be skipped and the "Staging" step will start.</a:t>
            </a:r>
          </a:p>
          <a:p>
            <a:pPr>
              <a:lnSpc>
                <a:spcPct val="150000"/>
              </a:lnSpc>
            </a:pPr>
            <a:r>
              <a:rPr lang="en-US" dirty="0">
                <a:solidFill>
                  <a:srgbClr val="18537D"/>
                </a:solidFill>
              </a:rPr>
              <a:t>d. The entire process will halt.</a:t>
            </a:r>
          </a:p>
        </p:txBody>
      </p:sp>
    </p:spTree>
    <p:extLst>
      <p:ext uri="{BB962C8B-B14F-4D97-AF65-F5344CB8AC3E}">
        <p14:creationId xmlns:p14="http://schemas.microsoft.com/office/powerpoint/2010/main" val="2617453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532809"/>
          </a:xfrm>
          <a:prstGeom prst="rect">
            <a:avLst/>
          </a:prstGeom>
        </p:spPr>
        <p:txBody>
          <a:bodyPr wrap="square">
            <a:spAutoFit/>
          </a:bodyPr>
          <a:lstStyle/>
          <a:p>
            <a:pPr>
              <a:lnSpc>
                <a:spcPct val="150000"/>
              </a:lnSpc>
            </a:pPr>
            <a:r>
              <a:rPr lang="en-US" dirty="0">
                <a:solidFill>
                  <a:srgbClr val="18537D"/>
                </a:solidFill>
              </a:rPr>
              <a:t>You have created the stages in </a:t>
            </a:r>
            <a:r>
              <a:rPr lang="en-US" b="1" dirty="0" err="1">
                <a:solidFill>
                  <a:srgbClr val="18537D"/>
                </a:solidFill>
              </a:rPr>
              <a:t>CodePipeline</a:t>
            </a:r>
            <a:r>
              <a:rPr lang="en-US" b="1" dirty="0">
                <a:solidFill>
                  <a:srgbClr val="18537D"/>
                </a:solidFill>
              </a:rPr>
              <a:t>:  </a:t>
            </a:r>
            <a:r>
              <a:rPr lang="en-US" dirty="0">
                <a:solidFill>
                  <a:srgbClr val="18537D"/>
                </a:solidFill>
              </a:rPr>
              <a:t>What happens if there is a </a:t>
            </a:r>
            <a:r>
              <a:rPr lang="en-US" b="1" dirty="0">
                <a:solidFill>
                  <a:srgbClr val="18537D"/>
                </a:solidFill>
              </a:rPr>
              <a:t>failure detected in the "Build" stage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A rollback will happen at the "Source" stage.</a:t>
            </a:r>
          </a:p>
          <a:p>
            <a:pPr>
              <a:lnSpc>
                <a:spcPct val="150000"/>
              </a:lnSpc>
            </a:pPr>
            <a:r>
              <a:rPr lang="en-US" dirty="0">
                <a:solidFill>
                  <a:srgbClr val="18537D"/>
                </a:solidFill>
              </a:rPr>
              <a:t>b. The "Build" step will be attempted again.</a:t>
            </a:r>
          </a:p>
          <a:p>
            <a:pPr>
              <a:lnSpc>
                <a:spcPct val="150000"/>
              </a:lnSpc>
            </a:pPr>
            <a:r>
              <a:rPr lang="en-US" dirty="0">
                <a:solidFill>
                  <a:srgbClr val="18537D"/>
                </a:solidFill>
              </a:rPr>
              <a:t>c. The "Build" step will be skipped and the "Staging" step will start.</a:t>
            </a:r>
          </a:p>
          <a:p>
            <a:pPr>
              <a:lnSpc>
                <a:spcPct val="150000"/>
              </a:lnSpc>
            </a:pPr>
            <a:r>
              <a:rPr lang="en-US" dirty="0">
                <a:solidFill>
                  <a:srgbClr val="18537D"/>
                </a:solidFill>
              </a:rPr>
              <a:t>d. The entire process will halt.</a:t>
            </a:r>
          </a:p>
        </p:txBody>
      </p:sp>
    </p:spTree>
    <p:extLst>
      <p:ext uri="{BB962C8B-B14F-4D97-AF65-F5344CB8AC3E}">
        <p14:creationId xmlns:p14="http://schemas.microsoft.com/office/powerpoint/2010/main" val="31320208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532809"/>
          </a:xfrm>
          <a:prstGeom prst="rect">
            <a:avLst/>
          </a:prstGeom>
        </p:spPr>
        <p:txBody>
          <a:bodyPr wrap="square">
            <a:spAutoFit/>
          </a:bodyPr>
          <a:lstStyle/>
          <a:p>
            <a:pPr>
              <a:lnSpc>
                <a:spcPct val="150000"/>
              </a:lnSpc>
            </a:pPr>
            <a:r>
              <a:rPr lang="en-US" dirty="0">
                <a:solidFill>
                  <a:srgbClr val="18537D"/>
                </a:solidFill>
              </a:rPr>
              <a:t>You have created the stages in </a:t>
            </a:r>
            <a:r>
              <a:rPr lang="en-US" b="1" dirty="0" err="1">
                <a:solidFill>
                  <a:srgbClr val="18537D"/>
                </a:solidFill>
              </a:rPr>
              <a:t>CodePipeline</a:t>
            </a:r>
            <a:r>
              <a:rPr lang="en-US" b="1" dirty="0">
                <a:solidFill>
                  <a:srgbClr val="18537D"/>
                </a:solidFill>
              </a:rPr>
              <a:t>:  </a:t>
            </a:r>
            <a:r>
              <a:rPr lang="en-US" dirty="0">
                <a:solidFill>
                  <a:srgbClr val="18537D"/>
                </a:solidFill>
              </a:rPr>
              <a:t>What happens if there is a </a:t>
            </a:r>
            <a:r>
              <a:rPr lang="en-US" b="1" dirty="0">
                <a:solidFill>
                  <a:srgbClr val="18537D"/>
                </a:solidFill>
              </a:rPr>
              <a:t>failure detected in the "Build" stage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A rollback will happen at the "Source" stage.</a:t>
            </a:r>
          </a:p>
          <a:p>
            <a:pPr>
              <a:lnSpc>
                <a:spcPct val="150000"/>
              </a:lnSpc>
            </a:pPr>
            <a:r>
              <a:rPr lang="en-US" dirty="0">
                <a:solidFill>
                  <a:srgbClr val="18537D"/>
                </a:solidFill>
              </a:rPr>
              <a:t>b. The "Build" step will be attempted again.</a:t>
            </a:r>
          </a:p>
          <a:p>
            <a:pPr>
              <a:lnSpc>
                <a:spcPct val="150000"/>
              </a:lnSpc>
            </a:pPr>
            <a:r>
              <a:rPr lang="en-US" dirty="0">
                <a:solidFill>
                  <a:srgbClr val="18537D"/>
                </a:solidFill>
              </a:rPr>
              <a:t>c. The "Build" step will be skipped and the "Staging" step will start.</a:t>
            </a:r>
          </a:p>
          <a:p>
            <a:pPr>
              <a:lnSpc>
                <a:spcPct val="150000"/>
              </a:lnSpc>
            </a:pPr>
            <a:r>
              <a:rPr lang="en-US" b="1" dirty="0">
                <a:solidFill>
                  <a:srgbClr val="18537D"/>
                </a:solidFill>
              </a:rPr>
              <a:t>d. The entire process will halt.</a:t>
            </a:r>
          </a:p>
        </p:txBody>
      </p:sp>
    </p:spTree>
    <p:extLst>
      <p:ext uri="{BB962C8B-B14F-4D97-AF65-F5344CB8AC3E}">
        <p14:creationId xmlns:p14="http://schemas.microsoft.com/office/powerpoint/2010/main" val="2448706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is creating multiple AWS Lambda functions that will be using an external library that is not</a:t>
            </a:r>
          </a:p>
          <a:p>
            <a:pPr>
              <a:lnSpc>
                <a:spcPct val="150000"/>
              </a:lnSpc>
            </a:pPr>
            <a:r>
              <a:rPr lang="en-US" dirty="0">
                <a:solidFill>
                  <a:srgbClr val="18537D"/>
                </a:solidFill>
              </a:rPr>
              <a:t>included in the standard Lambda libraries. What is the BEST way to make these </a:t>
            </a:r>
            <a:r>
              <a:rPr lang="en-US" b="1" dirty="0">
                <a:solidFill>
                  <a:srgbClr val="18537D"/>
                </a:solidFill>
              </a:rPr>
              <a:t>libraries available to the</a:t>
            </a:r>
          </a:p>
          <a:p>
            <a:pPr>
              <a:lnSpc>
                <a:spcPct val="150000"/>
              </a:lnSpc>
            </a:pPr>
            <a:r>
              <a:rPr lang="en-US" b="1" dirty="0">
                <a:solidFill>
                  <a:srgbClr val="18537D"/>
                </a:solidFill>
              </a:rPr>
              <a:t>functions</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A.Include</a:t>
            </a:r>
            <a:r>
              <a:rPr lang="en-US" dirty="0">
                <a:solidFill>
                  <a:srgbClr val="18537D"/>
                </a:solidFill>
              </a:rPr>
              <a:t> the external library with the function code</a:t>
            </a:r>
          </a:p>
          <a:p>
            <a:pPr>
              <a:lnSpc>
                <a:spcPct val="150000"/>
              </a:lnSpc>
            </a:pPr>
            <a:r>
              <a:rPr lang="en-US" dirty="0" err="1">
                <a:solidFill>
                  <a:srgbClr val="18537D"/>
                </a:solidFill>
              </a:rPr>
              <a:t>B.Create</a:t>
            </a:r>
            <a:r>
              <a:rPr lang="en-US" dirty="0">
                <a:solidFill>
                  <a:srgbClr val="18537D"/>
                </a:solidFill>
              </a:rPr>
              <a:t> a deployment package that includes the external library</a:t>
            </a:r>
          </a:p>
          <a:p>
            <a:pPr>
              <a:lnSpc>
                <a:spcPct val="150000"/>
              </a:lnSpc>
            </a:pPr>
            <a:r>
              <a:rPr lang="en-US" dirty="0" err="1">
                <a:solidFill>
                  <a:srgbClr val="18537D"/>
                </a:solidFill>
              </a:rPr>
              <a:t>C.Store</a:t>
            </a:r>
            <a:r>
              <a:rPr lang="en-US" dirty="0">
                <a:solidFill>
                  <a:srgbClr val="18537D"/>
                </a:solidFill>
              </a:rPr>
              <a:t> the files in Amazon S3 and reference them from your function code</a:t>
            </a:r>
          </a:p>
          <a:p>
            <a:pPr>
              <a:lnSpc>
                <a:spcPct val="150000"/>
              </a:lnSpc>
            </a:pPr>
            <a:r>
              <a:rPr lang="en-US" dirty="0" err="1">
                <a:solidFill>
                  <a:srgbClr val="18537D"/>
                </a:solidFill>
              </a:rPr>
              <a:t>D.Create</a:t>
            </a:r>
            <a:r>
              <a:rPr lang="en-US" dirty="0">
                <a:solidFill>
                  <a:srgbClr val="18537D"/>
                </a:solidFill>
              </a:rPr>
              <a:t> a layer in Lambda that includes the external library</a:t>
            </a:r>
          </a:p>
        </p:txBody>
      </p:sp>
    </p:spTree>
    <p:extLst>
      <p:ext uri="{BB962C8B-B14F-4D97-AF65-F5344CB8AC3E}">
        <p14:creationId xmlns:p14="http://schemas.microsoft.com/office/powerpoint/2010/main" val="38306888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is creating multiple AWS Lambda functions that will be using an external library that is not</a:t>
            </a:r>
          </a:p>
          <a:p>
            <a:pPr>
              <a:lnSpc>
                <a:spcPct val="150000"/>
              </a:lnSpc>
            </a:pPr>
            <a:r>
              <a:rPr lang="en-US" dirty="0">
                <a:solidFill>
                  <a:srgbClr val="18537D"/>
                </a:solidFill>
              </a:rPr>
              <a:t>included in the standard Lambda libraries. What is the BEST way to make these </a:t>
            </a:r>
            <a:r>
              <a:rPr lang="en-US" b="1" dirty="0">
                <a:solidFill>
                  <a:srgbClr val="18537D"/>
                </a:solidFill>
              </a:rPr>
              <a:t>libraries available to the</a:t>
            </a:r>
          </a:p>
          <a:p>
            <a:pPr>
              <a:lnSpc>
                <a:spcPct val="150000"/>
              </a:lnSpc>
            </a:pPr>
            <a:r>
              <a:rPr lang="en-US" b="1" dirty="0">
                <a:solidFill>
                  <a:srgbClr val="18537D"/>
                </a:solidFill>
              </a:rPr>
              <a:t>functions</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err="1">
                <a:solidFill>
                  <a:srgbClr val="18537D"/>
                </a:solidFill>
              </a:rPr>
              <a:t>A.Include</a:t>
            </a:r>
            <a:r>
              <a:rPr lang="en-US" dirty="0">
                <a:solidFill>
                  <a:srgbClr val="18537D"/>
                </a:solidFill>
              </a:rPr>
              <a:t> the external library with the function code</a:t>
            </a:r>
          </a:p>
          <a:p>
            <a:pPr>
              <a:lnSpc>
                <a:spcPct val="150000"/>
              </a:lnSpc>
            </a:pPr>
            <a:r>
              <a:rPr lang="en-US" dirty="0" err="1">
                <a:solidFill>
                  <a:srgbClr val="18537D"/>
                </a:solidFill>
              </a:rPr>
              <a:t>B.Create</a:t>
            </a:r>
            <a:r>
              <a:rPr lang="en-US" dirty="0">
                <a:solidFill>
                  <a:srgbClr val="18537D"/>
                </a:solidFill>
              </a:rPr>
              <a:t> a deployment package that includes the external library</a:t>
            </a:r>
          </a:p>
          <a:p>
            <a:pPr>
              <a:lnSpc>
                <a:spcPct val="150000"/>
              </a:lnSpc>
            </a:pPr>
            <a:r>
              <a:rPr lang="en-US" dirty="0" err="1">
                <a:solidFill>
                  <a:srgbClr val="18537D"/>
                </a:solidFill>
              </a:rPr>
              <a:t>C.Store</a:t>
            </a:r>
            <a:r>
              <a:rPr lang="en-US" dirty="0">
                <a:solidFill>
                  <a:srgbClr val="18537D"/>
                </a:solidFill>
              </a:rPr>
              <a:t> the files in Amazon S3 and reference them from your function code</a:t>
            </a:r>
          </a:p>
          <a:p>
            <a:pPr>
              <a:lnSpc>
                <a:spcPct val="150000"/>
              </a:lnSpc>
            </a:pPr>
            <a:r>
              <a:rPr lang="en-US" dirty="0" err="1">
                <a:solidFill>
                  <a:srgbClr val="18537D"/>
                </a:solidFill>
              </a:rPr>
              <a:t>D.</a:t>
            </a:r>
            <a:r>
              <a:rPr lang="en-US" b="1" dirty="0" err="1">
                <a:solidFill>
                  <a:srgbClr val="18537D"/>
                </a:solidFill>
              </a:rPr>
              <a:t>Create</a:t>
            </a:r>
            <a:r>
              <a:rPr lang="en-US" b="1" dirty="0">
                <a:solidFill>
                  <a:srgbClr val="18537D"/>
                </a:solidFill>
              </a:rPr>
              <a:t> a layer in Lambda that includes the external library</a:t>
            </a:r>
          </a:p>
        </p:txBody>
      </p:sp>
    </p:spTree>
    <p:extLst>
      <p:ext uri="{BB962C8B-B14F-4D97-AF65-F5344CB8AC3E}">
        <p14:creationId xmlns:p14="http://schemas.microsoft.com/office/powerpoint/2010/main" val="28777324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610301"/>
          </a:xfrm>
          <a:prstGeom prst="rect">
            <a:avLst/>
          </a:prstGeom>
        </p:spPr>
        <p:txBody>
          <a:bodyPr wrap="square">
            <a:spAutoFit/>
          </a:bodyPr>
          <a:lstStyle/>
          <a:p>
            <a:pPr>
              <a:lnSpc>
                <a:spcPct val="150000"/>
              </a:lnSpc>
            </a:pPr>
            <a:r>
              <a:rPr lang="en-US" dirty="0">
                <a:solidFill>
                  <a:srgbClr val="18537D"/>
                </a:solidFill>
              </a:rPr>
              <a:t>A Developer has been asked to create an AWS Elastic Beanstalk environment for a production web application which needs to handle thousands of requests. Currently, the dev environment is running on a t1.micro instance.  What is the best way for the developer to provision a new production environment with a m4.large instance instead of a t1.micro?</a:t>
            </a:r>
          </a:p>
          <a:p>
            <a:pPr>
              <a:lnSpc>
                <a:spcPct val="150000"/>
              </a:lnSpc>
            </a:pPr>
            <a:endParaRPr lang="en-US" dirty="0">
              <a:solidFill>
                <a:srgbClr val="18537D"/>
              </a:solidFill>
            </a:endParaRPr>
          </a:p>
          <a:p>
            <a:pPr>
              <a:lnSpc>
                <a:spcPct val="150000"/>
              </a:lnSpc>
            </a:pPr>
            <a:r>
              <a:rPr lang="en-US" dirty="0">
                <a:solidFill>
                  <a:srgbClr val="18537D"/>
                </a:solidFill>
              </a:rPr>
              <a:t>a. Use CloudFormation to migrate the Amazon EC2 instance type from t1.micro to m4.large.</a:t>
            </a:r>
          </a:p>
          <a:p>
            <a:pPr>
              <a:lnSpc>
                <a:spcPct val="150000"/>
              </a:lnSpc>
            </a:pPr>
            <a:r>
              <a:rPr lang="en-US" dirty="0">
                <a:solidFill>
                  <a:srgbClr val="18537D"/>
                </a:solidFill>
              </a:rPr>
              <a:t>b. Create a new configuration file with the instance type as m4.large and reference this file when provisioning the new environment.</a:t>
            </a:r>
          </a:p>
          <a:p>
            <a:pPr>
              <a:lnSpc>
                <a:spcPct val="150000"/>
              </a:lnSpc>
            </a:pPr>
            <a:r>
              <a:rPr lang="en-US" dirty="0">
                <a:solidFill>
                  <a:srgbClr val="18537D"/>
                </a:solidFill>
              </a:rPr>
              <a:t>c. Provision a m4.large instance directly in the dev environment and deploy to the new production environment.</a:t>
            </a:r>
          </a:p>
          <a:p>
            <a:pPr>
              <a:lnSpc>
                <a:spcPct val="150000"/>
              </a:lnSpc>
            </a:pPr>
            <a:r>
              <a:rPr lang="en-US" dirty="0">
                <a:solidFill>
                  <a:srgbClr val="18537D"/>
                </a:solidFill>
              </a:rPr>
              <a:t>d. Change the instance type value in the configurations file to m4.large by using the update autoscaling group CLI command.</a:t>
            </a:r>
          </a:p>
        </p:txBody>
      </p:sp>
    </p:spTree>
    <p:extLst>
      <p:ext uri="{BB962C8B-B14F-4D97-AF65-F5344CB8AC3E}">
        <p14:creationId xmlns:p14="http://schemas.microsoft.com/office/powerpoint/2010/main" val="11993230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610301"/>
          </a:xfrm>
          <a:prstGeom prst="rect">
            <a:avLst/>
          </a:prstGeom>
        </p:spPr>
        <p:txBody>
          <a:bodyPr wrap="square">
            <a:spAutoFit/>
          </a:bodyPr>
          <a:lstStyle/>
          <a:p>
            <a:pPr>
              <a:lnSpc>
                <a:spcPct val="150000"/>
              </a:lnSpc>
            </a:pPr>
            <a:r>
              <a:rPr lang="en-US" dirty="0">
                <a:solidFill>
                  <a:srgbClr val="18537D"/>
                </a:solidFill>
              </a:rPr>
              <a:t>A Developer has been asked to create </a:t>
            </a:r>
            <a:r>
              <a:rPr lang="en-US" b="1" dirty="0">
                <a:solidFill>
                  <a:srgbClr val="18537D"/>
                </a:solidFill>
              </a:rPr>
              <a:t>an AWS Elastic Beanstalk environment </a:t>
            </a:r>
            <a:r>
              <a:rPr lang="en-US" dirty="0">
                <a:solidFill>
                  <a:srgbClr val="18537D"/>
                </a:solidFill>
              </a:rPr>
              <a:t>for a production web application which needs to handle thousands of requests. Currently, the dev environment is running on a </a:t>
            </a:r>
            <a:r>
              <a:rPr lang="en-US" b="1" dirty="0">
                <a:solidFill>
                  <a:srgbClr val="18537D"/>
                </a:solidFill>
              </a:rPr>
              <a:t>t1.micro instance</a:t>
            </a:r>
            <a:r>
              <a:rPr lang="en-US" dirty="0">
                <a:solidFill>
                  <a:srgbClr val="18537D"/>
                </a:solidFill>
              </a:rPr>
              <a:t>.  What is the best way for the developer to provision a </a:t>
            </a:r>
            <a:r>
              <a:rPr lang="en-US" b="1" dirty="0">
                <a:solidFill>
                  <a:srgbClr val="18537D"/>
                </a:solidFill>
              </a:rPr>
              <a:t>new production environment with a m4.large instance </a:t>
            </a:r>
            <a:r>
              <a:rPr lang="en-US" dirty="0">
                <a:solidFill>
                  <a:srgbClr val="18537D"/>
                </a:solidFill>
              </a:rPr>
              <a:t>instead of a t1.micro?</a:t>
            </a:r>
          </a:p>
          <a:p>
            <a:pPr>
              <a:lnSpc>
                <a:spcPct val="150000"/>
              </a:lnSpc>
            </a:pPr>
            <a:endParaRPr lang="en-US" dirty="0">
              <a:solidFill>
                <a:srgbClr val="18537D"/>
              </a:solidFill>
            </a:endParaRPr>
          </a:p>
          <a:p>
            <a:pPr>
              <a:lnSpc>
                <a:spcPct val="150000"/>
              </a:lnSpc>
            </a:pPr>
            <a:r>
              <a:rPr lang="en-US" dirty="0">
                <a:solidFill>
                  <a:srgbClr val="18537D"/>
                </a:solidFill>
              </a:rPr>
              <a:t>a. Use CloudFormation to migrate the Amazon EC2 instance type from t1.micro to m4.large.</a:t>
            </a:r>
          </a:p>
          <a:p>
            <a:pPr>
              <a:lnSpc>
                <a:spcPct val="150000"/>
              </a:lnSpc>
            </a:pPr>
            <a:r>
              <a:rPr lang="en-US" dirty="0">
                <a:solidFill>
                  <a:srgbClr val="18537D"/>
                </a:solidFill>
              </a:rPr>
              <a:t>b. Create a new configuration file with the instance type as m4.large and reference this file when provisioning the new environment.</a:t>
            </a:r>
          </a:p>
          <a:p>
            <a:pPr>
              <a:lnSpc>
                <a:spcPct val="150000"/>
              </a:lnSpc>
            </a:pPr>
            <a:r>
              <a:rPr lang="en-US" dirty="0">
                <a:solidFill>
                  <a:srgbClr val="18537D"/>
                </a:solidFill>
              </a:rPr>
              <a:t>c. Provision a m4.large instance directly in the dev environment and deploy to the new production environment.</a:t>
            </a:r>
          </a:p>
          <a:p>
            <a:pPr>
              <a:lnSpc>
                <a:spcPct val="150000"/>
              </a:lnSpc>
            </a:pPr>
            <a:r>
              <a:rPr lang="en-US" dirty="0">
                <a:solidFill>
                  <a:srgbClr val="18537D"/>
                </a:solidFill>
              </a:rPr>
              <a:t>d. Change the instance type value in the configurations file to m4.large by using the update autoscaling group CLI command.</a:t>
            </a:r>
          </a:p>
        </p:txBody>
      </p:sp>
    </p:spTree>
    <p:extLst>
      <p:ext uri="{BB962C8B-B14F-4D97-AF65-F5344CB8AC3E}">
        <p14:creationId xmlns:p14="http://schemas.microsoft.com/office/powerpoint/2010/main" val="1425987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610301"/>
          </a:xfrm>
          <a:prstGeom prst="rect">
            <a:avLst/>
          </a:prstGeom>
        </p:spPr>
        <p:txBody>
          <a:bodyPr wrap="square">
            <a:spAutoFit/>
          </a:bodyPr>
          <a:lstStyle/>
          <a:p>
            <a:pPr>
              <a:lnSpc>
                <a:spcPct val="150000"/>
              </a:lnSpc>
            </a:pPr>
            <a:r>
              <a:rPr lang="en-US" dirty="0">
                <a:solidFill>
                  <a:srgbClr val="18537D"/>
                </a:solidFill>
              </a:rPr>
              <a:t>A Developer has been asked to create </a:t>
            </a:r>
            <a:r>
              <a:rPr lang="en-US" b="1" dirty="0">
                <a:solidFill>
                  <a:srgbClr val="18537D"/>
                </a:solidFill>
              </a:rPr>
              <a:t>an AWS Elastic Beanstalk environment </a:t>
            </a:r>
            <a:r>
              <a:rPr lang="en-US" dirty="0">
                <a:solidFill>
                  <a:srgbClr val="18537D"/>
                </a:solidFill>
              </a:rPr>
              <a:t>for a production web application which needs to handle thousands of requests. Currently, the dev environment is running on a </a:t>
            </a:r>
            <a:r>
              <a:rPr lang="en-US" b="1" dirty="0">
                <a:solidFill>
                  <a:srgbClr val="18537D"/>
                </a:solidFill>
              </a:rPr>
              <a:t>t1.micro instance</a:t>
            </a:r>
            <a:r>
              <a:rPr lang="en-US" dirty="0">
                <a:solidFill>
                  <a:srgbClr val="18537D"/>
                </a:solidFill>
              </a:rPr>
              <a:t>.  What is the best way for the developer to provision a </a:t>
            </a:r>
            <a:r>
              <a:rPr lang="en-US" b="1" dirty="0">
                <a:solidFill>
                  <a:srgbClr val="18537D"/>
                </a:solidFill>
              </a:rPr>
              <a:t>new production environment with a m4.large instance </a:t>
            </a:r>
            <a:r>
              <a:rPr lang="en-US" dirty="0">
                <a:solidFill>
                  <a:srgbClr val="18537D"/>
                </a:solidFill>
              </a:rPr>
              <a:t>instead of a t1.micro?</a:t>
            </a:r>
          </a:p>
          <a:p>
            <a:pPr>
              <a:lnSpc>
                <a:spcPct val="150000"/>
              </a:lnSpc>
            </a:pPr>
            <a:endParaRPr lang="en-US" dirty="0">
              <a:solidFill>
                <a:srgbClr val="18537D"/>
              </a:solidFill>
            </a:endParaRPr>
          </a:p>
          <a:p>
            <a:pPr>
              <a:lnSpc>
                <a:spcPct val="150000"/>
              </a:lnSpc>
            </a:pPr>
            <a:r>
              <a:rPr lang="en-US" dirty="0">
                <a:solidFill>
                  <a:srgbClr val="18537D"/>
                </a:solidFill>
              </a:rPr>
              <a:t>a. Use CloudFormation to migrate the Amazon EC2 instance type from t1.micro to m4.large.</a:t>
            </a:r>
          </a:p>
          <a:p>
            <a:pPr>
              <a:lnSpc>
                <a:spcPct val="150000"/>
              </a:lnSpc>
            </a:pPr>
            <a:r>
              <a:rPr lang="en-US" b="1" dirty="0">
                <a:solidFill>
                  <a:srgbClr val="18537D"/>
                </a:solidFill>
              </a:rPr>
              <a:t>b. Create a new configuration file with the instance type as m4.large and reference this file when provisioning the new environment.</a:t>
            </a:r>
          </a:p>
          <a:p>
            <a:pPr>
              <a:lnSpc>
                <a:spcPct val="150000"/>
              </a:lnSpc>
            </a:pPr>
            <a:r>
              <a:rPr lang="en-US" dirty="0">
                <a:solidFill>
                  <a:srgbClr val="18537D"/>
                </a:solidFill>
              </a:rPr>
              <a:t>c. Provision a m4.large instance directly in the dev environment and deploy to the new production environment.</a:t>
            </a:r>
          </a:p>
          <a:p>
            <a:pPr>
              <a:lnSpc>
                <a:spcPct val="150000"/>
              </a:lnSpc>
            </a:pPr>
            <a:r>
              <a:rPr lang="en-US" dirty="0">
                <a:solidFill>
                  <a:srgbClr val="18537D"/>
                </a:solidFill>
              </a:rPr>
              <a:t>d. Change the instance type value in the configurations file to m4.large by using the update autoscaling group CLI command.</a:t>
            </a:r>
          </a:p>
        </p:txBody>
      </p:sp>
    </p:spTree>
    <p:extLst>
      <p:ext uri="{BB962C8B-B14F-4D97-AF65-F5344CB8AC3E}">
        <p14:creationId xmlns:p14="http://schemas.microsoft.com/office/powerpoint/2010/main" val="719325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An organization is using AWS Elastic Beanstalk for a web application. The Developer needs to configure the Elastic Beanstalk environment with deployment methods that will create new instances and deploy code to those instances. Which methods will deploy code ONLY to new instances? Choose 2 answers from the options given below. </a:t>
            </a:r>
          </a:p>
          <a:p>
            <a:pPr>
              <a:lnSpc>
                <a:spcPct val="150000"/>
              </a:lnSpc>
            </a:pPr>
            <a:endParaRPr lang="en-US" dirty="0">
              <a:solidFill>
                <a:srgbClr val="18537D"/>
              </a:solidFill>
            </a:endParaRPr>
          </a:p>
          <a:p>
            <a:pPr>
              <a:lnSpc>
                <a:spcPct val="150000"/>
              </a:lnSpc>
            </a:pPr>
            <a:r>
              <a:rPr lang="en-US" dirty="0">
                <a:solidFill>
                  <a:srgbClr val="18537D"/>
                </a:solidFill>
              </a:rPr>
              <a:t>a. All at once deployment</a:t>
            </a:r>
          </a:p>
          <a:p>
            <a:pPr>
              <a:lnSpc>
                <a:spcPct val="150000"/>
              </a:lnSpc>
            </a:pPr>
            <a:r>
              <a:rPr lang="en-US" dirty="0">
                <a:solidFill>
                  <a:srgbClr val="18537D"/>
                </a:solidFill>
              </a:rPr>
              <a:t>b. Immutable deployment</a:t>
            </a:r>
          </a:p>
          <a:p>
            <a:pPr>
              <a:lnSpc>
                <a:spcPct val="150000"/>
              </a:lnSpc>
            </a:pPr>
            <a:r>
              <a:rPr lang="en-US" dirty="0">
                <a:solidFill>
                  <a:srgbClr val="18537D"/>
                </a:solidFill>
              </a:rPr>
              <a:t>c. Rolling deployment</a:t>
            </a:r>
          </a:p>
          <a:p>
            <a:pPr>
              <a:lnSpc>
                <a:spcPct val="150000"/>
              </a:lnSpc>
            </a:pPr>
            <a:r>
              <a:rPr lang="en-US" dirty="0">
                <a:solidFill>
                  <a:srgbClr val="18537D"/>
                </a:solidFill>
              </a:rPr>
              <a:t>d. Linear deployment</a:t>
            </a:r>
          </a:p>
          <a:p>
            <a:pPr>
              <a:lnSpc>
                <a:spcPct val="150000"/>
              </a:lnSpc>
            </a:pPr>
            <a:r>
              <a:rPr lang="en-US" dirty="0">
                <a:solidFill>
                  <a:srgbClr val="18537D"/>
                </a:solidFill>
              </a:rPr>
              <a:t>e. Blue/Green deployment</a:t>
            </a:r>
          </a:p>
        </p:txBody>
      </p:sp>
    </p:spTree>
    <p:extLst>
      <p:ext uri="{BB962C8B-B14F-4D97-AF65-F5344CB8AC3E}">
        <p14:creationId xmlns:p14="http://schemas.microsoft.com/office/powerpoint/2010/main" val="3888968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An organization is using </a:t>
            </a:r>
            <a:r>
              <a:rPr lang="en-US" b="1" dirty="0">
                <a:solidFill>
                  <a:srgbClr val="18537D"/>
                </a:solidFill>
              </a:rPr>
              <a:t>AWS Elastic Beanstalk </a:t>
            </a:r>
            <a:r>
              <a:rPr lang="en-US" dirty="0">
                <a:solidFill>
                  <a:srgbClr val="18537D"/>
                </a:solidFill>
              </a:rPr>
              <a:t>for a web application. The Developer needs to configure the Elastic Beanstalk environment with </a:t>
            </a:r>
            <a:r>
              <a:rPr lang="en-US" b="1" dirty="0">
                <a:solidFill>
                  <a:srgbClr val="18537D"/>
                </a:solidFill>
              </a:rPr>
              <a:t>deployment methods </a:t>
            </a:r>
            <a:r>
              <a:rPr lang="en-US" dirty="0">
                <a:solidFill>
                  <a:srgbClr val="18537D"/>
                </a:solidFill>
              </a:rPr>
              <a:t>that will create new instances and deploy code to those instances. Which methods will </a:t>
            </a:r>
            <a:r>
              <a:rPr lang="en-US" b="1" dirty="0">
                <a:solidFill>
                  <a:srgbClr val="18537D"/>
                </a:solidFill>
              </a:rPr>
              <a:t>deploy code ONLY to new instances</a:t>
            </a:r>
            <a:r>
              <a:rPr lang="en-US" dirty="0">
                <a:solidFill>
                  <a:srgbClr val="18537D"/>
                </a:solidFill>
              </a:rPr>
              <a:t>? Choose 2 answers from the options given below. </a:t>
            </a:r>
          </a:p>
          <a:p>
            <a:pPr>
              <a:lnSpc>
                <a:spcPct val="150000"/>
              </a:lnSpc>
            </a:pPr>
            <a:endParaRPr lang="en-US" dirty="0">
              <a:solidFill>
                <a:srgbClr val="18537D"/>
              </a:solidFill>
            </a:endParaRPr>
          </a:p>
          <a:p>
            <a:pPr>
              <a:lnSpc>
                <a:spcPct val="150000"/>
              </a:lnSpc>
            </a:pPr>
            <a:r>
              <a:rPr lang="en-US" dirty="0">
                <a:solidFill>
                  <a:srgbClr val="18537D"/>
                </a:solidFill>
              </a:rPr>
              <a:t>a. All at once deployment</a:t>
            </a:r>
          </a:p>
          <a:p>
            <a:pPr>
              <a:lnSpc>
                <a:spcPct val="150000"/>
              </a:lnSpc>
            </a:pPr>
            <a:r>
              <a:rPr lang="en-US" dirty="0">
                <a:solidFill>
                  <a:srgbClr val="18537D"/>
                </a:solidFill>
              </a:rPr>
              <a:t>b. Immutable deployment</a:t>
            </a:r>
          </a:p>
          <a:p>
            <a:pPr>
              <a:lnSpc>
                <a:spcPct val="150000"/>
              </a:lnSpc>
            </a:pPr>
            <a:r>
              <a:rPr lang="en-US" dirty="0">
                <a:solidFill>
                  <a:srgbClr val="18537D"/>
                </a:solidFill>
              </a:rPr>
              <a:t>c. Rolling deployment</a:t>
            </a:r>
          </a:p>
          <a:p>
            <a:pPr>
              <a:lnSpc>
                <a:spcPct val="150000"/>
              </a:lnSpc>
            </a:pPr>
            <a:r>
              <a:rPr lang="en-US" dirty="0">
                <a:solidFill>
                  <a:srgbClr val="18537D"/>
                </a:solidFill>
              </a:rPr>
              <a:t>d. Linear deployment</a:t>
            </a:r>
          </a:p>
          <a:p>
            <a:pPr>
              <a:lnSpc>
                <a:spcPct val="150000"/>
              </a:lnSpc>
            </a:pPr>
            <a:r>
              <a:rPr lang="en-US" dirty="0">
                <a:solidFill>
                  <a:srgbClr val="18537D"/>
                </a:solidFill>
              </a:rPr>
              <a:t>e. Blue/Green deployment</a:t>
            </a:r>
          </a:p>
        </p:txBody>
      </p:sp>
    </p:spTree>
    <p:extLst>
      <p:ext uri="{BB962C8B-B14F-4D97-AF65-F5344CB8AC3E}">
        <p14:creationId xmlns:p14="http://schemas.microsoft.com/office/powerpoint/2010/main" val="2836693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An organization is using </a:t>
            </a:r>
            <a:r>
              <a:rPr lang="en-US" b="1" dirty="0">
                <a:solidFill>
                  <a:srgbClr val="18537D"/>
                </a:solidFill>
              </a:rPr>
              <a:t>AWS Elastic Beanstalk </a:t>
            </a:r>
            <a:r>
              <a:rPr lang="en-US" dirty="0">
                <a:solidFill>
                  <a:srgbClr val="18537D"/>
                </a:solidFill>
              </a:rPr>
              <a:t>for a web application. The Developer needs to configure the Elastic Beanstalk environment with </a:t>
            </a:r>
            <a:r>
              <a:rPr lang="en-US" b="1" dirty="0">
                <a:solidFill>
                  <a:srgbClr val="18537D"/>
                </a:solidFill>
              </a:rPr>
              <a:t>deployment methods </a:t>
            </a:r>
            <a:r>
              <a:rPr lang="en-US" dirty="0">
                <a:solidFill>
                  <a:srgbClr val="18537D"/>
                </a:solidFill>
              </a:rPr>
              <a:t>that will create new instances and deploy code to those instances. Which methods will </a:t>
            </a:r>
            <a:r>
              <a:rPr lang="en-US" b="1" dirty="0">
                <a:solidFill>
                  <a:srgbClr val="18537D"/>
                </a:solidFill>
              </a:rPr>
              <a:t>deploy code ONLY to new instances</a:t>
            </a:r>
            <a:r>
              <a:rPr lang="en-US" dirty="0">
                <a:solidFill>
                  <a:srgbClr val="18537D"/>
                </a:solidFill>
              </a:rPr>
              <a:t>? Choose 2 answers from the options given below. </a:t>
            </a:r>
          </a:p>
          <a:p>
            <a:pPr>
              <a:lnSpc>
                <a:spcPct val="150000"/>
              </a:lnSpc>
            </a:pPr>
            <a:endParaRPr lang="en-US" dirty="0">
              <a:solidFill>
                <a:srgbClr val="18537D"/>
              </a:solidFill>
            </a:endParaRPr>
          </a:p>
          <a:p>
            <a:pPr>
              <a:lnSpc>
                <a:spcPct val="150000"/>
              </a:lnSpc>
            </a:pPr>
            <a:r>
              <a:rPr lang="en-US" dirty="0">
                <a:solidFill>
                  <a:srgbClr val="18537D"/>
                </a:solidFill>
              </a:rPr>
              <a:t>a. All at once deployment</a:t>
            </a:r>
          </a:p>
          <a:p>
            <a:pPr>
              <a:lnSpc>
                <a:spcPct val="150000"/>
              </a:lnSpc>
            </a:pPr>
            <a:r>
              <a:rPr lang="en-US" b="1" dirty="0">
                <a:solidFill>
                  <a:srgbClr val="18537D"/>
                </a:solidFill>
              </a:rPr>
              <a:t>b. Immutable deployment</a:t>
            </a:r>
          </a:p>
          <a:p>
            <a:pPr>
              <a:lnSpc>
                <a:spcPct val="150000"/>
              </a:lnSpc>
            </a:pPr>
            <a:r>
              <a:rPr lang="en-US" dirty="0">
                <a:solidFill>
                  <a:srgbClr val="18537D"/>
                </a:solidFill>
              </a:rPr>
              <a:t>c. Rolling deployment</a:t>
            </a:r>
          </a:p>
          <a:p>
            <a:pPr>
              <a:lnSpc>
                <a:spcPct val="150000"/>
              </a:lnSpc>
            </a:pPr>
            <a:r>
              <a:rPr lang="en-US" dirty="0">
                <a:solidFill>
                  <a:srgbClr val="18537D"/>
                </a:solidFill>
              </a:rPr>
              <a:t>d. Linear deployment</a:t>
            </a:r>
          </a:p>
          <a:p>
            <a:pPr>
              <a:lnSpc>
                <a:spcPct val="150000"/>
              </a:lnSpc>
            </a:pPr>
            <a:r>
              <a:rPr lang="en-US" b="1" dirty="0">
                <a:solidFill>
                  <a:srgbClr val="18537D"/>
                </a:solidFill>
              </a:rPr>
              <a:t>e. Blue/Green deployment</a:t>
            </a:r>
          </a:p>
        </p:txBody>
      </p:sp>
    </p:spTree>
    <p:extLst>
      <p:ext uri="{BB962C8B-B14F-4D97-AF65-F5344CB8AC3E}">
        <p14:creationId xmlns:p14="http://schemas.microsoft.com/office/powerpoint/2010/main" val="20437566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has an application deployed using the Elastic Beanstalk service. A Web environment has been configured for the production environment. There is now a requirement to perform a Blue Green deployment for a new version of the application. How can you achieve this?</a:t>
            </a:r>
          </a:p>
          <a:p>
            <a:pPr>
              <a:lnSpc>
                <a:spcPct val="150000"/>
              </a:lnSpc>
            </a:pPr>
            <a:endParaRPr lang="en-US" dirty="0">
              <a:solidFill>
                <a:srgbClr val="18537D"/>
              </a:solidFill>
            </a:endParaRPr>
          </a:p>
          <a:p>
            <a:pPr>
              <a:lnSpc>
                <a:spcPct val="150000"/>
              </a:lnSpc>
            </a:pPr>
            <a:r>
              <a:rPr lang="en-US" dirty="0">
                <a:solidFill>
                  <a:srgbClr val="18537D"/>
                </a:solidFill>
              </a:rPr>
              <a:t>a. Create a new application and swap the application environments.</a:t>
            </a:r>
          </a:p>
          <a:p>
            <a:pPr>
              <a:lnSpc>
                <a:spcPct val="150000"/>
              </a:lnSpc>
            </a:pPr>
            <a:r>
              <a:rPr lang="en-US" dirty="0">
                <a:solidFill>
                  <a:srgbClr val="18537D"/>
                </a:solidFill>
              </a:rPr>
              <a:t>b. Create a new application version and upload the new application version</a:t>
            </a:r>
          </a:p>
          <a:p>
            <a:pPr>
              <a:lnSpc>
                <a:spcPct val="150000"/>
              </a:lnSpc>
            </a:pPr>
            <a:r>
              <a:rPr lang="en-US" dirty="0">
                <a:solidFill>
                  <a:srgbClr val="18537D"/>
                </a:solidFill>
              </a:rPr>
              <a:t>c. Create a new environment in the application with the updated application version and perform a swap</a:t>
            </a:r>
          </a:p>
          <a:p>
            <a:pPr>
              <a:lnSpc>
                <a:spcPct val="150000"/>
              </a:lnSpc>
            </a:pPr>
            <a:r>
              <a:rPr lang="en-US" dirty="0">
                <a:solidFill>
                  <a:srgbClr val="18537D"/>
                </a:solidFill>
              </a:rPr>
              <a:t>d. Create a new environment in the application and Load the configuration of an existing environment</a:t>
            </a:r>
          </a:p>
        </p:txBody>
      </p:sp>
    </p:spTree>
    <p:extLst>
      <p:ext uri="{BB962C8B-B14F-4D97-AF65-F5344CB8AC3E}">
        <p14:creationId xmlns:p14="http://schemas.microsoft.com/office/powerpoint/2010/main" val="1359838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has an application deployed using the </a:t>
            </a:r>
            <a:r>
              <a:rPr lang="en-US" b="1" dirty="0">
                <a:solidFill>
                  <a:srgbClr val="18537D"/>
                </a:solidFill>
              </a:rPr>
              <a:t>Elastic Beanstalk service</a:t>
            </a:r>
            <a:r>
              <a:rPr lang="en-US" dirty="0">
                <a:solidFill>
                  <a:srgbClr val="18537D"/>
                </a:solidFill>
              </a:rPr>
              <a:t>. A Web environment has been configured for the production environment. There is now a requirement to perform a </a:t>
            </a:r>
            <a:r>
              <a:rPr lang="en-US" b="1" dirty="0">
                <a:solidFill>
                  <a:srgbClr val="18537D"/>
                </a:solidFill>
              </a:rPr>
              <a:t>Blue Green deployment </a:t>
            </a:r>
            <a:r>
              <a:rPr lang="en-US" dirty="0">
                <a:solidFill>
                  <a:srgbClr val="18537D"/>
                </a:solidFill>
              </a:rPr>
              <a:t>for a </a:t>
            </a:r>
            <a:r>
              <a:rPr lang="en-US" b="1" dirty="0">
                <a:solidFill>
                  <a:srgbClr val="18537D"/>
                </a:solidFill>
              </a:rPr>
              <a:t>new version of the application</a:t>
            </a:r>
            <a:r>
              <a:rPr lang="en-US" dirty="0">
                <a:solidFill>
                  <a:srgbClr val="18537D"/>
                </a:solidFill>
              </a:rPr>
              <a:t>. How can you achieve this?</a:t>
            </a:r>
          </a:p>
          <a:p>
            <a:pPr>
              <a:lnSpc>
                <a:spcPct val="150000"/>
              </a:lnSpc>
            </a:pPr>
            <a:endParaRPr lang="en-US" dirty="0">
              <a:solidFill>
                <a:srgbClr val="18537D"/>
              </a:solidFill>
            </a:endParaRPr>
          </a:p>
          <a:p>
            <a:pPr>
              <a:lnSpc>
                <a:spcPct val="150000"/>
              </a:lnSpc>
            </a:pPr>
            <a:r>
              <a:rPr lang="en-US" dirty="0">
                <a:solidFill>
                  <a:srgbClr val="18537D"/>
                </a:solidFill>
              </a:rPr>
              <a:t>a. Create a new application and swap the application environments.</a:t>
            </a:r>
          </a:p>
          <a:p>
            <a:pPr>
              <a:lnSpc>
                <a:spcPct val="150000"/>
              </a:lnSpc>
            </a:pPr>
            <a:r>
              <a:rPr lang="en-US" dirty="0">
                <a:solidFill>
                  <a:srgbClr val="18537D"/>
                </a:solidFill>
              </a:rPr>
              <a:t>b. Create a new application version and upload the new application version</a:t>
            </a:r>
          </a:p>
          <a:p>
            <a:pPr>
              <a:lnSpc>
                <a:spcPct val="150000"/>
              </a:lnSpc>
            </a:pPr>
            <a:r>
              <a:rPr lang="en-US" dirty="0">
                <a:solidFill>
                  <a:srgbClr val="18537D"/>
                </a:solidFill>
              </a:rPr>
              <a:t>c. Create a new environment in the application with the updated application version and perform a swap</a:t>
            </a:r>
          </a:p>
          <a:p>
            <a:pPr>
              <a:lnSpc>
                <a:spcPct val="150000"/>
              </a:lnSpc>
            </a:pPr>
            <a:r>
              <a:rPr lang="en-US" dirty="0">
                <a:solidFill>
                  <a:srgbClr val="18537D"/>
                </a:solidFill>
              </a:rPr>
              <a:t>d. Create a new environment in the application and Load the configuration of an existing environment</a:t>
            </a:r>
          </a:p>
        </p:txBody>
      </p:sp>
    </p:spTree>
    <p:extLst>
      <p:ext uri="{BB962C8B-B14F-4D97-AF65-F5344CB8AC3E}">
        <p14:creationId xmlns:p14="http://schemas.microsoft.com/office/powerpoint/2010/main" val="3152968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has an application deployed using the </a:t>
            </a:r>
            <a:r>
              <a:rPr lang="en-US" b="1" dirty="0">
                <a:solidFill>
                  <a:srgbClr val="18537D"/>
                </a:solidFill>
              </a:rPr>
              <a:t>Elastic Beanstalk service</a:t>
            </a:r>
            <a:r>
              <a:rPr lang="en-US" dirty="0">
                <a:solidFill>
                  <a:srgbClr val="18537D"/>
                </a:solidFill>
              </a:rPr>
              <a:t>. A Web environment has been configured for the production environment. There is now a requirement to perform a </a:t>
            </a:r>
            <a:r>
              <a:rPr lang="en-US" b="1" dirty="0">
                <a:solidFill>
                  <a:srgbClr val="18537D"/>
                </a:solidFill>
              </a:rPr>
              <a:t>Blue Green deployment </a:t>
            </a:r>
            <a:r>
              <a:rPr lang="en-US" dirty="0">
                <a:solidFill>
                  <a:srgbClr val="18537D"/>
                </a:solidFill>
              </a:rPr>
              <a:t>for a </a:t>
            </a:r>
            <a:r>
              <a:rPr lang="en-US" b="1" dirty="0">
                <a:solidFill>
                  <a:srgbClr val="18537D"/>
                </a:solidFill>
              </a:rPr>
              <a:t>new version of the application</a:t>
            </a:r>
            <a:r>
              <a:rPr lang="en-US" dirty="0">
                <a:solidFill>
                  <a:srgbClr val="18537D"/>
                </a:solidFill>
              </a:rPr>
              <a:t>. How can you achieve this?</a:t>
            </a:r>
          </a:p>
          <a:p>
            <a:pPr>
              <a:lnSpc>
                <a:spcPct val="150000"/>
              </a:lnSpc>
            </a:pPr>
            <a:endParaRPr lang="en-US" dirty="0">
              <a:solidFill>
                <a:srgbClr val="18537D"/>
              </a:solidFill>
            </a:endParaRPr>
          </a:p>
          <a:p>
            <a:pPr>
              <a:lnSpc>
                <a:spcPct val="150000"/>
              </a:lnSpc>
            </a:pPr>
            <a:r>
              <a:rPr lang="en-US" dirty="0">
                <a:solidFill>
                  <a:srgbClr val="18537D"/>
                </a:solidFill>
              </a:rPr>
              <a:t>a. Create a new application and swap the application environments.</a:t>
            </a:r>
          </a:p>
          <a:p>
            <a:pPr>
              <a:lnSpc>
                <a:spcPct val="150000"/>
              </a:lnSpc>
            </a:pPr>
            <a:r>
              <a:rPr lang="en-US" dirty="0">
                <a:solidFill>
                  <a:srgbClr val="18537D"/>
                </a:solidFill>
              </a:rPr>
              <a:t>b. Create a new application version and upload the new application version</a:t>
            </a:r>
          </a:p>
          <a:p>
            <a:pPr>
              <a:lnSpc>
                <a:spcPct val="150000"/>
              </a:lnSpc>
            </a:pPr>
            <a:r>
              <a:rPr lang="en-US" b="1" dirty="0">
                <a:solidFill>
                  <a:srgbClr val="18537D"/>
                </a:solidFill>
              </a:rPr>
              <a:t>c. Create a new environment in the application with the updated application version and perform a swap</a:t>
            </a:r>
          </a:p>
          <a:p>
            <a:pPr>
              <a:lnSpc>
                <a:spcPct val="150000"/>
              </a:lnSpc>
            </a:pPr>
            <a:r>
              <a:rPr lang="en-US" dirty="0">
                <a:solidFill>
                  <a:srgbClr val="18537D"/>
                </a:solidFill>
              </a:rPr>
              <a:t>d. Create a new environment in the application and Load the configuration of an existing environment</a:t>
            </a:r>
          </a:p>
        </p:txBody>
      </p:sp>
    </p:spTree>
    <p:extLst>
      <p:ext uri="{BB962C8B-B14F-4D97-AF65-F5344CB8AC3E}">
        <p14:creationId xmlns:p14="http://schemas.microsoft.com/office/powerpoint/2010/main" val="3337221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You’re in charge for creating a </a:t>
            </a:r>
            <a:r>
              <a:rPr lang="en-US" dirty="0" err="1">
                <a:solidFill>
                  <a:srgbClr val="18537D"/>
                </a:solidFill>
              </a:rPr>
              <a:t>cloudformation</a:t>
            </a:r>
            <a:r>
              <a:rPr lang="en-US" dirty="0">
                <a:solidFill>
                  <a:srgbClr val="18537D"/>
                </a:solidFill>
              </a:rPr>
              <a:t> template. This template needs to create resources for multiple types of environment. The template needs to be flexible so that it can create resources based on the type of environment. How can you achieve this?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Create an Input Parameter to take in the type of environment.</a:t>
            </a:r>
          </a:p>
          <a:p>
            <a:pPr>
              <a:lnSpc>
                <a:spcPct val="150000"/>
              </a:lnSpc>
            </a:pPr>
            <a:r>
              <a:rPr lang="en-US" dirty="0">
                <a:solidFill>
                  <a:srgbClr val="18537D"/>
                </a:solidFill>
              </a:rPr>
              <a:t>b. Use the Outputs section to define the type of environment</a:t>
            </a:r>
          </a:p>
          <a:p>
            <a:pPr>
              <a:lnSpc>
                <a:spcPct val="150000"/>
              </a:lnSpc>
            </a:pPr>
            <a:r>
              <a:rPr lang="en-US" dirty="0">
                <a:solidFill>
                  <a:srgbClr val="18537D"/>
                </a:solidFill>
              </a:rPr>
              <a:t>c. Use the Custom Resources feature to create resources based on the type of environment</a:t>
            </a:r>
          </a:p>
          <a:p>
            <a:pPr>
              <a:lnSpc>
                <a:spcPct val="150000"/>
              </a:lnSpc>
            </a:pPr>
            <a:r>
              <a:rPr lang="en-US" dirty="0">
                <a:solidFill>
                  <a:srgbClr val="18537D"/>
                </a:solidFill>
              </a:rPr>
              <a:t>d. Use the Conditions section to create resources based on the type of environment</a:t>
            </a:r>
          </a:p>
        </p:txBody>
      </p:sp>
    </p:spTree>
    <p:extLst>
      <p:ext uri="{BB962C8B-B14F-4D97-AF65-F5344CB8AC3E}">
        <p14:creationId xmlns:p14="http://schemas.microsoft.com/office/powerpoint/2010/main" val="4656393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You’re in charge </a:t>
            </a:r>
            <a:r>
              <a:rPr lang="en-US" b="1" dirty="0">
                <a:solidFill>
                  <a:srgbClr val="18537D"/>
                </a:solidFill>
              </a:rPr>
              <a:t>for creating a </a:t>
            </a:r>
            <a:r>
              <a:rPr lang="en-US" b="1" dirty="0" err="1">
                <a:solidFill>
                  <a:srgbClr val="18537D"/>
                </a:solidFill>
              </a:rPr>
              <a:t>cloudformation</a:t>
            </a:r>
            <a:r>
              <a:rPr lang="en-US" b="1" dirty="0">
                <a:solidFill>
                  <a:srgbClr val="18537D"/>
                </a:solidFill>
              </a:rPr>
              <a:t> template</a:t>
            </a:r>
            <a:r>
              <a:rPr lang="en-US" dirty="0">
                <a:solidFill>
                  <a:srgbClr val="18537D"/>
                </a:solidFill>
              </a:rPr>
              <a:t>. This template needs to create resources for multiple types of environment. The </a:t>
            </a:r>
            <a:r>
              <a:rPr lang="en-US" b="1" dirty="0">
                <a:solidFill>
                  <a:srgbClr val="18537D"/>
                </a:solidFill>
              </a:rPr>
              <a:t>template needs to be flexible </a:t>
            </a:r>
            <a:r>
              <a:rPr lang="en-US" dirty="0">
                <a:solidFill>
                  <a:srgbClr val="18537D"/>
                </a:solidFill>
              </a:rPr>
              <a:t>so that it can create resources based on the </a:t>
            </a:r>
            <a:r>
              <a:rPr lang="en-US" b="1" dirty="0">
                <a:solidFill>
                  <a:srgbClr val="18537D"/>
                </a:solidFill>
              </a:rPr>
              <a:t>type of environment</a:t>
            </a:r>
            <a:r>
              <a:rPr lang="en-US" dirty="0">
                <a:solidFill>
                  <a:srgbClr val="18537D"/>
                </a:solidFill>
              </a:rPr>
              <a:t>. How can you achieve this?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Create an Input Parameter to take in the type of environment.</a:t>
            </a:r>
          </a:p>
          <a:p>
            <a:pPr>
              <a:lnSpc>
                <a:spcPct val="150000"/>
              </a:lnSpc>
            </a:pPr>
            <a:r>
              <a:rPr lang="en-US" dirty="0">
                <a:solidFill>
                  <a:srgbClr val="18537D"/>
                </a:solidFill>
              </a:rPr>
              <a:t>b. Use the Outputs section to define the type of environment</a:t>
            </a:r>
          </a:p>
          <a:p>
            <a:pPr>
              <a:lnSpc>
                <a:spcPct val="150000"/>
              </a:lnSpc>
            </a:pPr>
            <a:r>
              <a:rPr lang="en-US" dirty="0">
                <a:solidFill>
                  <a:srgbClr val="18537D"/>
                </a:solidFill>
              </a:rPr>
              <a:t>c. Use the Custom Resources feature to create resources based on the type of environment</a:t>
            </a:r>
          </a:p>
          <a:p>
            <a:pPr>
              <a:lnSpc>
                <a:spcPct val="150000"/>
              </a:lnSpc>
            </a:pPr>
            <a:r>
              <a:rPr lang="en-US" dirty="0">
                <a:solidFill>
                  <a:srgbClr val="18537D"/>
                </a:solidFill>
              </a:rPr>
              <a:t>d. Use the Conditions section to create resources based on the type of environment</a:t>
            </a:r>
          </a:p>
        </p:txBody>
      </p:sp>
    </p:spTree>
    <p:extLst>
      <p:ext uri="{BB962C8B-B14F-4D97-AF65-F5344CB8AC3E}">
        <p14:creationId xmlns:p14="http://schemas.microsoft.com/office/powerpoint/2010/main" val="14781179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You’re in charge </a:t>
            </a:r>
            <a:r>
              <a:rPr lang="en-US" b="1" dirty="0">
                <a:solidFill>
                  <a:srgbClr val="18537D"/>
                </a:solidFill>
              </a:rPr>
              <a:t>for creating a </a:t>
            </a:r>
            <a:r>
              <a:rPr lang="en-US" b="1" dirty="0" err="1">
                <a:solidFill>
                  <a:srgbClr val="18537D"/>
                </a:solidFill>
              </a:rPr>
              <a:t>cloudformation</a:t>
            </a:r>
            <a:r>
              <a:rPr lang="en-US" b="1" dirty="0">
                <a:solidFill>
                  <a:srgbClr val="18537D"/>
                </a:solidFill>
              </a:rPr>
              <a:t> template</a:t>
            </a:r>
            <a:r>
              <a:rPr lang="en-US" dirty="0">
                <a:solidFill>
                  <a:srgbClr val="18537D"/>
                </a:solidFill>
              </a:rPr>
              <a:t>. This template needs to create resources for multiple types of environment. The </a:t>
            </a:r>
            <a:r>
              <a:rPr lang="en-US" b="1" dirty="0">
                <a:solidFill>
                  <a:srgbClr val="18537D"/>
                </a:solidFill>
              </a:rPr>
              <a:t>template needs to be flexible </a:t>
            </a:r>
            <a:r>
              <a:rPr lang="en-US" dirty="0">
                <a:solidFill>
                  <a:srgbClr val="18537D"/>
                </a:solidFill>
              </a:rPr>
              <a:t>so that it can create resources based on the </a:t>
            </a:r>
            <a:r>
              <a:rPr lang="en-US" b="1" dirty="0">
                <a:solidFill>
                  <a:srgbClr val="18537D"/>
                </a:solidFill>
              </a:rPr>
              <a:t>type of environment</a:t>
            </a:r>
            <a:r>
              <a:rPr lang="en-US" dirty="0">
                <a:solidFill>
                  <a:srgbClr val="18537D"/>
                </a:solidFill>
              </a:rPr>
              <a:t>. How can you achieve this? Choose 2 answers from the options given below.</a:t>
            </a:r>
          </a:p>
          <a:p>
            <a:pPr>
              <a:lnSpc>
                <a:spcPct val="150000"/>
              </a:lnSpc>
            </a:pPr>
            <a:endParaRPr lang="en-US" dirty="0">
              <a:solidFill>
                <a:srgbClr val="18537D"/>
              </a:solidFill>
            </a:endParaRPr>
          </a:p>
          <a:p>
            <a:pPr>
              <a:lnSpc>
                <a:spcPct val="150000"/>
              </a:lnSpc>
            </a:pPr>
            <a:r>
              <a:rPr lang="en-US" b="1" dirty="0">
                <a:solidFill>
                  <a:srgbClr val="18537D"/>
                </a:solidFill>
              </a:rPr>
              <a:t>a. Create an Input Parameter to take in the type of environment.</a:t>
            </a:r>
          </a:p>
          <a:p>
            <a:pPr>
              <a:lnSpc>
                <a:spcPct val="150000"/>
              </a:lnSpc>
            </a:pPr>
            <a:r>
              <a:rPr lang="en-US" dirty="0">
                <a:solidFill>
                  <a:srgbClr val="18537D"/>
                </a:solidFill>
              </a:rPr>
              <a:t>b. Use the Outputs section to define the type of environment</a:t>
            </a:r>
          </a:p>
          <a:p>
            <a:pPr>
              <a:lnSpc>
                <a:spcPct val="150000"/>
              </a:lnSpc>
            </a:pPr>
            <a:r>
              <a:rPr lang="en-US" dirty="0">
                <a:solidFill>
                  <a:srgbClr val="18537D"/>
                </a:solidFill>
              </a:rPr>
              <a:t>c. Use the Custom Resources feature to create resources based on the type of environment</a:t>
            </a:r>
          </a:p>
          <a:p>
            <a:pPr>
              <a:lnSpc>
                <a:spcPct val="150000"/>
              </a:lnSpc>
            </a:pPr>
            <a:r>
              <a:rPr lang="en-US" b="1" dirty="0">
                <a:solidFill>
                  <a:srgbClr val="18537D"/>
                </a:solidFill>
              </a:rPr>
              <a:t>d. Use the Conditions section to create resources based on the type of environment</a:t>
            </a:r>
          </a:p>
        </p:txBody>
      </p:sp>
    </p:spTree>
    <p:extLst>
      <p:ext uri="{BB962C8B-B14F-4D97-AF65-F5344CB8AC3E}">
        <p14:creationId xmlns:p14="http://schemas.microsoft.com/office/powerpoint/2010/main" val="18140244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API call is used to list all resources that belong to a CloudFormation Stack? Choose an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DescribeStackResources</a:t>
            </a:r>
            <a:endParaRPr lang="en-US" dirty="0">
              <a:solidFill>
                <a:srgbClr val="18537D"/>
              </a:solidFill>
            </a:endParaRPr>
          </a:p>
          <a:p>
            <a:pPr>
              <a:lnSpc>
                <a:spcPct val="150000"/>
              </a:lnSpc>
            </a:pPr>
            <a:r>
              <a:rPr lang="en-US" dirty="0">
                <a:solidFill>
                  <a:srgbClr val="18537D"/>
                </a:solidFill>
              </a:rPr>
              <a:t>b. describe-stacks</a:t>
            </a:r>
          </a:p>
          <a:p>
            <a:pPr>
              <a:lnSpc>
                <a:spcPct val="150000"/>
              </a:lnSpc>
            </a:pPr>
            <a:r>
              <a:rPr lang="en-US" dirty="0">
                <a:solidFill>
                  <a:srgbClr val="18537D"/>
                </a:solidFill>
              </a:rPr>
              <a:t>c. </a:t>
            </a:r>
            <a:r>
              <a:rPr lang="en-US" dirty="0" err="1">
                <a:solidFill>
                  <a:srgbClr val="18537D"/>
                </a:solidFill>
              </a:rPr>
              <a:t>ListStackResources</a:t>
            </a:r>
            <a:endParaRPr lang="en-US" dirty="0">
              <a:solidFill>
                <a:srgbClr val="18537D"/>
              </a:solidFill>
            </a:endParaRPr>
          </a:p>
          <a:p>
            <a:pPr>
              <a:lnSpc>
                <a:spcPct val="150000"/>
              </a:lnSpc>
            </a:pPr>
            <a:r>
              <a:rPr lang="en-US" dirty="0">
                <a:solidFill>
                  <a:srgbClr val="18537D"/>
                </a:solidFill>
              </a:rPr>
              <a:t>d. </a:t>
            </a:r>
            <a:r>
              <a:rPr lang="en-US" dirty="0" err="1">
                <a:solidFill>
                  <a:srgbClr val="18537D"/>
                </a:solidFill>
              </a:rPr>
              <a:t>GetTemplate</a:t>
            </a:r>
            <a:endParaRPr lang="en-US" dirty="0">
              <a:solidFill>
                <a:srgbClr val="18537D"/>
              </a:solidFill>
            </a:endParaRPr>
          </a:p>
        </p:txBody>
      </p:sp>
    </p:spTree>
    <p:extLst>
      <p:ext uri="{BB962C8B-B14F-4D97-AF65-F5344CB8AC3E}">
        <p14:creationId xmlns:p14="http://schemas.microsoft.com/office/powerpoint/2010/main" val="3646861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t>
            </a:r>
            <a:r>
              <a:rPr lang="en-US" b="1" dirty="0">
                <a:solidFill>
                  <a:srgbClr val="18537D"/>
                </a:solidFill>
              </a:rPr>
              <a:t>API call </a:t>
            </a:r>
            <a:r>
              <a:rPr lang="en-US" dirty="0">
                <a:solidFill>
                  <a:srgbClr val="18537D"/>
                </a:solidFill>
              </a:rPr>
              <a:t>is used to </a:t>
            </a:r>
            <a:r>
              <a:rPr lang="en-US" b="1" dirty="0">
                <a:solidFill>
                  <a:srgbClr val="18537D"/>
                </a:solidFill>
              </a:rPr>
              <a:t>list all resource</a:t>
            </a:r>
            <a:r>
              <a:rPr lang="en-US" dirty="0">
                <a:solidFill>
                  <a:srgbClr val="18537D"/>
                </a:solidFill>
              </a:rPr>
              <a:t>s that belong to a </a:t>
            </a:r>
            <a:r>
              <a:rPr lang="en-US" b="1" dirty="0">
                <a:solidFill>
                  <a:srgbClr val="18537D"/>
                </a:solidFill>
              </a:rPr>
              <a:t>CloudFormation Stack</a:t>
            </a:r>
            <a:r>
              <a:rPr lang="en-US" dirty="0">
                <a:solidFill>
                  <a:srgbClr val="18537D"/>
                </a:solidFill>
              </a:rPr>
              <a:t>? Choose an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DescribeStackResources</a:t>
            </a:r>
            <a:endParaRPr lang="en-US" dirty="0">
              <a:solidFill>
                <a:srgbClr val="18537D"/>
              </a:solidFill>
            </a:endParaRPr>
          </a:p>
          <a:p>
            <a:pPr>
              <a:lnSpc>
                <a:spcPct val="150000"/>
              </a:lnSpc>
            </a:pPr>
            <a:r>
              <a:rPr lang="en-US" dirty="0">
                <a:solidFill>
                  <a:srgbClr val="18537D"/>
                </a:solidFill>
              </a:rPr>
              <a:t>b. describe-stacks</a:t>
            </a:r>
          </a:p>
          <a:p>
            <a:pPr>
              <a:lnSpc>
                <a:spcPct val="150000"/>
              </a:lnSpc>
            </a:pPr>
            <a:r>
              <a:rPr lang="en-US" dirty="0">
                <a:solidFill>
                  <a:srgbClr val="18537D"/>
                </a:solidFill>
              </a:rPr>
              <a:t>c. </a:t>
            </a:r>
            <a:r>
              <a:rPr lang="en-US" dirty="0" err="1">
                <a:solidFill>
                  <a:srgbClr val="18537D"/>
                </a:solidFill>
              </a:rPr>
              <a:t>ListStackResources</a:t>
            </a:r>
            <a:endParaRPr lang="en-US" dirty="0">
              <a:solidFill>
                <a:srgbClr val="18537D"/>
              </a:solidFill>
            </a:endParaRPr>
          </a:p>
          <a:p>
            <a:pPr>
              <a:lnSpc>
                <a:spcPct val="150000"/>
              </a:lnSpc>
            </a:pPr>
            <a:r>
              <a:rPr lang="en-US" dirty="0">
                <a:solidFill>
                  <a:srgbClr val="18537D"/>
                </a:solidFill>
              </a:rPr>
              <a:t>d. </a:t>
            </a:r>
            <a:r>
              <a:rPr lang="en-US" dirty="0" err="1">
                <a:solidFill>
                  <a:srgbClr val="18537D"/>
                </a:solidFill>
              </a:rPr>
              <a:t>GetTemplate</a:t>
            </a:r>
            <a:endParaRPr lang="en-US" dirty="0">
              <a:solidFill>
                <a:srgbClr val="18537D"/>
              </a:solidFill>
            </a:endParaRPr>
          </a:p>
        </p:txBody>
      </p:sp>
    </p:spTree>
    <p:extLst>
      <p:ext uri="{BB962C8B-B14F-4D97-AF65-F5344CB8AC3E}">
        <p14:creationId xmlns:p14="http://schemas.microsoft.com/office/powerpoint/2010/main" val="2711927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t>
            </a:r>
            <a:r>
              <a:rPr lang="en-US" b="1" dirty="0">
                <a:solidFill>
                  <a:srgbClr val="18537D"/>
                </a:solidFill>
              </a:rPr>
              <a:t>API call </a:t>
            </a:r>
            <a:r>
              <a:rPr lang="en-US" dirty="0">
                <a:solidFill>
                  <a:srgbClr val="18537D"/>
                </a:solidFill>
              </a:rPr>
              <a:t>is used to </a:t>
            </a:r>
            <a:r>
              <a:rPr lang="en-US" b="1" dirty="0">
                <a:solidFill>
                  <a:srgbClr val="18537D"/>
                </a:solidFill>
              </a:rPr>
              <a:t>list all resource</a:t>
            </a:r>
            <a:r>
              <a:rPr lang="en-US" dirty="0">
                <a:solidFill>
                  <a:srgbClr val="18537D"/>
                </a:solidFill>
              </a:rPr>
              <a:t>s that belong to a </a:t>
            </a:r>
            <a:r>
              <a:rPr lang="en-US" b="1" dirty="0">
                <a:solidFill>
                  <a:srgbClr val="18537D"/>
                </a:solidFill>
              </a:rPr>
              <a:t>CloudFormation Stack</a:t>
            </a:r>
            <a:r>
              <a:rPr lang="en-US" dirty="0">
                <a:solidFill>
                  <a:srgbClr val="18537D"/>
                </a:solidFill>
              </a:rPr>
              <a:t>? Choose an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DescribeStackResources</a:t>
            </a:r>
            <a:endParaRPr lang="en-US" dirty="0">
              <a:solidFill>
                <a:srgbClr val="18537D"/>
              </a:solidFill>
            </a:endParaRPr>
          </a:p>
          <a:p>
            <a:pPr>
              <a:lnSpc>
                <a:spcPct val="150000"/>
              </a:lnSpc>
            </a:pPr>
            <a:r>
              <a:rPr lang="en-US" dirty="0">
                <a:solidFill>
                  <a:srgbClr val="18537D"/>
                </a:solidFill>
              </a:rPr>
              <a:t>b. describe-stacks</a:t>
            </a:r>
          </a:p>
          <a:p>
            <a:pPr>
              <a:lnSpc>
                <a:spcPct val="150000"/>
              </a:lnSpc>
            </a:pPr>
            <a:r>
              <a:rPr lang="en-US" b="1" dirty="0">
                <a:solidFill>
                  <a:srgbClr val="18537D"/>
                </a:solidFill>
              </a:rPr>
              <a:t>c. </a:t>
            </a:r>
            <a:r>
              <a:rPr lang="en-US" b="1" dirty="0" err="1">
                <a:solidFill>
                  <a:srgbClr val="18537D"/>
                </a:solidFill>
              </a:rPr>
              <a:t>ListStackResources</a:t>
            </a:r>
            <a:endParaRPr lang="en-US" b="1" dirty="0">
              <a:solidFill>
                <a:srgbClr val="18537D"/>
              </a:solidFill>
            </a:endParaRPr>
          </a:p>
          <a:p>
            <a:pPr>
              <a:lnSpc>
                <a:spcPct val="150000"/>
              </a:lnSpc>
            </a:pPr>
            <a:r>
              <a:rPr lang="en-US" dirty="0">
                <a:solidFill>
                  <a:srgbClr val="18537D"/>
                </a:solidFill>
              </a:rPr>
              <a:t>d. </a:t>
            </a:r>
            <a:r>
              <a:rPr lang="en-US" dirty="0" err="1">
                <a:solidFill>
                  <a:srgbClr val="18537D"/>
                </a:solidFill>
              </a:rPr>
              <a:t>GetTemplate</a:t>
            </a:r>
            <a:endParaRPr lang="en-US" dirty="0">
              <a:solidFill>
                <a:srgbClr val="18537D"/>
              </a:solidFill>
            </a:endParaRPr>
          </a:p>
        </p:txBody>
      </p:sp>
    </p:spTree>
    <p:extLst>
      <p:ext uri="{BB962C8B-B14F-4D97-AF65-F5344CB8AC3E}">
        <p14:creationId xmlns:p14="http://schemas.microsoft.com/office/powerpoint/2010/main" val="15818344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810630"/>
          </a:xfrm>
          <a:prstGeom prst="rect">
            <a:avLst/>
          </a:prstGeom>
        </p:spPr>
        <p:txBody>
          <a:bodyPr wrap="square">
            <a:spAutoFit/>
          </a:bodyPr>
          <a:lstStyle/>
          <a:p>
            <a:pPr>
              <a:lnSpc>
                <a:spcPct val="150000"/>
              </a:lnSpc>
            </a:pPr>
            <a:r>
              <a:rPr lang="en-US" dirty="0">
                <a:solidFill>
                  <a:srgbClr val="18537D"/>
                </a:solidFill>
              </a:rPr>
              <a:t>The following code snippet is the resources section of a CloudFormation template that you have written. </a:t>
            </a:r>
          </a:p>
          <a:p>
            <a:r>
              <a:rPr lang="en-US" sz="1200" dirty="0">
                <a:solidFill>
                  <a:srgbClr val="18537D"/>
                </a:solidFill>
              </a:rPr>
              <a:t>"Resources" : {</a:t>
            </a:r>
          </a:p>
          <a:p>
            <a:r>
              <a:rPr lang="en-US" sz="1200" dirty="0">
                <a:solidFill>
                  <a:srgbClr val="18537D"/>
                </a:solidFill>
              </a:rPr>
              <a:t>    "EC2Instance" : {</a:t>
            </a:r>
          </a:p>
          <a:p>
            <a:r>
              <a:rPr lang="en-US" sz="1200" dirty="0">
                <a:solidFill>
                  <a:srgbClr val="18537D"/>
                </a:solidFill>
              </a:rPr>
              <a:t>        "Type" : "AWS::EC2::Instance",</a:t>
            </a:r>
          </a:p>
          <a:p>
            <a:r>
              <a:rPr lang="en-US" sz="1200" dirty="0">
                <a:solidFill>
                  <a:srgbClr val="18537D"/>
                </a:solidFill>
              </a:rPr>
              <a:t>         "Properties" : {</a:t>
            </a:r>
          </a:p>
          <a:p>
            <a:r>
              <a:rPr lang="en-US" sz="1200" dirty="0">
                <a:solidFill>
                  <a:srgbClr val="18537D"/>
                </a:solidFill>
              </a:rPr>
              <a:t>             "</a:t>
            </a:r>
            <a:r>
              <a:rPr lang="en-US" sz="1200" dirty="0" err="1">
                <a:solidFill>
                  <a:srgbClr val="18537D"/>
                </a:solidFill>
              </a:rPr>
              <a:t>InstanceType</a:t>
            </a:r>
            <a:r>
              <a:rPr lang="en-US" sz="1200" dirty="0">
                <a:solidFill>
                  <a:srgbClr val="18537D"/>
                </a:solidFill>
              </a:rPr>
              <a:t>" : { "Ref" : "</a:t>
            </a:r>
            <a:r>
              <a:rPr lang="en-US" sz="1200" dirty="0" err="1">
                <a:solidFill>
                  <a:srgbClr val="18537D"/>
                </a:solidFill>
              </a:rPr>
              <a:t>InstanceType</a:t>
            </a:r>
            <a:r>
              <a:rPr lang="en-US" sz="1200" dirty="0">
                <a:solidFill>
                  <a:srgbClr val="18537D"/>
                </a:solidFill>
              </a:rPr>
              <a:t>" },</a:t>
            </a:r>
          </a:p>
          <a:p>
            <a:r>
              <a:rPr lang="en-US" sz="1200" dirty="0">
                <a:solidFill>
                  <a:srgbClr val="18537D"/>
                </a:solidFill>
              </a:rPr>
              <a:t>              "</a:t>
            </a:r>
            <a:r>
              <a:rPr lang="en-US" sz="1200" dirty="0" err="1">
                <a:solidFill>
                  <a:srgbClr val="18537D"/>
                </a:solidFill>
              </a:rPr>
              <a:t>SecurityGroups</a:t>
            </a:r>
            <a:r>
              <a:rPr lang="en-US" sz="1200" dirty="0">
                <a:solidFill>
                  <a:srgbClr val="18537D"/>
                </a:solidFill>
              </a:rPr>
              <a:t>" : [ { "Ref" : "</a:t>
            </a:r>
            <a:r>
              <a:rPr lang="en-US" sz="1200" dirty="0" err="1">
                <a:solidFill>
                  <a:srgbClr val="18537D"/>
                </a:solidFill>
              </a:rPr>
              <a:t>InstanceSecurityGroup</a:t>
            </a:r>
            <a:r>
              <a:rPr lang="en-US" sz="1200" dirty="0">
                <a:solidFill>
                  <a:srgbClr val="18537D"/>
                </a:solidFill>
              </a:rPr>
              <a:t>" } ], </a:t>
            </a:r>
          </a:p>
          <a:p>
            <a:r>
              <a:rPr lang="en-US" sz="1200" dirty="0">
                <a:solidFill>
                  <a:srgbClr val="18537D"/>
                </a:solidFill>
              </a:rPr>
              <a:t>              "</a:t>
            </a:r>
            <a:r>
              <a:rPr lang="en-US" sz="1200" dirty="0" err="1">
                <a:solidFill>
                  <a:srgbClr val="18537D"/>
                </a:solidFill>
              </a:rPr>
              <a:t>KeyName</a:t>
            </a:r>
            <a:r>
              <a:rPr lang="en-US" sz="1200" dirty="0">
                <a:solidFill>
                  <a:srgbClr val="18537D"/>
                </a:solidFill>
              </a:rPr>
              <a:t>" : { "Ref" : "</a:t>
            </a:r>
            <a:r>
              <a:rPr lang="en-US" sz="1200" dirty="0" err="1">
                <a:solidFill>
                  <a:srgbClr val="18537D"/>
                </a:solidFill>
              </a:rPr>
              <a:t>KeyName</a:t>
            </a:r>
            <a:r>
              <a:rPr lang="en-US" sz="1200" dirty="0">
                <a:solidFill>
                  <a:srgbClr val="18537D"/>
                </a:solidFill>
              </a:rPr>
              <a:t>" },</a:t>
            </a:r>
          </a:p>
          <a:p>
            <a:r>
              <a:rPr lang="en-US" sz="1200" dirty="0">
                <a:solidFill>
                  <a:srgbClr val="18537D"/>
                </a:solidFill>
              </a:rPr>
              <a:t>               "</a:t>
            </a:r>
            <a:r>
              <a:rPr lang="en-US" sz="1200" dirty="0" err="1">
                <a:solidFill>
                  <a:srgbClr val="18537D"/>
                </a:solidFill>
              </a:rPr>
              <a:t>ImageId</a:t>
            </a:r>
            <a:r>
              <a:rPr lang="en-US" sz="1200" dirty="0">
                <a:solidFill>
                  <a:srgbClr val="18537D"/>
                </a:solidFill>
              </a:rPr>
              <a:t>" :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"AWSRegionArch2AMI", { "Ref" : "AWS::Region" },</a:t>
            </a:r>
          </a:p>
          <a:p>
            <a:r>
              <a:rPr lang="en-US" sz="1200" dirty="0">
                <a:solidFill>
                  <a:srgbClr val="18537D"/>
                </a:solidFill>
              </a:rPr>
              <a:t>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"AWSInstanceType2Arch", { "Ref" : "</a:t>
            </a:r>
            <a:r>
              <a:rPr lang="en-US" sz="1200" dirty="0" err="1">
                <a:solidFill>
                  <a:srgbClr val="18537D"/>
                </a:solidFill>
              </a:rPr>
              <a:t>InstanceType</a:t>
            </a:r>
            <a:r>
              <a:rPr lang="en-US" sz="1200" dirty="0">
                <a:solidFill>
                  <a:srgbClr val="18537D"/>
                </a:solidFill>
              </a:rPr>
              <a:t>" }, "Arch" ] }</a:t>
            </a:r>
          </a:p>
          <a:p>
            <a:r>
              <a:rPr lang="en-US" sz="1200" dirty="0">
                <a:solidFill>
                  <a:srgbClr val="18537D"/>
                </a:solidFill>
              </a:rPr>
              <a:t>               ]</a:t>
            </a:r>
          </a:p>
          <a:p>
            <a:r>
              <a:rPr lang="en-US" sz="1200" dirty="0">
                <a:solidFill>
                  <a:srgbClr val="18537D"/>
                </a:solidFill>
              </a:rPr>
              <a:t>        }    }  },</a:t>
            </a:r>
          </a:p>
          <a:p>
            <a:pPr>
              <a:lnSpc>
                <a:spcPct val="150000"/>
              </a:lnSpc>
            </a:pPr>
            <a:r>
              <a:rPr lang="en-US" dirty="0">
                <a:solidFill>
                  <a:srgbClr val="18537D"/>
                </a:solidFill>
              </a:rPr>
              <a:t> You have used the reference function to define your instance type as follows.</a:t>
            </a:r>
          </a:p>
          <a:p>
            <a:pPr>
              <a:lnSpc>
                <a:spcPct val="150000"/>
              </a:lnSpc>
            </a:pPr>
            <a:r>
              <a:rPr lang="en-US" dirty="0">
                <a:solidFill>
                  <a:srgbClr val="18537D"/>
                </a:solidFill>
              </a:rPr>
              <a:t>"</a:t>
            </a:r>
            <a:r>
              <a:rPr lang="en-US" dirty="0" err="1">
                <a:solidFill>
                  <a:srgbClr val="18537D"/>
                </a:solidFill>
              </a:rPr>
              <a:t>InstanceType</a:t>
            </a:r>
            <a:r>
              <a:rPr lang="en-US" dirty="0">
                <a:solidFill>
                  <a:srgbClr val="18537D"/>
                </a:solidFill>
              </a:rPr>
              <a:t>" : { "Ref" : "</a:t>
            </a:r>
            <a:r>
              <a:rPr lang="en-US" dirty="0" err="1">
                <a:solidFill>
                  <a:srgbClr val="18537D"/>
                </a:solidFill>
              </a:rPr>
              <a:t>InstanceType</a:t>
            </a:r>
            <a:r>
              <a:rPr lang="en-US" dirty="0">
                <a:solidFill>
                  <a:srgbClr val="18537D"/>
                </a:solidFill>
              </a:rPr>
              <a:t>" },</a:t>
            </a:r>
          </a:p>
          <a:p>
            <a:pPr>
              <a:lnSpc>
                <a:spcPct val="150000"/>
              </a:lnSpc>
            </a:pPr>
            <a:r>
              <a:rPr lang="en-US" dirty="0">
                <a:solidFill>
                  <a:srgbClr val="18537D"/>
                </a:solidFill>
              </a:rPr>
              <a:t> The referencing function is referencing the instance type. Where is this value most likely coming from?</a:t>
            </a:r>
          </a:p>
          <a:p>
            <a:pPr>
              <a:lnSpc>
                <a:spcPct val="150000"/>
              </a:lnSpc>
            </a:pPr>
            <a:r>
              <a:rPr lang="en-US" dirty="0">
                <a:solidFill>
                  <a:srgbClr val="18537D"/>
                </a:solidFill>
              </a:rPr>
              <a:t>a. From the mappings section of your CloudFormation template.</a:t>
            </a:r>
          </a:p>
          <a:p>
            <a:pPr>
              <a:lnSpc>
                <a:spcPct val="150000"/>
              </a:lnSpc>
            </a:pPr>
            <a:r>
              <a:rPr lang="en-US" dirty="0">
                <a:solidFill>
                  <a:srgbClr val="18537D"/>
                </a:solidFill>
              </a:rPr>
              <a:t>b. From the second line of this resources section.</a:t>
            </a:r>
          </a:p>
          <a:p>
            <a:pPr>
              <a:lnSpc>
                <a:spcPct val="150000"/>
              </a:lnSpc>
            </a:pPr>
            <a:r>
              <a:rPr lang="en-US" dirty="0">
                <a:solidFill>
                  <a:srgbClr val="18537D"/>
                </a:solidFill>
              </a:rPr>
              <a:t>c. From the conditions section of your CloudFormation template.</a:t>
            </a:r>
          </a:p>
          <a:p>
            <a:pPr>
              <a:lnSpc>
                <a:spcPct val="150000"/>
              </a:lnSpc>
            </a:pPr>
            <a:r>
              <a:rPr lang="en-US" dirty="0">
                <a:solidFill>
                  <a:srgbClr val="18537D"/>
                </a:solidFill>
              </a:rPr>
              <a:t>d. From the parameters section of your CloudFormation template.</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6198270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810630"/>
          </a:xfrm>
          <a:prstGeom prst="rect">
            <a:avLst/>
          </a:prstGeom>
        </p:spPr>
        <p:txBody>
          <a:bodyPr wrap="square">
            <a:spAutoFit/>
          </a:bodyPr>
          <a:lstStyle/>
          <a:p>
            <a:pPr>
              <a:lnSpc>
                <a:spcPct val="150000"/>
              </a:lnSpc>
            </a:pPr>
            <a:r>
              <a:rPr lang="en-US" dirty="0">
                <a:solidFill>
                  <a:srgbClr val="18537D"/>
                </a:solidFill>
              </a:rPr>
              <a:t>The following code snippet is the resources section of a CloudFormation template that you have written. </a:t>
            </a:r>
          </a:p>
          <a:p>
            <a:r>
              <a:rPr lang="en-US" sz="1200" dirty="0">
                <a:solidFill>
                  <a:srgbClr val="18537D"/>
                </a:solidFill>
              </a:rPr>
              <a:t>"Resources" : {</a:t>
            </a:r>
          </a:p>
          <a:p>
            <a:r>
              <a:rPr lang="en-US" sz="1200" dirty="0">
                <a:solidFill>
                  <a:srgbClr val="18537D"/>
                </a:solidFill>
              </a:rPr>
              <a:t>    "EC2Instance" : {</a:t>
            </a:r>
          </a:p>
          <a:p>
            <a:r>
              <a:rPr lang="en-US" sz="1200" dirty="0">
                <a:solidFill>
                  <a:srgbClr val="18537D"/>
                </a:solidFill>
              </a:rPr>
              <a:t>        "Type" : "AWS::EC2::Instance",</a:t>
            </a:r>
          </a:p>
          <a:p>
            <a:r>
              <a:rPr lang="en-US" sz="1200" dirty="0">
                <a:solidFill>
                  <a:srgbClr val="18537D"/>
                </a:solidFill>
              </a:rPr>
              <a:t>         "Properties" : {</a:t>
            </a:r>
          </a:p>
          <a:p>
            <a:r>
              <a:rPr lang="en-US" sz="1200" dirty="0">
                <a:solidFill>
                  <a:srgbClr val="18537D"/>
                </a:solidFill>
              </a:rPr>
              <a:t>             "</a:t>
            </a:r>
            <a:r>
              <a:rPr lang="en-US" sz="1200" dirty="0" err="1">
                <a:solidFill>
                  <a:srgbClr val="18537D"/>
                </a:solidFill>
              </a:rPr>
              <a:t>InstanceType</a:t>
            </a:r>
            <a:r>
              <a:rPr lang="en-US" sz="1200" dirty="0">
                <a:solidFill>
                  <a:srgbClr val="18537D"/>
                </a:solidFill>
              </a:rPr>
              <a:t>" : { "Ref" : "</a:t>
            </a:r>
            <a:r>
              <a:rPr lang="en-US" sz="1200" dirty="0" err="1">
                <a:solidFill>
                  <a:srgbClr val="18537D"/>
                </a:solidFill>
              </a:rPr>
              <a:t>InstanceType</a:t>
            </a:r>
            <a:r>
              <a:rPr lang="en-US" sz="1200" dirty="0">
                <a:solidFill>
                  <a:srgbClr val="18537D"/>
                </a:solidFill>
              </a:rPr>
              <a:t>" },</a:t>
            </a:r>
          </a:p>
          <a:p>
            <a:r>
              <a:rPr lang="en-US" sz="1200" dirty="0">
                <a:solidFill>
                  <a:srgbClr val="18537D"/>
                </a:solidFill>
              </a:rPr>
              <a:t>              "</a:t>
            </a:r>
            <a:r>
              <a:rPr lang="en-US" sz="1200" dirty="0" err="1">
                <a:solidFill>
                  <a:srgbClr val="18537D"/>
                </a:solidFill>
              </a:rPr>
              <a:t>SecurityGroups</a:t>
            </a:r>
            <a:r>
              <a:rPr lang="en-US" sz="1200" dirty="0">
                <a:solidFill>
                  <a:srgbClr val="18537D"/>
                </a:solidFill>
              </a:rPr>
              <a:t>" : [ { "Ref" : "</a:t>
            </a:r>
            <a:r>
              <a:rPr lang="en-US" sz="1200" dirty="0" err="1">
                <a:solidFill>
                  <a:srgbClr val="18537D"/>
                </a:solidFill>
              </a:rPr>
              <a:t>InstanceSecurityGroup</a:t>
            </a:r>
            <a:r>
              <a:rPr lang="en-US" sz="1200" dirty="0">
                <a:solidFill>
                  <a:srgbClr val="18537D"/>
                </a:solidFill>
              </a:rPr>
              <a:t>" } ], </a:t>
            </a:r>
          </a:p>
          <a:p>
            <a:r>
              <a:rPr lang="en-US" sz="1200" dirty="0">
                <a:solidFill>
                  <a:srgbClr val="18537D"/>
                </a:solidFill>
              </a:rPr>
              <a:t>              "</a:t>
            </a:r>
            <a:r>
              <a:rPr lang="en-US" sz="1200" dirty="0" err="1">
                <a:solidFill>
                  <a:srgbClr val="18537D"/>
                </a:solidFill>
              </a:rPr>
              <a:t>KeyName</a:t>
            </a:r>
            <a:r>
              <a:rPr lang="en-US" sz="1200" dirty="0">
                <a:solidFill>
                  <a:srgbClr val="18537D"/>
                </a:solidFill>
              </a:rPr>
              <a:t>" : { "Ref" : "</a:t>
            </a:r>
            <a:r>
              <a:rPr lang="en-US" sz="1200" dirty="0" err="1">
                <a:solidFill>
                  <a:srgbClr val="18537D"/>
                </a:solidFill>
              </a:rPr>
              <a:t>KeyName</a:t>
            </a:r>
            <a:r>
              <a:rPr lang="en-US" sz="1200" dirty="0">
                <a:solidFill>
                  <a:srgbClr val="18537D"/>
                </a:solidFill>
              </a:rPr>
              <a:t>" },</a:t>
            </a:r>
          </a:p>
          <a:p>
            <a:r>
              <a:rPr lang="en-US" sz="1200" dirty="0">
                <a:solidFill>
                  <a:srgbClr val="18537D"/>
                </a:solidFill>
              </a:rPr>
              <a:t>               "</a:t>
            </a:r>
            <a:r>
              <a:rPr lang="en-US" sz="1200" dirty="0" err="1">
                <a:solidFill>
                  <a:srgbClr val="18537D"/>
                </a:solidFill>
              </a:rPr>
              <a:t>ImageId</a:t>
            </a:r>
            <a:r>
              <a:rPr lang="en-US" sz="1200" dirty="0">
                <a:solidFill>
                  <a:srgbClr val="18537D"/>
                </a:solidFill>
              </a:rPr>
              <a:t>" :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"AWSRegionArch2AMI", { "Ref" : "AWS::Region" },</a:t>
            </a:r>
          </a:p>
          <a:p>
            <a:r>
              <a:rPr lang="en-US" sz="1200" dirty="0">
                <a:solidFill>
                  <a:srgbClr val="18537D"/>
                </a:solidFill>
              </a:rPr>
              <a:t>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"AWSInstanceType2Arch", { "Ref" : "</a:t>
            </a:r>
            <a:r>
              <a:rPr lang="en-US" sz="1200" dirty="0" err="1">
                <a:solidFill>
                  <a:srgbClr val="18537D"/>
                </a:solidFill>
              </a:rPr>
              <a:t>InstanceType</a:t>
            </a:r>
            <a:r>
              <a:rPr lang="en-US" sz="1200" dirty="0">
                <a:solidFill>
                  <a:srgbClr val="18537D"/>
                </a:solidFill>
              </a:rPr>
              <a:t>" }, "Arch" ] }</a:t>
            </a:r>
          </a:p>
          <a:p>
            <a:r>
              <a:rPr lang="en-US" sz="1200" dirty="0">
                <a:solidFill>
                  <a:srgbClr val="18537D"/>
                </a:solidFill>
              </a:rPr>
              <a:t>               ]</a:t>
            </a:r>
          </a:p>
          <a:p>
            <a:r>
              <a:rPr lang="en-US" sz="1200" dirty="0">
                <a:solidFill>
                  <a:srgbClr val="18537D"/>
                </a:solidFill>
              </a:rPr>
              <a:t>        }    }  },</a:t>
            </a:r>
          </a:p>
          <a:p>
            <a:pPr>
              <a:lnSpc>
                <a:spcPct val="150000"/>
              </a:lnSpc>
            </a:pPr>
            <a:r>
              <a:rPr lang="en-US" dirty="0">
                <a:solidFill>
                  <a:srgbClr val="18537D"/>
                </a:solidFill>
              </a:rPr>
              <a:t> You have used the reference function to define your instance type as follows.</a:t>
            </a:r>
          </a:p>
          <a:p>
            <a:pPr>
              <a:lnSpc>
                <a:spcPct val="150000"/>
              </a:lnSpc>
            </a:pPr>
            <a:r>
              <a:rPr lang="en-US" b="1" dirty="0">
                <a:solidFill>
                  <a:srgbClr val="18537D"/>
                </a:solidFill>
              </a:rPr>
              <a:t>"</a:t>
            </a:r>
            <a:r>
              <a:rPr lang="en-US" b="1" dirty="0" err="1">
                <a:solidFill>
                  <a:srgbClr val="18537D"/>
                </a:solidFill>
              </a:rPr>
              <a:t>InstanceType</a:t>
            </a:r>
            <a:r>
              <a:rPr lang="en-US" b="1" dirty="0">
                <a:solidFill>
                  <a:srgbClr val="18537D"/>
                </a:solidFill>
              </a:rPr>
              <a:t>" : { "Ref" : "</a:t>
            </a:r>
            <a:r>
              <a:rPr lang="en-US" b="1" dirty="0" err="1">
                <a:solidFill>
                  <a:srgbClr val="18537D"/>
                </a:solidFill>
              </a:rPr>
              <a:t>InstanceType</a:t>
            </a:r>
            <a:r>
              <a:rPr lang="en-US" b="1" dirty="0">
                <a:solidFill>
                  <a:srgbClr val="18537D"/>
                </a:solidFill>
              </a:rPr>
              <a:t>" },</a:t>
            </a:r>
          </a:p>
          <a:p>
            <a:pPr>
              <a:lnSpc>
                <a:spcPct val="150000"/>
              </a:lnSpc>
            </a:pPr>
            <a:r>
              <a:rPr lang="en-US" dirty="0">
                <a:solidFill>
                  <a:srgbClr val="18537D"/>
                </a:solidFill>
              </a:rPr>
              <a:t> The referencing function is </a:t>
            </a:r>
            <a:r>
              <a:rPr lang="en-US" b="1" dirty="0">
                <a:solidFill>
                  <a:srgbClr val="18537D"/>
                </a:solidFill>
              </a:rPr>
              <a:t>referencing the instance type</a:t>
            </a:r>
            <a:r>
              <a:rPr lang="en-US" dirty="0">
                <a:solidFill>
                  <a:srgbClr val="18537D"/>
                </a:solidFill>
              </a:rPr>
              <a:t>. Where is this value most likely coming from?</a:t>
            </a:r>
          </a:p>
          <a:p>
            <a:pPr>
              <a:lnSpc>
                <a:spcPct val="150000"/>
              </a:lnSpc>
            </a:pPr>
            <a:r>
              <a:rPr lang="en-US" dirty="0">
                <a:solidFill>
                  <a:srgbClr val="18537D"/>
                </a:solidFill>
              </a:rPr>
              <a:t>a. From the mappings section of your CloudFormation template.</a:t>
            </a:r>
          </a:p>
          <a:p>
            <a:pPr>
              <a:lnSpc>
                <a:spcPct val="150000"/>
              </a:lnSpc>
            </a:pPr>
            <a:r>
              <a:rPr lang="en-US" dirty="0">
                <a:solidFill>
                  <a:srgbClr val="18537D"/>
                </a:solidFill>
              </a:rPr>
              <a:t>b. From the second line of this resources section.</a:t>
            </a:r>
          </a:p>
          <a:p>
            <a:pPr>
              <a:lnSpc>
                <a:spcPct val="150000"/>
              </a:lnSpc>
            </a:pPr>
            <a:r>
              <a:rPr lang="en-US" dirty="0">
                <a:solidFill>
                  <a:srgbClr val="18537D"/>
                </a:solidFill>
              </a:rPr>
              <a:t>c. From the conditions section of your CloudFormation template.</a:t>
            </a:r>
          </a:p>
          <a:p>
            <a:pPr>
              <a:lnSpc>
                <a:spcPct val="150000"/>
              </a:lnSpc>
            </a:pPr>
            <a:r>
              <a:rPr lang="en-US" dirty="0">
                <a:solidFill>
                  <a:srgbClr val="18537D"/>
                </a:solidFill>
              </a:rPr>
              <a:t>d. From the parameters section of your CloudFormation template.</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330878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810630"/>
          </a:xfrm>
          <a:prstGeom prst="rect">
            <a:avLst/>
          </a:prstGeom>
        </p:spPr>
        <p:txBody>
          <a:bodyPr wrap="square">
            <a:spAutoFit/>
          </a:bodyPr>
          <a:lstStyle/>
          <a:p>
            <a:pPr>
              <a:lnSpc>
                <a:spcPct val="150000"/>
              </a:lnSpc>
            </a:pPr>
            <a:r>
              <a:rPr lang="en-US" dirty="0">
                <a:solidFill>
                  <a:srgbClr val="18537D"/>
                </a:solidFill>
              </a:rPr>
              <a:t>The following code snippet is the resources section of a CloudFormation template that you have written. </a:t>
            </a:r>
          </a:p>
          <a:p>
            <a:r>
              <a:rPr lang="en-US" sz="1200" dirty="0">
                <a:solidFill>
                  <a:srgbClr val="18537D"/>
                </a:solidFill>
              </a:rPr>
              <a:t>"Resources" : {</a:t>
            </a:r>
          </a:p>
          <a:p>
            <a:r>
              <a:rPr lang="en-US" sz="1200" dirty="0">
                <a:solidFill>
                  <a:srgbClr val="18537D"/>
                </a:solidFill>
              </a:rPr>
              <a:t>    "EC2Instance" : {</a:t>
            </a:r>
          </a:p>
          <a:p>
            <a:r>
              <a:rPr lang="en-US" sz="1200" dirty="0">
                <a:solidFill>
                  <a:srgbClr val="18537D"/>
                </a:solidFill>
              </a:rPr>
              <a:t>        "Type" : "AWS::EC2::Instance",</a:t>
            </a:r>
          </a:p>
          <a:p>
            <a:r>
              <a:rPr lang="en-US" sz="1200" dirty="0">
                <a:solidFill>
                  <a:srgbClr val="18537D"/>
                </a:solidFill>
              </a:rPr>
              <a:t>         "Properties" : {</a:t>
            </a:r>
          </a:p>
          <a:p>
            <a:r>
              <a:rPr lang="en-US" sz="1200" dirty="0">
                <a:solidFill>
                  <a:srgbClr val="18537D"/>
                </a:solidFill>
              </a:rPr>
              <a:t>             "</a:t>
            </a:r>
            <a:r>
              <a:rPr lang="en-US" sz="1200" dirty="0" err="1">
                <a:solidFill>
                  <a:srgbClr val="18537D"/>
                </a:solidFill>
              </a:rPr>
              <a:t>InstanceType</a:t>
            </a:r>
            <a:r>
              <a:rPr lang="en-US" sz="1200" dirty="0">
                <a:solidFill>
                  <a:srgbClr val="18537D"/>
                </a:solidFill>
              </a:rPr>
              <a:t>" : { "Ref" : "</a:t>
            </a:r>
            <a:r>
              <a:rPr lang="en-US" sz="1200" dirty="0" err="1">
                <a:solidFill>
                  <a:srgbClr val="18537D"/>
                </a:solidFill>
              </a:rPr>
              <a:t>InstanceType</a:t>
            </a:r>
            <a:r>
              <a:rPr lang="en-US" sz="1200" dirty="0">
                <a:solidFill>
                  <a:srgbClr val="18537D"/>
                </a:solidFill>
              </a:rPr>
              <a:t>" },</a:t>
            </a:r>
          </a:p>
          <a:p>
            <a:r>
              <a:rPr lang="en-US" sz="1200" dirty="0">
                <a:solidFill>
                  <a:srgbClr val="18537D"/>
                </a:solidFill>
              </a:rPr>
              <a:t>              "</a:t>
            </a:r>
            <a:r>
              <a:rPr lang="en-US" sz="1200" dirty="0" err="1">
                <a:solidFill>
                  <a:srgbClr val="18537D"/>
                </a:solidFill>
              </a:rPr>
              <a:t>SecurityGroups</a:t>
            </a:r>
            <a:r>
              <a:rPr lang="en-US" sz="1200" dirty="0">
                <a:solidFill>
                  <a:srgbClr val="18537D"/>
                </a:solidFill>
              </a:rPr>
              <a:t>" : [ { "Ref" : "</a:t>
            </a:r>
            <a:r>
              <a:rPr lang="en-US" sz="1200" dirty="0" err="1">
                <a:solidFill>
                  <a:srgbClr val="18537D"/>
                </a:solidFill>
              </a:rPr>
              <a:t>InstanceSecurityGroup</a:t>
            </a:r>
            <a:r>
              <a:rPr lang="en-US" sz="1200" dirty="0">
                <a:solidFill>
                  <a:srgbClr val="18537D"/>
                </a:solidFill>
              </a:rPr>
              <a:t>" } ], </a:t>
            </a:r>
          </a:p>
          <a:p>
            <a:r>
              <a:rPr lang="en-US" sz="1200" dirty="0">
                <a:solidFill>
                  <a:srgbClr val="18537D"/>
                </a:solidFill>
              </a:rPr>
              <a:t>              "</a:t>
            </a:r>
            <a:r>
              <a:rPr lang="en-US" sz="1200" dirty="0" err="1">
                <a:solidFill>
                  <a:srgbClr val="18537D"/>
                </a:solidFill>
              </a:rPr>
              <a:t>KeyName</a:t>
            </a:r>
            <a:r>
              <a:rPr lang="en-US" sz="1200" dirty="0">
                <a:solidFill>
                  <a:srgbClr val="18537D"/>
                </a:solidFill>
              </a:rPr>
              <a:t>" : { "Ref" : "</a:t>
            </a:r>
            <a:r>
              <a:rPr lang="en-US" sz="1200" dirty="0" err="1">
                <a:solidFill>
                  <a:srgbClr val="18537D"/>
                </a:solidFill>
              </a:rPr>
              <a:t>KeyName</a:t>
            </a:r>
            <a:r>
              <a:rPr lang="en-US" sz="1200" dirty="0">
                <a:solidFill>
                  <a:srgbClr val="18537D"/>
                </a:solidFill>
              </a:rPr>
              <a:t>" },</a:t>
            </a:r>
          </a:p>
          <a:p>
            <a:r>
              <a:rPr lang="en-US" sz="1200" dirty="0">
                <a:solidFill>
                  <a:srgbClr val="18537D"/>
                </a:solidFill>
              </a:rPr>
              <a:t>               "</a:t>
            </a:r>
            <a:r>
              <a:rPr lang="en-US" sz="1200" dirty="0" err="1">
                <a:solidFill>
                  <a:srgbClr val="18537D"/>
                </a:solidFill>
              </a:rPr>
              <a:t>ImageId</a:t>
            </a:r>
            <a:r>
              <a:rPr lang="en-US" sz="1200" dirty="0">
                <a:solidFill>
                  <a:srgbClr val="18537D"/>
                </a:solidFill>
              </a:rPr>
              <a:t>" :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"AWSRegionArch2AMI", { "Ref" : "AWS::Region" },</a:t>
            </a:r>
          </a:p>
          <a:p>
            <a:r>
              <a:rPr lang="en-US" sz="1200" dirty="0">
                <a:solidFill>
                  <a:srgbClr val="18537D"/>
                </a:solidFill>
              </a:rPr>
              <a:t>                { "</a:t>
            </a:r>
            <a:r>
              <a:rPr lang="en-US" sz="1200" dirty="0" err="1">
                <a:solidFill>
                  <a:srgbClr val="18537D"/>
                </a:solidFill>
              </a:rPr>
              <a:t>Fn</a:t>
            </a:r>
            <a:r>
              <a:rPr lang="en-US" sz="1200" dirty="0">
                <a:solidFill>
                  <a:srgbClr val="18537D"/>
                </a:solidFill>
              </a:rPr>
              <a:t>::</a:t>
            </a:r>
            <a:r>
              <a:rPr lang="en-US" sz="1200" dirty="0" err="1">
                <a:solidFill>
                  <a:srgbClr val="18537D"/>
                </a:solidFill>
              </a:rPr>
              <a:t>FindInMap</a:t>
            </a:r>
            <a:r>
              <a:rPr lang="en-US" sz="1200" dirty="0">
                <a:solidFill>
                  <a:srgbClr val="18537D"/>
                </a:solidFill>
              </a:rPr>
              <a:t>" : [ "AWSInstanceType2Arch", { "Ref" : "</a:t>
            </a:r>
            <a:r>
              <a:rPr lang="en-US" sz="1200" dirty="0" err="1">
                <a:solidFill>
                  <a:srgbClr val="18537D"/>
                </a:solidFill>
              </a:rPr>
              <a:t>InstanceType</a:t>
            </a:r>
            <a:r>
              <a:rPr lang="en-US" sz="1200" dirty="0">
                <a:solidFill>
                  <a:srgbClr val="18537D"/>
                </a:solidFill>
              </a:rPr>
              <a:t>" }, "Arch" ] }</a:t>
            </a:r>
          </a:p>
          <a:p>
            <a:r>
              <a:rPr lang="en-US" sz="1200" dirty="0">
                <a:solidFill>
                  <a:srgbClr val="18537D"/>
                </a:solidFill>
              </a:rPr>
              <a:t>               ]</a:t>
            </a:r>
          </a:p>
          <a:p>
            <a:r>
              <a:rPr lang="en-US" sz="1200" dirty="0">
                <a:solidFill>
                  <a:srgbClr val="18537D"/>
                </a:solidFill>
              </a:rPr>
              <a:t>        }    }  },</a:t>
            </a:r>
          </a:p>
          <a:p>
            <a:pPr>
              <a:lnSpc>
                <a:spcPct val="150000"/>
              </a:lnSpc>
            </a:pPr>
            <a:r>
              <a:rPr lang="en-US" dirty="0">
                <a:solidFill>
                  <a:srgbClr val="18537D"/>
                </a:solidFill>
              </a:rPr>
              <a:t> You have used the reference function to define your instance type as follows.</a:t>
            </a:r>
          </a:p>
          <a:p>
            <a:pPr>
              <a:lnSpc>
                <a:spcPct val="150000"/>
              </a:lnSpc>
            </a:pPr>
            <a:r>
              <a:rPr lang="en-US" b="1" dirty="0">
                <a:solidFill>
                  <a:srgbClr val="18537D"/>
                </a:solidFill>
              </a:rPr>
              <a:t>"</a:t>
            </a:r>
            <a:r>
              <a:rPr lang="en-US" b="1" dirty="0" err="1">
                <a:solidFill>
                  <a:srgbClr val="18537D"/>
                </a:solidFill>
              </a:rPr>
              <a:t>InstanceType</a:t>
            </a:r>
            <a:r>
              <a:rPr lang="en-US" b="1" dirty="0">
                <a:solidFill>
                  <a:srgbClr val="18537D"/>
                </a:solidFill>
              </a:rPr>
              <a:t>" : { "Ref" : "</a:t>
            </a:r>
            <a:r>
              <a:rPr lang="en-US" b="1" dirty="0" err="1">
                <a:solidFill>
                  <a:srgbClr val="18537D"/>
                </a:solidFill>
              </a:rPr>
              <a:t>InstanceType</a:t>
            </a:r>
            <a:r>
              <a:rPr lang="en-US" b="1" dirty="0">
                <a:solidFill>
                  <a:srgbClr val="18537D"/>
                </a:solidFill>
              </a:rPr>
              <a:t>" },</a:t>
            </a:r>
          </a:p>
          <a:p>
            <a:pPr>
              <a:lnSpc>
                <a:spcPct val="150000"/>
              </a:lnSpc>
            </a:pPr>
            <a:r>
              <a:rPr lang="en-US" dirty="0">
                <a:solidFill>
                  <a:srgbClr val="18537D"/>
                </a:solidFill>
              </a:rPr>
              <a:t> The referencing function is </a:t>
            </a:r>
            <a:r>
              <a:rPr lang="en-US" b="1" dirty="0">
                <a:solidFill>
                  <a:srgbClr val="18537D"/>
                </a:solidFill>
              </a:rPr>
              <a:t>referencing the instance type</a:t>
            </a:r>
            <a:r>
              <a:rPr lang="en-US" dirty="0">
                <a:solidFill>
                  <a:srgbClr val="18537D"/>
                </a:solidFill>
              </a:rPr>
              <a:t>. Where is this value most likely coming from?</a:t>
            </a:r>
          </a:p>
          <a:p>
            <a:pPr>
              <a:lnSpc>
                <a:spcPct val="150000"/>
              </a:lnSpc>
            </a:pPr>
            <a:r>
              <a:rPr lang="en-US" dirty="0">
                <a:solidFill>
                  <a:srgbClr val="18537D"/>
                </a:solidFill>
              </a:rPr>
              <a:t>a. From the mappings section of your CloudFormation template.</a:t>
            </a:r>
          </a:p>
          <a:p>
            <a:pPr>
              <a:lnSpc>
                <a:spcPct val="150000"/>
              </a:lnSpc>
            </a:pPr>
            <a:r>
              <a:rPr lang="en-US" dirty="0">
                <a:solidFill>
                  <a:srgbClr val="18537D"/>
                </a:solidFill>
              </a:rPr>
              <a:t>b. From the second line of this resources section.</a:t>
            </a:r>
          </a:p>
          <a:p>
            <a:pPr>
              <a:lnSpc>
                <a:spcPct val="150000"/>
              </a:lnSpc>
            </a:pPr>
            <a:r>
              <a:rPr lang="en-US" dirty="0">
                <a:solidFill>
                  <a:srgbClr val="18537D"/>
                </a:solidFill>
              </a:rPr>
              <a:t>c. From the conditions section of your CloudFormation template.</a:t>
            </a:r>
          </a:p>
          <a:p>
            <a:pPr>
              <a:lnSpc>
                <a:spcPct val="150000"/>
              </a:lnSpc>
            </a:pPr>
            <a:r>
              <a:rPr lang="en-US" b="1" dirty="0">
                <a:solidFill>
                  <a:srgbClr val="18537D"/>
                </a:solidFill>
              </a:rPr>
              <a:t>d. From the parameters section of your CloudFormation template.</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26916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You are using AWS SAM templates to deploy a serverless application. Which of the following  resource will embed nested application from Amazon S3 buckets? </a:t>
            </a:r>
          </a:p>
          <a:p>
            <a:pPr>
              <a:lnSpc>
                <a:spcPct val="150000"/>
              </a:lnSpc>
            </a:pPr>
            <a:endParaRPr lang="en-US" dirty="0">
              <a:solidFill>
                <a:srgbClr val="18537D"/>
              </a:solidFill>
            </a:endParaRPr>
          </a:p>
          <a:p>
            <a:pPr>
              <a:lnSpc>
                <a:spcPct val="150000"/>
              </a:lnSpc>
            </a:pPr>
            <a:r>
              <a:rPr lang="en-US" dirty="0">
                <a:solidFill>
                  <a:srgbClr val="18537D"/>
                </a:solidFill>
              </a:rPr>
              <a:t>a. AWS::Serverless::</a:t>
            </a:r>
            <a:r>
              <a:rPr lang="en-US" dirty="0" err="1">
                <a:solidFill>
                  <a:srgbClr val="18537D"/>
                </a:solidFill>
              </a:rPr>
              <a:t>Api</a:t>
            </a:r>
            <a:endParaRPr lang="en-US" dirty="0">
              <a:solidFill>
                <a:srgbClr val="18537D"/>
              </a:solidFill>
            </a:endParaRPr>
          </a:p>
          <a:p>
            <a:pPr>
              <a:lnSpc>
                <a:spcPct val="150000"/>
              </a:lnSpc>
            </a:pPr>
            <a:r>
              <a:rPr lang="en-US" dirty="0">
                <a:solidFill>
                  <a:srgbClr val="18537D"/>
                </a:solidFill>
              </a:rPr>
              <a:t>b. AWS::Serverless::Application</a:t>
            </a:r>
          </a:p>
          <a:p>
            <a:pPr>
              <a:lnSpc>
                <a:spcPct val="150000"/>
              </a:lnSpc>
            </a:pPr>
            <a:r>
              <a:rPr lang="en-US" dirty="0">
                <a:solidFill>
                  <a:srgbClr val="18537D"/>
                </a:solidFill>
              </a:rPr>
              <a:t>c. AWS::Serverless::</a:t>
            </a:r>
            <a:r>
              <a:rPr lang="en-US" dirty="0" err="1">
                <a:solidFill>
                  <a:srgbClr val="18537D"/>
                </a:solidFill>
              </a:rPr>
              <a:t>LayerVersion</a:t>
            </a:r>
            <a:endParaRPr lang="en-US" dirty="0">
              <a:solidFill>
                <a:srgbClr val="18537D"/>
              </a:solidFill>
            </a:endParaRPr>
          </a:p>
          <a:p>
            <a:pPr>
              <a:lnSpc>
                <a:spcPct val="150000"/>
              </a:lnSpc>
            </a:pPr>
            <a:r>
              <a:rPr lang="en-US" dirty="0">
                <a:solidFill>
                  <a:srgbClr val="18537D"/>
                </a:solidFill>
              </a:rPr>
              <a:t>d. AWS::Serverless::Function</a:t>
            </a:r>
          </a:p>
        </p:txBody>
      </p:sp>
    </p:spTree>
    <p:extLst>
      <p:ext uri="{BB962C8B-B14F-4D97-AF65-F5344CB8AC3E}">
        <p14:creationId xmlns:p14="http://schemas.microsoft.com/office/powerpoint/2010/main" val="29989445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You are using </a:t>
            </a:r>
            <a:r>
              <a:rPr lang="en-US" b="1" dirty="0">
                <a:solidFill>
                  <a:srgbClr val="18537D"/>
                </a:solidFill>
              </a:rPr>
              <a:t>AWS SAM templates </a:t>
            </a:r>
            <a:r>
              <a:rPr lang="en-US" dirty="0">
                <a:solidFill>
                  <a:srgbClr val="18537D"/>
                </a:solidFill>
              </a:rPr>
              <a:t>to deploy a serverless application. Which of the following  resource will embed </a:t>
            </a:r>
            <a:r>
              <a:rPr lang="en-US" b="1" dirty="0">
                <a:solidFill>
                  <a:srgbClr val="18537D"/>
                </a:solidFill>
              </a:rPr>
              <a:t>nested application from Amazon S3 </a:t>
            </a:r>
            <a:r>
              <a:rPr lang="en-US" dirty="0">
                <a:solidFill>
                  <a:srgbClr val="18537D"/>
                </a:solidFill>
              </a:rPr>
              <a:t>buckets? </a:t>
            </a:r>
          </a:p>
          <a:p>
            <a:pPr>
              <a:lnSpc>
                <a:spcPct val="150000"/>
              </a:lnSpc>
            </a:pPr>
            <a:endParaRPr lang="en-US" dirty="0">
              <a:solidFill>
                <a:srgbClr val="18537D"/>
              </a:solidFill>
            </a:endParaRPr>
          </a:p>
          <a:p>
            <a:pPr>
              <a:lnSpc>
                <a:spcPct val="150000"/>
              </a:lnSpc>
            </a:pPr>
            <a:r>
              <a:rPr lang="en-US" dirty="0">
                <a:solidFill>
                  <a:srgbClr val="18537D"/>
                </a:solidFill>
              </a:rPr>
              <a:t>a. AWS::Serverless::</a:t>
            </a:r>
            <a:r>
              <a:rPr lang="en-US" dirty="0" err="1">
                <a:solidFill>
                  <a:srgbClr val="18537D"/>
                </a:solidFill>
              </a:rPr>
              <a:t>Api</a:t>
            </a:r>
            <a:endParaRPr lang="en-US" dirty="0">
              <a:solidFill>
                <a:srgbClr val="18537D"/>
              </a:solidFill>
            </a:endParaRPr>
          </a:p>
          <a:p>
            <a:pPr>
              <a:lnSpc>
                <a:spcPct val="150000"/>
              </a:lnSpc>
            </a:pPr>
            <a:r>
              <a:rPr lang="en-US" dirty="0">
                <a:solidFill>
                  <a:srgbClr val="18537D"/>
                </a:solidFill>
              </a:rPr>
              <a:t>b. AWS::Serverless::Application</a:t>
            </a:r>
          </a:p>
          <a:p>
            <a:pPr>
              <a:lnSpc>
                <a:spcPct val="150000"/>
              </a:lnSpc>
            </a:pPr>
            <a:r>
              <a:rPr lang="en-US" dirty="0">
                <a:solidFill>
                  <a:srgbClr val="18537D"/>
                </a:solidFill>
              </a:rPr>
              <a:t>c. AWS::Serverless::</a:t>
            </a:r>
            <a:r>
              <a:rPr lang="en-US" dirty="0" err="1">
                <a:solidFill>
                  <a:srgbClr val="18537D"/>
                </a:solidFill>
              </a:rPr>
              <a:t>LayerVersion</a:t>
            </a:r>
            <a:endParaRPr lang="en-US" dirty="0">
              <a:solidFill>
                <a:srgbClr val="18537D"/>
              </a:solidFill>
            </a:endParaRPr>
          </a:p>
          <a:p>
            <a:pPr>
              <a:lnSpc>
                <a:spcPct val="150000"/>
              </a:lnSpc>
            </a:pPr>
            <a:r>
              <a:rPr lang="en-US" dirty="0">
                <a:solidFill>
                  <a:srgbClr val="18537D"/>
                </a:solidFill>
              </a:rPr>
              <a:t>d. AWS::Serverless::Function</a:t>
            </a:r>
          </a:p>
        </p:txBody>
      </p:sp>
    </p:spTree>
    <p:extLst>
      <p:ext uri="{BB962C8B-B14F-4D97-AF65-F5344CB8AC3E}">
        <p14:creationId xmlns:p14="http://schemas.microsoft.com/office/powerpoint/2010/main" val="3947616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You are using </a:t>
            </a:r>
            <a:r>
              <a:rPr lang="en-US" b="1" dirty="0">
                <a:solidFill>
                  <a:srgbClr val="18537D"/>
                </a:solidFill>
              </a:rPr>
              <a:t>AWS SAM templates </a:t>
            </a:r>
            <a:r>
              <a:rPr lang="en-US" dirty="0">
                <a:solidFill>
                  <a:srgbClr val="18537D"/>
                </a:solidFill>
              </a:rPr>
              <a:t>to deploy a serverless application. Which of the following  resource will embed </a:t>
            </a:r>
            <a:r>
              <a:rPr lang="en-US" b="1" dirty="0">
                <a:solidFill>
                  <a:srgbClr val="18537D"/>
                </a:solidFill>
              </a:rPr>
              <a:t>nested application from Amazon S3 </a:t>
            </a:r>
            <a:r>
              <a:rPr lang="en-US" dirty="0">
                <a:solidFill>
                  <a:srgbClr val="18537D"/>
                </a:solidFill>
              </a:rPr>
              <a:t>buckets? </a:t>
            </a:r>
          </a:p>
          <a:p>
            <a:pPr>
              <a:lnSpc>
                <a:spcPct val="150000"/>
              </a:lnSpc>
            </a:pPr>
            <a:endParaRPr lang="en-US" dirty="0">
              <a:solidFill>
                <a:srgbClr val="18537D"/>
              </a:solidFill>
            </a:endParaRPr>
          </a:p>
          <a:p>
            <a:pPr>
              <a:lnSpc>
                <a:spcPct val="150000"/>
              </a:lnSpc>
            </a:pPr>
            <a:r>
              <a:rPr lang="en-US" dirty="0">
                <a:solidFill>
                  <a:srgbClr val="18537D"/>
                </a:solidFill>
              </a:rPr>
              <a:t>a. AWS::Serverless::</a:t>
            </a:r>
            <a:r>
              <a:rPr lang="en-US" dirty="0" err="1">
                <a:solidFill>
                  <a:srgbClr val="18537D"/>
                </a:solidFill>
              </a:rPr>
              <a:t>Api</a:t>
            </a:r>
            <a:endParaRPr lang="en-US" dirty="0">
              <a:solidFill>
                <a:srgbClr val="18537D"/>
              </a:solidFill>
            </a:endParaRPr>
          </a:p>
          <a:p>
            <a:pPr>
              <a:lnSpc>
                <a:spcPct val="150000"/>
              </a:lnSpc>
            </a:pPr>
            <a:r>
              <a:rPr lang="en-US" b="1" dirty="0">
                <a:solidFill>
                  <a:srgbClr val="18537D"/>
                </a:solidFill>
              </a:rPr>
              <a:t>b. AWS::Serverless::Application</a:t>
            </a:r>
          </a:p>
          <a:p>
            <a:pPr>
              <a:lnSpc>
                <a:spcPct val="150000"/>
              </a:lnSpc>
            </a:pPr>
            <a:r>
              <a:rPr lang="en-US" dirty="0">
                <a:solidFill>
                  <a:srgbClr val="18537D"/>
                </a:solidFill>
              </a:rPr>
              <a:t>c. AWS::Serverless::</a:t>
            </a:r>
            <a:r>
              <a:rPr lang="en-US" dirty="0" err="1">
                <a:solidFill>
                  <a:srgbClr val="18537D"/>
                </a:solidFill>
              </a:rPr>
              <a:t>LayerVersion</a:t>
            </a:r>
            <a:endParaRPr lang="en-US" dirty="0">
              <a:solidFill>
                <a:srgbClr val="18537D"/>
              </a:solidFill>
            </a:endParaRPr>
          </a:p>
          <a:p>
            <a:pPr>
              <a:lnSpc>
                <a:spcPct val="150000"/>
              </a:lnSpc>
            </a:pPr>
            <a:r>
              <a:rPr lang="en-US" dirty="0">
                <a:solidFill>
                  <a:srgbClr val="18537D"/>
                </a:solidFill>
              </a:rPr>
              <a:t>d. AWS::Serverless::Function</a:t>
            </a:r>
          </a:p>
        </p:txBody>
      </p:sp>
    </p:spTree>
    <p:extLst>
      <p:ext uri="{BB962C8B-B14F-4D97-AF65-F5344CB8AC3E}">
        <p14:creationId xmlns:p14="http://schemas.microsoft.com/office/powerpoint/2010/main" val="14804289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developer has recently deployed an AWS Lambda function that computes a Fibonacci sequence using recursive Lambda invocations. A pre-defined AWS IAM policy is being used for this function, and only the required dependencies were packaged. A few days after deployment, the Lambda function is being throttled. What should the Developer have done to prevent this, according to best practices?</a:t>
            </a:r>
          </a:p>
          <a:p>
            <a:pPr>
              <a:lnSpc>
                <a:spcPct val="150000"/>
              </a:lnSpc>
            </a:pPr>
            <a:endParaRPr lang="en-US" dirty="0">
              <a:solidFill>
                <a:srgbClr val="18537D"/>
              </a:solidFill>
            </a:endParaRPr>
          </a:p>
          <a:p>
            <a:pPr>
              <a:lnSpc>
                <a:spcPct val="150000"/>
              </a:lnSpc>
            </a:pPr>
            <a:r>
              <a:rPr lang="en-US" dirty="0">
                <a:solidFill>
                  <a:srgbClr val="18537D"/>
                </a:solidFill>
              </a:rPr>
              <a:t>a. Avoid the use of recursion</a:t>
            </a:r>
          </a:p>
          <a:p>
            <a:pPr>
              <a:lnSpc>
                <a:spcPct val="150000"/>
              </a:lnSpc>
            </a:pPr>
            <a:r>
              <a:rPr lang="en-US" dirty="0">
                <a:solidFill>
                  <a:srgbClr val="18537D"/>
                </a:solidFill>
              </a:rPr>
              <a:t>b. Request a concurrency service limit increase</a:t>
            </a:r>
          </a:p>
          <a:p>
            <a:pPr>
              <a:lnSpc>
                <a:spcPct val="150000"/>
              </a:lnSpc>
            </a:pPr>
            <a:r>
              <a:rPr lang="en-US" dirty="0">
                <a:solidFill>
                  <a:srgbClr val="18537D"/>
                </a:solidFill>
              </a:rPr>
              <a:t>c. Increase the memory allocation range.</a:t>
            </a:r>
          </a:p>
          <a:p>
            <a:pPr>
              <a:lnSpc>
                <a:spcPct val="150000"/>
              </a:lnSpc>
            </a:pPr>
            <a:r>
              <a:rPr lang="en-US" dirty="0">
                <a:solidFill>
                  <a:srgbClr val="18537D"/>
                </a:solidFill>
              </a:rPr>
              <a:t>d. Use more restrictive IAM policies</a:t>
            </a:r>
          </a:p>
        </p:txBody>
      </p:sp>
    </p:spTree>
    <p:extLst>
      <p:ext uri="{BB962C8B-B14F-4D97-AF65-F5344CB8AC3E}">
        <p14:creationId xmlns:p14="http://schemas.microsoft.com/office/powerpoint/2010/main" val="25555931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developer has recently deployed an </a:t>
            </a:r>
            <a:r>
              <a:rPr lang="en-US" b="1" dirty="0">
                <a:solidFill>
                  <a:srgbClr val="18537D"/>
                </a:solidFill>
              </a:rPr>
              <a:t>AWS Lambda function that computes a Fibonacci sequence </a:t>
            </a:r>
            <a:r>
              <a:rPr lang="en-US" dirty="0">
                <a:solidFill>
                  <a:srgbClr val="18537D"/>
                </a:solidFill>
              </a:rPr>
              <a:t>using </a:t>
            </a:r>
            <a:r>
              <a:rPr lang="en-US" b="1" dirty="0">
                <a:solidFill>
                  <a:srgbClr val="18537D"/>
                </a:solidFill>
              </a:rPr>
              <a:t>recursive Lambda invocations</a:t>
            </a:r>
            <a:r>
              <a:rPr lang="en-US" dirty="0">
                <a:solidFill>
                  <a:srgbClr val="18537D"/>
                </a:solidFill>
              </a:rPr>
              <a:t>. A pre-defined AWS IAM policy is being used for this function, and only the required dependencies were packaged. A few days after deployment, the </a:t>
            </a:r>
            <a:r>
              <a:rPr lang="en-US" b="1" dirty="0">
                <a:solidFill>
                  <a:srgbClr val="18537D"/>
                </a:solidFill>
              </a:rPr>
              <a:t>Lambda function is being throttled</a:t>
            </a:r>
            <a:r>
              <a:rPr lang="en-US" dirty="0">
                <a:solidFill>
                  <a:srgbClr val="18537D"/>
                </a:solidFill>
              </a:rPr>
              <a:t>. What should the Developer have done to prevent this, according to best practices?</a:t>
            </a:r>
          </a:p>
          <a:p>
            <a:pPr>
              <a:lnSpc>
                <a:spcPct val="150000"/>
              </a:lnSpc>
            </a:pPr>
            <a:endParaRPr lang="en-US" dirty="0">
              <a:solidFill>
                <a:srgbClr val="18537D"/>
              </a:solidFill>
            </a:endParaRPr>
          </a:p>
          <a:p>
            <a:pPr>
              <a:lnSpc>
                <a:spcPct val="150000"/>
              </a:lnSpc>
            </a:pPr>
            <a:r>
              <a:rPr lang="en-US" dirty="0">
                <a:solidFill>
                  <a:srgbClr val="18537D"/>
                </a:solidFill>
              </a:rPr>
              <a:t>a. Avoid the use of recursion</a:t>
            </a:r>
          </a:p>
          <a:p>
            <a:pPr>
              <a:lnSpc>
                <a:spcPct val="150000"/>
              </a:lnSpc>
            </a:pPr>
            <a:r>
              <a:rPr lang="en-US" dirty="0">
                <a:solidFill>
                  <a:srgbClr val="18537D"/>
                </a:solidFill>
              </a:rPr>
              <a:t>b. Request a concurrency service limit increase</a:t>
            </a:r>
          </a:p>
          <a:p>
            <a:pPr>
              <a:lnSpc>
                <a:spcPct val="150000"/>
              </a:lnSpc>
            </a:pPr>
            <a:r>
              <a:rPr lang="en-US" dirty="0">
                <a:solidFill>
                  <a:srgbClr val="18537D"/>
                </a:solidFill>
              </a:rPr>
              <a:t>c. Increase the memory allocation range.</a:t>
            </a:r>
          </a:p>
          <a:p>
            <a:pPr>
              <a:lnSpc>
                <a:spcPct val="150000"/>
              </a:lnSpc>
            </a:pPr>
            <a:r>
              <a:rPr lang="en-US" dirty="0">
                <a:solidFill>
                  <a:srgbClr val="18537D"/>
                </a:solidFill>
              </a:rPr>
              <a:t>d. Use more restrictive IAM policies</a:t>
            </a:r>
          </a:p>
        </p:txBody>
      </p:sp>
    </p:spTree>
    <p:extLst>
      <p:ext uri="{BB962C8B-B14F-4D97-AF65-F5344CB8AC3E}">
        <p14:creationId xmlns:p14="http://schemas.microsoft.com/office/powerpoint/2010/main" val="41806685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developer has recently deployed an </a:t>
            </a:r>
            <a:r>
              <a:rPr lang="en-US" b="1" dirty="0">
                <a:solidFill>
                  <a:srgbClr val="18537D"/>
                </a:solidFill>
              </a:rPr>
              <a:t>AWS Lambda function that computes a Fibonacci sequence </a:t>
            </a:r>
            <a:r>
              <a:rPr lang="en-US" dirty="0">
                <a:solidFill>
                  <a:srgbClr val="18537D"/>
                </a:solidFill>
              </a:rPr>
              <a:t>using </a:t>
            </a:r>
            <a:r>
              <a:rPr lang="en-US" b="1" dirty="0">
                <a:solidFill>
                  <a:srgbClr val="18537D"/>
                </a:solidFill>
              </a:rPr>
              <a:t>recursive Lambda invocations</a:t>
            </a:r>
            <a:r>
              <a:rPr lang="en-US" dirty="0">
                <a:solidFill>
                  <a:srgbClr val="18537D"/>
                </a:solidFill>
              </a:rPr>
              <a:t>. A pre-defined AWS IAM policy is being used for this function, and only the required dependencies were packaged. A few days after deployment, the </a:t>
            </a:r>
            <a:r>
              <a:rPr lang="en-US" b="1" dirty="0">
                <a:solidFill>
                  <a:srgbClr val="18537D"/>
                </a:solidFill>
              </a:rPr>
              <a:t>Lambda function is being throttled</a:t>
            </a:r>
            <a:r>
              <a:rPr lang="en-US" dirty="0">
                <a:solidFill>
                  <a:srgbClr val="18537D"/>
                </a:solidFill>
              </a:rPr>
              <a:t>. What should the Developer have done to prevent this, according to best practices?</a:t>
            </a:r>
          </a:p>
          <a:p>
            <a:pPr>
              <a:lnSpc>
                <a:spcPct val="150000"/>
              </a:lnSpc>
            </a:pPr>
            <a:endParaRPr lang="en-US" dirty="0">
              <a:solidFill>
                <a:srgbClr val="18537D"/>
              </a:solidFill>
            </a:endParaRPr>
          </a:p>
          <a:p>
            <a:pPr>
              <a:lnSpc>
                <a:spcPct val="150000"/>
              </a:lnSpc>
            </a:pPr>
            <a:r>
              <a:rPr lang="en-US" b="1" dirty="0">
                <a:solidFill>
                  <a:srgbClr val="18537D"/>
                </a:solidFill>
              </a:rPr>
              <a:t>a. Avoid the use of recursion</a:t>
            </a:r>
          </a:p>
          <a:p>
            <a:pPr>
              <a:lnSpc>
                <a:spcPct val="150000"/>
              </a:lnSpc>
            </a:pPr>
            <a:r>
              <a:rPr lang="en-US" dirty="0">
                <a:solidFill>
                  <a:srgbClr val="18537D"/>
                </a:solidFill>
              </a:rPr>
              <a:t>b. Request a concurrency service limit increase</a:t>
            </a:r>
          </a:p>
          <a:p>
            <a:pPr>
              <a:lnSpc>
                <a:spcPct val="150000"/>
              </a:lnSpc>
            </a:pPr>
            <a:r>
              <a:rPr lang="en-US" dirty="0">
                <a:solidFill>
                  <a:srgbClr val="18537D"/>
                </a:solidFill>
              </a:rPr>
              <a:t>c. Increase the memory allocation range.</a:t>
            </a:r>
          </a:p>
          <a:p>
            <a:pPr>
              <a:lnSpc>
                <a:spcPct val="150000"/>
              </a:lnSpc>
            </a:pPr>
            <a:r>
              <a:rPr lang="en-US" dirty="0">
                <a:solidFill>
                  <a:srgbClr val="18537D"/>
                </a:solidFill>
              </a:rPr>
              <a:t>d. Use more restrictive IAM policies</a:t>
            </a:r>
          </a:p>
        </p:txBody>
      </p:sp>
    </p:spTree>
    <p:extLst>
      <p:ext uri="{BB962C8B-B14F-4D97-AF65-F5344CB8AC3E}">
        <p14:creationId xmlns:p14="http://schemas.microsoft.com/office/powerpoint/2010/main" val="26998590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organization deployed their static website on Amazon S3. Now, the Developer has a requirement to serve dynamic content using a serverless solution. Which combination of services should be used to implement a serverless application for the dynamic content? Select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Amazon API Gateway</a:t>
            </a:r>
          </a:p>
          <a:p>
            <a:pPr>
              <a:lnSpc>
                <a:spcPct val="150000"/>
              </a:lnSpc>
            </a:pPr>
            <a:r>
              <a:rPr lang="en-US" dirty="0">
                <a:solidFill>
                  <a:srgbClr val="18537D"/>
                </a:solidFill>
              </a:rPr>
              <a:t>b. Amazon EC2</a:t>
            </a:r>
          </a:p>
          <a:p>
            <a:pPr>
              <a:lnSpc>
                <a:spcPct val="150000"/>
              </a:lnSpc>
            </a:pPr>
            <a:r>
              <a:rPr lang="en-US" dirty="0">
                <a:solidFill>
                  <a:srgbClr val="18537D"/>
                </a:solidFill>
              </a:rPr>
              <a:t>c. AWS ECS</a:t>
            </a:r>
          </a:p>
          <a:p>
            <a:pPr>
              <a:lnSpc>
                <a:spcPct val="150000"/>
              </a:lnSpc>
            </a:pPr>
            <a:r>
              <a:rPr lang="en-US" dirty="0">
                <a:solidFill>
                  <a:srgbClr val="18537D"/>
                </a:solidFill>
              </a:rPr>
              <a:t>d. AWS Lambda</a:t>
            </a:r>
          </a:p>
          <a:p>
            <a:pPr>
              <a:lnSpc>
                <a:spcPct val="150000"/>
              </a:lnSpc>
            </a:pPr>
            <a:r>
              <a:rPr lang="en-US" dirty="0">
                <a:solidFill>
                  <a:srgbClr val="18537D"/>
                </a:solidFill>
              </a:rPr>
              <a:t>e. Amazon kinesis</a:t>
            </a:r>
          </a:p>
        </p:txBody>
      </p:sp>
    </p:spTree>
    <p:extLst>
      <p:ext uri="{BB962C8B-B14F-4D97-AF65-F5344CB8AC3E}">
        <p14:creationId xmlns:p14="http://schemas.microsoft.com/office/powerpoint/2010/main" val="3356846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organization deployed their </a:t>
            </a:r>
            <a:r>
              <a:rPr lang="en-US" b="1" dirty="0">
                <a:solidFill>
                  <a:srgbClr val="18537D"/>
                </a:solidFill>
              </a:rPr>
              <a:t>static website on Amazon S3</a:t>
            </a:r>
            <a:r>
              <a:rPr lang="en-US" dirty="0">
                <a:solidFill>
                  <a:srgbClr val="18537D"/>
                </a:solidFill>
              </a:rPr>
              <a:t>. Now, the Developer has a requirement to serve </a:t>
            </a:r>
            <a:r>
              <a:rPr lang="en-US" b="1" dirty="0">
                <a:solidFill>
                  <a:srgbClr val="18537D"/>
                </a:solidFill>
              </a:rPr>
              <a:t>dynamic content using a serverless solution</a:t>
            </a:r>
            <a:r>
              <a:rPr lang="en-US" dirty="0">
                <a:solidFill>
                  <a:srgbClr val="18537D"/>
                </a:solidFill>
              </a:rPr>
              <a:t>. Which combination of services should be used to implement a serverless application for the dynamic content? Select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Amazon API Gateway</a:t>
            </a:r>
          </a:p>
          <a:p>
            <a:pPr>
              <a:lnSpc>
                <a:spcPct val="150000"/>
              </a:lnSpc>
            </a:pPr>
            <a:r>
              <a:rPr lang="en-US" dirty="0">
                <a:solidFill>
                  <a:srgbClr val="18537D"/>
                </a:solidFill>
              </a:rPr>
              <a:t>b. Amazon EC2</a:t>
            </a:r>
          </a:p>
          <a:p>
            <a:pPr>
              <a:lnSpc>
                <a:spcPct val="150000"/>
              </a:lnSpc>
            </a:pPr>
            <a:r>
              <a:rPr lang="en-US" dirty="0">
                <a:solidFill>
                  <a:srgbClr val="18537D"/>
                </a:solidFill>
              </a:rPr>
              <a:t>c. AWS ECS</a:t>
            </a:r>
          </a:p>
          <a:p>
            <a:pPr>
              <a:lnSpc>
                <a:spcPct val="150000"/>
              </a:lnSpc>
            </a:pPr>
            <a:r>
              <a:rPr lang="en-US" dirty="0">
                <a:solidFill>
                  <a:srgbClr val="18537D"/>
                </a:solidFill>
              </a:rPr>
              <a:t>d. AWS Lambda</a:t>
            </a:r>
          </a:p>
          <a:p>
            <a:pPr>
              <a:lnSpc>
                <a:spcPct val="150000"/>
              </a:lnSpc>
            </a:pPr>
            <a:r>
              <a:rPr lang="en-US" dirty="0">
                <a:solidFill>
                  <a:srgbClr val="18537D"/>
                </a:solidFill>
              </a:rPr>
              <a:t>e. Amazon kinesis</a:t>
            </a:r>
          </a:p>
        </p:txBody>
      </p:sp>
    </p:spTree>
    <p:extLst>
      <p:ext uri="{BB962C8B-B14F-4D97-AF65-F5344CB8AC3E}">
        <p14:creationId xmlns:p14="http://schemas.microsoft.com/office/powerpoint/2010/main" val="28928694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4000"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organization deployed their </a:t>
            </a:r>
            <a:r>
              <a:rPr lang="en-US" b="1" dirty="0">
                <a:solidFill>
                  <a:srgbClr val="18537D"/>
                </a:solidFill>
              </a:rPr>
              <a:t>static website on Amazon S3</a:t>
            </a:r>
            <a:r>
              <a:rPr lang="en-US" dirty="0">
                <a:solidFill>
                  <a:srgbClr val="18537D"/>
                </a:solidFill>
              </a:rPr>
              <a:t>. Now, the Developer has a requirement to serve </a:t>
            </a:r>
            <a:r>
              <a:rPr lang="en-US" b="1" dirty="0">
                <a:solidFill>
                  <a:srgbClr val="18537D"/>
                </a:solidFill>
              </a:rPr>
              <a:t>dynamic content using a serverless solution</a:t>
            </a:r>
            <a:r>
              <a:rPr lang="en-US" dirty="0">
                <a:solidFill>
                  <a:srgbClr val="18537D"/>
                </a:solidFill>
              </a:rPr>
              <a:t>. Which combination of services should be used to implement a serverless application for the dynamic content? Select 2 answers from the options given below</a:t>
            </a:r>
          </a:p>
          <a:p>
            <a:pPr>
              <a:lnSpc>
                <a:spcPct val="150000"/>
              </a:lnSpc>
            </a:pPr>
            <a:endParaRPr lang="en-US" dirty="0">
              <a:solidFill>
                <a:srgbClr val="18537D"/>
              </a:solidFill>
            </a:endParaRPr>
          </a:p>
          <a:p>
            <a:pPr>
              <a:lnSpc>
                <a:spcPct val="150000"/>
              </a:lnSpc>
            </a:pPr>
            <a:r>
              <a:rPr lang="en-US" b="1" dirty="0">
                <a:solidFill>
                  <a:srgbClr val="18537D"/>
                </a:solidFill>
              </a:rPr>
              <a:t>a. Amazon API Gateway</a:t>
            </a:r>
          </a:p>
          <a:p>
            <a:pPr>
              <a:lnSpc>
                <a:spcPct val="150000"/>
              </a:lnSpc>
            </a:pPr>
            <a:r>
              <a:rPr lang="en-US" dirty="0">
                <a:solidFill>
                  <a:srgbClr val="18537D"/>
                </a:solidFill>
              </a:rPr>
              <a:t>b. Amazon EC2</a:t>
            </a:r>
          </a:p>
          <a:p>
            <a:pPr>
              <a:lnSpc>
                <a:spcPct val="150000"/>
              </a:lnSpc>
            </a:pPr>
            <a:r>
              <a:rPr lang="en-US" dirty="0">
                <a:solidFill>
                  <a:srgbClr val="18537D"/>
                </a:solidFill>
              </a:rPr>
              <a:t>c. AWS ECS</a:t>
            </a:r>
          </a:p>
          <a:p>
            <a:pPr>
              <a:lnSpc>
                <a:spcPct val="150000"/>
              </a:lnSpc>
            </a:pPr>
            <a:r>
              <a:rPr lang="en-US" b="1" dirty="0">
                <a:solidFill>
                  <a:srgbClr val="18537D"/>
                </a:solidFill>
              </a:rPr>
              <a:t>d. AWS Lambda</a:t>
            </a:r>
          </a:p>
          <a:p>
            <a:pPr>
              <a:lnSpc>
                <a:spcPct val="150000"/>
              </a:lnSpc>
            </a:pPr>
            <a:r>
              <a:rPr lang="en-US" dirty="0">
                <a:solidFill>
                  <a:srgbClr val="18537D"/>
                </a:solidFill>
              </a:rPr>
              <a:t>e. Amazon kinesis</a:t>
            </a:r>
          </a:p>
        </p:txBody>
      </p:sp>
    </p:spTree>
    <p:extLst>
      <p:ext uri="{BB962C8B-B14F-4D97-AF65-F5344CB8AC3E}">
        <p14:creationId xmlns:p14="http://schemas.microsoft.com/office/powerpoint/2010/main" val="21491431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833A-1D22-44C8-AA11-ABF04E08EE8B}"/>
              </a:ext>
            </a:extLst>
          </p:cNvPr>
          <p:cNvSpPr>
            <a:spLocks noGrp="1"/>
          </p:cNvSpPr>
          <p:nvPr>
            <p:ph type="title"/>
          </p:nvPr>
        </p:nvSpPr>
        <p:spPr>
          <a:xfrm>
            <a:off x="3489158" y="3320733"/>
            <a:ext cx="9589168" cy="557845"/>
          </a:xfrm>
        </p:spPr>
        <p:txBody>
          <a:bodyPr>
            <a:normAutofit fontScale="90000"/>
          </a:bodyPr>
          <a:lstStyle/>
          <a:p>
            <a:r>
              <a:rPr lang="en-US" dirty="0">
                <a:solidFill>
                  <a:srgbClr val="18537D"/>
                </a:solidFill>
                <a:latin typeface="Arial Black" panose="020B0A04020102020204" pitchFamily="34" charset="0"/>
              </a:rPr>
              <a:t>Happy Learning!!</a:t>
            </a:r>
          </a:p>
        </p:txBody>
      </p:sp>
      <p:sp>
        <p:nvSpPr>
          <p:cNvPr id="3" name="Slide Number Placeholder 2">
            <a:extLst>
              <a:ext uri="{FF2B5EF4-FFF2-40B4-BE49-F238E27FC236}">
                <a16:creationId xmlns:a16="http://schemas.microsoft.com/office/drawing/2014/main" id="{99BEF341-2DB0-4159-B670-24611B8CA7B2}"/>
              </a:ext>
            </a:extLst>
          </p:cNvPr>
          <p:cNvSpPr txBox="1">
            <a:spLocks/>
          </p:cNvSpPr>
          <p:nvPr/>
        </p:nvSpPr>
        <p:spPr>
          <a:xfrm>
            <a:off x="13550876" y="6705802"/>
            <a:ext cx="360005" cy="21664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78</a:t>
            </a:fld>
            <a:endParaRPr lang="en-US" dirty="0"/>
          </a:p>
        </p:txBody>
      </p:sp>
    </p:spTree>
    <p:extLst>
      <p:ext uri="{BB962C8B-B14F-4D97-AF65-F5344CB8AC3E}">
        <p14:creationId xmlns:p14="http://schemas.microsoft.com/office/powerpoint/2010/main" val="2175134941"/>
      </p:ext>
    </p:extLst>
  </p:cSld>
  <p:clrMapOvr>
    <a:masterClrMapping/>
  </p:clrMapOvr>
</p:sld>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1_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D4628B5F0DE14882B47AED0C5966F0" ma:contentTypeVersion="12" ma:contentTypeDescription="Create a new document." ma:contentTypeScope="" ma:versionID="55b389601a80f891819a40b048f86b7b">
  <xsd:schema xmlns:xsd="http://www.w3.org/2001/XMLSchema" xmlns:xs="http://www.w3.org/2001/XMLSchema" xmlns:p="http://schemas.microsoft.com/office/2006/metadata/properties" xmlns:ns3="25376a1e-acf6-4d0e-a31f-9846047eee0a" xmlns:ns4="d61169d6-dafa-460d-aa42-7f3810e84ea1" targetNamespace="http://schemas.microsoft.com/office/2006/metadata/properties" ma:root="true" ma:fieldsID="e6b501d0506227862faddbc1d8a8e3d7" ns3:_="" ns4:_="">
    <xsd:import namespace="25376a1e-acf6-4d0e-a31f-9846047eee0a"/>
    <xsd:import namespace="d61169d6-dafa-460d-aa42-7f3810e84e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76a1e-acf6-4d0e-a31f-9846047eee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1169d6-dafa-460d-aa42-7f3810e84e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3F6FFA-FF3F-493E-9E94-0880F41B6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76a1e-acf6-4d0e-a31f-9846047eee0a"/>
    <ds:schemaRef ds:uri="d61169d6-dafa-460d-aa42-7f3810e84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E8B75E-1448-403E-9C36-A8C659AD49D4}">
  <ds:schemaRefs>
    <ds:schemaRef ds:uri="http://schemas.microsoft.com/sharepoint/v3/contenttype/forms"/>
  </ds:schemaRefs>
</ds:datastoreItem>
</file>

<file path=customXml/itemProps3.xml><?xml version="1.0" encoding="utf-8"?>
<ds:datastoreItem xmlns:ds="http://schemas.openxmlformats.org/officeDocument/2006/customXml" ds:itemID="{92BE717E-816E-4571-A23B-53E4DC8E1895}">
  <ds:schemaRefs>
    <ds:schemaRef ds:uri="http://purl.org/dc/dcmitype/"/>
    <ds:schemaRef ds:uri="http://schemas.microsoft.com/office/2006/metadata/properties"/>
    <ds:schemaRef ds:uri="http://purl.org/dc/terms/"/>
    <ds:schemaRef ds:uri="25376a1e-acf6-4d0e-a31f-9846047eee0a"/>
    <ds:schemaRef ds:uri="http://schemas.microsoft.com/office/2006/documentManagement/types"/>
    <ds:schemaRef ds:uri="d61169d6-dafa-460d-aa42-7f3810e84ea1"/>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11985</TotalTime>
  <Words>7142</Words>
  <Application>Microsoft Office PowerPoint</Application>
  <PresentationFormat>Custom</PresentationFormat>
  <Paragraphs>873</Paragraphs>
  <Slides>78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78</vt:i4>
      </vt:variant>
    </vt:vector>
  </HeadingPairs>
  <TitlesOfParts>
    <vt:vector size="88" baseType="lpstr">
      <vt:lpstr>Amazon Ember</vt:lpstr>
      <vt:lpstr>Amazon Ember Light</vt:lpstr>
      <vt:lpstr>Arial</vt:lpstr>
      <vt:lpstr>Arial Black</vt:lpstr>
      <vt:lpstr>Calibri</vt:lpstr>
      <vt:lpstr>Graphik</vt:lpstr>
      <vt:lpstr>Graphik Black</vt:lpstr>
      <vt:lpstr>Graphik Medium</vt:lpstr>
      <vt:lpstr>Titles</vt:lpstr>
      <vt:lpstr>1_Titles</vt:lpstr>
      <vt:lpstr> Cloud Elevate –Exam Readiness workshop    AWS Certified Developer - Associate</vt:lpstr>
      <vt:lpstr>PowerPoint Presentation</vt:lpstr>
      <vt:lpstr>AWS Developer - associate</vt:lpstr>
      <vt:lpstr>Deployment– 22%</vt:lpstr>
      <vt:lpstr>Deployment – 22%</vt:lpstr>
      <vt:lpstr>Understanding CI &amp; CD</vt:lpstr>
      <vt:lpstr>Infrastructure Transformation</vt:lpstr>
      <vt:lpstr>Developer tools</vt:lpstr>
      <vt:lpstr>Code Star</vt:lpstr>
      <vt:lpstr>Code Star</vt:lpstr>
      <vt:lpstr>Cloud 9</vt:lpstr>
      <vt:lpstr>Code commit</vt:lpstr>
      <vt:lpstr>Code Build</vt:lpstr>
      <vt:lpstr>Code deploy</vt:lpstr>
      <vt:lpstr>Blue/Green Deployment</vt:lpstr>
      <vt:lpstr>Code Pipeline</vt:lpstr>
      <vt:lpstr>xray</vt:lpstr>
      <vt:lpstr>AWS Elastic Beanstalk  </vt:lpstr>
      <vt:lpstr>AWS CloudFormation</vt:lpstr>
      <vt:lpstr>AWS Cloudformation</vt:lpstr>
      <vt:lpstr>Structure of a cloud formation template</vt:lpstr>
      <vt:lpstr>Serverless Platform</vt:lpstr>
      <vt:lpstr>Serverless Architecture</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Happy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Nithyanand, Anupama</dc:creator>
  <cp:lastModifiedBy>Govindarajan, Mathan</cp:lastModifiedBy>
  <cp:revision>366</cp:revision>
  <dcterms:created xsi:type="dcterms:W3CDTF">2020-02-10T04:26:22Z</dcterms:created>
  <dcterms:modified xsi:type="dcterms:W3CDTF">2020-09-23T06:19:52Z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0x01010072D4628B5F0DE14882B47AED0C5966F0</vt:lpwstr>
  </property>
</Properties>
</file>