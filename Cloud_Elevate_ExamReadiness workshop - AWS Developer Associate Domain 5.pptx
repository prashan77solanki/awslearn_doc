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45"/>
  </p:notesMasterIdLst>
  <p:sldIdLst>
    <p:sldId id="720" r:id="rId6"/>
    <p:sldId id="813" r:id="rId7"/>
    <p:sldId id="814" r:id="rId8"/>
    <p:sldId id="815" r:id="rId9"/>
    <p:sldId id="816" r:id="rId10"/>
    <p:sldId id="790" r:id="rId11"/>
    <p:sldId id="829" r:id="rId12"/>
    <p:sldId id="825" r:id="rId13"/>
    <p:sldId id="833" r:id="rId14"/>
    <p:sldId id="896" r:id="rId15"/>
    <p:sldId id="897" r:id="rId16"/>
    <p:sldId id="902" r:id="rId17"/>
    <p:sldId id="911" r:id="rId18"/>
    <p:sldId id="836" r:id="rId19"/>
    <p:sldId id="912" r:id="rId20"/>
    <p:sldId id="903" r:id="rId21"/>
    <p:sldId id="838" r:id="rId22"/>
    <p:sldId id="839" r:id="rId23"/>
    <p:sldId id="904" r:id="rId24"/>
    <p:sldId id="841" r:id="rId25"/>
    <p:sldId id="840" r:id="rId26"/>
    <p:sldId id="905" r:id="rId27"/>
    <p:sldId id="842" r:id="rId28"/>
    <p:sldId id="898" r:id="rId29"/>
    <p:sldId id="906" r:id="rId30"/>
    <p:sldId id="899" r:id="rId31"/>
    <p:sldId id="900" r:id="rId32"/>
    <p:sldId id="907" r:id="rId33"/>
    <p:sldId id="901" r:id="rId34"/>
    <p:sldId id="843" r:id="rId35"/>
    <p:sldId id="908" r:id="rId36"/>
    <p:sldId id="844" r:id="rId37"/>
    <p:sldId id="845" r:id="rId38"/>
    <p:sldId id="909" r:id="rId39"/>
    <p:sldId id="846" r:id="rId40"/>
    <p:sldId id="847" r:id="rId41"/>
    <p:sldId id="910" r:id="rId42"/>
    <p:sldId id="848" r:id="rId43"/>
    <p:sldId id="812" r:id="rId44"/>
  </p:sldIdLst>
  <p:sldSz cx="14400213" cy="71993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37D"/>
    <a:srgbClr val="DBECF1"/>
    <a:srgbClr val="8DC4D2"/>
    <a:srgbClr val="1B96C7"/>
    <a:srgbClr val="4CD4FE"/>
    <a:srgbClr val="34B2E3"/>
    <a:srgbClr val="128FB6"/>
    <a:srgbClr val="1398C3"/>
    <a:srgbClr val="6DDBFE"/>
    <a:srgbClr val="68B1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660"/>
  </p:normalViewPr>
  <p:slideViewPr>
    <p:cSldViewPr snapToGrid="0">
      <p:cViewPr varScale="1">
        <p:scale>
          <a:sx n="78" d="100"/>
          <a:sy n="78" d="100"/>
        </p:scale>
        <p:origin x="437" y="58"/>
      </p:cViewPr>
      <p:guideLst>
        <p:guide orient="horz" pos="180"/>
        <p:guide pos="2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A152D-2352-43D4-B54C-2F347C5EE05E}" type="datetimeFigureOut">
              <a:rPr lang="en-US" smtClean="0"/>
              <a:t>9/24/2020</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27CF2-43D9-4177-B1E6-91F4D2A9287E}" type="slidenum">
              <a:rPr lang="en-US" smtClean="0"/>
              <a:t>‹#›</a:t>
            </a:fld>
            <a:endParaRPr lang="en-US" dirty="0"/>
          </a:p>
        </p:txBody>
      </p:sp>
    </p:spTree>
    <p:extLst>
      <p:ext uri="{BB962C8B-B14F-4D97-AF65-F5344CB8AC3E}">
        <p14:creationId xmlns:p14="http://schemas.microsoft.com/office/powerpoint/2010/main" val="237806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4985373"/>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476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Tree>
    <p:extLst>
      <p:ext uri="{BB962C8B-B14F-4D97-AF65-F5344CB8AC3E}">
        <p14:creationId xmlns:p14="http://schemas.microsoft.com/office/powerpoint/2010/main" val="3599980087"/>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919109099"/>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3597271105"/>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527728"/>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00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781597129"/>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202018241"/>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1872011597"/>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10" name="Slide Number Placeholder 9"/>
          <p:cNvSpPr>
            <a:spLocks noGrp="1"/>
          </p:cNvSpPr>
          <p:nvPr>
            <p:ph type="sldNum" sz="quarter" idx="17"/>
          </p:nvPr>
        </p:nvSpPr>
        <p:spPr>
          <a:xfrm>
            <a:off x="13590205" y="6843453"/>
            <a:ext cx="656737" cy="355859"/>
          </a:xfrm>
          <a:prstGeom prst="rect">
            <a:avLst/>
          </a:prstGeom>
        </p:spPr>
        <p:txBody>
          <a:bodyPr/>
          <a:lstStyle/>
          <a:p>
            <a:fld id="{4F9AC08D-23A9-440E-BCB9-AA1E9877CC38}" type="slidenum">
              <a:rPr lang="en-US" smtClean="0"/>
              <a:pPr/>
              <a:t>‹#›</a:t>
            </a:fld>
            <a:endParaRPr lang="en-US" dirty="0"/>
          </a:p>
        </p:txBody>
      </p:sp>
      <p:sp>
        <p:nvSpPr>
          <p:cNvPr id="11" name="Title 10"/>
          <p:cNvSpPr>
            <a:spLocks noGrp="1"/>
          </p:cNvSpPr>
          <p:nvPr>
            <p:ph type="title"/>
          </p:nvPr>
        </p:nvSpPr>
        <p:spPr>
          <a:xfrm>
            <a:off x="450010" y="301642"/>
            <a:ext cx="13500200" cy="1359871"/>
          </a:xfrm>
        </p:spPr>
        <p:txBody>
          <a:bodyPr/>
          <a:lstStyle/>
          <a:p>
            <a:r>
              <a:rPr lang="en-US" dirty="0"/>
              <a:t>Click to edit Master title style</a:t>
            </a:r>
          </a:p>
        </p:txBody>
      </p:sp>
      <p:sp>
        <p:nvSpPr>
          <p:cNvPr id="5" name="Footer Placeholder 1">
            <a:extLst>
              <a:ext uri="{FF2B5EF4-FFF2-40B4-BE49-F238E27FC236}">
                <a16:creationId xmlns:a16="http://schemas.microsoft.com/office/drawing/2014/main" id="{E59041CF-919B-4138-B495-900C5F8EC477}"/>
              </a:ext>
            </a:extLst>
          </p:cNvPr>
          <p:cNvSpPr>
            <a:spLocks noGrp="1"/>
          </p:cNvSpPr>
          <p:nvPr>
            <p:ph type="ftr" sz="quarter" idx="16"/>
          </p:nvPr>
        </p:nvSpPr>
        <p:spPr>
          <a:xfrm>
            <a:off x="450010" y="6843454"/>
            <a:ext cx="6750098" cy="216646"/>
          </a:xfrm>
          <a:prstGeom prst="rect">
            <a:avLst/>
          </a:prstGeom>
        </p:spPr>
        <p:txBody>
          <a:bodyPr/>
          <a:lstStyle/>
          <a:p>
            <a:r>
              <a:rPr lang="en-US" dirty="0"/>
              <a:t>Copyright © 2020 Accenture. All rights reserved.</a:t>
            </a:r>
          </a:p>
        </p:txBody>
      </p:sp>
    </p:spTree>
    <p:extLst>
      <p:ext uri="{BB962C8B-B14F-4D97-AF65-F5344CB8AC3E}">
        <p14:creationId xmlns:p14="http://schemas.microsoft.com/office/powerpoint/2010/main" val="303770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1794830"/>
            <a:ext cx="12420184" cy="2994714"/>
          </a:xfrm>
        </p:spPr>
        <p:txBody>
          <a:bodyPr anchor="b"/>
          <a:lstStyle>
            <a:lvl1pPr>
              <a:defRPr sz="6299"/>
            </a:lvl1pPr>
          </a:lstStyle>
          <a:p>
            <a:r>
              <a:rPr lang="en-US"/>
              <a:t>Click to edit Master title style</a:t>
            </a:r>
            <a:endParaRPr lang="en-US" dirty="0"/>
          </a:p>
        </p:txBody>
      </p:sp>
      <p:sp>
        <p:nvSpPr>
          <p:cNvPr id="3" name="Text Placeholder 2"/>
          <p:cNvSpPr>
            <a:spLocks noGrp="1"/>
          </p:cNvSpPr>
          <p:nvPr>
            <p:ph type="body" idx="1"/>
          </p:nvPr>
        </p:nvSpPr>
        <p:spPr>
          <a:xfrm>
            <a:off x="982514" y="4817875"/>
            <a:ext cx="12420184" cy="1574849"/>
          </a:xfrm>
        </p:spPr>
        <p:txBody>
          <a:bodyPr/>
          <a:lstStyle>
            <a:lvl1pPr marL="0" indent="0">
              <a:buNone/>
              <a:defRPr sz="2520">
                <a:solidFill>
                  <a:schemeClr val="tx1">
                    <a:tint val="75000"/>
                  </a:schemeClr>
                </a:solidFill>
              </a:defRPr>
            </a:lvl1pPr>
            <a:lvl2pPr marL="479969" indent="0">
              <a:buNone/>
              <a:defRPr sz="2100">
                <a:solidFill>
                  <a:schemeClr val="tx1">
                    <a:tint val="75000"/>
                  </a:schemeClr>
                </a:solidFill>
              </a:defRPr>
            </a:lvl2pPr>
            <a:lvl3pPr marL="959937" indent="0">
              <a:buNone/>
              <a:defRPr sz="1890">
                <a:solidFill>
                  <a:schemeClr val="tx1">
                    <a:tint val="75000"/>
                  </a:schemeClr>
                </a:solidFill>
              </a:defRPr>
            </a:lvl3pPr>
            <a:lvl4pPr marL="1439906" indent="0">
              <a:buNone/>
              <a:defRPr sz="1680">
                <a:solidFill>
                  <a:schemeClr val="tx1">
                    <a:tint val="75000"/>
                  </a:schemeClr>
                </a:solidFill>
              </a:defRPr>
            </a:lvl4pPr>
            <a:lvl5pPr marL="1919874" indent="0">
              <a:buNone/>
              <a:defRPr sz="1680">
                <a:solidFill>
                  <a:schemeClr val="tx1">
                    <a:tint val="75000"/>
                  </a:schemeClr>
                </a:solidFill>
              </a:defRPr>
            </a:lvl5pPr>
            <a:lvl6pPr marL="2399843" indent="0">
              <a:buNone/>
              <a:defRPr sz="1680">
                <a:solidFill>
                  <a:schemeClr val="tx1">
                    <a:tint val="75000"/>
                  </a:schemeClr>
                </a:solidFill>
              </a:defRPr>
            </a:lvl6pPr>
            <a:lvl7pPr marL="2879811" indent="0">
              <a:buNone/>
              <a:defRPr sz="1680">
                <a:solidFill>
                  <a:schemeClr val="tx1">
                    <a:tint val="75000"/>
                  </a:schemeClr>
                </a:solidFill>
              </a:defRPr>
            </a:lvl7pPr>
            <a:lvl8pPr marL="3359780" indent="0">
              <a:buNone/>
              <a:defRPr sz="1680">
                <a:solidFill>
                  <a:schemeClr val="tx1">
                    <a:tint val="75000"/>
                  </a:schemeClr>
                </a:solidFill>
              </a:defRPr>
            </a:lvl8pPr>
            <a:lvl9pPr marL="3839748"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5" name="Footer Placeholder 4"/>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3089115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3" name="Footer Placeholder 2"/>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1017379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C2197FA3-5B99-4628-AF84-433B48753126}"/>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8D19DBD-E973-44C3-8B09-B108FC95C381}"/>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84073C86-2D3D-4B84-8D9E-0812FB0289AC}"/>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202E3485-7BC5-41AE-8D69-F09B4D378FB6}"/>
                  </a:ext>
                </a:extLst>
              </p:cNvPr>
              <p:cNvPicPr>
                <a:picLocks noChangeAspect="1"/>
              </p:cNvPicPr>
              <p:nvPr/>
            </p:nvPicPr>
            <p:blipFill rotWithShape="1">
              <a:blip r:embed="rId7"/>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EE303FE2-D2C1-4374-8309-61C0C78D8621}"/>
                  </a:ext>
                </a:extLst>
              </p:cNvPr>
              <p:cNvPicPr>
                <a:picLocks noChangeAspect="1"/>
              </p:cNvPicPr>
              <p:nvPr/>
            </p:nvPicPr>
            <p:blipFill rotWithShape="1">
              <a:blip r:embed="rId7"/>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76C758B9-802A-48BF-9F27-C4292E2C5718}"/>
                </a:ext>
              </a:extLst>
            </p:cNvPr>
            <p:cNvPicPr>
              <a:picLocks noChangeAspect="1"/>
            </p:cNvPicPr>
            <p:nvPr/>
          </p:nvPicPr>
          <p:blipFill rotWithShape="1">
            <a:blip r:embed="rId7"/>
            <a:srcRect r="4037" b="60744"/>
            <a:stretch/>
          </p:blipFill>
          <p:spPr>
            <a:xfrm>
              <a:off x="9690100" y="5791200"/>
              <a:ext cx="4710113" cy="1408113"/>
            </a:xfrm>
            <a:prstGeom prst="rect">
              <a:avLst/>
            </a:prstGeom>
          </p:spPr>
        </p:pic>
      </p:grpSp>
      <p:sp>
        <p:nvSpPr>
          <p:cNvPr id="16" name="Rectangle 15">
            <a:extLst>
              <a:ext uri="{FF2B5EF4-FFF2-40B4-BE49-F238E27FC236}">
                <a16:creationId xmlns:a16="http://schemas.microsoft.com/office/drawing/2014/main" id="{9F7B7C6E-9A57-4D9F-BF37-625FCF543F78}"/>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5746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1DD628D9-A607-4FF2-A355-5E83EDE42EA9}"/>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grpSp>
        <p:nvGrpSpPr>
          <p:cNvPr id="11" name="Group 10">
            <a:extLst>
              <a:ext uri="{FF2B5EF4-FFF2-40B4-BE49-F238E27FC236}">
                <a16:creationId xmlns:a16="http://schemas.microsoft.com/office/drawing/2014/main" id="{07DD19EF-A0B7-4813-8B14-379C4D3C1C3E}"/>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38B02556-23E9-4398-9BBE-E28F901B1599}"/>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A274144B-D7C0-47C0-97B1-F9394434E5CC}"/>
                  </a:ext>
                </a:extLst>
              </p:cNvPr>
              <p:cNvPicPr>
                <a:picLocks noChangeAspect="1"/>
              </p:cNvPicPr>
              <p:nvPr/>
            </p:nvPicPr>
            <p:blipFill rotWithShape="1">
              <a:blip r:embed="rId10"/>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CFBA7F5D-3FE6-40B2-B98B-8894B276CFEE}"/>
                  </a:ext>
                </a:extLst>
              </p:cNvPr>
              <p:cNvPicPr>
                <a:picLocks noChangeAspect="1"/>
              </p:cNvPicPr>
              <p:nvPr/>
            </p:nvPicPr>
            <p:blipFill rotWithShape="1">
              <a:blip r:embed="rId10"/>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65B04B85-4A00-4598-BAB5-0F7F75E3FCE0}"/>
                </a:ext>
              </a:extLst>
            </p:cNvPr>
            <p:cNvPicPr>
              <a:picLocks noChangeAspect="1"/>
            </p:cNvPicPr>
            <p:nvPr/>
          </p:nvPicPr>
          <p:blipFill rotWithShape="1">
            <a:blip r:embed="rId10"/>
            <a:srcRect r="4037" b="60744"/>
            <a:stretch/>
          </p:blipFill>
          <p:spPr>
            <a:xfrm>
              <a:off x="9690100" y="5791200"/>
              <a:ext cx="4710113" cy="1408113"/>
            </a:xfrm>
            <a:prstGeom prst="rect">
              <a:avLst/>
            </a:prstGeom>
          </p:spPr>
        </p:pic>
      </p:grpSp>
      <p:sp>
        <p:nvSpPr>
          <p:cNvPr id="10" name="Rectangle 9">
            <a:extLst>
              <a:ext uri="{FF2B5EF4-FFF2-40B4-BE49-F238E27FC236}">
                <a16:creationId xmlns:a16="http://schemas.microsoft.com/office/drawing/2014/main" id="{8072F825-4C55-4DA7-BBA1-81872DDCE9B1}"/>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06213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713" r:id="rId7"/>
    <p:sldLayoutId id="2147483714" r:id="rId8"/>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1.awsstatic.com/training-and-certification/docs-dev-associate/AWS-Certified-Developer-Associate_Exam-Guide.pdf"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EDF-0238-4F9E-8067-974A03278C02}"/>
              </a:ext>
            </a:extLst>
          </p:cNvPr>
          <p:cNvSpPr>
            <a:spLocks noGrp="1"/>
          </p:cNvSpPr>
          <p:nvPr>
            <p:ph type="ctrTitle"/>
          </p:nvPr>
        </p:nvSpPr>
        <p:spPr>
          <a:xfrm>
            <a:off x="94741" y="2920692"/>
            <a:ext cx="10032485" cy="983764"/>
          </a:xfrm>
        </p:spPr>
        <p:txBody>
          <a:bodyPr/>
          <a:lstStyle/>
          <a:p>
            <a:br>
              <a:rPr lang="en-US" sz="2400" dirty="0"/>
            </a:br>
            <a:r>
              <a:rPr lang="en-US" sz="2400" dirty="0"/>
              <a:t>Cloud Elevate –Exam Readiness workshop</a:t>
            </a:r>
            <a:br>
              <a:rPr lang="en-US" sz="2400" dirty="0"/>
            </a:br>
            <a:br>
              <a:rPr lang="en-US" sz="2400" dirty="0"/>
            </a:br>
            <a:r>
              <a:rPr lang="en-US" sz="2400" dirty="0"/>
              <a:t>  AWS Certified Developer - Associate</a:t>
            </a:r>
            <a:endParaRPr lang="en-IN" sz="2800" dirty="0"/>
          </a:p>
        </p:txBody>
      </p:sp>
      <p:sp>
        <p:nvSpPr>
          <p:cNvPr id="3" name="Text Placeholder 2">
            <a:extLst>
              <a:ext uri="{FF2B5EF4-FFF2-40B4-BE49-F238E27FC236}">
                <a16:creationId xmlns:a16="http://schemas.microsoft.com/office/drawing/2014/main" id="{5056235A-690C-493E-9A78-BBEFE510A133}"/>
              </a:ext>
            </a:extLst>
          </p:cNvPr>
          <p:cNvSpPr>
            <a:spLocks noGrp="1"/>
          </p:cNvSpPr>
          <p:nvPr>
            <p:ph type="body" sz="quarter" idx="13"/>
          </p:nvPr>
        </p:nvSpPr>
        <p:spPr>
          <a:xfrm>
            <a:off x="94741" y="5025149"/>
            <a:ext cx="5063855" cy="983765"/>
          </a:xfrm>
        </p:spPr>
        <p:txBody>
          <a:bodyPr>
            <a:normAutofit/>
          </a:bodyPr>
          <a:lstStyle/>
          <a:p>
            <a:r>
              <a:rPr lang="en-US" sz="2400" dirty="0"/>
              <a:t>Developing and Deepening </a:t>
            </a:r>
          </a:p>
          <a:p>
            <a:r>
              <a:rPr lang="en-US" sz="2400" dirty="0"/>
              <a:t>Cloud skills @ATCI</a:t>
            </a:r>
          </a:p>
        </p:txBody>
      </p:sp>
    </p:spTree>
    <p:extLst>
      <p:ext uri="{BB962C8B-B14F-4D97-AF65-F5344CB8AC3E}">
        <p14:creationId xmlns:p14="http://schemas.microsoft.com/office/powerpoint/2010/main" val="970403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37BC98-1B5E-418E-9453-30AF408D4067}"/>
              </a:ext>
            </a:extLst>
          </p:cNvPr>
          <p:cNvSpPr/>
          <p:nvPr/>
        </p:nvSpPr>
        <p:spPr>
          <a:xfrm>
            <a:off x="1393089" y="6704497"/>
            <a:ext cx="4594528" cy="378565"/>
          </a:xfrm>
          <a:prstGeom prst="rect">
            <a:avLst/>
          </a:prstGeom>
        </p:spPr>
        <p:txBody>
          <a:bodyPr wrap="none">
            <a:spAutoFit/>
          </a:bodyPr>
          <a:lstStyle/>
          <a:p>
            <a:r>
              <a:rPr lang="en-US" sz="1860" i="1" dirty="0">
                <a:latin typeface="Graphik Medium" panose="020B0603030202060203" pitchFamily="34" charset="0"/>
              </a:rPr>
              <a:t>https://aws.amazon.com/certification/</a:t>
            </a:r>
          </a:p>
        </p:txBody>
      </p:sp>
      <p:sp>
        <p:nvSpPr>
          <p:cNvPr id="4" name="TextBox 3">
            <a:extLst>
              <a:ext uri="{FF2B5EF4-FFF2-40B4-BE49-F238E27FC236}">
                <a16:creationId xmlns:a16="http://schemas.microsoft.com/office/drawing/2014/main" id="{7DD052C8-8862-4872-823F-32DD9632586B}"/>
              </a:ext>
            </a:extLst>
          </p:cNvPr>
          <p:cNvSpPr txBox="1"/>
          <p:nvPr/>
        </p:nvSpPr>
        <p:spPr>
          <a:xfrm>
            <a:off x="285637" y="132966"/>
            <a:ext cx="5852884" cy="584775"/>
          </a:xfrm>
          <a:prstGeom prst="rect">
            <a:avLst/>
          </a:prstGeom>
          <a:noFill/>
        </p:spPr>
        <p:txBody>
          <a:bodyPr wrap="none" rtlCol="0">
            <a:spAutoFit/>
          </a:bodyPr>
          <a:lstStyle/>
          <a:p>
            <a:r>
              <a:rPr lang="en-US" sz="3200" b="1" dirty="0">
                <a:solidFill>
                  <a:schemeClr val="bg1"/>
                </a:solidFill>
                <a:latin typeface="Graphik Black" panose="020B0A03030202060203" pitchFamily="34" charset="0"/>
              </a:rPr>
              <a:t>AWS CERTIFICATION PATH</a:t>
            </a:r>
          </a:p>
        </p:txBody>
      </p:sp>
      <p:sp>
        <p:nvSpPr>
          <p:cNvPr id="5" name="Slide Number Placeholder 2">
            <a:extLst>
              <a:ext uri="{FF2B5EF4-FFF2-40B4-BE49-F238E27FC236}">
                <a16:creationId xmlns:a16="http://schemas.microsoft.com/office/drawing/2014/main" id="{D63F9090-E8F4-4ACC-98F1-7C76216DC883}"/>
              </a:ext>
            </a:extLst>
          </p:cNvPr>
          <p:cNvSpPr txBox="1">
            <a:spLocks/>
          </p:cNvSpPr>
          <p:nvPr/>
        </p:nvSpPr>
        <p:spPr>
          <a:xfrm>
            <a:off x="13480027" y="6794090"/>
            <a:ext cx="470184" cy="2660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a:t>
            </a:fld>
            <a:endParaRPr lang="en-US" dirty="0"/>
          </a:p>
        </p:txBody>
      </p:sp>
      <p:pic>
        <p:nvPicPr>
          <p:cNvPr id="8" name="Picture 7">
            <a:extLst>
              <a:ext uri="{FF2B5EF4-FFF2-40B4-BE49-F238E27FC236}">
                <a16:creationId xmlns:a16="http://schemas.microsoft.com/office/drawing/2014/main" id="{F90B2B95-EB5F-4581-AC0D-03C133D9968F}"/>
              </a:ext>
            </a:extLst>
          </p:cNvPr>
          <p:cNvPicPr>
            <a:picLocks noChangeAspect="1"/>
          </p:cNvPicPr>
          <p:nvPr/>
        </p:nvPicPr>
        <p:blipFill>
          <a:blip r:embed="rId2"/>
          <a:stretch>
            <a:fillRect/>
          </a:stretch>
        </p:blipFill>
        <p:spPr>
          <a:xfrm>
            <a:off x="2637631" y="1037431"/>
            <a:ext cx="9124950" cy="5124450"/>
          </a:xfrm>
          <a:prstGeom prst="rect">
            <a:avLst/>
          </a:prstGeom>
        </p:spPr>
      </p:pic>
    </p:spTree>
    <p:extLst>
      <p:ext uri="{BB962C8B-B14F-4D97-AF65-F5344CB8AC3E}">
        <p14:creationId xmlns:p14="http://schemas.microsoft.com/office/powerpoint/2010/main" val="313044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1946-F966-47FE-81CD-76094796A66C}"/>
              </a:ext>
            </a:extLst>
          </p:cNvPr>
          <p:cNvSpPr>
            <a:spLocks noGrp="1"/>
          </p:cNvSpPr>
          <p:nvPr>
            <p:ph type="sldNum" sz="quarter" idx="17"/>
          </p:nvPr>
        </p:nvSpPr>
        <p:spPr/>
        <p:txBody>
          <a:bodyPr/>
          <a:lstStyle/>
          <a:p>
            <a:fld id="{4F9AC08D-23A9-440E-BCB9-AA1E9877CC38}" type="slidenum">
              <a:rPr lang="en-US" smtClean="0"/>
              <a:pPr/>
              <a:t>3</a:t>
            </a:fld>
            <a:endParaRPr lang="en-US" dirty="0"/>
          </a:p>
        </p:txBody>
      </p:sp>
      <p:sp>
        <p:nvSpPr>
          <p:cNvPr id="3" name="Title 2">
            <a:extLst>
              <a:ext uri="{FF2B5EF4-FFF2-40B4-BE49-F238E27FC236}">
                <a16:creationId xmlns:a16="http://schemas.microsoft.com/office/drawing/2014/main" id="{D19D177A-2CB7-416C-867F-3904525059FE}"/>
              </a:ext>
            </a:extLst>
          </p:cNvPr>
          <p:cNvSpPr>
            <a:spLocks noGrp="1"/>
          </p:cNvSpPr>
          <p:nvPr>
            <p:ph type="title"/>
          </p:nvPr>
        </p:nvSpPr>
        <p:spPr>
          <a:xfrm>
            <a:off x="450010" y="284929"/>
            <a:ext cx="13500200" cy="1359871"/>
          </a:xfrm>
        </p:spPr>
        <p:txBody>
          <a:bodyPr/>
          <a:lstStyle/>
          <a:p>
            <a:r>
              <a:rPr lang="en-US" dirty="0">
                <a:solidFill>
                  <a:schemeClr val="bg1"/>
                </a:solidFill>
              </a:rPr>
              <a:t>AWS Developer - associate</a:t>
            </a:r>
          </a:p>
        </p:txBody>
      </p:sp>
      <p:sp>
        <p:nvSpPr>
          <p:cNvPr id="4" name="Footer Placeholder 3">
            <a:extLst>
              <a:ext uri="{FF2B5EF4-FFF2-40B4-BE49-F238E27FC236}">
                <a16:creationId xmlns:a16="http://schemas.microsoft.com/office/drawing/2014/main" id="{F6ACBA3A-B6F1-4D55-85C8-0264E2858170}"/>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5" name="Table Placeholder 3">
            <a:extLst>
              <a:ext uri="{FF2B5EF4-FFF2-40B4-BE49-F238E27FC236}">
                <a16:creationId xmlns:a16="http://schemas.microsoft.com/office/drawing/2014/main" id="{D8D71FBA-C419-45E2-AA89-CFF7460CE5DE}"/>
              </a:ext>
            </a:extLst>
          </p:cNvPr>
          <p:cNvGraphicFramePr>
            <a:graphicFrameLocks/>
          </p:cNvGraphicFramePr>
          <p:nvPr>
            <p:extLst>
              <p:ext uri="{D42A27DB-BD31-4B8C-83A1-F6EECF244321}">
                <p14:modId xmlns:p14="http://schemas.microsoft.com/office/powerpoint/2010/main" val="829509063"/>
              </p:ext>
            </p:extLst>
          </p:nvPr>
        </p:nvGraphicFramePr>
        <p:xfrm>
          <a:off x="3215148" y="1759836"/>
          <a:ext cx="7285704" cy="3326112"/>
        </p:xfrm>
        <a:graphic>
          <a:graphicData uri="http://schemas.openxmlformats.org/drawingml/2006/table">
            <a:tbl>
              <a:tblPr firstRow="1" bandRow="1">
                <a:tableStyleId>{F2DE63D5-997A-4646-A377-4702673A728D}</a:tableStyleId>
              </a:tblPr>
              <a:tblGrid>
                <a:gridCol w="5399224">
                  <a:extLst>
                    <a:ext uri="{9D8B030D-6E8A-4147-A177-3AD203B41FA5}">
                      <a16:colId xmlns:a16="http://schemas.microsoft.com/office/drawing/2014/main" val="20000"/>
                    </a:ext>
                  </a:extLst>
                </a:gridCol>
                <a:gridCol w="1886480">
                  <a:extLst>
                    <a:ext uri="{9D8B030D-6E8A-4147-A177-3AD203B41FA5}">
                      <a16:colId xmlns:a16="http://schemas.microsoft.com/office/drawing/2014/main" val="20001"/>
                    </a:ext>
                  </a:extLst>
                </a:gridCol>
              </a:tblGrid>
              <a:tr h="544751">
                <a:tc>
                  <a:txBody>
                    <a:bodyPr/>
                    <a:lstStyle/>
                    <a:p>
                      <a:pPr algn="ctr"/>
                      <a:r>
                        <a:rPr lang="en-US" sz="1800" dirty="0"/>
                        <a:t>Domain</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pPr algn="ctr"/>
                      <a:r>
                        <a:rPr lang="en-US" sz="1800" dirty="0"/>
                        <a:t>% of Exam</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10000"/>
                  </a:ext>
                </a:extLst>
              </a:tr>
              <a:tr h="425350">
                <a:tc>
                  <a:txBody>
                    <a:bodyPr/>
                    <a:lstStyle/>
                    <a:p>
                      <a:r>
                        <a:rPr lang="en-US" sz="2400" kern="1200" dirty="0">
                          <a:solidFill>
                            <a:schemeClr val="tx1"/>
                          </a:solidFill>
                          <a:latin typeface="+mn-lt"/>
                          <a:ea typeface="+mn-ea"/>
                          <a:cs typeface="+mn-cs"/>
                        </a:rPr>
                        <a:t>a. Deployment</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22%</a:t>
                      </a:r>
                    </a:p>
                  </a:txBody>
                  <a:tcPr/>
                </a:tc>
                <a:extLst>
                  <a:ext uri="{0D108BD9-81ED-4DB2-BD59-A6C34878D82A}">
                    <a16:rowId xmlns:a16="http://schemas.microsoft.com/office/drawing/2014/main" val="10001"/>
                  </a:ext>
                </a:extLst>
              </a:tr>
              <a:tr h="374717">
                <a:tc>
                  <a:txBody>
                    <a:bodyPr/>
                    <a:lstStyle/>
                    <a:p>
                      <a:r>
                        <a:rPr lang="en-US" sz="2400" kern="1200" dirty="0">
                          <a:solidFill>
                            <a:schemeClr val="tx1"/>
                          </a:solidFill>
                          <a:latin typeface="+mn-lt"/>
                          <a:ea typeface="+mn-ea"/>
                          <a:cs typeface="+mn-cs"/>
                        </a:rPr>
                        <a:t>b. Security</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26%</a:t>
                      </a:r>
                    </a:p>
                  </a:txBody>
                  <a:tcPr/>
                </a:tc>
                <a:extLst>
                  <a:ext uri="{0D108BD9-81ED-4DB2-BD59-A6C34878D82A}">
                    <a16:rowId xmlns:a16="http://schemas.microsoft.com/office/drawing/2014/main" val="10002"/>
                  </a:ext>
                </a:extLst>
              </a:tr>
              <a:tr h="468766">
                <a:tc>
                  <a:txBody>
                    <a:bodyPr/>
                    <a:lstStyle/>
                    <a:p>
                      <a:r>
                        <a:rPr lang="en-US" sz="2400" kern="1200" dirty="0">
                          <a:solidFill>
                            <a:schemeClr val="tx1"/>
                          </a:solidFill>
                          <a:latin typeface="+mn-lt"/>
                          <a:ea typeface="+mn-ea"/>
                          <a:cs typeface="+mn-cs"/>
                        </a:rPr>
                        <a:t>c. Development with AWS</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30%</a:t>
                      </a:r>
                    </a:p>
                  </a:txBody>
                  <a:tcPr/>
                </a:tc>
                <a:extLst>
                  <a:ext uri="{0D108BD9-81ED-4DB2-BD59-A6C34878D82A}">
                    <a16:rowId xmlns:a16="http://schemas.microsoft.com/office/drawing/2014/main" val="10003"/>
                  </a:ext>
                </a:extLst>
              </a:tr>
              <a:tr h="408435">
                <a:tc>
                  <a:txBody>
                    <a:bodyPr/>
                    <a:lstStyle/>
                    <a:p>
                      <a:r>
                        <a:rPr lang="en-US" sz="2400" kern="1200" dirty="0">
                          <a:solidFill>
                            <a:schemeClr val="tx1"/>
                          </a:solidFill>
                          <a:latin typeface="+mn-lt"/>
                          <a:ea typeface="+mn-ea"/>
                          <a:cs typeface="+mn-cs"/>
                        </a:rPr>
                        <a:t>d. Refactoring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a:t>
                      </a:r>
                    </a:p>
                  </a:txBody>
                  <a:tcPr/>
                </a:tc>
                <a:extLst>
                  <a:ext uri="{0D108BD9-81ED-4DB2-BD59-A6C34878D82A}">
                    <a16:rowId xmlns:a16="http://schemas.microsoft.com/office/drawing/2014/main" val="10004"/>
                  </a:ext>
                </a:extLst>
              </a:tr>
              <a:tr h="483795">
                <a:tc>
                  <a:txBody>
                    <a:bodyPr/>
                    <a:lstStyle/>
                    <a:p>
                      <a:r>
                        <a:rPr lang="en-US" sz="2400" kern="1200" dirty="0">
                          <a:solidFill>
                            <a:schemeClr val="tx1"/>
                          </a:solidFill>
                          <a:latin typeface="+mn-lt"/>
                          <a:ea typeface="+mn-ea"/>
                          <a:cs typeface="+mn-cs"/>
                        </a:rPr>
                        <a:t>e. Monitoring and Troubleshooting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12%</a:t>
                      </a:r>
                    </a:p>
                  </a:txBody>
                  <a:tcPr/>
                </a:tc>
                <a:extLst>
                  <a:ext uri="{0D108BD9-81ED-4DB2-BD59-A6C34878D82A}">
                    <a16:rowId xmlns:a16="http://schemas.microsoft.com/office/drawing/2014/main" val="10005"/>
                  </a:ext>
                </a:extLst>
              </a:tr>
              <a:tr h="374717">
                <a:tc>
                  <a:txBody>
                    <a:bodyPr/>
                    <a:lstStyle/>
                    <a:p>
                      <a:r>
                        <a:rPr lang="en-US" sz="2400" kern="1200" dirty="0">
                          <a:solidFill>
                            <a:schemeClr val="tx1"/>
                          </a:solidFill>
                          <a:latin typeface="+mn-lt"/>
                          <a:ea typeface="+mn-ea"/>
                          <a:cs typeface="+mn-cs"/>
                        </a:rPr>
                        <a:t>Total</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100%</a:t>
                      </a:r>
                    </a:p>
                  </a:txBody>
                  <a:tcPr/>
                </a:tc>
                <a:extLst>
                  <a:ext uri="{0D108BD9-81ED-4DB2-BD59-A6C34878D82A}">
                    <a16:rowId xmlns:a16="http://schemas.microsoft.com/office/drawing/2014/main" val="2417361994"/>
                  </a:ext>
                </a:extLst>
              </a:tr>
            </a:tbl>
          </a:graphicData>
        </a:graphic>
      </p:graphicFrame>
      <p:sp>
        <p:nvSpPr>
          <p:cNvPr id="7" name="TextBox 6">
            <a:extLst>
              <a:ext uri="{FF2B5EF4-FFF2-40B4-BE49-F238E27FC236}">
                <a16:creationId xmlns:a16="http://schemas.microsoft.com/office/drawing/2014/main" id="{8BB6F6C4-B3B4-425B-9A33-28E114F5DE89}"/>
              </a:ext>
            </a:extLst>
          </p:cNvPr>
          <p:cNvSpPr txBox="1"/>
          <p:nvPr/>
        </p:nvSpPr>
        <p:spPr>
          <a:xfrm>
            <a:off x="2610695" y="1114266"/>
            <a:ext cx="10161408" cy="415498"/>
          </a:xfrm>
          <a:prstGeom prst="rect">
            <a:avLst/>
          </a:prstGeom>
          <a:noFill/>
        </p:spPr>
        <p:txBody>
          <a:bodyPr wrap="square" lIns="0" tIns="0" rIns="0" bIns="45720" rtlCol="0">
            <a:spAutoFit/>
          </a:bodyPr>
          <a:lstStyle/>
          <a:p>
            <a:r>
              <a:rPr lang="en-IN" sz="2400" dirty="0">
                <a:hlinkClick r:id="rId2"/>
              </a:rPr>
              <a:t>AWS Developer - Associate Exam Guide (Exam Blueprint)</a:t>
            </a:r>
            <a:endParaRPr lang="en-IN" sz="2400" dirty="0"/>
          </a:p>
        </p:txBody>
      </p:sp>
    </p:spTree>
    <p:extLst>
      <p:ext uri="{BB962C8B-B14F-4D97-AF65-F5344CB8AC3E}">
        <p14:creationId xmlns:p14="http://schemas.microsoft.com/office/powerpoint/2010/main" val="96616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A1651B-B2A3-4006-AE85-6053D28B5230}"/>
              </a:ext>
            </a:extLst>
          </p:cNvPr>
          <p:cNvSpPr>
            <a:spLocks noGrp="1"/>
          </p:cNvSpPr>
          <p:nvPr>
            <p:ph type="sldNum" sz="quarter" idx="17"/>
          </p:nvPr>
        </p:nvSpPr>
        <p:spPr/>
        <p:txBody>
          <a:bodyPr/>
          <a:lstStyle/>
          <a:p>
            <a:fld id="{4F9AC08D-23A9-440E-BCB9-AA1E9877CC38}" type="slidenum">
              <a:rPr lang="en-US" smtClean="0"/>
              <a:pPr/>
              <a:t>4</a:t>
            </a:fld>
            <a:endParaRPr lang="en-US" dirty="0"/>
          </a:p>
        </p:txBody>
      </p:sp>
      <p:sp>
        <p:nvSpPr>
          <p:cNvPr id="3" name="Title 2">
            <a:extLst>
              <a:ext uri="{FF2B5EF4-FFF2-40B4-BE49-F238E27FC236}">
                <a16:creationId xmlns:a16="http://schemas.microsoft.com/office/drawing/2014/main" id="{C7A8400E-E28F-47CE-B016-C956283F7257}"/>
              </a:ext>
            </a:extLst>
          </p:cNvPr>
          <p:cNvSpPr>
            <a:spLocks noGrp="1"/>
          </p:cNvSpPr>
          <p:nvPr>
            <p:ph type="title"/>
          </p:nvPr>
        </p:nvSpPr>
        <p:spPr>
          <a:xfrm>
            <a:off x="450009" y="281978"/>
            <a:ext cx="13500200" cy="1359871"/>
          </a:xfrm>
        </p:spPr>
        <p:txBody>
          <a:bodyPr/>
          <a:lstStyle/>
          <a:p>
            <a:r>
              <a:rPr lang="en-US" sz="4400" dirty="0">
                <a:solidFill>
                  <a:schemeClr val="bg1"/>
                </a:solidFill>
              </a:rPr>
              <a:t>Monitoring and Troubleshooting – 12%</a:t>
            </a:r>
            <a:endParaRPr lang="en-US" dirty="0">
              <a:solidFill>
                <a:schemeClr val="bg1"/>
              </a:solidFill>
            </a:endParaRPr>
          </a:p>
        </p:txBody>
      </p:sp>
      <p:sp>
        <p:nvSpPr>
          <p:cNvPr id="4" name="Footer Placeholder 3">
            <a:extLst>
              <a:ext uri="{FF2B5EF4-FFF2-40B4-BE49-F238E27FC236}">
                <a16:creationId xmlns:a16="http://schemas.microsoft.com/office/drawing/2014/main" id="{A0F06007-E1B0-4FC8-B99E-A6DAAA0A68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1ABA7AC-4BE9-4CDE-8207-931F4FA3B9CF}"/>
              </a:ext>
            </a:extLst>
          </p:cNvPr>
          <p:cNvSpPr/>
          <p:nvPr/>
        </p:nvSpPr>
        <p:spPr>
          <a:xfrm>
            <a:off x="450004" y="1162610"/>
            <a:ext cx="12656395" cy="1615827"/>
          </a:xfrm>
          <a:prstGeom prst="rect">
            <a:avLst/>
          </a:prstGeom>
        </p:spPr>
        <p:txBody>
          <a:bodyPr wrap="square">
            <a:spAutoFit/>
          </a:bodyPr>
          <a:lstStyle/>
          <a:p>
            <a:pPr>
              <a:lnSpc>
                <a:spcPct val="150000"/>
              </a:lnSpc>
            </a:pPr>
            <a:r>
              <a:rPr lang="en-US" dirty="0">
                <a:solidFill>
                  <a:srgbClr val="18537D"/>
                </a:solidFill>
              </a:rPr>
              <a:t>Objectives</a:t>
            </a:r>
          </a:p>
          <a:p>
            <a:pPr marL="742950" lvl="1" indent="-285750">
              <a:lnSpc>
                <a:spcPct val="150000"/>
              </a:lnSpc>
              <a:buFont typeface="Arial" panose="020B0604020202020204" pitchFamily="34" charset="0"/>
              <a:buChar char="•"/>
            </a:pPr>
            <a:r>
              <a:rPr lang="en-US" dirty="0">
                <a:solidFill>
                  <a:srgbClr val="18537D"/>
                </a:solidFill>
              </a:rPr>
              <a:t>Write code that can be monitored</a:t>
            </a:r>
          </a:p>
          <a:p>
            <a:pPr marL="742950" lvl="1" indent="-285750">
              <a:lnSpc>
                <a:spcPct val="150000"/>
              </a:lnSpc>
              <a:buFont typeface="Arial" panose="020B0604020202020204" pitchFamily="34" charset="0"/>
              <a:buChar char="•"/>
            </a:pPr>
            <a:r>
              <a:rPr lang="en-US" dirty="0">
                <a:solidFill>
                  <a:srgbClr val="18537D"/>
                </a:solidFill>
              </a:rPr>
              <a:t>Perform root-cause analysis on faults found in testing or production</a:t>
            </a:r>
          </a:p>
          <a:p>
            <a:endParaRPr lang="en-US" dirty="0"/>
          </a:p>
        </p:txBody>
      </p:sp>
    </p:spTree>
    <p:extLst>
      <p:ext uri="{BB962C8B-B14F-4D97-AF65-F5344CB8AC3E}">
        <p14:creationId xmlns:p14="http://schemas.microsoft.com/office/powerpoint/2010/main" val="744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4F1518-275E-4146-9EDD-43380D66C22A}"/>
              </a:ext>
            </a:extLst>
          </p:cNvPr>
          <p:cNvSpPr>
            <a:spLocks noGrp="1"/>
          </p:cNvSpPr>
          <p:nvPr>
            <p:ph type="sldNum" sz="quarter" idx="17"/>
          </p:nvPr>
        </p:nvSpPr>
        <p:spPr/>
        <p:txBody>
          <a:bodyPr/>
          <a:lstStyle/>
          <a:p>
            <a:fld id="{4F9AC08D-23A9-440E-BCB9-AA1E9877CC38}" type="slidenum">
              <a:rPr lang="en-US" smtClean="0"/>
              <a:pPr/>
              <a:t>5</a:t>
            </a:fld>
            <a:endParaRPr lang="en-US" dirty="0"/>
          </a:p>
        </p:txBody>
      </p:sp>
      <p:sp>
        <p:nvSpPr>
          <p:cNvPr id="3" name="Title 2">
            <a:extLst>
              <a:ext uri="{FF2B5EF4-FFF2-40B4-BE49-F238E27FC236}">
                <a16:creationId xmlns:a16="http://schemas.microsoft.com/office/drawing/2014/main" id="{13D2A14B-A14B-46AC-8939-4DF03C83A84E}"/>
              </a:ext>
            </a:extLst>
          </p:cNvPr>
          <p:cNvSpPr>
            <a:spLocks noGrp="1"/>
          </p:cNvSpPr>
          <p:nvPr>
            <p:ph type="title"/>
          </p:nvPr>
        </p:nvSpPr>
        <p:spPr>
          <a:xfrm>
            <a:off x="450009" y="272145"/>
            <a:ext cx="13500200" cy="1359871"/>
          </a:xfrm>
        </p:spPr>
        <p:txBody>
          <a:bodyPr>
            <a:normAutofit/>
          </a:bodyPr>
          <a:lstStyle/>
          <a:p>
            <a:r>
              <a:rPr lang="en-US" sz="4400" dirty="0">
                <a:solidFill>
                  <a:schemeClr val="bg1"/>
                </a:solidFill>
              </a:rPr>
              <a:t>Monitoring and Troubleshooting – 12%</a:t>
            </a:r>
            <a:endParaRPr lang="en-US" sz="4400" dirty="0"/>
          </a:p>
        </p:txBody>
      </p:sp>
      <p:sp>
        <p:nvSpPr>
          <p:cNvPr id="4" name="Footer Placeholder 3">
            <a:extLst>
              <a:ext uri="{FF2B5EF4-FFF2-40B4-BE49-F238E27FC236}">
                <a16:creationId xmlns:a16="http://schemas.microsoft.com/office/drawing/2014/main" id="{3D46655A-9CF2-4EA3-8978-E6409A5E50C6}"/>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737C1EE4-4962-4858-96D2-AEE67EAF5929}"/>
              </a:ext>
            </a:extLst>
          </p:cNvPr>
          <p:cNvSpPr/>
          <p:nvPr/>
        </p:nvSpPr>
        <p:spPr>
          <a:xfrm>
            <a:off x="450004" y="1162610"/>
            <a:ext cx="12656395" cy="2948308"/>
          </a:xfrm>
          <a:prstGeom prst="rect">
            <a:avLst/>
          </a:prstGeom>
        </p:spPr>
        <p:txBody>
          <a:bodyPr wrap="square">
            <a:spAutoFit/>
          </a:bodyPr>
          <a:lstStyle/>
          <a:p>
            <a:pPr>
              <a:lnSpc>
                <a:spcPct val="150000"/>
              </a:lnSpc>
            </a:pPr>
            <a:r>
              <a:rPr lang="en-US" dirty="0">
                <a:solidFill>
                  <a:srgbClr val="18537D"/>
                </a:solidFill>
              </a:rPr>
              <a:t>Key AWS Services</a:t>
            </a:r>
          </a:p>
          <a:p>
            <a:pPr marL="742950" lvl="1" indent="-285750">
              <a:lnSpc>
                <a:spcPct val="150000"/>
              </a:lnSpc>
              <a:buFont typeface="Arial" panose="020B0604020202020204" pitchFamily="34" charset="0"/>
              <a:buChar char="•"/>
            </a:pPr>
            <a:r>
              <a:rPr lang="en-US" dirty="0">
                <a:solidFill>
                  <a:srgbClr val="18537D"/>
                </a:solidFill>
              </a:rPr>
              <a:t>Amazon CloudWatch</a:t>
            </a:r>
          </a:p>
          <a:p>
            <a:pPr marL="742950" lvl="1" indent="-285750">
              <a:lnSpc>
                <a:spcPct val="150000"/>
              </a:lnSpc>
              <a:buFont typeface="Arial" panose="020B0604020202020204" pitchFamily="34" charset="0"/>
              <a:buChar char="•"/>
            </a:pPr>
            <a:r>
              <a:rPr lang="en-US" dirty="0">
                <a:solidFill>
                  <a:srgbClr val="18537D"/>
                </a:solidFill>
              </a:rPr>
              <a:t>Amazon CloudTrail</a:t>
            </a:r>
          </a:p>
          <a:p>
            <a:pPr marL="742950" lvl="1" indent="-285750">
              <a:lnSpc>
                <a:spcPct val="150000"/>
              </a:lnSpc>
              <a:buFont typeface="Arial" panose="020B0604020202020204" pitchFamily="34" charset="0"/>
              <a:buChar char="•"/>
            </a:pPr>
            <a:endParaRPr lang="en-US" dirty="0">
              <a:solidFill>
                <a:srgbClr val="18537D"/>
              </a:solidFill>
            </a:endParaRPr>
          </a:p>
          <a:p>
            <a:pPr marL="742950" lvl="1" indent="-285750">
              <a:lnSpc>
                <a:spcPct val="150000"/>
              </a:lnSpc>
              <a:buFont typeface="Arial" panose="020B0604020202020204" pitchFamily="34" charset="0"/>
              <a:buChar char="•"/>
            </a:pPr>
            <a:endParaRPr lang="en-US" dirty="0">
              <a:solidFill>
                <a:srgbClr val="18537D"/>
              </a:solidFill>
            </a:endParaRPr>
          </a:p>
          <a:p>
            <a:pPr marL="742950" lvl="1" indent="-285750">
              <a:lnSpc>
                <a:spcPct val="150000"/>
              </a:lnSpc>
              <a:buFont typeface="Arial" panose="020B0604020202020204" pitchFamily="34" charset="0"/>
              <a:buChar char="•"/>
            </a:pPr>
            <a:endParaRPr lang="en-US" dirty="0">
              <a:solidFill>
                <a:srgbClr val="18537D"/>
              </a:solidFill>
            </a:endParaRPr>
          </a:p>
          <a:p>
            <a:pPr marL="742950" lvl="1" indent="-285750">
              <a:lnSpc>
                <a:spcPct val="150000"/>
              </a:lnSpc>
              <a:buFont typeface="Arial" panose="020B0604020202020204" pitchFamily="34" charset="0"/>
              <a:buChar char="•"/>
            </a:pPr>
            <a:endParaRPr lang="en-US" dirty="0">
              <a:solidFill>
                <a:srgbClr val="18537D"/>
              </a:solidFill>
            </a:endParaRPr>
          </a:p>
        </p:txBody>
      </p:sp>
    </p:spTree>
    <p:extLst>
      <p:ext uri="{BB962C8B-B14F-4D97-AF65-F5344CB8AC3E}">
        <p14:creationId xmlns:p14="http://schemas.microsoft.com/office/powerpoint/2010/main" val="3334814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770CA2-7560-41CB-A24D-CE066229237A}"/>
              </a:ext>
            </a:extLst>
          </p:cNvPr>
          <p:cNvSpPr>
            <a:spLocks noGrp="1"/>
          </p:cNvSpPr>
          <p:nvPr>
            <p:ph type="sldNum" sz="quarter" idx="17"/>
          </p:nvPr>
        </p:nvSpPr>
        <p:spPr/>
        <p:txBody>
          <a:bodyPr/>
          <a:lstStyle/>
          <a:p>
            <a:fld id="{4F9AC08D-23A9-440E-BCB9-AA1E9877CC38}" type="slidenum">
              <a:rPr lang="en-US" b="1" smtClean="0"/>
              <a:pPr/>
              <a:t>6</a:t>
            </a:fld>
            <a:endParaRPr lang="en-US" b="1"/>
          </a:p>
        </p:txBody>
      </p:sp>
      <p:sp>
        <p:nvSpPr>
          <p:cNvPr id="5" name="Title 3">
            <a:extLst>
              <a:ext uri="{FF2B5EF4-FFF2-40B4-BE49-F238E27FC236}">
                <a16:creationId xmlns:a16="http://schemas.microsoft.com/office/drawing/2014/main" id="{69CFA5BE-6E54-454A-B724-48A52ECF217B}"/>
              </a:ext>
            </a:extLst>
          </p:cNvPr>
          <p:cNvSpPr>
            <a:spLocks noGrp="1"/>
          </p:cNvSpPr>
          <p:nvPr>
            <p:ph type="title"/>
          </p:nvPr>
        </p:nvSpPr>
        <p:spPr>
          <a:xfrm>
            <a:off x="270007" y="309377"/>
            <a:ext cx="13500200" cy="1359871"/>
          </a:xfrm>
        </p:spPr>
        <p:txBody>
          <a:bodyPr/>
          <a:lstStyle/>
          <a:p>
            <a:r>
              <a:rPr lang="en-IN" dirty="0">
                <a:solidFill>
                  <a:schemeClr val="bg1"/>
                </a:solidFill>
              </a:rPr>
              <a:t>Amazon Cloud Watch</a:t>
            </a:r>
          </a:p>
        </p:txBody>
      </p:sp>
      <p:sp>
        <p:nvSpPr>
          <p:cNvPr id="8" name="Footer Placeholder 1">
            <a:extLst>
              <a:ext uri="{FF2B5EF4-FFF2-40B4-BE49-F238E27FC236}">
                <a16:creationId xmlns:a16="http://schemas.microsoft.com/office/drawing/2014/main" id="{12204CFF-64B3-482E-863B-A151B6D4EDF5}"/>
              </a:ext>
            </a:extLst>
          </p:cNvPr>
          <p:cNvSpPr>
            <a:spLocks noGrp="1"/>
          </p:cNvSpPr>
          <p:nvPr>
            <p:ph type="ftr" sz="quarter" idx="16"/>
          </p:nvPr>
        </p:nvSpPr>
        <p:spPr>
          <a:xfrm>
            <a:off x="450010" y="6843454"/>
            <a:ext cx="6750098" cy="216646"/>
          </a:xfrm>
        </p:spPr>
        <p:txBody>
          <a:bodyPr/>
          <a:lstStyle/>
          <a:p>
            <a:r>
              <a:rPr lang="en-US" dirty="0"/>
              <a:t>Copyright © 2020 Accenture. All rights reserved.</a:t>
            </a:r>
          </a:p>
        </p:txBody>
      </p:sp>
      <p:sp>
        <p:nvSpPr>
          <p:cNvPr id="2" name="Rectangle 1">
            <a:extLst>
              <a:ext uri="{FF2B5EF4-FFF2-40B4-BE49-F238E27FC236}">
                <a16:creationId xmlns:a16="http://schemas.microsoft.com/office/drawing/2014/main" id="{570AC975-A4B5-4D55-9BB1-0BBC18341E14}"/>
              </a:ext>
            </a:extLst>
          </p:cNvPr>
          <p:cNvSpPr/>
          <p:nvPr/>
        </p:nvSpPr>
        <p:spPr>
          <a:xfrm>
            <a:off x="3227170" y="1114750"/>
            <a:ext cx="7197725" cy="646331"/>
          </a:xfrm>
          <a:prstGeom prst="rect">
            <a:avLst/>
          </a:prstGeom>
        </p:spPr>
        <p:txBody>
          <a:bodyPr>
            <a:spAutoFit/>
          </a:bodyPr>
          <a:lstStyle/>
          <a:p>
            <a:pPr algn="ctr">
              <a:spcBef>
                <a:spcPts val="600"/>
              </a:spcBef>
              <a:defRPr/>
            </a:pPr>
            <a:r>
              <a:rPr lang="en-US" dirty="0">
                <a:solidFill>
                  <a:srgbClr val="18537D"/>
                </a:solidFill>
              </a:rPr>
              <a:t>Monitoring and management service that provides data and actionable insights for your AWS resources</a:t>
            </a:r>
          </a:p>
        </p:txBody>
      </p:sp>
      <p:pic>
        <p:nvPicPr>
          <p:cNvPr id="14" name="Picture 13">
            <a:extLst>
              <a:ext uri="{FF2B5EF4-FFF2-40B4-BE49-F238E27FC236}">
                <a16:creationId xmlns:a16="http://schemas.microsoft.com/office/drawing/2014/main" id="{0EC64B8A-A807-4FF1-A504-D706F370C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4591" y="2789473"/>
            <a:ext cx="1652168" cy="1875432"/>
          </a:xfrm>
          <a:prstGeom prst="rect">
            <a:avLst/>
          </a:prstGeom>
        </p:spPr>
      </p:pic>
      <p:sp>
        <p:nvSpPr>
          <p:cNvPr id="15" name="TextBox 14">
            <a:extLst>
              <a:ext uri="{FF2B5EF4-FFF2-40B4-BE49-F238E27FC236}">
                <a16:creationId xmlns:a16="http://schemas.microsoft.com/office/drawing/2014/main" id="{5239215E-B5ED-43CF-B009-C90F6FC37547}"/>
              </a:ext>
            </a:extLst>
          </p:cNvPr>
          <p:cNvSpPr txBox="1"/>
          <p:nvPr/>
        </p:nvSpPr>
        <p:spPr>
          <a:xfrm>
            <a:off x="2483647" y="4733397"/>
            <a:ext cx="1652168" cy="298282"/>
          </a:xfrm>
          <a:prstGeom prst="rect">
            <a:avLst/>
          </a:prstGeom>
          <a:noFill/>
        </p:spPr>
        <p:txBody>
          <a:bodyPr wrap="square" lIns="0" tIns="0" rIns="0" bIns="0" rtlCol="0" anchor="t">
            <a:noAutofit/>
          </a:bodyPr>
          <a:lstStyle/>
          <a:p>
            <a:pPr algn="ctr"/>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p:txBody>
      </p:sp>
      <p:sp>
        <p:nvSpPr>
          <p:cNvPr id="17" name="TextBox 16">
            <a:extLst>
              <a:ext uri="{FF2B5EF4-FFF2-40B4-BE49-F238E27FC236}">
                <a16:creationId xmlns:a16="http://schemas.microsoft.com/office/drawing/2014/main" id="{81B7E26C-C74A-47BA-AD83-070CBAED01E5}"/>
              </a:ext>
            </a:extLst>
          </p:cNvPr>
          <p:cNvSpPr txBox="1"/>
          <p:nvPr/>
        </p:nvSpPr>
        <p:spPr>
          <a:xfrm>
            <a:off x="4826877" y="2530924"/>
            <a:ext cx="2241755" cy="369332"/>
          </a:xfrm>
          <a:prstGeom prst="rect">
            <a:avLst/>
          </a:prstGeom>
          <a:noFill/>
        </p:spPr>
        <p:txBody>
          <a:bodyPr wrap="square" rtlCol="0">
            <a:spAutoFit/>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Collect logs</a:t>
            </a:r>
          </a:p>
        </p:txBody>
      </p:sp>
      <p:sp>
        <p:nvSpPr>
          <p:cNvPr id="21" name="TextBox 20">
            <a:extLst>
              <a:ext uri="{FF2B5EF4-FFF2-40B4-BE49-F238E27FC236}">
                <a16:creationId xmlns:a16="http://schemas.microsoft.com/office/drawing/2014/main" id="{821744A8-42E4-4B18-8FB8-18DB31EC732A}"/>
              </a:ext>
            </a:extLst>
          </p:cNvPr>
          <p:cNvSpPr txBox="1"/>
          <p:nvPr/>
        </p:nvSpPr>
        <p:spPr>
          <a:xfrm>
            <a:off x="741857" y="2545319"/>
            <a:ext cx="2241755" cy="369332"/>
          </a:xfrm>
          <a:prstGeom prst="rect">
            <a:avLst/>
          </a:prstGeom>
          <a:noFill/>
        </p:spPr>
        <p:txBody>
          <a:bodyPr wrap="square" rtlCol="0">
            <a:spAutoFit/>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Monitor</a:t>
            </a:r>
          </a:p>
        </p:txBody>
      </p:sp>
      <p:sp>
        <p:nvSpPr>
          <p:cNvPr id="22" name="TextBox 21">
            <a:extLst>
              <a:ext uri="{FF2B5EF4-FFF2-40B4-BE49-F238E27FC236}">
                <a16:creationId xmlns:a16="http://schemas.microsoft.com/office/drawing/2014/main" id="{74D41872-1477-4777-B092-2C7DF4F9BE63}"/>
              </a:ext>
            </a:extLst>
          </p:cNvPr>
          <p:cNvSpPr txBox="1"/>
          <p:nvPr/>
        </p:nvSpPr>
        <p:spPr>
          <a:xfrm>
            <a:off x="4476305" y="5217993"/>
            <a:ext cx="2241755" cy="369332"/>
          </a:xfrm>
          <a:prstGeom prst="rect">
            <a:avLst/>
          </a:prstGeom>
          <a:noFill/>
        </p:spPr>
        <p:txBody>
          <a:bodyPr wrap="square" rtlCol="0">
            <a:spAutoFit/>
          </a:bodyPr>
          <a:lstStyle/>
          <a:p>
            <a:pPr algn="r"/>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Respond to events</a:t>
            </a:r>
          </a:p>
        </p:txBody>
      </p:sp>
      <p:sp>
        <p:nvSpPr>
          <p:cNvPr id="23" name="TextBox 22">
            <a:extLst>
              <a:ext uri="{FF2B5EF4-FFF2-40B4-BE49-F238E27FC236}">
                <a16:creationId xmlns:a16="http://schemas.microsoft.com/office/drawing/2014/main" id="{CA374720-B131-461A-9BD1-094B5EF1D7C0}"/>
              </a:ext>
            </a:extLst>
          </p:cNvPr>
          <p:cNvSpPr txBox="1"/>
          <p:nvPr/>
        </p:nvSpPr>
        <p:spPr>
          <a:xfrm>
            <a:off x="-578847" y="5217993"/>
            <a:ext cx="2241755" cy="369332"/>
          </a:xfrm>
          <a:prstGeom prst="rect">
            <a:avLst/>
          </a:prstGeom>
          <a:noFill/>
        </p:spPr>
        <p:txBody>
          <a:bodyPr wrap="square" rtlCol="0">
            <a:spAutoFit/>
          </a:bodyPr>
          <a:lstStyle/>
          <a:p>
            <a:pPr algn="r"/>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Alarm</a:t>
            </a:r>
          </a:p>
        </p:txBody>
      </p:sp>
      <p:sp>
        <p:nvSpPr>
          <p:cNvPr id="4" name="Rectangle 3">
            <a:extLst>
              <a:ext uri="{FF2B5EF4-FFF2-40B4-BE49-F238E27FC236}">
                <a16:creationId xmlns:a16="http://schemas.microsoft.com/office/drawing/2014/main" id="{43F30E5C-CE4C-4705-ADA3-A5F1A61A22F3}"/>
              </a:ext>
            </a:extLst>
          </p:cNvPr>
          <p:cNvSpPr/>
          <p:nvPr/>
        </p:nvSpPr>
        <p:spPr>
          <a:xfrm>
            <a:off x="7068632" y="2768728"/>
            <a:ext cx="7197725" cy="2970044"/>
          </a:xfrm>
          <a:prstGeom prst="rect">
            <a:avLst/>
          </a:prstGeom>
        </p:spPr>
        <p:txBody>
          <a:bodyPr>
            <a:spAutoFit/>
          </a:bodyPr>
          <a:lstStyle/>
          <a:p>
            <a:pPr lvl="0">
              <a:spcBef>
                <a:spcPts val="600"/>
              </a:spcBef>
              <a:defRPr/>
            </a:pPr>
            <a:r>
              <a:rPr lang="en-US" dirty="0">
                <a:solidFill>
                  <a:srgbClr val="18537D"/>
                </a:solidFill>
              </a:rPr>
              <a:t>Provides real-time monitoring of your AWS resources and the applications you run on AWS</a:t>
            </a:r>
          </a:p>
          <a:p>
            <a:pPr marL="285750" lvl="0" indent="-285750">
              <a:spcBef>
                <a:spcPts val="600"/>
              </a:spcBef>
              <a:buFont typeface="Arial" panose="020B0604020202020204" pitchFamily="34" charset="0"/>
              <a:buChar char="•"/>
              <a:defRPr/>
            </a:pPr>
            <a:r>
              <a:rPr lang="en-US" dirty="0">
                <a:solidFill>
                  <a:srgbClr val="18537D"/>
                </a:solidFill>
              </a:rPr>
              <a:t>Monitors AWS built-in and custom metrics</a:t>
            </a:r>
          </a:p>
          <a:p>
            <a:pPr marL="285750" lvl="0" indent="-285750">
              <a:spcBef>
                <a:spcPts val="600"/>
              </a:spcBef>
              <a:buFont typeface="Arial" panose="020B0604020202020204" pitchFamily="34" charset="0"/>
              <a:buChar char="•"/>
              <a:defRPr/>
            </a:pPr>
            <a:r>
              <a:rPr lang="en-US" dirty="0">
                <a:solidFill>
                  <a:srgbClr val="18537D"/>
                </a:solidFill>
              </a:rPr>
              <a:t>Collects and processes log files from services and applications</a:t>
            </a:r>
          </a:p>
          <a:p>
            <a:pPr marL="285750" lvl="0" indent="-285750">
              <a:spcBef>
                <a:spcPts val="600"/>
              </a:spcBef>
              <a:buFont typeface="Arial" panose="020B0604020202020204" pitchFamily="34" charset="0"/>
              <a:buChar char="•"/>
              <a:defRPr/>
            </a:pPr>
            <a:r>
              <a:rPr lang="en-US" dirty="0">
                <a:solidFill>
                  <a:srgbClr val="18537D"/>
                </a:solidFill>
              </a:rPr>
              <a:t>Detects events and responds with notifications or automated responses</a:t>
            </a:r>
          </a:p>
          <a:p>
            <a:pPr lvl="0">
              <a:spcBef>
                <a:spcPts val="600"/>
              </a:spcBef>
              <a:defRPr/>
            </a:pPr>
            <a:endParaRPr lang="en-US" dirty="0">
              <a:solidFill>
                <a:srgbClr val="000000"/>
              </a:solidFill>
              <a:latin typeface="Amazon Ember Light" charset="0"/>
              <a:ea typeface="Amazon Ember Light" charset="0"/>
              <a:cs typeface="Amazon Ember Light" charset="0"/>
            </a:endParaRPr>
          </a:p>
          <a:p>
            <a:pPr lvl="0">
              <a:spcBef>
                <a:spcPts val="600"/>
              </a:spcBef>
              <a:defRPr/>
            </a:pPr>
            <a:endParaRPr lang="en-US" dirty="0">
              <a:solidFill>
                <a:srgbClr val="000000"/>
              </a:solidFill>
              <a:latin typeface="Amazon Ember Light" charset="0"/>
              <a:ea typeface="Amazon Ember Light" charset="0"/>
              <a:cs typeface="Amazon Ember Light" charset="0"/>
            </a:endParaRPr>
          </a:p>
        </p:txBody>
      </p:sp>
    </p:spTree>
    <p:extLst>
      <p:ext uri="{BB962C8B-B14F-4D97-AF65-F5344CB8AC3E}">
        <p14:creationId xmlns:p14="http://schemas.microsoft.com/office/powerpoint/2010/main" val="215747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AFE36B-0B40-4514-96C5-1768DA4FB7B4}"/>
              </a:ext>
            </a:extLst>
          </p:cNvPr>
          <p:cNvSpPr>
            <a:spLocks noGrp="1"/>
          </p:cNvSpPr>
          <p:nvPr>
            <p:ph type="ftr" sz="quarter" idx="16"/>
          </p:nvPr>
        </p:nvSpPr>
        <p:spPr>
          <a:xfrm>
            <a:off x="696882" y="6861013"/>
            <a:ext cx="6750098" cy="216646"/>
          </a:xfrm>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E7036836-ED55-470C-A982-E14086FF9F85}"/>
              </a:ext>
            </a:extLst>
          </p:cNvPr>
          <p:cNvSpPr>
            <a:spLocks noGrp="1"/>
          </p:cNvSpPr>
          <p:nvPr>
            <p:ph type="sldNum" sz="quarter" idx="17"/>
          </p:nvPr>
        </p:nvSpPr>
        <p:spPr>
          <a:xfrm>
            <a:off x="13590205" y="6355077"/>
            <a:ext cx="360005" cy="216646"/>
          </a:xfrm>
        </p:spPr>
        <p:txBody>
          <a:bodyPr/>
          <a:lstStyle/>
          <a:p>
            <a:fld id="{4F9AC08D-23A9-440E-BCB9-AA1E9877CC38}" type="slidenum">
              <a:rPr lang="en-US" smtClean="0"/>
              <a:pPr/>
              <a:t>7</a:t>
            </a:fld>
            <a:endParaRPr lang="en-US" dirty="0"/>
          </a:p>
        </p:txBody>
      </p:sp>
      <p:sp>
        <p:nvSpPr>
          <p:cNvPr id="4" name="Title 3">
            <a:extLst>
              <a:ext uri="{FF2B5EF4-FFF2-40B4-BE49-F238E27FC236}">
                <a16:creationId xmlns:a16="http://schemas.microsoft.com/office/drawing/2014/main" id="{075D5137-B524-46B3-8782-99C4EB1CD2E3}"/>
              </a:ext>
            </a:extLst>
          </p:cNvPr>
          <p:cNvSpPr>
            <a:spLocks noGrp="1"/>
          </p:cNvSpPr>
          <p:nvPr>
            <p:ph type="title"/>
          </p:nvPr>
        </p:nvSpPr>
        <p:spPr>
          <a:xfrm>
            <a:off x="551109" y="286837"/>
            <a:ext cx="13500200" cy="1359871"/>
          </a:xfrm>
        </p:spPr>
        <p:txBody>
          <a:bodyPr/>
          <a:lstStyle/>
          <a:p>
            <a:r>
              <a:rPr lang="en-US" dirty="0">
                <a:solidFill>
                  <a:schemeClr val="bg1"/>
                </a:solidFill>
              </a:rPr>
              <a:t>Example</a:t>
            </a:r>
          </a:p>
        </p:txBody>
      </p:sp>
      <p:grpSp>
        <p:nvGrpSpPr>
          <p:cNvPr id="5" name="Group 4">
            <a:extLst>
              <a:ext uri="{FF2B5EF4-FFF2-40B4-BE49-F238E27FC236}">
                <a16:creationId xmlns:a16="http://schemas.microsoft.com/office/drawing/2014/main" id="{1269B76D-318A-4170-8335-9AD137159238}"/>
              </a:ext>
            </a:extLst>
          </p:cNvPr>
          <p:cNvGrpSpPr/>
          <p:nvPr/>
        </p:nvGrpSpPr>
        <p:grpSpPr>
          <a:xfrm>
            <a:off x="1774363" y="1071030"/>
            <a:ext cx="9863742" cy="2760495"/>
            <a:chOff x="250119" y="2575387"/>
            <a:chExt cx="12016076" cy="2603471"/>
          </a:xfrm>
        </p:grpSpPr>
        <p:pic>
          <p:nvPicPr>
            <p:cNvPr id="7" name="Picture 6" descr="EC2-Instance-with-CloudWatch.png">
              <a:extLst>
                <a:ext uri="{FF2B5EF4-FFF2-40B4-BE49-F238E27FC236}">
                  <a16:creationId xmlns:a16="http://schemas.microsoft.com/office/drawing/2014/main" id="{A04820EF-9F48-40F0-B085-D0E7B7AA2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747" y="3457486"/>
              <a:ext cx="975360" cy="975360"/>
            </a:xfrm>
            <a:prstGeom prst="rect">
              <a:avLst/>
            </a:prstGeom>
          </p:spPr>
        </p:pic>
        <p:sp>
          <p:nvSpPr>
            <p:cNvPr id="8" name="TextBox 7">
              <a:extLst>
                <a:ext uri="{FF2B5EF4-FFF2-40B4-BE49-F238E27FC236}">
                  <a16:creationId xmlns:a16="http://schemas.microsoft.com/office/drawing/2014/main" id="{6F599179-3AA9-4247-BB65-52D16342787D}"/>
                </a:ext>
              </a:extLst>
            </p:cNvPr>
            <p:cNvSpPr txBox="1"/>
            <p:nvPr/>
          </p:nvSpPr>
          <p:spPr>
            <a:xfrm>
              <a:off x="250119" y="4448244"/>
              <a:ext cx="3088617" cy="348323"/>
            </a:xfrm>
            <a:prstGeom prst="rect">
              <a:avLst/>
            </a:prstGeom>
            <a:noFill/>
          </p:spPr>
          <p:txBody>
            <a:bodyPr wrap="square" lIns="0" tIns="0" rIns="0" bIns="0" rtlCol="0">
              <a:spAutoFit/>
            </a:bodyPr>
            <a:lstStyle/>
            <a:p>
              <a:pPr algn="ctr"/>
              <a:r>
                <a:rPr lang="en-US" sz="1200" dirty="0">
                  <a:solidFill>
                    <a:schemeClr val="bg1"/>
                  </a:solidFill>
                  <a:latin typeface="Amazon Ember" panose="02000000000000000000" pitchFamily="2" charset="0"/>
                  <a:ea typeface="Amazon Ember" panose="02000000000000000000" pitchFamily="2" charset="0"/>
                  <a:cs typeface="Helvetica Neue"/>
                </a:rPr>
                <a:t>EC2 instance with CloudWatch</a:t>
              </a:r>
            </a:p>
            <a:p>
              <a:pPr algn="ctr"/>
              <a:r>
                <a:rPr lang="en-US" sz="1200" dirty="0">
                  <a:solidFill>
                    <a:schemeClr val="bg1"/>
                  </a:solidFill>
                  <a:latin typeface="Amazon Ember" panose="02000000000000000000" pitchFamily="2" charset="0"/>
                  <a:ea typeface="Amazon Ember" panose="02000000000000000000" pitchFamily="2" charset="0"/>
                  <a:cs typeface="Helvetica Neue"/>
                </a:rPr>
                <a:t>Detailed Monitoring</a:t>
              </a:r>
            </a:p>
          </p:txBody>
        </p:sp>
        <p:pic>
          <p:nvPicPr>
            <p:cNvPr id="9" name="Picture 8" descr="CloudWatch-Alarm.png">
              <a:extLst>
                <a:ext uri="{FF2B5EF4-FFF2-40B4-BE49-F238E27FC236}">
                  <a16:creationId xmlns:a16="http://schemas.microsoft.com/office/drawing/2014/main" id="{BF35F34E-AA1F-4358-B524-9DEB1C3F9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221" y="3721553"/>
              <a:ext cx="975360" cy="975360"/>
            </a:xfrm>
            <a:prstGeom prst="rect">
              <a:avLst/>
            </a:prstGeom>
          </p:spPr>
        </p:pic>
        <p:pic>
          <p:nvPicPr>
            <p:cNvPr id="10" name="Picture 9" descr="CloudWatch.png">
              <a:extLst>
                <a:ext uri="{FF2B5EF4-FFF2-40B4-BE49-F238E27FC236}">
                  <a16:creationId xmlns:a16="http://schemas.microsoft.com/office/drawing/2014/main" id="{34A5540A-A4E4-4D39-97A8-F557713EF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8707" y="3719912"/>
              <a:ext cx="975360" cy="975360"/>
            </a:xfrm>
            <a:prstGeom prst="rect">
              <a:avLst/>
            </a:prstGeom>
          </p:spPr>
        </p:pic>
        <p:sp>
          <p:nvSpPr>
            <p:cNvPr id="11" name="TextBox 10">
              <a:extLst>
                <a:ext uri="{FF2B5EF4-FFF2-40B4-BE49-F238E27FC236}">
                  <a16:creationId xmlns:a16="http://schemas.microsoft.com/office/drawing/2014/main" id="{D6ED2848-B619-45CC-A091-61CA055F2AC1}"/>
                </a:ext>
              </a:extLst>
            </p:cNvPr>
            <p:cNvSpPr txBox="1"/>
            <p:nvPr/>
          </p:nvSpPr>
          <p:spPr>
            <a:xfrm>
              <a:off x="4421809" y="4817668"/>
              <a:ext cx="1647852" cy="174162"/>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CloudWatch</a:t>
              </a:r>
            </a:p>
          </p:txBody>
        </p:sp>
        <p:sp>
          <p:nvSpPr>
            <p:cNvPr id="12" name="TextBox 11">
              <a:extLst>
                <a:ext uri="{FF2B5EF4-FFF2-40B4-BE49-F238E27FC236}">
                  <a16:creationId xmlns:a16="http://schemas.microsoft.com/office/drawing/2014/main" id="{36DB15D8-C85B-4F5F-A401-F83BEC5EE7C3}"/>
                </a:ext>
              </a:extLst>
            </p:cNvPr>
            <p:cNvSpPr txBox="1"/>
            <p:nvPr/>
          </p:nvSpPr>
          <p:spPr>
            <a:xfrm>
              <a:off x="6520973" y="4830535"/>
              <a:ext cx="1925855" cy="348323"/>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CPU Utilization &gt; x% </a:t>
              </a:r>
            </a:p>
            <a:p>
              <a:pPr algn="ctr"/>
              <a:r>
                <a:rPr lang="en-US" sz="1200" dirty="0">
                  <a:latin typeface="Amazon Ember" panose="02000000000000000000" pitchFamily="2" charset="0"/>
                  <a:ea typeface="Amazon Ember" panose="02000000000000000000" pitchFamily="2" charset="0"/>
                  <a:cs typeface="Helvetica Neue"/>
                </a:rPr>
                <a:t>(CloudWatch Alarm)</a:t>
              </a:r>
            </a:p>
          </p:txBody>
        </p:sp>
        <p:sp>
          <p:nvSpPr>
            <p:cNvPr id="13" name="TextBox 12">
              <a:extLst>
                <a:ext uri="{FF2B5EF4-FFF2-40B4-BE49-F238E27FC236}">
                  <a16:creationId xmlns:a16="http://schemas.microsoft.com/office/drawing/2014/main" id="{3658008D-8CFD-4766-A7DC-8029B1C2FEAD}"/>
                </a:ext>
              </a:extLst>
            </p:cNvPr>
            <p:cNvSpPr txBox="1"/>
            <p:nvPr/>
          </p:nvSpPr>
          <p:spPr>
            <a:xfrm>
              <a:off x="3227508" y="3612938"/>
              <a:ext cx="1774688" cy="348323"/>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CPU Utilization</a:t>
              </a:r>
            </a:p>
            <a:p>
              <a:pPr algn="ctr"/>
              <a:r>
                <a:rPr lang="en-US" sz="1200" dirty="0">
                  <a:latin typeface="Amazon Ember" panose="02000000000000000000" pitchFamily="2" charset="0"/>
                  <a:ea typeface="Amazon Ember" panose="02000000000000000000" pitchFamily="2" charset="0"/>
                  <a:cs typeface="Helvetica Neue"/>
                </a:rPr>
                <a:t>(Standard metric)</a:t>
              </a:r>
            </a:p>
          </p:txBody>
        </p:sp>
        <p:cxnSp>
          <p:nvCxnSpPr>
            <p:cNvPr id="14" name="Elbow Connector 73">
              <a:extLst>
                <a:ext uri="{FF2B5EF4-FFF2-40B4-BE49-F238E27FC236}">
                  <a16:creationId xmlns:a16="http://schemas.microsoft.com/office/drawing/2014/main" id="{32EC3C81-D75D-4B1A-B0E7-709524F13B30}"/>
                </a:ext>
              </a:extLst>
            </p:cNvPr>
            <p:cNvCxnSpPr>
              <a:stCxn id="7" idx="0"/>
              <a:endCxn id="10" idx="0"/>
            </p:cNvCxnSpPr>
            <p:nvPr/>
          </p:nvCxnSpPr>
          <p:spPr>
            <a:xfrm rot="16200000" flipH="1">
              <a:off x="3419194" y="1832718"/>
              <a:ext cx="262425" cy="3511960"/>
            </a:xfrm>
            <a:prstGeom prst="bentConnector3">
              <a:avLst>
                <a:gd name="adj1" fmla="val -116147"/>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AB7EDAC-9372-44A5-9023-1B989D0DF0CD}"/>
                </a:ext>
              </a:extLst>
            </p:cNvPr>
            <p:cNvSpPr txBox="1"/>
            <p:nvPr/>
          </p:nvSpPr>
          <p:spPr>
            <a:xfrm>
              <a:off x="3049032" y="2575387"/>
              <a:ext cx="2319620" cy="348323"/>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Memory Utilization</a:t>
              </a:r>
            </a:p>
            <a:p>
              <a:pPr algn="ctr"/>
              <a:r>
                <a:rPr lang="en-US" sz="1200" dirty="0">
                  <a:latin typeface="Amazon Ember" panose="02000000000000000000" pitchFamily="2" charset="0"/>
                  <a:ea typeface="Amazon Ember" panose="02000000000000000000" pitchFamily="2" charset="0"/>
                  <a:cs typeface="Helvetica Neue"/>
                </a:rPr>
                <a:t>(Custom metric)</a:t>
              </a:r>
            </a:p>
          </p:txBody>
        </p:sp>
        <p:cxnSp>
          <p:nvCxnSpPr>
            <p:cNvPr id="16" name="Straight Arrow Connector 15">
              <a:extLst>
                <a:ext uri="{FF2B5EF4-FFF2-40B4-BE49-F238E27FC236}">
                  <a16:creationId xmlns:a16="http://schemas.microsoft.com/office/drawing/2014/main" id="{06DEA122-0542-4AA4-9196-9631A6190EF7}"/>
                </a:ext>
              </a:extLst>
            </p:cNvPr>
            <p:cNvCxnSpPr>
              <a:stCxn id="10" idx="3"/>
              <a:endCxn id="9" idx="1"/>
            </p:cNvCxnSpPr>
            <p:nvPr/>
          </p:nvCxnSpPr>
          <p:spPr>
            <a:xfrm>
              <a:off x="5794067" y="4207593"/>
              <a:ext cx="1202155" cy="1641"/>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A515915-72A4-4C1F-B072-849157AD3902}"/>
                </a:ext>
              </a:extLst>
            </p:cNvPr>
            <p:cNvSpPr txBox="1"/>
            <p:nvPr/>
          </p:nvSpPr>
          <p:spPr>
            <a:xfrm>
              <a:off x="10274349" y="3328936"/>
              <a:ext cx="1925856" cy="174162"/>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Dashboard</a:t>
              </a:r>
            </a:p>
          </p:txBody>
        </p:sp>
        <p:pic>
          <p:nvPicPr>
            <p:cNvPr id="22" name="Picture 21" descr="Client.png">
              <a:extLst>
                <a:ext uri="{FF2B5EF4-FFF2-40B4-BE49-F238E27FC236}">
                  <a16:creationId xmlns:a16="http://schemas.microsoft.com/office/drawing/2014/main" id="{9B774D2F-40DB-4233-A263-E4996B7110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9597" y="3712669"/>
              <a:ext cx="975360" cy="975360"/>
            </a:xfrm>
            <a:prstGeom prst="rect">
              <a:avLst/>
            </a:prstGeom>
          </p:spPr>
        </p:pic>
        <p:sp>
          <p:nvSpPr>
            <p:cNvPr id="23" name="TextBox 22">
              <a:extLst>
                <a:ext uri="{FF2B5EF4-FFF2-40B4-BE49-F238E27FC236}">
                  <a16:creationId xmlns:a16="http://schemas.microsoft.com/office/drawing/2014/main" id="{3CAC59CE-7017-426B-9712-D7B36218BA82}"/>
                </a:ext>
              </a:extLst>
            </p:cNvPr>
            <p:cNvSpPr txBox="1"/>
            <p:nvPr/>
          </p:nvSpPr>
          <p:spPr>
            <a:xfrm>
              <a:off x="10340339" y="4681139"/>
              <a:ext cx="1925856" cy="174162"/>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Notification</a:t>
              </a:r>
            </a:p>
          </p:txBody>
        </p:sp>
        <p:cxnSp>
          <p:nvCxnSpPr>
            <p:cNvPr id="24" name="Straight Arrow Connector 23">
              <a:extLst>
                <a:ext uri="{FF2B5EF4-FFF2-40B4-BE49-F238E27FC236}">
                  <a16:creationId xmlns:a16="http://schemas.microsoft.com/office/drawing/2014/main" id="{7F9F93FF-90E6-4361-A6E1-81978BFA01F6}"/>
                </a:ext>
              </a:extLst>
            </p:cNvPr>
            <p:cNvCxnSpPr>
              <a:cxnSpLocks/>
            </p:cNvCxnSpPr>
            <p:nvPr/>
          </p:nvCxnSpPr>
          <p:spPr>
            <a:xfrm>
              <a:off x="8122140" y="4203086"/>
              <a:ext cx="2152209"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7B33D4-B2B4-4437-85E4-688E46A2B33A}"/>
                </a:ext>
              </a:extLst>
            </p:cNvPr>
            <p:cNvCxnSpPr>
              <a:cxnSpLocks/>
              <a:endCxn id="10" idx="1"/>
            </p:cNvCxnSpPr>
            <p:nvPr/>
          </p:nvCxnSpPr>
          <p:spPr>
            <a:xfrm>
              <a:off x="2490634" y="4200349"/>
              <a:ext cx="2328073" cy="724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27" name="Rectangle 26">
            <a:extLst>
              <a:ext uri="{FF2B5EF4-FFF2-40B4-BE49-F238E27FC236}">
                <a16:creationId xmlns:a16="http://schemas.microsoft.com/office/drawing/2014/main" id="{ECA40770-FD3E-4D34-9E5C-DC50E78C029E}"/>
              </a:ext>
            </a:extLst>
          </p:cNvPr>
          <p:cNvSpPr/>
          <p:nvPr/>
        </p:nvSpPr>
        <p:spPr>
          <a:xfrm>
            <a:off x="-556810" y="3087339"/>
            <a:ext cx="7197725" cy="430887"/>
          </a:xfrm>
          <a:prstGeom prst="rect">
            <a:avLst/>
          </a:prstGeom>
        </p:spPr>
        <p:txBody>
          <a:bodyPr>
            <a:spAutoFit/>
          </a:bodyPr>
          <a:lstStyle/>
          <a:p>
            <a:pPr algn="ctr"/>
            <a:r>
              <a:rPr lang="en-US" sz="1050" dirty="0">
                <a:latin typeface="Amazon Ember" panose="02000000000000000000" pitchFamily="2" charset="0"/>
                <a:ea typeface="Amazon Ember" panose="02000000000000000000" pitchFamily="2" charset="0"/>
                <a:cs typeface="Helvetica Neue"/>
              </a:rPr>
              <a:t>EC2 instance with CloudWatch</a:t>
            </a:r>
          </a:p>
          <a:p>
            <a:pPr algn="ctr"/>
            <a:r>
              <a:rPr lang="en-US" sz="1050" dirty="0">
                <a:latin typeface="Amazon Ember" panose="02000000000000000000" pitchFamily="2" charset="0"/>
                <a:ea typeface="Amazon Ember" panose="02000000000000000000" pitchFamily="2" charset="0"/>
                <a:cs typeface="Helvetica Neue"/>
              </a:rPr>
              <a:t>Detailed Monitoring</a:t>
            </a:r>
          </a:p>
        </p:txBody>
      </p:sp>
      <p:pic>
        <p:nvPicPr>
          <p:cNvPr id="2050" name="Picture 2" descr="Analysis, analytic, dashboard, log, user, web, weblog icon">
            <a:extLst>
              <a:ext uri="{FF2B5EF4-FFF2-40B4-BE49-F238E27FC236}">
                <a16:creationId xmlns:a16="http://schemas.microsoft.com/office/drawing/2014/main" id="{56522149-B070-4DDE-AC23-0A89DB85B5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36460" y="803696"/>
            <a:ext cx="1113435" cy="1113435"/>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Connector: Elbow 30">
            <a:extLst>
              <a:ext uri="{FF2B5EF4-FFF2-40B4-BE49-F238E27FC236}">
                <a16:creationId xmlns:a16="http://schemas.microsoft.com/office/drawing/2014/main" id="{A752459B-A6F7-4764-8FBD-D578935F6240}"/>
              </a:ext>
            </a:extLst>
          </p:cNvPr>
          <p:cNvCxnSpPr/>
          <p:nvPr/>
        </p:nvCxnSpPr>
        <p:spPr>
          <a:xfrm>
            <a:off x="5875158" y="3730333"/>
            <a:ext cx="4405523" cy="644236"/>
          </a:xfrm>
          <a:prstGeom prst="bentConnector3">
            <a:avLst>
              <a:gd name="adj1" fmla="val -3"/>
            </a:avLst>
          </a:prstGeom>
          <a:ln w="28575">
            <a:tailEnd type="triangle"/>
          </a:ln>
        </p:spPr>
        <p:style>
          <a:lnRef idx="3">
            <a:schemeClr val="accent1"/>
          </a:lnRef>
          <a:fillRef idx="0">
            <a:schemeClr val="accent1"/>
          </a:fillRef>
          <a:effectRef idx="2">
            <a:schemeClr val="accent1"/>
          </a:effectRef>
          <a:fontRef idx="minor">
            <a:schemeClr val="tx1"/>
          </a:fontRef>
        </p:style>
      </p:cxnSp>
      <p:pic>
        <p:nvPicPr>
          <p:cNvPr id="2052" name="Picture 4" descr="Icon request: Logs-file · Issue #15232 · FortAwesome/Font-Awesome ...">
            <a:extLst>
              <a:ext uri="{FF2B5EF4-FFF2-40B4-BE49-F238E27FC236}">
                <a16:creationId xmlns:a16="http://schemas.microsoft.com/office/drawing/2014/main" id="{959E8FED-F10E-4C16-9F51-C5ACC6EA7B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17226" y="3995339"/>
            <a:ext cx="868285" cy="868285"/>
          </a:xfrm>
          <a:prstGeom prst="rect">
            <a:avLst/>
          </a:prstGeom>
          <a:noFill/>
          <a:extLst>
            <a:ext uri="{909E8E84-426E-40DD-AFC4-6F175D3DCCD1}">
              <a14:hiddenFill xmlns:a14="http://schemas.microsoft.com/office/drawing/2010/main">
                <a:solidFill>
                  <a:srgbClr val="FFFFFF"/>
                </a:solidFill>
              </a14:hiddenFill>
            </a:ext>
          </a:extLst>
        </p:spPr>
      </p:pic>
      <p:cxnSp>
        <p:nvCxnSpPr>
          <p:cNvPr id="2051" name="Connector: Elbow 2050">
            <a:extLst>
              <a:ext uri="{FF2B5EF4-FFF2-40B4-BE49-F238E27FC236}">
                <a16:creationId xmlns:a16="http://schemas.microsoft.com/office/drawing/2014/main" id="{FD21D482-039D-44D1-B048-3D1AFB1F6DD0}"/>
              </a:ext>
            </a:extLst>
          </p:cNvPr>
          <p:cNvCxnSpPr>
            <a:cxnSpLocks/>
            <a:stCxn id="10" idx="0"/>
          </p:cNvCxnSpPr>
          <p:nvPr/>
        </p:nvCxnSpPr>
        <p:spPr>
          <a:xfrm rot="5400000" flipH="1" flipV="1">
            <a:off x="7476719" y="-267342"/>
            <a:ext cx="1000154" cy="4103700"/>
          </a:xfrm>
          <a:prstGeom prst="bentConnector2">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28" name="Picture 4">
            <a:extLst>
              <a:ext uri="{FF2B5EF4-FFF2-40B4-BE49-F238E27FC236}">
                <a16:creationId xmlns:a16="http://schemas.microsoft.com/office/drawing/2014/main" id="{3E7CAA5A-3BDD-42FC-AEB2-CCB570F19C7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0006" t="63296" r="28305" b="7192"/>
          <a:stretch/>
        </p:blipFill>
        <p:spPr bwMode="auto">
          <a:xfrm>
            <a:off x="10394697" y="5301170"/>
            <a:ext cx="1658393" cy="89569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mazon CloudWatch Events | Noise">
            <a:extLst>
              <a:ext uri="{FF2B5EF4-FFF2-40B4-BE49-F238E27FC236}">
                <a16:creationId xmlns:a16="http://schemas.microsoft.com/office/drawing/2014/main" id="{A9F7BC76-5A71-485A-BC2C-6E52772D768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3425" t="6616" r="80705" b="74448"/>
          <a:stretch/>
        </p:blipFill>
        <p:spPr bwMode="auto">
          <a:xfrm>
            <a:off x="7301209" y="5277274"/>
            <a:ext cx="982307" cy="89569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F3DE136D-2D63-41A9-89A2-19B5DB33051F}"/>
              </a:ext>
            </a:extLst>
          </p:cNvPr>
          <p:cNvSpPr txBox="1"/>
          <p:nvPr/>
        </p:nvSpPr>
        <p:spPr>
          <a:xfrm>
            <a:off x="7029030" y="6196862"/>
            <a:ext cx="1580894" cy="738664"/>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Daily 8 PM Event Trigger</a:t>
            </a:r>
          </a:p>
          <a:p>
            <a:pPr algn="ctr"/>
            <a:r>
              <a:rPr lang="en-US" sz="1200" dirty="0">
                <a:latin typeface="Amazon Ember" panose="02000000000000000000" pitchFamily="2" charset="0"/>
                <a:ea typeface="Amazon Ember" panose="02000000000000000000" pitchFamily="2" charset="0"/>
                <a:cs typeface="Helvetica Neue"/>
              </a:rPr>
              <a:t>(Scheduled Event Rule) </a:t>
            </a:r>
          </a:p>
        </p:txBody>
      </p:sp>
      <p:cxnSp>
        <p:nvCxnSpPr>
          <p:cNvPr id="20" name="Connector: Elbow 19">
            <a:extLst>
              <a:ext uri="{FF2B5EF4-FFF2-40B4-BE49-F238E27FC236}">
                <a16:creationId xmlns:a16="http://schemas.microsoft.com/office/drawing/2014/main" id="{E7181252-0D7A-40C1-A05F-1C1599F7438E}"/>
              </a:ext>
            </a:extLst>
          </p:cNvPr>
          <p:cNvCxnSpPr>
            <a:stCxn id="11" idx="2"/>
            <a:endCxn id="1032" idx="1"/>
          </p:cNvCxnSpPr>
          <p:nvPr/>
        </p:nvCxnSpPr>
        <p:spPr>
          <a:xfrm rot="16200000" flipH="1">
            <a:off x="5542232" y="3966143"/>
            <a:ext cx="2091904" cy="1426050"/>
          </a:xfrm>
          <a:prstGeom prst="bentConnector2">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0560E8DF-BDA3-4EAE-B9A6-B52CEC9700BA}"/>
              </a:ext>
            </a:extLst>
          </p:cNvPr>
          <p:cNvCxnSpPr>
            <a:stCxn id="1032" idx="3"/>
          </p:cNvCxnSpPr>
          <p:nvPr/>
        </p:nvCxnSpPr>
        <p:spPr>
          <a:xfrm>
            <a:off x="8283516" y="5725120"/>
            <a:ext cx="19971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92EDDEE-E759-4198-B4FB-E9AEF52BCE48}"/>
              </a:ext>
            </a:extLst>
          </p:cNvPr>
          <p:cNvSpPr txBox="1"/>
          <p:nvPr/>
        </p:nvSpPr>
        <p:spPr>
          <a:xfrm>
            <a:off x="10414257" y="6257367"/>
            <a:ext cx="1580894" cy="553998"/>
          </a:xfrm>
          <a:prstGeom prst="rect">
            <a:avLst/>
          </a:prstGeom>
          <a:noFill/>
        </p:spPr>
        <p:txBody>
          <a:bodyPr wrap="square" lIns="0" tIns="0" rIns="0" bIns="0" rtlCol="0">
            <a:spAutoFit/>
          </a:bodyPr>
          <a:lstStyle/>
          <a:p>
            <a:pPr algn="ctr"/>
            <a:r>
              <a:rPr lang="en-US" sz="1200" dirty="0">
                <a:latin typeface="Amazon Ember" panose="02000000000000000000" pitchFamily="2" charset="0"/>
                <a:ea typeface="Amazon Ember" panose="02000000000000000000" pitchFamily="2" charset="0"/>
                <a:cs typeface="Helvetica Neue"/>
              </a:rPr>
              <a:t>Lambda - Scheduled Shutdown of EC2 instance</a:t>
            </a:r>
          </a:p>
        </p:txBody>
      </p:sp>
    </p:spTree>
    <p:extLst>
      <p:ext uri="{BB962C8B-B14F-4D97-AF65-F5344CB8AC3E}">
        <p14:creationId xmlns:p14="http://schemas.microsoft.com/office/powerpoint/2010/main" val="1959272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48EF3F-A591-4357-9CCD-7B2DEA09E2C6}"/>
              </a:ext>
            </a:extLst>
          </p:cNvPr>
          <p:cNvSpPr>
            <a:spLocks noGrp="1"/>
          </p:cNvSpPr>
          <p:nvPr>
            <p:ph type="ftr" sz="quarter" idx="16"/>
          </p:nvPr>
        </p:nvSpPr>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1867E4E8-7FC8-4C1D-9849-08A4C56EAAFD}"/>
              </a:ext>
            </a:extLst>
          </p:cNvPr>
          <p:cNvSpPr>
            <a:spLocks noGrp="1"/>
          </p:cNvSpPr>
          <p:nvPr>
            <p:ph type="sldNum" sz="quarter" idx="17"/>
          </p:nvPr>
        </p:nvSpPr>
        <p:spPr/>
        <p:txBody>
          <a:bodyPr/>
          <a:lstStyle/>
          <a:p>
            <a:fld id="{4F9AC08D-23A9-440E-BCB9-AA1E9877CC38}" type="slidenum">
              <a:rPr lang="en-US" smtClean="0"/>
              <a:pPr/>
              <a:t>8</a:t>
            </a:fld>
            <a:endParaRPr lang="en-US" dirty="0"/>
          </a:p>
        </p:txBody>
      </p:sp>
      <p:sp>
        <p:nvSpPr>
          <p:cNvPr id="4" name="Title 3">
            <a:extLst>
              <a:ext uri="{FF2B5EF4-FFF2-40B4-BE49-F238E27FC236}">
                <a16:creationId xmlns:a16="http://schemas.microsoft.com/office/drawing/2014/main" id="{08B53EF1-BD78-4DF9-A708-2C0085C36F4B}"/>
              </a:ext>
            </a:extLst>
          </p:cNvPr>
          <p:cNvSpPr>
            <a:spLocks noGrp="1"/>
          </p:cNvSpPr>
          <p:nvPr>
            <p:ph type="title"/>
          </p:nvPr>
        </p:nvSpPr>
        <p:spPr/>
        <p:txBody>
          <a:bodyPr/>
          <a:lstStyle/>
          <a:p>
            <a:r>
              <a:rPr lang="en-IN" dirty="0">
                <a:solidFill>
                  <a:schemeClr val="bg1"/>
                </a:solidFill>
              </a:rPr>
              <a:t>Cloud trail</a:t>
            </a:r>
            <a:endParaRPr lang="en-US" dirty="0"/>
          </a:p>
        </p:txBody>
      </p:sp>
      <p:sp>
        <p:nvSpPr>
          <p:cNvPr id="7" name="Rectangle 6">
            <a:extLst>
              <a:ext uri="{FF2B5EF4-FFF2-40B4-BE49-F238E27FC236}">
                <a16:creationId xmlns:a16="http://schemas.microsoft.com/office/drawing/2014/main" id="{226FEA4D-3D8D-466C-BCE9-165D51CD43F7}"/>
              </a:ext>
            </a:extLst>
          </p:cNvPr>
          <p:cNvSpPr/>
          <p:nvPr/>
        </p:nvSpPr>
        <p:spPr>
          <a:xfrm>
            <a:off x="450005" y="1235764"/>
            <a:ext cx="6135852" cy="5078313"/>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Log, continuously monitor, and retain account activity related to actions across your AWS infrastructure</a:t>
            </a:r>
          </a:p>
          <a:p>
            <a:pPr marL="285750" indent="-285750">
              <a:lnSpc>
                <a:spcPct val="150000"/>
              </a:lnSpc>
              <a:buFont typeface="Arial" panose="020B0604020202020204" pitchFamily="34" charset="0"/>
              <a:buChar char="•"/>
            </a:pPr>
            <a:r>
              <a:rPr lang="en-US" dirty="0">
                <a:solidFill>
                  <a:srgbClr val="18537D"/>
                </a:solidFill>
              </a:rPr>
              <a:t>Supported for a growing number of AWS services</a:t>
            </a:r>
          </a:p>
          <a:p>
            <a:pPr marL="285750" indent="-285750">
              <a:lnSpc>
                <a:spcPct val="150000"/>
              </a:lnSpc>
              <a:buFont typeface="Arial" panose="020B0604020202020204" pitchFamily="34" charset="0"/>
              <a:buChar char="•"/>
            </a:pPr>
            <a:r>
              <a:rPr lang="en-US" dirty="0">
                <a:solidFill>
                  <a:srgbClr val="18537D"/>
                </a:solidFill>
              </a:rPr>
              <a:t>A number of AWS partners integrate with CloudTrail</a:t>
            </a:r>
          </a:p>
          <a:p>
            <a:pPr marL="285750" indent="-285750">
              <a:lnSpc>
                <a:spcPct val="150000"/>
              </a:lnSpc>
              <a:buFont typeface="Arial" panose="020B0604020202020204" pitchFamily="34" charset="0"/>
              <a:buChar char="•"/>
            </a:pPr>
            <a:r>
              <a:rPr lang="en-US" dirty="0">
                <a:solidFill>
                  <a:srgbClr val="18537D"/>
                </a:solidFill>
              </a:rPr>
              <a:t>Records API calls (including Console) for most major AWS services</a:t>
            </a:r>
          </a:p>
          <a:p>
            <a:pPr marL="285750" indent="-285750">
              <a:lnSpc>
                <a:spcPct val="150000"/>
              </a:lnSpc>
              <a:buFont typeface="Arial" panose="020B0604020202020204" pitchFamily="34" charset="0"/>
              <a:buChar char="•"/>
            </a:pPr>
            <a:r>
              <a:rPr lang="en-US" dirty="0">
                <a:solidFill>
                  <a:srgbClr val="18537D"/>
                </a:solidFill>
              </a:rPr>
              <a:t>Automatically pushes logs to Amazon S3 once configured</a:t>
            </a:r>
          </a:p>
          <a:p>
            <a:endParaRPr lang="en-US" dirty="0"/>
          </a:p>
          <a:p>
            <a:endParaRPr lang="en-US" dirty="0"/>
          </a:p>
          <a:p>
            <a:pPr marL="285750" indent="-285750">
              <a:buFont typeface="Arial" panose="020B0604020202020204" pitchFamily="34" charset="0"/>
              <a:buChar char="•"/>
            </a:pPr>
            <a:endParaRPr lang="en-US" dirty="0"/>
          </a:p>
        </p:txBody>
      </p:sp>
      <p:pic>
        <p:nvPicPr>
          <p:cNvPr id="2050" name="Picture 2" descr="Introduction to CloudTrail - AWS Tools for PowerShell 6">
            <a:extLst>
              <a:ext uri="{FF2B5EF4-FFF2-40B4-BE49-F238E27FC236}">
                <a16:creationId xmlns:a16="http://schemas.microsoft.com/office/drawing/2014/main" id="{8F511D0D-B8C9-4BB7-82D5-F79EA45FD0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262" y="1627563"/>
            <a:ext cx="7819541" cy="3715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29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0AAF9A-B892-4BCA-841A-4410F247BA6A}"/>
              </a:ext>
            </a:extLst>
          </p:cNvPr>
          <p:cNvSpPr>
            <a:spLocks noGrp="1"/>
          </p:cNvSpPr>
          <p:nvPr>
            <p:ph type="ftr" sz="quarter" idx="16"/>
          </p:nvPr>
        </p:nvSpPr>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6BBFD8AC-4FE1-4068-A85C-A9251198BFFE}"/>
              </a:ext>
            </a:extLst>
          </p:cNvPr>
          <p:cNvSpPr>
            <a:spLocks noGrp="1"/>
          </p:cNvSpPr>
          <p:nvPr>
            <p:ph type="sldNum" sz="quarter" idx="17"/>
          </p:nvPr>
        </p:nvSpPr>
        <p:spPr/>
        <p:txBody>
          <a:bodyPr/>
          <a:lstStyle/>
          <a:p>
            <a:fld id="{4F9AC08D-23A9-440E-BCB9-AA1E9877CC38}" type="slidenum">
              <a:rPr lang="en-US" smtClean="0"/>
              <a:pPr/>
              <a:t>9</a:t>
            </a:fld>
            <a:endParaRPr lang="en-US" dirty="0"/>
          </a:p>
        </p:txBody>
      </p:sp>
      <p:sp>
        <p:nvSpPr>
          <p:cNvPr id="4" name="Title 3">
            <a:extLst>
              <a:ext uri="{FF2B5EF4-FFF2-40B4-BE49-F238E27FC236}">
                <a16:creationId xmlns:a16="http://schemas.microsoft.com/office/drawing/2014/main" id="{132483E0-35A2-423D-B6EB-756740364B01}"/>
              </a:ext>
            </a:extLst>
          </p:cNvPr>
          <p:cNvSpPr>
            <a:spLocks noGrp="1"/>
          </p:cNvSpPr>
          <p:nvPr>
            <p:ph type="title"/>
          </p:nvPr>
        </p:nvSpPr>
        <p:spPr/>
        <p:txBody>
          <a:bodyPr/>
          <a:lstStyle/>
          <a:p>
            <a:r>
              <a:rPr lang="en-US" dirty="0">
                <a:solidFill>
                  <a:schemeClr val="bg1"/>
                </a:solidFill>
              </a:rPr>
              <a:t>CloudTrail</a:t>
            </a:r>
          </a:p>
        </p:txBody>
      </p:sp>
      <p:sp>
        <p:nvSpPr>
          <p:cNvPr id="5" name="Rectangle 4">
            <a:extLst>
              <a:ext uri="{FF2B5EF4-FFF2-40B4-BE49-F238E27FC236}">
                <a16:creationId xmlns:a16="http://schemas.microsoft.com/office/drawing/2014/main" id="{A1DEC00F-7C07-4E49-90E7-53DB7CBD4291}"/>
              </a:ext>
            </a:extLst>
          </p:cNvPr>
          <p:cNvSpPr/>
          <p:nvPr/>
        </p:nvSpPr>
        <p:spPr>
          <a:xfrm>
            <a:off x="630562" y="1291332"/>
            <a:ext cx="9733085" cy="2308324"/>
          </a:xfrm>
          <a:prstGeom prst="rect">
            <a:avLst/>
          </a:prstGeom>
        </p:spPr>
        <p:txBody>
          <a:bodyPr wrap="square">
            <a:spAutoFit/>
          </a:bodyPr>
          <a:lstStyle/>
          <a:p>
            <a:r>
              <a:rPr lang="en-US" b="1" dirty="0">
                <a:solidFill>
                  <a:srgbClr val="18537D"/>
                </a:solidFill>
              </a:rPr>
              <a:t>AWS CloudTrail can help you answer questions requiring detailed analysis</a:t>
            </a:r>
          </a:p>
          <a:p>
            <a:pPr marL="285750" indent="-285750">
              <a:lnSpc>
                <a:spcPct val="150000"/>
              </a:lnSpc>
              <a:buFont typeface="Arial" panose="020B0604020202020204" pitchFamily="34" charset="0"/>
              <a:buChar char="•"/>
            </a:pPr>
            <a:r>
              <a:rPr lang="en-US" dirty="0">
                <a:solidFill>
                  <a:srgbClr val="18537D"/>
                </a:solidFill>
              </a:rPr>
              <a:t>Who shut down a specific instance?</a:t>
            </a:r>
          </a:p>
          <a:p>
            <a:pPr marL="285750" indent="-285750">
              <a:lnSpc>
                <a:spcPct val="150000"/>
              </a:lnSpc>
              <a:buFont typeface="Arial" panose="020B0604020202020204" pitchFamily="34" charset="0"/>
              <a:buChar char="•"/>
            </a:pPr>
            <a:r>
              <a:rPr lang="en-US" dirty="0">
                <a:solidFill>
                  <a:srgbClr val="18537D"/>
                </a:solidFill>
              </a:rPr>
              <a:t>Who changed a security group configuration? </a:t>
            </a:r>
          </a:p>
          <a:p>
            <a:pPr marL="285750" indent="-285750">
              <a:lnSpc>
                <a:spcPct val="150000"/>
              </a:lnSpc>
              <a:buFont typeface="Arial" panose="020B0604020202020204" pitchFamily="34" charset="0"/>
              <a:buChar char="•"/>
            </a:pPr>
            <a:r>
              <a:rPr lang="en-US" dirty="0">
                <a:solidFill>
                  <a:srgbClr val="18537D"/>
                </a:solidFill>
              </a:rPr>
              <a:t>Is any activity coming from an unknown IP address range?</a:t>
            </a:r>
          </a:p>
          <a:p>
            <a:pPr marL="285750" indent="-285750">
              <a:lnSpc>
                <a:spcPct val="150000"/>
              </a:lnSpc>
              <a:buFont typeface="Arial" panose="020B0604020202020204" pitchFamily="34" charset="0"/>
              <a:buChar char="•"/>
            </a:pPr>
            <a:r>
              <a:rPr lang="en-US" dirty="0">
                <a:solidFill>
                  <a:srgbClr val="18537D"/>
                </a:solidFill>
              </a:rPr>
              <a:t>What activities were denied due to lack of permissions?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7184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 Your team is performing load testing for an application. This application is making use of DynamoDB tables. They need to monitor the throughput for the table to ensure that the Consumed capacity does no go beyond the throughout capacity. Which of the following service would you use for this purpose?</a:t>
            </a:r>
          </a:p>
          <a:p>
            <a:pPr>
              <a:lnSpc>
                <a:spcPct val="150000"/>
              </a:lnSpc>
            </a:pPr>
            <a:endParaRPr lang="en-US" dirty="0">
              <a:solidFill>
                <a:srgbClr val="18537D"/>
              </a:solidFill>
            </a:endParaRPr>
          </a:p>
          <a:p>
            <a:pPr>
              <a:lnSpc>
                <a:spcPct val="150000"/>
              </a:lnSpc>
            </a:pPr>
            <a:r>
              <a:rPr lang="en-US" dirty="0">
                <a:solidFill>
                  <a:srgbClr val="18537D"/>
                </a:solidFill>
              </a:rPr>
              <a:t>a. AWS </a:t>
            </a:r>
            <a:r>
              <a:rPr lang="en-US" dirty="0" err="1">
                <a:solidFill>
                  <a:srgbClr val="18537D"/>
                </a:solidFill>
              </a:rPr>
              <a:t>Cloudwatch</a:t>
            </a:r>
            <a:endParaRPr lang="en-US" dirty="0">
              <a:solidFill>
                <a:srgbClr val="18537D"/>
              </a:solidFill>
            </a:endParaRPr>
          </a:p>
          <a:p>
            <a:pPr>
              <a:lnSpc>
                <a:spcPct val="150000"/>
              </a:lnSpc>
            </a:pPr>
            <a:r>
              <a:rPr lang="en-US" dirty="0">
                <a:solidFill>
                  <a:srgbClr val="18537D"/>
                </a:solidFill>
              </a:rPr>
              <a:t>b. AWS </a:t>
            </a:r>
            <a:r>
              <a:rPr lang="en-US" dirty="0" err="1">
                <a:solidFill>
                  <a:srgbClr val="18537D"/>
                </a:solidFill>
              </a:rPr>
              <a:t>Cloudtrail</a:t>
            </a:r>
            <a:endParaRPr lang="en-US" dirty="0">
              <a:solidFill>
                <a:srgbClr val="18537D"/>
              </a:solidFill>
            </a:endParaRPr>
          </a:p>
          <a:p>
            <a:pPr>
              <a:lnSpc>
                <a:spcPct val="150000"/>
              </a:lnSpc>
            </a:pPr>
            <a:r>
              <a:rPr lang="en-US" dirty="0">
                <a:solidFill>
                  <a:srgbClr val="18537D"/>
                </a:solidFill>
              </a:rPr>
              <a:t>c. AWS SQS</a:t>
            </a:r>
          </a:p>
          <a:p>
            <a:pPr>
              <a:lnSpc>
                <a:spcPct val="150000"/>
              </a:lnSpc>
            </a:pPr>
            <a:r>
              <a:rPr lang="en-US" dirty="0">
                <a:solidFill>
                  <a:srgbClr val="18537D"/>
                </a:solidFill>
              </a:rPr>
              <a:t>d. AWS SNS</a:t>
            </a:r>
          </a:p>
        </p:txBody>
      </p:sp>
    </p:spTree>
    <p:extLst>
      <p:ext uri="{BB962C8B-B14F-4D97-AF65-F5344CB8AC3E}">
        <p14:creationId xmlns:p14="http://schemas.microsoft.com/office/powerpoint/2010/main" val="1185873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 Your team is performing load testing for an application. This application is making use of DynamoDB tables. They need to </a:t>
            </a:r>
            <a:r>
              <a:rPr lang="en-US" b="1" dirty="0">
                <a:solidFill>
                  <a:srgbClr val="18537D"/>
                </a:solidFill>
              </a:rPr>
              <a:t>monitor the throughput for the table </a:t>
            </a:r>
            <a:r>
              <a:rPr lang="en-US" dirty="0">
                <a:solidFill>
                  <a:srgbClr val="18537D"/>
                </a:solidFill>
              </a:rPr>
              <a:t>to ensure that the </a:t>
            </a:r>
            <a:r>
              <a:rPr lang="en-US" b="1" dirty="0">
                <a:solidFill>
                  <a:srgbClr val="18537D"/>
                </a:solidFill>
              </a:rPr>
              <a:t>Consumed capacity does no go beyond the throughout capacity</a:t>
            </a:r>
            <a:r>
              <a:rPr lang="en-US" dirty="0">
                <a:solidFill>
                  <a:srgbClr val="18537D"/>
                </a:solidFill>
              </a:rPr>
              <a:t>. Which of the following service would you use for this purpose?</a:t>
            </a:r>
          </a:p>
          <a:p>
            <a:pPr>
              <a:lnSpc>
                <a:spcPct val="150000"/>
              </a:lnSpc>
            </a:pPr>
            <a:endParaRPr lang="en-US" dirty="0">
              <a:solidFill>
                <a:srgbClr val="18537D"/>
              </a:solidFill>
            </a:endParaRPr>
          </a:p>
          <a:p>
            <a:pPr>
              <a:lnSpc>
                <a:spcPct val="150000"/>
              </a:lnSpc>
            </a:pPr>
            <a:r>
              <a:rPr lang="en-US" b="1" dirty="0">
                <a:solidFill>
                  <a:srgbClr val="18537D"/>
                </a:solidFill>
              </a:rPr>
              <a:t>a. AWS </a:t>
            </a:r>
            <a:r>
              <a:rPr lang="en-US" b="1" dirty="0" err="1">
                <a:solidFill>
                  <a:srgbClr val="18537D"/>
                </a:solidFill>
              </a:rPr>
              <a:t>Cloudwatch</a:t>
            </a:r>
            <a:endParaRPr lang="en-US" b="1" dirty="0">
              <a:solidFill>
                <a:srgbClr val="18537D"/>
              </a:solidFill>
            </a:endParaRPr>
          </a:p>
          <a:p>
            <a:pPr>
              <a:lnSpc>
                <a:spcPct val="150000"/>
              </a:lnSpc>
            </a:pPr>
            <a:r>
              <a:rPr lang="en-US" dirty="0">
                <a:solidFill>
                  <a:srgbClr val="18537D"/>
                </a:solidFill>
              </a:rPr>
              <a:t>b. AWS </a:t>
            </a:r>
            <a:r>
              <a:rPr lang="en-US" dirty="0" err="1">
                <a:solidFill>
                  <a:srgbClr val="18537D"/>
                </a:solidFill>
              </a:rPr>
              <a:t>Cloudtrail</a:t>
            </a:r>
            <a:endParaRPr lang="en-US" dirty="0">
              <a:solidFill>
                <a:srgbClr val="18537D"/>
              </a:solidFill>
            </a:endParaRPr>
          </a:p>
          <a:p>
            <a:pPr>
              <a:lnSpc>
                <a:spcPct val="150000"/>
              </a:lnSpc>
            </a:pPr>
            <a:r>
              <a:rPr lang="en-US" dirty="0">
                <a:solidFill>
                  <a:srgbClr val="18537D"/>
                </a:solidFill>
              </a:rPr>
              <a:t>c. AWS SQS</a:t>
            </a:r>
          </a:p>
          <a:p>
            <a:pPr>
              <a:lnSpc>
                <a:spcPct val="150000"/>
              </a:lnSpc>
            </a:pPr>
            <a:r>
              <a:rPr lang="en-US" dirty="0">
                <a:solidFill>
                  <a:srgbClr val="18537D"/>
                </a:solidFill>
              </a:rPr>
              <a:t>d. AWS SNS</a:t>
            </a:r>
          </a:p>
        </p:txBody>
      </p:sp>
    </p:spTree>
    <p:extLst>
      <p:ext uri="{BB962C8B-B14F-4D97-AF65-F5344CB8AC3E}">
        <p14:creationId xmlns:p14="http://schemas.microsoft.com/office/powerpoint/2010/main" val="4053446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Change management procedures at an organization require that a log is kept recording activity within AWS</a:t>
            </a:r>
          </a:p>
          <a:p>
            <a:pPr>
              <a:lnSpc>
                <a:spcPct val="150000"/>
              </a:lnSpc>
            </a:pPr>
            <a:r>
              <a:rPr lang="en-US" dirty="0">
                <a:solidFill>
                  <a:srgbClr val="18537D"/>
                </a:solidFill>
              </a:rPr>
              <a:t>accounts. The activity that must be recorded includes </a:t>
            </a:r>
            <a:r>
              <a:rPr lang="en-US" b="1" dirty="0">
                <a:solidFill>
                  <a:srgbClr val="18537D"/>
                </a:solidFill>
              </a:rPr>
              <a:t>API activity related to creating, modifying or deleting</a:t>
            </a:r>
          </a:p>
          <a:p>
            <a:pPr>
              <a:lnSpc>
                <a:spcPct val="150000"/>
              </a:lnSpc>
            </a:pPr>
            <a:r>
              <a:rPr lang="en-US" b="1" dirty="0">
                <a:solidFill>
                  <a:srgbClr val="18537D"/>
                </a:solidFill>
              </a:rPr>
              <a:t>AWS resources. </a:t>
            </a:r>
            <a:r>
              <a:rPr lang="en-US" dirty="0">
                <a:solidFill>
                  <a:srgbClr val="18537D"/>
                </a:solidFill>
              </a:rPr>
              <a:t>Which AWS service should be used to record this information?</a:t>
            </a:r>
          </a:p>
          <a:p>
            <a:pPr>
              <a:lnSpc>
                <a:spcPct val="150000"/>
              </a:lnSpc>
            </a:pPr>
            <a:endParaRPr lang="en-US" dirty="0">
              <a:solidFill>
                <a:srgbClr val="18537D"/>
              </a:solidFill>
            </a:endParaRPr>
          </a:p>
          <a:p>
            <a:pPr>
              <a:lnSpc>
                <a:spcPct val="150000"/>
              </a:lnSpc>
            </a:pPr>
            <a:r>
              <a:rPr lang="en-US" dirty="0">
                <a:solidFill>
                  <a:srgbClr val="18537D"/>
                </a:solidFill>
              </a:rPr>
              <a:t>a. Amazon CloudWatch</a:t>
            </a:r>
          </a:p>
          <a:p>
            <a:pPr>
              <a:lnSpc>
                <a:spcPct val="150000"/>
              </a:lnSpc>
            </a:pPr>
            <a:r>
              <a:rPr lang="en-US" dirty="0">
                <a:solidFill>
                  <a:srgbClr val="18537D"/>
                </a:solidFill>
              </a:rPr>
              <a:t>b. Amazon CloudTrail</a:t>
            </a:r>
          </a:p>
          <a:p>
            <a:pPr>
              <a:lnSpc>
                <a:spcPct val="150000"/>
              </a:lnSpc>
            </a:pPr>
            <a:r>
              <a:rPr lang="en-US" dirty="0">
                <a:solidFill>
                  <a:srgbClr val="18537D"/>
                </a:solidFill>
              </a:rPr>
              <a:t>c. AWS X-Ray</a:t>
            </a:r>
          </a:p>
          <a:p>
            <a:pPr>
              <a:lnSpc>
                <a:spcPct val="150000"/>
              </a:lnSpc>
            </a:pPr>
            <a:r>
              <a:rPr lang="en-US" dirty="0">
                <a:solidFill>
                  <a:srgbClr val="18537D"/>
                </a:solidFill>
              </a:rPr>
              <a:t>d. AWS </a:t>
            </a:r>
            <a:r>
              <a:rPr lang="en-US" dirty="0" err="1">
                <a:solidFill>
                  <a:srgbClr val="18537D"/>
                </a:solidFill>
              </a:rPr>
              <a:t>OpsWorks</a:t>
            </a:r>
            <a:endParaRPr lang="en-US" dirty="0">
              <a:solidFill>
                <a:srgbClr val="18537D"/>
              </a:solidFill>
            </a:endParaRPr>
          </a:p>
        </p:txBody>
      </p:sp>
    </p:spTree>
    <p:extLst>
      <p:ext uri="{BB962C8B-B14F-4D97-AF65-F5344CB8AC3E}">
        <p14:creationId xmlns:p14="http://schemas.microsoft.com/office/powerpoint/2010/main" val="2331984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Change management procedures at an organization require that a log is kept recording activity within AWS</a:t>
            </a:r>
          </a:p>
          <a:p>
            <a:pPr>
              <a:lnSpc>
                <a:spcPct val="150000"/>
              </a:lnSpc>
            </a:pPr>
            <a:r>
              <a:rPr lang="en-US" dirty="0">
                <a:solidFill>
                  <a:srgbClr val="18537D"/>
                </a:solidFill>
              </a:rPr>
              <a:t>accounts. The activity that must be recorded includes </a:t>
            </a:r>
            <a:r>
              <a:rPr lang="en-US" b="1" dirty="0">
                <a:solidFill>
                  <a:srgbClr val="18537D"/>
                </a:solidFill>
              </a:rPr>
              <a:t>API activity related to creating, modifying or deleting</a:t>
            </a:r>
          </a:p>
          <a:p>
            <a:pPr>
              <a:lnSpc>
                <a:spcPct val="150000"/>
              </a:lnSpc>
            </a:pPr>
            <a:r>
              <a:rPr lang="en-US" b="1" dirty="0">
                <a:solidFill>
                  <a:srgbClr val="18537D"/>
                </a:solidFill>
              </a:rPr>
              <a:t>AWS resources. </a:t>
            </a:r>
            <a:r>
              <a:rPr lang="en-US" dirty="0">
                <a:solidFill>
                  <a:srgbClr val="18537D"/>
                </a:solidFill>
              </a:rPr>
              <a:t>Which AWS service should be used to record this information?</a:t>
            </a:r>
          </a:p>
          <a:p>
            <a:pPr>
              <a:lnSpc>
                <a:spcPct val="150000"/>
              </a:lnSpc>
            </a:pPr>
            <a:endParaRPr lang="en-US" dirty="0">
              <a:solidFill>
                <a:srgbClr val="18537D"/>
              </a:solidFill>
            </a:endParaRPr>
          </a:p>
          <a:p>
            <a:pPr>
              <a:lnSpc>
                <a:spcPct val="150000"/>
              </a:lnSpc>
            </a:pPr>
            <a:r>
              <a:rPr lang="en-US" dirty="0">
                <a:solidFill>
                  <a:srgbClr val="18537D"/>
                </a:solidFill>
              </a:rPr>
              <a:t>a. Amazon CloudWatch</a:t>
            </a:r>
          </a:p>
          <a:p>
            <a:pPr>
              <a:lnSpc>
                <a:spcPct val="150000"/>
              </a:lnSpc>
            </a:pPr>
            <a:r>
              <a:rPr lang="en-US" b="1" dirty="0">
                <a:solidFill>
                  <a:srgbClr val="18537D"/>
                </a:solidFill>
              </a:rPr>
              <a:t>b. Amazon CloudTrail</a:t>
            </a:r>
          </a:p>
          <a:p>
            <a:pPr>
              <a:lnSpc>
                <a:spcPct val="150000"/>
              </a:lnSpc>
            </a:pPr>
            <a:r>
              <a:rPr lang="en-US" dirty="0">
                <a:solidFill>
                  <a:srgbClr val="18537D"/>
                </a:solidFill>
              </a:rPr>
              <a:t>c. AWS X-Ray</a:t>
            </a:r>
          </a:p>
          <a:p>
            <a:pPr>
              <a:lnSpc>
                <a:spcPct val="150000"/>
              </a:lnSpc>
            </a:pPr>
            <a:r>
              <a:rPr lang="en-US" dirty="0">
                <a:solidFill>
                  <a:srgbClr val="18537D"/>
                </a:solidFill>
              </a:rPr>
              <a:t>d. AWS </a:t>
            </a:r>
            <a:r>
              <a:rPr lang="en-US" dirty="0" err="1">
                <a:solidFill>
                  <a:srgbClr val="18537D"/>
                </a:solidFill>
              </a:rPr>
              <a:t>OpsWorks</a:t>
            </a:r>
            <a:endParaRPr lang="en-US" dirty="0">
              <a:solidFill>
                <a:srgbClr val="18537D"/>
              </a:solidFill>
            </a:endParaRPr>
          </a:p>
        </p:txBody>
      </p:sp>
    </p:spTree>
    <p:extLst>
      <p:ext uri="{BB962C8B-B14F-4D97-AF65-F5344CB8AC3E}">
        <p14:creationId xmlns:p14="http://schemas.microsoft.com/office/powerpoint/2010/main" val="3991743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E13E5-8451-4DAF-A6E2-0CAB90022757}"/>
              </a:ext>
            </a:extLst>
          </p:cNvPr>
          <p:cNvSpPr>
            <a:spLocks noGrp="1"/>
          </p:cNvSpPr>
          <p:nvPr>
            <p:ph type="sldNum" sz="quarter" idx="17"/>
          </p:nvPr>
        </p:nvSpPr>
        <p:spPr/>
        <p:txBody>
          <a:bodyPr/>
          <a:lstStyle/>
          <a:p>
            <a:fld id="{4F9AC08D-23A9-440E-BCB9-AA1E9877CC38}" type="slidenum">
              <a:rPr lang="en-US" smtClean="0"/>
              <a:pPr/>
              <a:t>14</a:t>
            </a:fld>
            <a:endParaRPr lang="en-US" dirty="0"/>
          </a:p>
        </p:txBody>
      </p:sp>
      <p:sp>
        <p:nvSpPr>
          <p:cNvPr id="3" name="Title 2">
            <a:extLst>
              <a:ext uri="{FF2B5EF4-FFF2-40B4-BE49-F238E27FC236}">
                <a16:creationId xmlns:a16="http://schemas.microsoft.com/office/drawing/2014/main" id="{7BF0F7DF-C446-4B80-B1C0-5E042F84DA48}"/>
              </a:ext>
            </a:extLst>
          </p:cNvPr>
          <p:cNvSpPr>
            <a:spLocks noGrp="1"/>
          </p:cNvSpPr>
          <p:nvPr>
            <p:ph type="title"/>
          </p:nvPr>
        </p:nvSpPr>
        <p:spPr>
          <a:xfrm>
            <a:off x="450010" y="311474"/>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B97F6D41-67BC-4CEE-8515-851B394A3D89}"/>
              </a:ext>
            </a:extLst>
          </p:cNvPr>
          <p:cNvSpPr>
            <a:spLocks noGrp="1"/>
          </p:cNvSpPr>
          <p:nvPr>
            <p:ph type="ftr" sz="quarter" idx="16"/>
          </p:nvPr>
        </p:nvSpPr>
        <p:spPr/>
        <p:txBody>
          <a:bodyPr/>
          <a:lstStyle/>
          <a:p>
            <a:r>
              <a:rPr lang="en-US" dirty="0"/>
              <a:t>Copyright © 2020 Accenture. All rights reserved.</a:t>
            </a:r>
          </a:p>
        </p:txBody>
      </p:sp>
      <p:sp>
        <p:nvSpPr>
          <p:cNvPr id="5" name="Rectangle 4">
            <a:extLst>
              <a:ext uri="{FF2B5EF4-FFF2-40B4-BE49-F238E27FC236}">
                <a16:creationId xmlns:a16="http://schemas.microsoft.com/office/drawing/2014/main" id="{79DB0481-8FE7-407F-A7B7-D9E0921BF5B6}"/>
              </a:ext>
            </a:extLst>
          </p:cNvPr>
          <p:cNvSpPr/>
          <p:nvPr/>
        </p:nvSpPr>
        <p:spPr>
          <a:xfrm>
            <a:off x="552450" y="1069881"/>
            <a:ext cx="13037755" cy="4194803"/>
          </a:xfrm>
          <a:prstGeom prst="rect">
            <a:avLst/>
          </a:prstGeom>
        </p:spPr>
        <p:txBody>
          <a:bodyPr wrap="square">
            <a:spAutoFit/>
          </a:bodyPr>
          <a:lstStyle/>
          <a:p>
            <a:pPr>
              <a:lnSpc>
                <a:spcPct val="150000"/>
              </a:lnSpc>
            </a:pPr>
            <a:r>
              <a:rPr lang="en-US" dirty="0">
                <a:solidFill>
                  <a:srgbClr val="18537D"/>
                </a:solidFill>
              </a:rPr>
              <a:t>A Developer is writing a serverless application that will process data uploaded to a file share. The Developer</a:t>
            </a:r>
          </a:p>
          <a:p>
            <a:pPr>
              <a:lnSpc>
                <a:spcPct val="150000"/>
              </a:lnSpc>
            </a:pPr>
            <a:r>
              <a:rPr lang="en-US" dirty="0">
                <a:solidFill>
                  <a:srgbClr val="18537D"/>
                </a:solidFill>
              </a:rPr>
              <a:t>has created an </a:t>
            </a:r>
            <a:r>
              <a:rPr lang="en-US" b="1" dirty="0">
                <a:solidFill>
                  <a:srgbClr val="18537D"/>
                </a:solidFill>
              </a:rPr>
              <a:t>AWS Lambda function and requires the function to be invoked every 15 minutes to process</a:t>
            </a:r>
          </a:p>
          <a:p>
            <a:pPr>
              <a:lnSpc>
                <a:spcPct val="150000"/>
              </a:lnSpc>
            </a:pPr>
            <a:r>
              <a:rPr lang="en-US" b="1" dirty="0">
                <a:solidFill>
                  <a:srgbClr val="18537D"/>
                </a:solidFill>
              </a:rPr>
              <a:t>the data.</a:t>
            </a:r>
            <a:r>
              <a:rPr lang="en-US" dirty="0">
                <a:solidFill>
                  <a:srgbClr val="18537D"/>
                </a:solidFill>
              </a:rPr>
              <a:t> What is an automated and serverless way to trigger the function?</a:t>
            </a:r>
          </a:p>
          <a:p>
            <a:pPr>
              <a:lnSpc>
                <a:spcPct val="150000"/>
              </a:lnSpc>
            </a:pPr>
            <a:endParaRPr lang="en-US" dirty="0">
              <a:solidFill>
                <a:srgbClr val="18537D"/>
              </a:solidFill>
            </a:endParaRPr>
          </a:p>
          <a:p>
            <a:pPr>
              <a:lnSpc>
                <a:spcPct val="150000"/>
              </a:lnSpc>
            </a:pPr>
            <a:r>
              <a:rPr lang="en-US" dirty="0">
                <a:solidFill>
                  <a:srgbClr val="18537D"/>
                </a:solidFill>
              </a:rPr>
              <a:t>a. Deploy an Amazon EC2 instance based on Linux, and edit it’s /</a:t>
            </a:r>
            <a:r>
              <a:rPr lang="en-US" dirty="0" err="1">
                <a:solidFill>
                  <a:srgbClr val="18537D"/>
                </a:solidFill>
              </a:rPr>
              <a:t>etc</a:t>
            </a:r>
            <a:r>
              <a:rPr lang="en-US" dirty="0">
                <a:solidFill>
                  <a:srgbClr val="18537D"/>
                </a:solidFill>
              </a:rPr>
              <a:t>/crontab file by adding a command to</a:t>
            </a:r>
          </a:p>
          <a:p>
            <a:pPr>
              <a:lnSpc>
                <a:spcPct val="150000"/>
              </a:lnSpc>
            </a:pPr>
            <a:r>
              <a:rPr lang="en-US" dirty="0">
                <a:solidFill>
                  <a:srgbClr val="18537D"/>
                </a:solidFill>
              </a:rPr>
              <a:t>periodically invoke the Lambda function</a:t>
            </a:r>
          </a:p>
          <a:p>
            <a:pPr>
              <a:lnSpc>
                <a:spcPct val="150000"/>
              </a:lnSpc>
            </a:pPr>
            <a:r>
              <a:rPr lang="en-US" dirty="0">
                <a:solidFill>
                  <a:srgbClr val="18537D"/>
                </a:solidFill>
              </a:rPr>
              <a:t>b. Configure an environment variable named PERIOD for the Lambda function. Set the value at 600</a:t>
            </a:r>
          </a:p>
          <a:p>
            <a:pPr>
              <a:lnSpc>
                <a:spcPct val="150000"/>
              </a:lnSpc>
            </a:pPr>
            <a:r>
              <a:rPr lang="en-US" dirty="0">
                <a:solidFill>
                  <a:srgbClr val="18537D"/>
                </a:solidFill>
              </a:rPr>
              <a:t>c. Create an Amazon CloudWatch Events rule that triggers on a regular schedule to invoke the Lambda</a:t>
            </a:r>
          </a:p>
          <a:p>
            <a:pPr>
              <a:lnSpc>
                <a:spcPct val="150000"/>
              </a:lnSpc>
            </a:pPr>
            <a:r>
              <a:rPr lang="en-US" dirty="0">
                <a:solidFill>
                  <a:srgbClr val="18537D"/>
                </a:solidFill>
              </a:rPr>
              <a:t>function</a:t>
            </a:r>
          </a:p>
          <a:p>
            <a:pPr>
              <a:lnSpc>
                <a:spcPct val="150000"/>
              </a:lnSpc>
            </a:pPr>
            <a:r>
              <a:rPr lang="en-US" dirty="0">
                <a:solidFill>
                  <a:srgbClr val="18537D"/>
                </a:solidFill>
              </a:rPr>
              <a:t>d. Create an Amazon SNS topic that has a subscription to the Lambda function with a 600-second timer</a:t>
            </a:r>
          </a:p>
        </p:txBody>
      </p:sp>
    </p:spTree>
    <p:extLst>
      <p:ext uri="{BB962C8B-B14F-4D97-AF65-F5344CB8AC3E}">
        <p14:creationId xmlns:p14="http://schemas.microsoft.com/office/powerpoint/2010/main" val="3906410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E13E5-8451-4DAF-A6E2-0CAB90022757}"/>
              </a:ext>
            </a:extLst>
          </p:cNvPr>
          <p:cNvSpPr>
            <a:spLocks noGrp="1"/>
          </p:cNvSpPr>
          <p:nvPr>
            <p:ph type="sldNum" sz="quarter" idx="17"/>
          </p:nvPr>
        </p:nvSpPr>
        <p:spPr/>
        <p:txBody>
          <a:bodyPr/>
          <a:lstStyle/>
          <a:p>
            <a:fld id="{4F9AC08D-23A9-440E-BCB9-AA1E9877CC38}" type="slidenum">
              <a:rPr lang="en-US" smtClean="0"/>
              <a:pPr/>
              <a:t>15</a:t>
            </a:fld>
            <a:endParaRPr lang="en-US" dirty="0"/>
          </a:p>
        </p:txBody>
      </p:sp>
      <p:sp>
        <p:nvSpPr>
          <p:cNvPr id="3" name="Title 2">
            <a:extLst>
              <a:ext uri="{FF2B5EF4-FFF2-40B4-BE49-F238E27FC236}">
                <a16:creationId xmlns:a16="http://schemas.microsoft.com/office/drawing/2014/main" id="{7BF0F7DF-C446-4B80-B1C0-5E042F84DA48}"/>
              </a:ext>
            </a:extLst>
          </p:cNvPr>
          <p:cNvSpPr>
            <a:spLocks noGrp="1"/>
          </p:cNvSpPr>
          <p:nvPr>
            <p:ph type="title"/>
          </p:nvPr>
        </p:nvSpPr>
        <p:spPr>
          <a:xfrm>
            <a:off x="450010" y="311474"/>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B97F6D41-67BC-4CEE-8515-851B394A3D89}"/>
              </a:ext>
            </a:extLst>
          </p:cNvPr>
          <p:cNvSpPr>
            <a:spLocks noGrp="1"/>
          </p:cNvSpPr>
          <p:nvPr>
            <p:ph type="ftr" sz="quarter" idx="16"/>
          </p:nvPr>
        </p:nvSpPr>
        <p:spPr/>
        <p:txBody>
          <a:bodyPr/>
          <a:lstStyle/>
          <a:p>
            <a:r>
              <a:rPr lang="en-US" dirty="0"/>
              <a:t>Copyright © 2020 Accenture. All rights reserved.</a:t>
            </a:r>
          </a:p>
        </p:txBody>
      </p:sp>
      <p:sp>
        <p:nvSpPr>
          <p:cNvPr id="5" name="Rectangle 4">
            <a:extLst>
              <a:ext uri="{FF2B5EF4-FFF2-40B4-BE49-F238E27FC236}">
                <a16:creationId xmlns:a16="http://schemas.microsoft.com/office/drawing/2014/main" id="{79DB0481-8FE7-407F-A7B7-D9E0921BF5B6}"/>
              </a:ext>
            </a:extLst>
          </p:cNvPr>
          <p:cNvSpPr/>
          <p:nvPr/>
        </p:nvSpPr>
        <p:spPr>
          <a:xfrm>
            <a:off x="552450" y="1069881"/>
            <a:ext cx="13037755" cy="4194803"/>
          </a:xfrm>
          <a:prstGeom prst="rect">
            <a:avLst/>
          </a:prstGeom>
        </p:spPr>
        <p:txBody>
          <a:bodyPr wrap="square">
            <a:spAutoFit/>
          </a:bodyPr>
          <a:lstStyle/>
          <a:p>
            <a:pPr>
              <a:lnSpc>
                <a:spcPct val="150000"/>
              </a:lnSpc>
            </a:pPr>
            <a:r>
              <a:rPr lang="en-US" dirty="0">
                <a:solidFill>
                  <a:srgbClr val="18537D"/>
                </a:solidFill>
              </a:rPr>
              <a:t>A Developer is writing a serverless application that will process data uploaded to a file share. The Developer</a:t>
            </a:r>
          </a:p>
          <a:p>
            <a:pPr>
              <a:lnSpc>
                <a:spcPct val="150000"/>
              </a:lnSpc>
            </a:pPr>
            <a:r>
              <a:rPr lang="en-US" dirty="0">
                <a:solidFill>
                  <a:srgbClr val="18537D"/>
                </a:solidFill>
              </a:rPr>
              <a:t>has created an </a:t>
            </a:r>
            <a:r>
              <a:rPr lang="en-US" b="1" dirty="0">
                <a:solidFill>
                  <a:srgbClr val="18537D"/>
                </a:solidFill>
              </a:rPr>
              <a:t>AWS Lambda function and requires the function to be invoked every 15 minutes to process</a:t>
            </a:r>
          </a:p>
          <a:p>
            <a:pPr>
              <a:lnSpc>
                <a:spcPct val="150000"/>
              </a:lnSpc>
            </a:pPr>
            <a:r>
              <a:rPr lang="en-US" b="1" dirty="0">
                <a:solidFill>
                  <a:srgbClr val="18537D"/>
                </a:solidFill>
              </a:rPr>
              <a:t>the data.</a:t>
            </a:r>
            <a:r>
              <a:rPr lang="en-US" dirty="0">
                <a:solidFill>
                  <a:srgbClr val="18537D"/>
                </a:solidFill>
              </a:rPr>
              <a:t> What is an automated and serverless way to trigger the function?</a:t>
            </a:r>
          </a:p>
          <a:p>
            <a:pPr>
              <a:lnSpc>
                <a:spcPct val="150000"/>
              </a:lnSpc>
            </a:pPr>
            <a:endParaRPr lang="en-US" dirty="0">
              <a:solidFill>
                <a:srgbClr val="18537D"/>
              </a:solidFill>
            </a:endParaRPr>
          </a:p>
          <a:p>
            <a:pPr>
              <a:lnSpc>
                <a:spcPct val="150000"/>
              </a:lnSpc>
            </a:pPr>
            <a:r>
              <a:rPr lang="en-US" dirty="0">
                <a:solidFill>
                  <a:srgbClr val="18537D"/>
                </a:solidFill>
              </a:rPr>
              <a:t>a. Deploy an Amazon EC2 instance based on Linux, and edit it’s /</a:t>
            </a:r>
            <a:r>
              <a:rPr lang="en-US" dirty="0" err="1">
                <a:solidFill>
                  <a:srgbClr val="18537D"/>
                </a:solidFill>
              </a:rPr>
              <a:t>etc</a:t>
            </a:r>
            <a:r>
              <a:rPr lang="en-US" dirty="0">
                <a:solidFill>
                  <a:srgbClr val="18537D"/>
                </a:solidFill>
              </a:rPr>
              <a:t>/crontab file by adding a command to</a:t>
            </a:r>
          </a:p>
          <a:p>
            <a:pPr>
              <a:lnSpc>
                <a:spcPct val="150000"/>
              </a:lnSpc>
            </a:pPr>
            <a:r>
              <a:rPr lang="en-US" dirty="0">
                <a:solidFill>
                  <a:srgbClr val="18537D"/>
                </a:solidFill>
              </a:rPr>
              <a:t>periodically invoke the Lambda function</a:t>
            </a:r>
          </a:p>
          <a:p>
            <a:pPr>
              <a:lnSpc>
                <a:spcPct val="150000"/>
              </a:lnSpc>
            </a:pPr>
            <a:r>
              <a:rPr lang="en-US" dirty="0">
                <a:solidFill>
                  <a:srgbClr val="18537D"/>
                </a:solidFill>
              </a:rPr>
              <a:t>b. Configure an environment variable named PERIOD for the Lambda function. Set the value at 600</a:t>
            </a:r>
          </a:p>
          <a:p>
            <a:pPr>
              <a:lnSpc>
                <a:spcPct val="150000"/>
              </a:lnSpc>
            </a:pPr>
            <a:r>
              <a:rPr lang="en-US" dirty="0">
                <a:solidFill>
                  <a:srgbClr val="18537D"/>
                </a:solidFill>
              </a:rPr>
              <a:t>c.</a:t>
            </a:r>
            <a:r>
              <a:rPr lang="en-US" b="1" dirty="0">
                <a:solidFill>
                  <a:srgbClr val="18537D"/>
                </a:solidFill>
              </a:rPr>
              <a:t> Create an Amazon CloudWatch Events rule that triggers on a regular schedule to invoke the Lambda</a:t>
            </a:r>
          </a:p>
          <a:p>
            <a:pPr>
              <a:lnSpc>
                <a:spcPct val="150000"/>
              </a:lnSpc>
            </a:pPr>
            <a:r>
              <a:rPr lang="en-US" b="1" dirty="0">
                <a:solidFill>
                  <a:srgbClr val="18537D"/>
                </a:solidFill>
              </a:rPr>
              <a:t>function</a:t>
            </a:r>
          </a:p>
          <a:p>
            <a:pPr>
              <a:lnSpc>
                <a:spcPct val="150000"/>
              </a:lnSpc>
            </a:pPr>
            <a:r>
              <a:rPr lang="en-US" dirty="0">
                <a:solidFill>
                  <a:srgbClr val="18537D"/>
                </a:solidFill>
              </a:rPr>
              <a:t>d. Create an Amazon SNS topic that has a subscription to the Lambda function with a 600-second timer</a:t>
            </a:r>
          </a:p>
        </p:txBody>
      </p:sp>
    </p:spTree>
    <p:extLst>
      <p:ext uri="{BB962C8B-B14F-4D97-AF65-F5344CB8AC3E}">
        <p14:creationId xmlns:p14="http://schemas.microsoft.com/office/powerpoint/2010/main" val="194890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E13E5-8451-4DAF-A6E2-0CAB90022757}"/>
              </a:ext>
            </a:extLst>
          </p:cNvPr>
          <p:cNvSpPr>
            <a:spLocks noGrp="1"/>
          </p:cNvSpPr>
          <p:nvPr>
            <p:ph type="sldNum" sz="quarter" idx="17"/>
          </p:nvPr>
        </p:nvSpPr>
        <p:spPr/>
        <p:txBody>
          <a:bodyPr/>
          <a:lstStyle/>
          <a:p>
            <a:fld id="{4F9AC08D-23A9-440E-BCB9-AA1E9877CC38}" type="slidenum">
              <a:rPr lang="en-US" smtClean="0"/>
              <a:pPr/>
              <a:t>16</a:t>
            </a:fld>
            <a:endParaRPr lang="en-US" dirty="0"/>
          </a:p>
        </p:txBody>
      </p:sp>
      <p:sp>
        <p:nvSpPr>
          <p:cNvPr id="3" name="Title 2">
            <a:extLst>
              <a:ext uri="{FF2B5EF4-FFF2-40B4-BE49-F238E27FC236}">
                <a16:creationId xmlns:a16="http://schemas.microsoft.com/office/drawing/2014/main" id="{7BF0F7DF-C446-4B80-B1C0-5E042F84DA48}"/>
              </a:ext>
            </a:extLst>
          </p:cNvPr>
          <p:cNvSpPr>
            <a:spLocks noGrp="1"/>
          </p:cNvSpPr>
          <p:nvPr>
            <p:ph type="title"/>
          </p:nvPr>
        </p:nvSpPr>
        <p:spPr>
          <a:xfrm>
            <a:off x="450010" y="311474"/>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B97F6D41-67BC-4CEE-8515-851B394A3D89}"/>
              </a:ext>
            </a:extLst>
          </p:cNvPr>
          <p:cNvSpPr>
            <a:spLocks noGrp="1"/>
          </p:cNvSpPr>
          <p:nvPr>
            <p:ph type="ftr" sz="quarter" idx="16"/>
          </p:nvPr>
        </p:nvSpPr>
        <p:spPr/>
        <p:txBody>
          <a:bodyPr/>
          <a:lstStyle/>
          <a:p>
            <a:r>
              <a:rPr lang="en-US" dirty="0"/>
              <a:t>Copyright © 2020 Accenture. All rights reserved.</a:t>
            </a:r>
          </a:p>
        </p:txBody>
      </p:sp>
      <p:sp>
        <p:nvSpPr>
          <p:cNvPr id="5" name="Rectangle 4">
            <a:extLst>
              <a:ext uri="{FF2B5EF4-FFF2-40B4-BE49-F238E27FC236}">
                <a16:creationId xmlns:a16="http://schemas.microsoft.com/office/drawing/2014/main" id="{79DB0481-8FE7-407F-A7B7-D9E0921BF5B6}"/>
              </a:ext>
            </a:extLst>
          </p:cNvPr>
          <p:cNvSpPr/>
          <p:nvPr/>
        </p:nvSpPr>
        <p:spPr>
          <a:xfrm>
            <a:off x="552450" y="1069881"/>
            <a:ext cx="13037755" cy="3779304"/>
          </a:xfrm>
          <a:prstGeom prst="rect">
            <a:avLst/>
          </a:prstGeom>
        </p:spPr>
        <p:txBody>
          <a:bodyPr wrap="square">
            <a:spAutoFit/>
          </a:bodyPr>
          <a:lstStyle/>
          <a:p>
            <a:pPr>
              <a:lnSpc>
                <a:spcPct val="150000"/>
              </a:lnSpc>
            </a:pPr>
            <a:r>
              <a:rPr lang="en-US" dirty="0">
                <a:solidFill>
                  <a:srgbClr val="18537D"/>
                </a:solidFill>
              </a:rPr>
              <a:t>You are now the IT administrator for your company. The company has a set of servers sitting in AWS and a set of them sitting in their On-premise locations. They want to </a:t>
            </a:r>
            <a:r>
              <a:rPr lang="en-US" b="1" dirty="0">
                <a:solidFill>
                  <a:srgbClr val="18537D"/>
                </a:solidFill>
              </a:rPr>
              <a:t>monitor the system level metrics </a:t>
            </a:r>
            <a:r>
              <a:rPr lang="en-US" dirty="0">
                <a:solidFill>
                  <a:srgbClr val="18537D"/>
                </a:solidFill>
              </a:rPr>
              <a:t>for both sets of servers and have a </a:t>
            </a:r>
            <a:r>
              <a:rPr lang="en-US" b="1" dirty="0">
                <a:solidFill>
                  <a:srgbClr val="18537D"/>
                </a:solidFill>
              </a:rPr>
              <a:t>unified dashboard for monitoring</a:t>
            </a:r>
            <a:r>
              <a:rPr lang="en-US" dirty="0">
                <a:solidFill>
                  <a:srgbClr val="18537D"/>
                </a:solidFill>
              </a:rPr>
              <a:t>. Which of the following can help in this regard?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Install the </a:t>
            </a:r>
            <a:r>
              <a:rPr lang="en-US" dirty="0" err="1">
                <a:solidFill>
                  <a:srgbClr val="18537D"/>
                </a:solidFill>
              </a:rPr>
              <a:t>cloudwatch</a:t>
            </a:r>
            <a:r>
              <a:rPr lang="en-US" dirty="0">
                <a:solidFill>
                  <a:srgbClr val="18537D"/>
                </a:solidFill>
              </a:rPr>
              <a:t> agent on both sets of servers</a:t>
            </a:r>
            <a:br>
              <a:rPr lang="en-US" dirty="0">
                <a:solidFill>
                  <a:srgbClr val="18537D"/>
                </a:solidFill>
              </a:rPr>
            </a:br>
            <a:r>
              <a:rPr lang="en-US" dirty="0">
                <a:solidFill>
                  <a:srgbClr val="18537D"/>
                </a:solidFill>
              </a:rPr>
              <a:t>b. Migrate the on-premise servers to AWS to ensure they can be monitored</a:t>
            </a:r>
            <a:br>
              <a:rPr lang="en-US" dirty="0">
                <a:solidFill>
                  <a:srgbClr val="18537D"/>
                </a:solidFill>
              </a:rPr>
            </a:br>
            <a:r>
              <a:rPr lang="en-US" dirty="0">
                <a:solidFill>
                  <a:srgbClr val="18537D"/>
                </a:solidFill>
              </a:rPr>
              <a:t>c. Setup the metrics dashboard in </a:t>
            </a:r>
            <a:r>
              <a:rPr lang="en-US" dirty="0" err="1">
                <a:solidFill>
                  <a:srgbClr val="18537D"/>
                </a:solidFill>
              </a:rPr>
              <a:t>Cloudwatch</a:t>
            </a:r>
            <a:br>
              <a:rPr lang="en-US" dirty="0">
                <a:solidFill>
                  <a:srgbClr val="18537D"/>
                </a:solidFill>
              </a:rPr>
            </a:br>
            <a:r>
              <a:rPr lang="en-US" dirty="0">
                <a:solidFill>
                  <a:srgbClr val="18537D"/>
                </a:solidFill>
              </a:rPr>
              <a:t>d. Setup the metrics dashboard in </a:t>
            </a:r>
            <a:r>
              <a:rPr lang="en-US" dirty="0" err="1">
                <a:solidFill>
                  <a:srgbClr val="18537D"/>
                </a:solidFill>
              </a:rPr>
              <a:t>Cloudtrail</a:t>
            </a:r>
            <a:endParaRPr lang="en-US" dirty="0">
              <a:solidFill>
                <a:srgbClr val="18537D"/>
              </a:solidFill>
            </a:endParaRPr>
          </a:p>
        </p:txBody>
      </p:sp>
    </p:spTree>
    <p:extLst>
      <p:ext uri="{BB962C8B-B14F-4D97-AF65-F5344CB8AC3E}">
        <p14:creationId xmlns:p14="http://schemas.microsoft.com/office/powerpoint/2010/main" val="154535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E13E5-8451-4DAF-A6E2-0CAB90022757}"/>
              </a:ext>
            </a:extLst>
          </p:cNvPr>
          <p:cNvSpPr>
            <a:spLocks noGrp="1"/>
          </p:cNvSpPr>
          <p:nvPr>
            <p:ph type="sldNum" sz="quarter" idx="17"/>
          </p:nvPr>
        </p:nvSpPr>
        <p:spPr/>
        <p:txBody>
          <a:bodyPr/>
          <a:lstStyle/>
          <a:p>
            <a:fld id="{4F9AC08D-23A9-440E-BCB9-AA1E9877CC38}" type="slidenum">
              <a:rPr lang="en-US" smtClean="0"/>
              <a:pPr/>
              <a:t>17</a:t>
            </a:fld>
            <a:endParaRPr lang="en-US" dirty="0"/>
          </a:p>
        </p:txBody>
      </p:sp>
      <p:sp>
        <p:nvSpPr>
          <p:cNvPr id="3" name="Title 2">
            <a:extLst>
              <a:ext uri="{FF2B5EF4-FFF2-40B4-BE49-F238E27FC236}">
                <a16:creationId xmlns:a16="http://schemas.microsoft.com/office/drawing/2014/main" id="{7BF0F7DF-C446-4B80-B1C0-5E042F84DA48}"/>
              </a:ext>
            </a:extLst>
          </p:cNvPr>
          <p:cNvSpPr>
            <a:spLocks noGrp="1"/>
          </p:cNvSpPr>
          <p:nvPr>
            <p:ph type="title"/>
          </p:nvPr>
        </p:nvSpPr>
        <p:spPr>
          <a:xfrm>
            <a:off x="450010" y="311474"/>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B97F6D41-67BC-4CEE-8515-851B394A3D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79DB0481-8FE7-407F-A7B7-D9E0921BF5B6}"/>
              </a:ext>
            </a:extLst>
          </p:cNvPr>
          <p:cNvSpPr/>
          <p:nvPr/>
        </p:nvSpPr>
        <p:spPr>
          <a:xfrm>
            <a:off x="552450" y="1069881"/>
            <a:ext cx="13037755" cy="3779304"/>
          </a:xfrm>
          <a:prstGeom prst="rect">
            <a:avLst/>
          </a:prstGeom>
        </p:spPr>
        <p:txBody>
          <a:bodyPr wrap="square">
            <a:spAutoFit/>
          </a:bodyPr>
          <a:lstStyle/>
          <a:p>
            <a:pPr>
              <a:lnSpc>
                <a:spcPct val="150000"/>
              </a:lnSpc>
            </a:pPr>
            <a:r>
              <a:rPr lang="en-US" dirty="0">
                <a:solidFill>
                  <a:srgbClr val="18537D"/>
                </a:solidFill>
              </a:rPr>
              <a:t>You are now the IT administrator for your company. The company has a set of servers sitting in AWS and a set of them sitting in their On-premise locations. They want to </a:t>
            </a:r>
            <a:r>
              <a:rPr lang="en-US" b="1" dirty="0">
                <a:solidFill>
                  <a:srgbClr val="18537D"/>
                </a:solidFill>
              </a:rPr>
              <a:t>monitor the system level metrics </a:t>
            </a:r>
            <a:r>
              <a:rPr lang="en-US" dirty="0">
                <a:solidFill>
                  <a:srgbClr val="18537D"/>
                </a:solidFill>
              </a:rPr>
              <a:t>for both sets of servers and have a </a:t>
            </a:r>
            <a:r>
              <a:rPr lang="en-US" b="1" dirty="0">
                <a:solidFill>
                  <a:srgbClr val="18537D"/>
                </a:solidFill>
              </a:rPr>
              <a:t>unified dashboard for monitoring</a:t>
            </a:r>
            <a:r>
              <a:rPr lang="en-US" dirty="0">
                <a:solidFill>
                  <a:srgbClr val="18537D"/>
                </a:solidFill>
              </a:rPr>
              <a:t>. Which of the following can help in this regard? Choose 2 answers from the options given below.</a:t>
            </a:r>
          </a:p>
          <a:p>
            <a:pPr>
              <a:lnSpc>
                <a:spcPct val="150000"/>
              </a:lnSpc>
            </a:pPr>
            <a:endParaRPr lang="en-US" dirty="0">
              <a:solidFill>
                <a:srgbClr val="18537D"/>
              </a:solidFill>
            </a:endParaRPr>
          </a:p>
          <a:p>
            <a:pPr>
              <a:lnSpc>
                <a:spcPct val="150000"/>
              </a:lnSpc>
            </a:pPr>
            <a:r>
              <a:rPr lang="en-US" b="1" dirty="0">
                <a:solidFill>
                  <a:srgbClr val="18537D"/>
                </a:solidFill>
              </a:rPr>
              <a:t>a. Install the </a:t>
            </a:r>
            <a:r>
              <a:rPr lang="en-US" b="1" dirty="0" err="1">
                <a:solidFill>
                  <a:srgbClr val="18537D"/>
                </a:solidFill>
              </a:rPr>
              <a:t>cloudwatch</a:t>
            </a:r>
            <a:r>
              <a:rPr lang="en-US" b="1" dirty="0">
                <a:solidFill>
                  <a:srgbClr val="18537D"/>
                </a:solidFill>
              </a:rPr>
              <a:t> agent on both sets of servers</a:t>
            </a:r>
            <a:br>
              <a:rPr lang="en-US" dirty="0">
                <a:solidFill>
                  <a:srgbClr val="18537D"/>
                </a:solidFill>
              </a:rPr>
            </a:br>
            <a:r>
              <a:rPr lang="en-US" dirty="0">
                <a:solidFill>
                  <a:srgbClr val="18537D"/>
                </a:solidFill>
              </a:rPr>
              <a:t>b. Migrate the on-premise servers to AWS to ensure they can be monitored</a:t>
            </a:r>
            <a:br>
              <a:rPr lang="en-US" dirty="0">
                <a:solidFill>
                  <a:srgbClr val="18537D"/>
                </a:solidFill>
              </a:rPr>
            </a:br>
            <a:r>
              <a:rPr lang="en-US" b="1" dirty="0">
                <a:solidFill>
                  <a:srgbClr val="18537D"/>
                </a:solidFill>
              </a:rPr>
              <a:t>c. Setup the metrics dashboard in </a:t>
            </a:r>
            <a:r>
              <a:rPr lang="en-US" b="1" dirty="0" err="1">
                <a:solidFill>
                  <a:srgbClr val="18537D"/>
                </a:solidFill>
              </a:rPr>
              <a:t>Cloudwatch</a:t>
            </a:r>
            <a:br>
              <a:rPr lang="en-US" dirty="0">
                <a:solidFill>
                  <a:srgbClr val="18537D"/>
                </a:solidFill>
              </a:rPr>
            </a:br>
            <a:r>
              <a:rPr lang="en-US" dirty="0">
                <a:solidFill>
                  <a:srgbClr val="18537D"/>
                </a:solidFill>
              </a:rPr>
              <a:t>d. Setup the metrics dashboard in </a:t>
            </a:r>
            <a:r>
              <a:rPr lang="en-US" dirty="0" err="1">
                <a:solidFill>
                  <a:srgbClr val="18537D"/>
                </a:solidFill>
              </a:rPr>
              <a:t>Cloudtrail</a:t>
            </a:r>
            <a:endParaRPr lang="en-US" dirty="0">
              <a:solidFill>
                <a:srgbClr val="18537D"/>
              </a:solidFill>
            </a:endParaRPr>
          </a:p>
        </p:txBody>
      </p:sp>
    </p:spTree>
    <p:extLst>
      <p:ext uri="{BB962C8B-B14F-4D97-AF65-F5344CB8AC3E}">
        <p14:creationId xmlns:p14="http://schemas.microsoft.com/office/powerpoint/2010/main" val="3912172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3DC038-1921-4880-B192-4C30089431E2}"/>
              </a:ext>
            </a:extLst>
          </p:cNvPr>
          <p:cNvSpPr>
            <a:spLocks noGrp="1"/>
          </p:cNvSpPr>
          <p:nvPr>
            <p:ph type="sldNum" sz="quarter" idx="17"/>
          </p:nvPr>
        </p:nvSpPr>
        <p:spPr/>
        <p:txBody>
          <a:bodyPr/>
          <a:lstStyle/>
          <a:p>
            <a:fld id="{4F9AC08D-23A9-440E-BCB9-AA1E9877CC38}" type="slidenum">
              <a:rPr lang="en-US" smtClean="0"/>
              <a:pPr/>
              <a:t>18</a:t>
            </a:fld>
            <a:endParaRPr lang="en-US" dirty="0"/>
          </a:p>
        </p:txBody>
      </p:sp>
      <p:sp>
        <p:nvSpPr>
          <p:cNvPr id="3" name="Title 2">
            <a:extLst>
              <a:ext uri="{FF2B5EF4-FFF2-40B4-BE49-F238E27FC236}">
                <a16:creationId xmlns:a16="http://schemas.microsoft.com/office/drawing/2014/main" id="{42685905-72A4-4F27-8ADA-298719E8BE09}"/>
              </a:ext>
            </a:extLst>
          </p:cNvPr>
          <p:cNvSpPr>
            <a:spLocks noGrp="1"/>
          </p:cNvSpPr>
          <p:nvPr>
            <p:ph type="title"/>
          </p:nvPr>
        </p:nvSpPr>
        <p:spPr>
          <a:xfrm>
            <a:off x="449212" y="316505"/>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4DA8DA0D-2B5B-40C5-8E96-95D32F6001F9}"/>
              </a:ext>
            </a:extLst>
          </p:cNvPr>
          <p:cNvSpPr>
            <a:spLocks noGrp="1"/>
          </p:cNvSpPr>
          <p:nvPr>
            <p:ph type="ftr" sz="quarter" idx="16"/>
          </p:nvPr>
        </p:nvSpPr>
        <p:spPr/>
        <p:txBody>
          <a:bodyPr/>
          <a:lstStyle/>
          <a:p>
            <a:r>
              <a:rPr lang="en-US"/>
              <a:t>Copyright © 2020 Accenture. All rights reserved.</a:t>
            </a:r>
            <a:endParaRPr lang="en-US" dirty="0"/>
          </a:p>
        </p:txBody>
      </p:sp>
      <p:sp>
        <p:nvSpPr>
          <p:cNvPr id="6" name="Rectangle 5">
            <a:extLst>
              <a:ext uri="{FF2B5EF4-FFF2-40B4-BE49-F238E27FC236}">
                <a16:creationId xmlns:a16="http://schemas.microsoft.com/office/drawing/2014/main" id="{81F5034E-7B16-419A-A70B-A0522C6F85D7}"/>
              </a:ext>
            </a:extLst>
          </p:cNvPr>
          <p:cNvSpPr/>
          <p:nvPr/>
        </p:nvSpPr>
        <p:spPr>
          <a:xfrm>
            <a:off x="449212" y="1094981"/>
            <a:ext cx="13355278" cy="5856796"/>
          </a:xfrm>
          <a:prstGeom prst="rect">
            <a:avLst/>
          </a:prstGeom>
        </p:spPr>
        <p:txBody>
          <a:bodyPr wrap="square">
            <a:spAutoFit/>
          </a:bodyPr>
          <a:lstStyle/>
          <a:p>
            <a:pPr>
              <a:lnSpc>
                <a:spcPct val="150000"/>
              </a:lnSpc>
            </a:pPr>
            <a:r>
              <a:rPr lang="en-US" dirty="0">
                <a:solidFill>
                  <a:srgbClr val="18537D"/>
                </a:solidFill>
              </a:rPr>
              <a:t>A large digital enterprise uses Amazon EFS for its storage application. EFS mount points are created in multiple AZ’s. QA team is interested in getting dashboard for total throughput of data being accessed from EFS mount point across all AZ’s for quality assurance. Which of the following steps can be taken to get total throughput of EFS in a scalable manner with least efforts ?</a:t>
            </a:r>
          </a:p>
          <a:p>
            <a:pPr>
              <a:lnSpc>
                <a:spcPct val="150000"/>
              </a:lnSpc>
            </a:pPr>
            <a:endParaRPr lang="en-US" dirty="0">
              <a:solidFill>
                <a:srgbClr val="18537D"/>
              </a:solidFill>
            </a:endParaRPr>
          </a:p>
          <a:p>
            <a:pPr>
              <a:lnSpc>
                <a:spcPct val="150000"/>
              </a:lnSpc>
            </a:pPr>
            <a:r>
              <a:rPr lang="en-US" dirty="0">
                <a:solidFill>
                  <a:srgbClr val="18537D"/>
                </a:solidFill>
              </a:rPr>
              <a:t>a. Export Amazon CloudWatch log data for each EFS to Amazon S3 bucket for metric </a:t>
            </a:r>
            <a:r>
              <a:rPr lang="en-US" dirty="0" err="1">
                <a:solidFill>
                  <a:srgbClr val="18537D"/>
                </a:solidFill>
              </a:rPr>
              <a:t>TotalIOBytes</a:t>
            </a:r>
            <a:r>
              <a:rPr lang="en-US" dirty="0">
                <a:solidFill>
                  <a:srgbClr val="18537D"/>
                </a:solidFill>
              </a:rPr>
              <a:t> &amp; calculate total throughput manually.</a:t>
            </a:r>
          </a:p>
          <a:p>
            <a:pPr>
              <a:lnSpc>
                <a:spcPct val="150000"/>
              </a:lnSpc>
            </a:pPr>
            <a:r>
              <a:rPr lang="en-US" dirty="0">
                <a:solidFill>
                  <a:srgbClr val="18537D"/>
                </a:solidFill>
              </a:rPr>
              <a:t>b. Export Amazon CloudWatch log data for each EFS to Amazon S3 bucket for metric </a:t>
            </a:r>
            <a:r>
              <a:rPr lang="en-US" dirty="0" err="1">
                <a:solidFill>
                  <a:srgbClr val="18537D"/>
                </a:solidFill>
              </a:rPr>
              <a:t>TotalIOBytes</a:t>
            </a:r>
            <a:r>
              <a:rPr lang="en-US" dirty="0">
                <a:solidFill>
                  <a:srgbClr val="18537D"/>
                </a:solidFill>
              </a:rPr>
              <a:t> &amp; use Amazon Athena/ Amazon </a:t>
            </a:r>
            <a:r>
              <a:rPr lang="en-US" dirty="0" err="1">
                <a:solidFill>
                  <a:srgbClr val="18537D"/>
                </a:solidFill>
              </a:rPr>
              <a:t>QuickSight</a:t>
            </a:r>
            <a:r>
              <a:rPr lang="en-US" dirty="0">
                <a:solidFill>
                  <a:srgbClr val="18537D"/>
                </a:solidFill>
              </a:rPr>
              <a:t> to create a </a:t>
            </a:r>
            <a:r>
              <a:rPr lang="en-US" dirty="0" err="1">
                <a:solidFill>
                  <a:srgbClr val="18537D"/>
                </a:solidFill>
              </a:rPr>
              <a:t>customised</a:t>
            </a:r>
            <a:r>
              <a:rPr lang="en-US" dirty="0">
                <a:solidFill>
                  <a:srgbClr val="18537D"/>
                </a:solidFill>
              </a:rPr>
              <a:t> dashboard.</a:t>
            </a:r>
          </a:p>
          <a:p>
            <a:pPr>
              <a:lnSpc>
                <a:spcPct val="150000"/>
              </a:lnSpc>
            </a:pPr>
            <a:r>
              <a:rPr lang="en-US" dirty="0">
                <a:solidFill>
                  <a:srgbClr val="18537D"/>
                </a:solidFill>
              </a:rPr>
              <a:t>c. Create an Amazon CloudWatch graph with metric math expression to get total throughput for all EFS with metric as </a:t>
            </a:r>
            <a:r>
              <a:rPr lang="en-US" dirty="0" err="1">
                <a:solidFill>
                  <a:srgbClr val="18537D"/>
                </a:solidFill>
              </a:rPr>
              <a:t>TotalIOBytes</a:t>
            </a:r>
            <a:r>
              <a:rPr lang="en-US" dirty="0">
                <a:solidFill>
                  <a:srgbClr val="18537D"/>
                </a:solidFill>
              </a:rPr>
              <a:t>.</a:t>
            </a:r>
          </a:p>
          <a:p>
            <a:pPr>
              <a:lnSpc>
                <a:spcPct val="150000"/>
              </a:lnSpc>
            </a:pPr>
            <a:r>
              <a:rPr lang="en-US" dirty="0">
                <a:solidFill>
                  <a:srgbClr val="18537D"/>
                </a:solidFill>
              </a:rPr>
              <a:t>d. Create an Amazon CloudWatch graph for each EFS with metric as </a:t>
            </a:r>
            <a:r>
              <a:rPr lang="en-US" dirty="0" err="1">
                <a:solidFill>
                  <a:srgbClr val="18537D"/>
                </a:solidFill>
              </a:rPr>
              <a:t>TotalIOBytes</a:t>
            </a:r>
            <a:r>
              <a:rPr lang="en-US" dirty="0">
                <a:solidFill>
                  <a:srgbClr val="18537D"/>
                </a:solidFill>
              </a:rPr>
              <a:t> &amp; manually calculate total throughput with sum of </a:t>
            </a:r>
            <a:r>
              <a:rPr lang="en-US" dirty="0" err="1">
                <a:solidFill>
                  <a:srgbClr val="18537D"/>
                </a:solidFill>
              </a:rPr>
              <a:t>TotalIOBytes</a:t>
            </a:r>
            <a:r>
              <a:rPr lang="en-US" dirty="0">
                <a:solidFill>
                  <a:srgbClr val="18537D"/>
                </a:solidFill>
              </a:rPr>
              <a:t> over required time period.</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4084634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3DC038-1921-4880-B192-4C30089431E2}"/>
              </a:ext>
            </a:extLst>
          </p:cNvPr>
          <p:cNvSpPr>
            <a:spLocks noGrp="1"/>
          </p:cNvSpPr>
          <p:nvPr>
            <p:ph type="sldNum" sz="quarter" idx="17"/>
          </p:nvPr>
        </p:nvSpPr>
        <p:spPr/>
        <p:txBody>
          <a:bodyPr/>
          <a:lstStyle/>
          <a:p>
            <a:fld id="{4F9AC08D-23A9-440E-BCB9-AA1E9877CC38}" type="slidenum">
              <a:rPr lang="en-US" smtClean="0"/>
              <a:pPr/>
              <a:t>19</a:t>
            </a:fld>
            <a:endParaRPr lang="en-US" dirty="0"/>
          </a:p>
        </p:txBody>
      </p:sp>
      <p:sp>
        <p:nvSpPr>
          <p:cNvPr id="3" name="Title 2">
            <a:extLst>
              <a:ext uri="{FF2B5EF4-FFF2-40B4-BE49-F238E27FC236}">
                <a16:creationId xmlns:a16="http://schemas.microsoft.com/office/drawing/2014/main" id="{42685905-72A4-4F27-8ADA-298719E8BE09}"/>
              </a:ext>
            </a:extLst>
          </p:cNvPr>
          <p:cNvSpPr>
            <a:spLocks noGrp="1"/>
          </p:cNvSpPr>
          <p:nvPr>
            <p:ph type="title"/>
          </p:nvPr>
        </p:nvSpPr>
        <p:spPr>
          <a:xfrm>
            <a:off x="449212" y="316505"/>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4DA8DA0D-2B5B-40C5-8E96-95D32F6001F9}"/>
              </a:ext>
            </a:extLst>
          </p:cNvPr>
          <p:cNvSpPr>
            <a:spLocks noGrp="1"/>
          </p:cNvSpPr>
          <p:nvPr>
            <p:ph type="ftr" sz="quarter" idx="16"/>
          </p:nvPr>
        </p:nvSpPr>
        <p:spPr/>
        <p:txBody>
          <a:bodyPr/>
          <a:lstStyle/>
          <a:p>
            <a:r>
              <a:rPr lang="en-US"/>
              <a:t>Copyright © 2020 Accenture. All rights reserved.</a:t>
            </a:r>
            <a:endParaRPr lang="en-US" dirty="0"/>
          </a:p>
        </p:txBody>
      </p:sp>
      <p:sp>
        <p:nvSpPr>
          <p:cNvPr id="6" name="Rectangle 5">
            <a:extLst>
              <a:ext uri="{FF2B5EF4-FFF2-40B4-BE49-F238E27FC236}">
                <a16:creationId xmlns:a16="http://schemas.microsoft.com/office/drawing/2014/main" id="{81F5034E-7B16-419A-A70B-A0522C6F85D7}"/>
              </a:ext>
            </a:extLst>
          </p:cNvPr>
          <p:cNvSpPr/>
          <p:nvPr/>
        </p:nvSpPr>
        <p:spPr>
          <a:xfrm>
            <a:off x="449212" y="1094981"/>
            <a:ext cx="13355278" cy="5856796"/>
          </a:xfrm>
          <a:prstGeom prst="rect">
            <a:avLst/>
          </a:prstGeom>
        </p:spPr>
        <p:txBody>
          <a:bodyPr wrap="square">
            <a:spAutoFit/>
          </a:bodyPr>
          <a:lstStyle/>
          <a:p>
            <a:pPr>
              <a:lnSpc>
                <a:spcPct val="150000"/>
              </a:lnSpc>
            </a:pPr>
            <a:r>
              <a:rPr lang="en-US" dirty="0">
                <a:solidFill>
                  <a:srgbClr val="18537D"/>
                </a:solidFill>
              </a:rPr>
              <a:t>A large digital enterprise uses Amazon EFS for its storage application. EFS mount points are created in multiple AZ’s. QA team is </a:t>
            </a:r>
            <a:r>
              <a:rPr lang="en-US" b="1" dirty="0">
                <a:solidFill>
                  <a:srgbClr val="18537D"/>
                </a:solidFill>
              </a:rPr>
              <a:t>interested in getting dashboard </a:t>
            </a:r>
            <a:r>
              <a:rPr lang="en-US" dirty="0">
                <a:solidFill>
                  <a:srgbClr val="18537D"/>
                </a:solidFill>
              </a:rPr>
              <a:t>for total throughput of data being accessed from EFS mount point across all AZ’s for quality assurance. Which of the following steps can be taken to </a:t>
            </a:r>
            <a:r>
              <a:rPr lang="en-US" b="1" dirty="0">
                <a:solidFill>
                  <a:srgbClr val="18537D"/>
                </a:solidFill>
              </a:rPr>
              <a:t>get total throughput of EFS in a scalable manner </a:t>
            </a:r>
            <a:r>
              <a:rPr lang="en-US" dirty="0">
                <a:solidFill>
                  <a:srgbClr val="18537D"/>
                </a:solidFill>
              </a:rPr>
              <a:t>with least efforts ?</a:t>
            </a:r>
          </a:p>
          <a:p>
            <a:pPr>
              <a:lnSpc>
                <a:spcPct val="150000"/>
              </a:lnSpc>
            </a:pPr>
            <a:endParaRPr lang="en-US" dirty="0">
              <a:solidFill>
                <a:srgbClr val="18537D"/>
              </a:solidFill>
            </a:endParaRPr>
          </a:p>
          <a:p>
            <a:pPr>
              <a:lnSpc>
                <a:spcPct val="150000"/>
              </a:lnSpc>
            </a:pPr>
            <a:r>
              <a:rPr lang="en-US" dirty="0">
                <a:solidFill>
                  <a:srgbClr val="18537D"/>
                </a:solidFill>
              </a:rPr>
              <a:t>a. Export Amazon CloudWatch log data for each EFS to Amazon S3 bucket for metric </a:t>
            </a:r>
            <a:r>
              <a:rPr lang="en-US" dirty="0" err="1">
                <a:solidFill>
                  <a:srgbClr val="18537D"/>
                </a:solidFill>
              </a:rPr>
              <a:t>TotalIOBytes</a:t>
            </a:r>
            <a:r>
              <a:rPr lang="en-US" dirty="0">
                <a:solidFill>
                  <a:srgbClr val="18537D"/>
                </a:solidFill>
              </a:rPr>
              <a:t> &amp; calculate total throughput manually.</a:t>
            </a:r>
          </a:p>
          <a:p>
            <a:pPr>
              <a:lnSpc>
                <a:spcPct val="150000"/>
              </a:lnSpc>
            </a:pPr>
            <a:r>
              <a:rPr lang="en-US" dirty="0">
                <a:solidFill>
                  <a:srgbClr val="18537D"/>
                </a:solidFill>
              </a:rPr>
              <a:t>b. Export Amazon CloudWatch log data for each EFS to Amazon S3 bucket for metric </a:t>
            </a:r>
            <a:r>
              <a:rPr lang="en-US" dirty="0" err="1">
                <a:solidFill>
                  <a:srgbClr val="18537D"/>
                </a:solidFill>
              </a:rPr>
              <a:t>TotalIOBytes</a:t>
            </a:r>
            <a:r>
              <a:rPr lang="en-US" dirty="0">
                <a:solidFill>
                  <a:srgbClr val="18537D"/>
                </a:solidFill>
              </a:rPr>
              <a:t> &amp; use Amazon Athena/ Amazon </a:t>
            </a:r>
            <a:r>
              <a:rPr lang="en-US" dirty="0" err="1">
                <a:solidFill>
                  <a:srgbClr val="18537D"/>
                </a:solidFill>
              </a:rPr>
              <a:t>QuickSight</a:t>
            </a:r>
            <a:r>
              <a:rPr lang="en-US" dirty="0">
                <a:solidFill>
                  <a:srgbClr val="18537D"/>
                </a:solidFill>
              </a:rPr>
              <a:t> to create a </a:t>
            </a:r>
            <a:r>
              <a:rPr lang="en-US" dirty="0" err="1">
                <a:solidFill>
                  <a:srgbClr val="18537D"/>
                </a:solidFill>
              </a:rPr>
              <a:t>customised</a:t>
            </a:r>
            <a:r>
              <a:rPr lang="en-US" dirty="0">
                <a:solidFill>
                  <a:srgbClr val="18537D"/>
                </a:solidFill>
              </a:rPr>
              <a:t> dashboard.</a:t>
            </a:r>
          </a:p>
          <a:p>
            <a:pPr>
              <a:lnSpc>
                <a:spcPct val="150000"/>
              </a:lnSpc>
            </a:pPr>
            <a:r>
              <a:rPr lang="en-US" dirty="0">
                <a:solidFill>
                  <a:srgbClr val="18537D"/>
                </a:solidFill>
              </a:rPr>
              <a:t>c. Create an Amazon CloudWatch graph with metric math expression to get total throughput for all EFS with metric as </a:t>
            </a:r>
            <a:r>
              <a:rPr lang="en-US" dirty="0" err="1">
                <a:solidFill>
                  <a:srgbClr val="18537D"/>
                </a:solidFill>
              </a:rPr>
              <a:t>TotalIOBytes</a:t>
            </a:r>
            <a:r>
              <a:rPr lang="en-US" dirty="0">
                <a:solidFill>
                  <a:srgbClr val="18537D"/>
                </a:solidFill>
              </a:rPr>
              <a:t>.</a:t>
            </a:r>
          </a:p>
          <a:p>
            <a:pPr>
              <a:lnSpc>
                <a:spcPct val="150000"/>
              </a:lnSpc>
            </a:pPr>
            <a:r>
              <a:rPr lang="en-US" dirty="0">
                <a:solidFill>
                  <a:srgbClr val="18537D"/>
                </a:solidFill>
              </a:rPr>
              <a:t>d. Create an Amazon CloudWatch graph for each EFS with metric as </a:t>
            </a:r>
            <a:r>
              <a:rPr lang="en-US" dirty="0" err="1">
                <a:solidFill>
                  <a:srgbClr val="18537D"/>
                </a:solidFill>
              </a:rPr>
              <a:t>TotalIOBytes</a:t>
            </a:r>
            <a:r>
              <a:rPr lang="en-US" dirty="0">
                <a:solidFill>
                  <a:srgbClr val="18537D"/>
                </a:solidFill>
              </a:rPr>
              <a:t> &amp; manually calculate total throughput with sum of </a:t>
            </a:r>
            <a:r>
              <a:rPr lang="en-US" dirty="0" err="1">
                <a:solidFill>
                  <a:srgbClr val="18537D"/>
                </a:solidFill>
              </a:rPr>
              <a:t>TotalIOBytes</a:t>
            </a:r>
            <a:r>
              <a:rPr lang="en-US" dirty="0">
                <a:solidFill>
                  <a:srgbClr val="18537D"/>
                </a:solidFill>
              </a:rPr>
              <a:t> over required time period.</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984526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3DC038-1921-4880-B192-4C30089431E2}"/>
              </a:ext>
            </a:extLst>
          </p:cNvPr>
          <p:cNvSpPr>
            <a:spLocks noGrp="1"/>
          </p:cNvSpPr>
          <p:nvPr>
            <p:ph type="sldNum" sz="quarter" idx="17"/>
          </p:nvPr>
        </p:nvSpPr>
        <p:spPr/>
        <p:txBody>
          <a:bodyPr/>
          <a:lstStyle/>
          <a:p>
            <a:fld id="{4F9AC08D-23A9-440E-BCB9-AA1E9877CC38}" type="slidenum">
              <a:rPr lang="en-US" smtClean="0"/>
              <a:pPr/>
              <a:t>20</a:t>
            </a:fld>
            <a:endParaRPr lang="en-US" dirty="0"/>
          </a:p>
        </p:txBody>
      </p:sp>
      <p:sp>
        <p:nvSpPr>
          <p:cNvPr id="3" name="Title 2">
            <a:extLst>
              <a:ext uri="{FF2B5EF4-FFF2-40B4-BE49-F238E27FC236}">
                <a16:creationId xmlns:a16="http://schemas.microsoft.com/office/drawing/2014/main" id="{42685905-72A4-4F27-8ADA-298719E8BE09}"/>
              </a:ext>
            </a:extLst>
          </p:cNvPr>
          <p:cNvSpPr>
            <a:spLocks noGrp="1"/>
          </p:cNvSpPr>
          <p:nvPr>
            <p:ph type="title"/>
          </p:nvPr>
        </p:nvSpPr>
        <p:spPr>
          <a:xfrm>
            <a:off x="449212" y="316505"/>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4DA8DA0D-2B5B-40C5-8E96-95D32F6001F9}"/>
              </a:ext>
            </a:extLst>
          </p:cNvPr>
          <p:cNvSpPr>
            <a:spLocks noGrp="1"/>
          </p:cNvSpPr>
          <p:nvPr>
            <p:ph type="ftr" sz="quarter" idx="16"/>
          </p:nvPr>
        </p:nvSpPr>
        <p:spPr/>
        <p:txBody>
          <a:bodyPr/>
          <a:lstStyle/>
          <a:p>
            <a:r>
              <a:rPr lang="en-US"/>
              <a:t>Copyright © 2020 Accenture. All rights reserved.</a:t>
            </a:r>
            <a:endParaRPr lang="en-US" dirty="0"/>
          </a:p>
        </p:txBody>
      </p:sp>
      <p:sp>
        <p:nvSpPr>
          <p:cNvPr id="6" name="Rectangle 5">
            <a:extLst>
              <a:ext uri="{FF2B5EF4-FFF2-40B4-BE49-F238E27FC236}">
                <a16:creationId xmlns:a16="http://schemas.microsoft.com/office/drawing/2014/main" id="{81F5034E-7B16-419A-A70B-A0522C6F85D7}"/>
              </a:ext>
            </a:extLst>
          </p:cNvPr>
          <p:cNvSpPr/>
          <p:nvPr/>
        </p:nvSpPr>
        <p:spPr>
          <a:xfrm>
            <a:off x="449212" y="1094981"/>
            <a:ext cx="13355278" cy="5856796"/>
          </a:xfrm>
          <a:prstGeom prst="rect">
            <a:avLst/>
          </a:prstGeom>
        </p:spPr>
        <p:txBody>
          <a:bodyPr wrap="square">
            <a:spAutoFit/>
          </a:bodyPr>
          <a:lstStyle/>
          <a:p>
            <a:pPr>
              <a:lnSpc>
                <a:spcPct val="150000"/>
              </a:lnSpc>
            </a:pPr>
            <a:r>
              <a:rPr lang="en-US" dirty="0">
                <a:solidFill>
                  <a:srgbClr val="18537D"/>
                </a:solidFill>
              </a:rPr>
              <a:t>A large digital enterprise uses Amazon EFS for its storage application. EFS mount points are created in multiple AZ’s. QA team is </a:t>
            </a:r>
            <a:r>
              <a:rPr lang="en-US" b="1" dirty="0">
                <a:solidFill>
                  <a:srgbClr val="18537D"/>
                </a:solidFill>
              </a:rPr>
              <a:t>interested in getting dashboard </a:t>
            </a:r>
            <a:r>
              <a:rPr lang="en-US" dirty="0">
                <a:solidFill>
                  <a:srgbClr val="18537D"/>
                </a:solidFill>
              </a:rPr>
              <a:t>for total throughput of data being accessed from EFS mount point across all AZ’s for quality assurance. Which of the following steps can be taken to </a:t>
            </a:r>
            <a:r>
              <a:rPr lang="en-US" b="1" dirty="0">
                <a:solidFill>
                  <a:srgbClr val="18537D"/>
                </a:solidFill>
              </a:rPr>
              <a:t>get total throughput of EFS in a scalable manner </a:t>
            </a:r>
            <a:r>
              <a:rPr lang="en-US" dirty="0">
                <a:solidFill>
                  <a:srgbClr val="18537D"/>
                </a:solidFill>
              </a:rPr>
              <a:t>with least efforts ?</a:t>
            </a:r>
          </a:p>
          <a:p>
            <a:pPr>
              <a:lnSpc>
                <a:spcPct val="150000"/>
              </a:lnSpc>
            </a:pPr>
            <a:endParaRPr lang="en-US" dirty="0">
              <a:solidFill>
                <a:srgbClr val="18537D"/>
              </a:solidFill>
            </a:endParaRPr>
          </a:p>
          <a:p>
            <a:pPr>
              <a:lnSpc>
                <a:spcPct val="150000"/>
              </a:lnSpc>
            </a:pPr>
            <a:r>
              <a:rPr lang="en-US" dirty="0">
                <a:solidFill>
                  <a:srgbClr val="18537D"/>
                </a:solidFill>
              </a:rPr>
              <a:t>a. Export Amazon CloudWatch log data for each EFS to Amazon S3 bucket for metric </a:t>
            </a:r>
            <a:r>
              <a:rPr lang="en-US" dirty="0" err="1">
                <a:solidFill>
                  <a:srgbClr val="18537D"/>
                </a:solidFill>
              </a:rPr>
              <a:t>TotalIOBytes</a:t>
            </a:r>
            <a:r>
              <a:rPr lang="en-US" dirty="0">
                <a:solidFill>
                  <a:srgbClr val="18537D"/>
                </a:solidFill>
              </a:rPr>
              <a:t> &amp; calculate total throughput manually.</a:t>
            </a:r>
          </a:p>
          <a:p>
            <a:pPr>
              <a:lnSpc>
                <a:spcPct val="150000"/>
              </a:lnSpc>
            </a:pPr>
            <a:r>
              <a:rPr lang="en-US" dirty="0">
                <a:solidFill>
                  <a:srgbClr val="18537D"/>
                </a:solidFill>
              </a:rPr>
              <a:t>b. Export Amazon CloudWatch log data for each EFS to Amazon S3 bucket for metric </a:t>
            </a:r>
            <a:r>
              <a:rPr lang="en-US" dirty="0" err="1">
                <a:solidFill>
                  <a:srgbClr val="18537D"/>
                </a:solidFill>
              </a:rPr>
              <a:t>TotalIOBytes</a:t>
            </a:r>
            <a:r>
              <a:rPr lang="en-US" dirty="0">
                <a:solidFill>
                  <a:srgbClr val="18537D"/>
                </a:solidFill>
              </a:rPr>
              <a:t> &amp; use Amazon Athena/ Amazon </a:t>
            </a:r>
            <a:r>
              <a:rPr lang="en-US" dirty="0" err="1">
                <a:solidFill>
                  <a:srgbClr val="18537D"/>
                </a:solidFill>
              </a:rPr>
              <a:t>QuickSight</a:t>
            </a:r>
            <a:r>
              <a:rPr lang="en-US" dirty="0">
                <a:solidFill>
                  <a:srgbClr val="18537D"/>
                </a:solidFill>
              </a:rPr>
              <a:t> to create a </a:t>
            </a:r>
            <a:r>
              <a:rPr lang="en-US" dirty="0" err="1">
                <a:solidFill>
                  <a:srgbClr val="18537D"/>
                </a:solidFill>
              </a:rPr>
              <a:t>customised</a:t>
            </a:r>
            <a:r>
              <a:rPr lang="en-US" dirty="0">
                <a:solidFill>
                  <a:srgbClr val="18537D"/>
                </a:solidFill>
              </a:rPr>
              <a:t> dashboard.</a:t>
            </a:r>
          </a:p>
          <a:p>
            <a:pPr>
              <a:lnSpc>
                <a:spcPct val="150000"/>
              </a:lnSpc>
            </a:pPr>
            <a:r>
              <a:rPr lang="en-US" b="1" dirty="0">
                <a:solidFill>
                  <a:srgbClr val="18537D"/>
                </a:solidFill>
              </a:rPr>
              <a:t>c. Create an Amazon CloudWatch graph with metric math expression to get total throughput for all EFS with metric as </a:t>
            </a:r>
            <a:r>
              <a:rPr lang="en-US" b="1" dirty="0" err="1">
                <a:solidFill>
                  <a:srgbClr val="18537D"/>
                </a:solidFill>
              </a:rPr>
              <a:t>TotalIOBytes</a:t>
            </a:r>
            <a:r>
              <a:rPr lang="en-US" b="1" dirty="0">
                <a:solidFill>
                  <a:srgbClr val="18537D"/>
                </a:solidFill>
              </a:rPr>
              <a:t>.</a:t>
            </a:r>
          </a:p>
          <a:p>
            <a:pPr>
              <a:lnSpc>
                <a:spcPct val="150000"/>
              </a:lnSpc>
            </a:pPr>
            <a:r>
              <a:rPr lang="en-US" dirty="0">
                <a:solidFill>
                  <a:srgbClr val="18537D"/>
                </a:solidFill>
              </a:rPr>
              <a:t>d. Create an Amazon CloudWatch graph for each EFS with metric as </a:t>
            </a:r>
            <a:r>
              <a:rPr lang="en-US" dirty="0" err="1">
                <a:solidFill>
                  <a:srgbClr val="18537D"/>
                </a:solidFill>
              </a:rPr>
              <a:t>TotalIOBytes</a:t>
            </a:r>
            <a:r>
              <a:rPr lang="en-US" dirty="0">
                <a:solidFill>
                  <a:srgbClr val="18537D"/>
                </a:solidFill>
              </a:rPr>
              <a:t> &amp; manually calculate total throughput with sum of </a:t>
            </a:r>
            <a:r>
              <a:rPr lang="en-US" dirty="0" err="1">
                <a:solidFill>
                  <a:srgbClr val="18537D"/>
                </a:solidFill>
              </a:rPr>
              <a:t>TotalIOBytes</a:t>
            </a:r>
            <a:r>
              <a:rPr lang="en-US" dirty="0">
                <a:solidFill>
                  <a:srgbClr val="18537D"/>
                </a:solidFill>
              </a:rPr>
              <a:t> over required time period.</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866254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22CB3D-9B38-4012-AA4D-DA5B981EDF32}"/>
              </a:ext>
            </a:extLst>
          </p:cNvPr>
          <p:cNvSpPr>
            <a:spLocks noGrp="1"/>
          </p:cNvSpPr>
          <p:nvPr>
            <p:ph type="sldNum" sz="quarter" idx="17"/>
          </p:nvPr>
        </p:nvSpPr>
        <p:spPr/>
        <p:txBody>
          <a:bodyPr/>
          <a:lstStyle/>
          <a:p>
            <a:fld id="{4F9AC08D-23A9-440E-BCB9-AA1E9877CC38}" type="slidenum">
              <a:rPr lang="en-US" smtClean="0"/>
              <a:pPr/>
              <a:t>21</a:t>
            </a:fld>
            <a:endParaRPr lang="en-US" dirty="0"/>
          </a:p>
        </p:txBody>
      </p:sp>
      <p:sp>
        <p:nvSpPr>
          <p:cNvPr id="3" name="Title 2">
            <a:extLst>
              <a:ext uri="{FF2B5EF4-FFF2-40B4-BE49-F238E27FC236}">
                <a16:creationId xmlns:a16="http://schemas.microsoft.com/office/drawing/2014/main" id="{638998DA-8F14-4225-B49C-B4DC7294C9E9}"/>
              </a:ext>
            </a:extLst>
          </p:cNvPr>
          <p:cNvSpPr>
            <a:spLocks noGrp="1"/>
          </p:cNvSpPr>
          <p:nvPr>
            <p:ph type="title"/>
          </p:nvPr>
        </p:nvSpPr>
        <p:spPr>
          <a:xfrm>
            <a:off x="450010" y="281978"/>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56D18DAB-467B-4C23-AD1A-5387D91008C1}"/>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552DA1E9-05AA-425E-BF1B-0430162C00E0}"/>
              </a:ext>
            </a:extLst>
          </p:cNvPr>
          <p:cNvSpPr/>
          <p:nvPr/>
        </p:nvSpPr>
        <p:spPr>
          <a:xfrm>
            <a:off x="450003" y="1146843"/>
            <a:ext cx="12823545" cy="5025799"/>
          </a:xfrm>
          <a:prstGeom prst="rect">
            <a:avLst/>
          </a:prstGeom>
        </p:spPr>
        <p:txBody>
          <a:bodyPr wrap="square">
            <a:spAutoFit/>
          </a:bodyPr>
          <a:lstStyle/>
          <a:p>
            <a:pPr>
              <a:lnSpc>
                <a:spcPct val="150000"/>
              </a:lnSpc>
            </a:pPr>
            <a:r>
              <a:rPr lang="en-US" dirty="0">
                <a:solidFill>
                  <a:srgbClr val="18537D"/>
                </a:solidFill>
              </a:rPr>
              <a:t>Web application servers are deployed on EC2 instance in VPC created in us-east-1 region. Last week there was a planned event to update security policy of these EC2 instance, but due to a manual error outage was observed. As a preventive measure, you need to create a process to evaluate these security policies post deployment   Which of the following actions will suffice to assess network exposure post any changes in Security Group in most effective way?</a:t>
            </a:r>
          </a:p>
          <a:p>
            <a:pPr>
              <a:lnSpc>
                <a:spcPct val="150000"/>
              </a:lnSpc>
            </a:pPr>
            <a:endParaRPr lang="en-US" dirty="0">
              <a:solidFill>
                <a:srgbClr val="18537D"/>
              </a:solidFill>
            </a:endParaRPr>
          </a:p>
          <a:p>
            <a:pPr>
              <a:lnSpc>
                <a:spcPct val="150000"/>
              </a:lnSpc>
            </a:pPr>
            <a:r>
              <a:rPr lang="en-US" dirty="0">
                <a:solidFill>
                  <a:srgbClr val="18537D"/>
                </a:solidFill>
              </a:rPr>
              <a:t>a. Initiate a network connection between EC2 instance to any destination outside VPC &amp; use VPC Flow logs to evaluate open ports with  Security Group.</a:t>
            </a:r>
          </a:p>
          <a:p>
            <a:pPr>
              <a:lnSpc>
                <a:spcPct val="150000"/>
              </a:lnSpc>
            </a:pPr>
            <a:r>
              <a:rPr lang="en-US" dirty="0">
                <a:solidFill>
                  <a:srgbClr val="18537D"/>
                </a:solidFill>
              </a:rPr>
              <a:t>b. Install third-party Network Port Scanning Tool on EC2 instance launched in a VP</a:t>
            </a:r>
          </a:p>
          <a:p>
            <a:pPr>
              <a:lnSpc>
                <a:spcPct val="150000"/>
              </a:lnSpc>
            </a:pPr>
            <a:r>
              <a:rPr lang="en-US" dirty="0">
                <a:solidFill>
                  <a:srgbClr val="18537D"/>
                </a:solidFill>
              </a:rPr>
              <a:t>c. Install an Amazon Inspector Agent on EC2 instance launched in a VPC to evaluate security groups.</a:t>
            </a:r>
          </a:p>
          <a:p>
            <a:pPr>
              <a:lnSpc>
                <a:spcPct val="150000"/>
              </a:lnSpc>
            </a:pPr>
            <a:r>
              <a:rPr lang="en-US" dirty="0">
                <a:solidFill>
                  <a:srgbClr val="18537D"/>
                </a:solidFill>
              </a:rPr>
              <a:t>d. Add a CloudWatch Event rule to automatically trigger Network Assessment post changes in security groups.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547304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22CB3D-9B38-4012-AA4D-DA5B981EDF32}"/>
              </a:ext>
            </a:extLst>
          </p:cNvPr>
          <p:cNvSpPr>
            <a:spLocks noGrp="1"/>
          </p:cNvSpPr>
          <p:nvPr>
            <p:ph type="sldNum" sz="quarter" idx="17"/>
          </p:nvPr>
        </p:nvSpPr>
        <p:spPr/>
        <p:txBody>
          <a:bodyPr/>
          <a:lstStyle/>
          <a:p>
            <a:fld id="{4F9AC08D-23A9-440E-BCB9-AA1E9877CC38}" type="slidenum">
              <a:rPr lang="en-US" smtClean="0"/>
              <a:pPr/>
              <a:t>22</a:t>
            </a:fld>
            <a:endParaRPr lang="en-US" dirty="0"/>
          </a:p>
        </p:txBody>
      </p:sp>
      <p:sp>
        <p:nvSpPr>
          <p:cNvPr id="3" name="Title 2">
            <a:extLst>
              <a:ext uri="{FF2B5EF4-FFF2-40B4-BE49-F238E27FC236}">
                <a16:creationId xmlns:a16="http://schemas.microsoft.com/office/drawing/2014/main" id="{638998DA-8F14-4225-B49C-B4DC7294C9E9}"/>
              </a:ext>
            </a:extLst>
          </p:cNvPr>
          <p:cNvSpPr>
            <a:spLocks noGrp="1"/>
          </p:cNvSpPr>
          <p:nvPr>
            <p:ph type="title"/>
          </p:nvPr>
        </p:nvSpPr>
        <p:spPr>
          <a:xfrm>
            <a:off x="450010" y="281978"/>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56D18DAB-467B-4C23-AD1A-5387D91008C1}"/>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552DA1E9-05AA-425E-BF1B-0430162C00E0}"/>
              </a:ext>
            </a:extLst>
          </p:cNvPr>
          <p:cNvSpPr/>
          <p:nvPr/>
        </p:nvSpPr>
        <p:spPr>
          <a:xfrm>
            <a:off x="450003" y="1146843"/>
            <a:ext cx="12823545" cy="5025799"/>
          </a:xfrm>
          <a:prstGeom prst="rect">
            <a:avLst/>
          </a:prstGeom>
        </p:spPr>
        <p:txBody>
          <a:bodyPr wrap="square">
            <a:spAutoFit/>
          </a:bodyPr>
          <a:lstStyle/>
          <a:p>
            <a:pPr>
              <a:lnSpc>
                <a:spcPct val="150000"/>
              </a:lnSpc>
            </a:pPr>
            <a:r>
              <a:rPr lang="en-US" dirty="0">
                <a:solidFill>
                  <a:srgbClr val="18537D"/>
                </a:solidFill>
              </a:rPr>
              <a:t>Web application servers are deployed on EC2 instance in VPC created in us-east-1 region. Last week there was a planned event to update security policy of these EC2 instance, but due to a manual error outage was observed. As a preventive measure, you need to create a process to evaluate these security policies post deployment   Which of the following actions will suffice to </a:t>
            </a:r>
            <a:r>
              <a:rPr lang="en-US" b="1" dirty="0">
                <a:solidFill>
                  <a:srgbClr val="18537D"/>
                </a:solidFill>
              </a:rPr>
              <a:t>assess network exposure post any changes in Security Group </a:t>
            </a:r>
            <a:r>
              <a:rPr lang="en-US" dirty="0">
                <a:solidFill>
                  <a:srgbClr val="18537D"/>
                </a:solidFill>
              </a:rPr>
              <a:t>in most effective way?</a:t>
            </a:r>
          </a:p>
          <a:p>
            <a:pPr>
              <a:lnSpc>
                <a:spcPct val="150000"/>
              </a:lnSpc>
            </a:pPr>
            <a:endParaRPr lang="en-US" dirty="0">
              <a:solidFill>
                <a:srgbClr val="18537D"/>
              </a:solidFill>
            </a:endParaRPr>
          </a:p>
          <a:p>
            <a:pPr>
              <a:lnSpc>
                <a:spcPct val="150000"/>
              </a:lnSpc>
            </a:pPr>
            <a:r>
              <a:rPr lang="en-US" dirty="0">
                <a:solidFill>
                  <a:srgbClr val="18537D"/>
                </a:solidFill>
              </a:rPr>
              <a:t>a. Initiate a network connection between EC2 instance to any destination outside VPC &amp; use VPC Flow logs to evaluate open ports with  Security Group.</a:t>
            </a:r>
          </a:p>
          <a:p>
            <a:pPr>
              <a:lnSpc>
                <a:spcPct val="150000"/>
              </a:lnSpc>
            </a:pPr>
            <a:r>
              <a:rPr lang="en-US" dirty="0">
                <a:solidFill>
                  <a:srgbClr val="18537D"/>
                </a:solidFill>
              </a:rPr>
              <a:t>b. Install third-party Network Port Scanning Tool on EC2 instance launched in a VP</a:t>
            </a:r>
          </a:p>
          <a:p>
            <a:pPr>
              <a:lnSpc>
                <a:spcPct val="150000"/>
              </a:lnSpc>
            </a:pPr>
            <a:r>
              <a:rPr lang="en-US" dirty="0">
                <a:solidFill>
                  <a:srgbClr val="18537D"/>
                </a:solidFill>
              </a:rPr>
              <a:t>c. Install an Amazon Inspector Agent on EC2 instance launched in a VPC to evaluate security groups.</a:t>
            </a:r>
          </a:p>
          <a:p>
            <a:pPr>
              <a:lnSpc>
                <a:spcPct val="150000"/>
              </a:lnSpc>
            </a:pPr>
            <a:r>
              <a:rPr lang="en-US" dirty="0">
                <a:solidFill>
                  <a:srgbClr val="18537D"/>
                </a:solidFill>
              </a:rPr>
              <a:t>d. Add a CloudWatch Event rule to automatically trigger Network Assessment post changes in security groups.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45024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22CB3D-9B38-4012-AA4D-DA5B981EDF32}"/>
              </a:ext>
            </a:extLst>
          </p:cNvPr>
          <p:cNvSpPr>
            <a:spLocks noGrp="1"/>
          </p:cNvSpPr>
          <p:nvPr>
            <p:ph type="sldNum" sz="quarter" idx="17"/>
          </p:nvPr>
        </p:nvSpPr>
        <p:spPr/>
        <p:txBody>
          <a:bodyPr/>
          <a:lstStyle/>
          <a:p>
            <a:fld id="{4F9AC08D-23A9-440E-BCB9-AA1E9877CC38}" type="slidenum">
              <a:rPr lang="en-US" smtClean="0"/>
              <a:pPr/>
              <a:t>23</a:t>
            </a:fld>
            <a:endParaRPr lang="en-US" dirty="0"/>
          </a:p>
        </p:txBody>
      </p:sp>
      <p:sp>
        <p:nvSpPr>
          <p:cNvPr id="3" name="Title 2">
            <a:extLst>
              <a:ext uri="{FF2B5EF4-FFF2-40B4-BE49-F238E27FC236}">
                <a16:creationId xmlns:a16="http://schemas.microsoft.com/office/drawing/2014/main" id="{638998DA-8F14-4225-B49C-B4DC7294C9E9}"/>
              </a:ext>
            </a:extLst>
          </p:cNvPr>
          <p:cNvSpPr>
            <a:spLocks noGrp="1"/>
          </p:cNvSpPr>
          <p:nvPr>
            <p:ph type="title"/>
          </p:nvPr>
        </p:nvSpPr>
        <p:spPr>
          <a:xfrm>
            <a:off x="450010" y="281978"/>
            <a:ext cx="13500200" cy="1359871"/>
          </a:xfrm>
        </p:spPr>
        <p:txBody>
          <a:bodyPr/>
          <a:lstStyle/>
          <a:p>
            <a:r>
              <a:rPr lang="en-US" dirty="0">
                <a:solidFill>
                  <a:schemeClr val="bg1"/>
                </a:solidFill>
              </a:rPr>
              <a:t>Sample Questions </a:t>
            </a:r>
            <a:endParaRPr lang="en-US" dirty="0"/>
          </a:p>
        </p:txBody>
      </p:sp>
      <p:sp>
        <p:nvSpPr>
          <p:cNvPr id="4" name="Footer Placeholder 3">
            <a:extLst>
              <a:ext uri="{FF2B5EF4-FFF2-40B4-BE49-F238E27FC236}">
                <a16:creationId xmlns:a16="http://schemas.microsoft.com/office/drawing/2014/main" id="{56D18DAB-467B-4C23-AD1A-5387D91008C1}"/>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552DA1E9-05AA-425E-BF1B-0430162C00E0}"/>
              </a:ext>
            </a:extLst>
          </p:cNvPr>
          <p:cNvSpPr/>
          <p:nvPr/>
        </p:nvSpPr>
        <p:spPr>
          <a:xfrm>
            <a:off x="450003" y="1146843"/>
            <a:ext cx="12823545" cy="5025799"/>
          </a:xfrm>
          <a:prstGeom prst="rect">
            <a:avLst/>
          </a:prstGeom>
        </p:spPr>
        <p:txBody>
          <a:bodyPr wrap="square">
            <a:spAutoFit/>
          </a:bodyPr>
          <a:lstStyle/>
          <a:p>
            <a:pPr>
              <a:lnSpc>
                <a:spcPct val="150000"/>
              </a:lnSpc>
            </a:pPr>
            <a:r>
              <a:rPr lang="en-US" dirty="0">
                <a:solidFill>
                  <a:srgbClr val="18537D"/>
                </a:solidFill>
              </a:rPr>
              <a:t>Web application servers are deployed on EC2 instance in VPC created in us-east-1 region. Last week there was a planned event to update security policy of these EC2 instance, but due to a manual error outage was observed. As a preventive measure, you need to create a process to evaluate these security policies post deployment   Which of the following actions will suffice to </a:t>
            </a:r>
            <a:r>
              <a:rPr lang="en-US" b="1" dirty="0">
                <a:solidFill>
                  <a:srgbClr val="18537D"/>
                </a:solidFill>
              </a:rPr>
              <a:t>assess network exposure post any changes in Security Group</a:t>
            </a:r>
            <a:r>
              <a:rPr lang="en-US" dirty="0">
                <a:solidFill>
                  <a:srgbClr val="18537D"/>
                </a:solidFill>
              </a:rPr>
              <a:t> in most effective way?</a:t>
            </a:r>
          </a:p>
          <a:p>
            <a:pPr>
              <a:lnSpc>
                <a:spcPct val="150000"/>
              </a:lnSpc>
            </a:pPr>
            <a:endParaRPr lang="en-US" dirty="0">
              <a:solidFill>
                <a:srgbClr val="18537D"/>
              </a:solidFill>
            </a:endParaRPr>
          </a:p>
          <a:p>
            <a:pPr>
              <a:lnSpc>
                <a:spcPct val="150000"/>
              </a:lnSpc>
            </a:pPr>
            <a:r>
              <a:rPr lang="en-US" dirty="0">
                <a:solidFill>
                  <a:srgbClr val="18537D"/>
                </a:solidFill>
              </a:rPr>
              <a:t>a. Initiate a network connection between EC2 instance to any destination outside VPC &amp; use VPC Flow logs to evaluate open ports with  Security Group.</a:t>
            </a:r>
          </a:p>
          <a:p>
            <a:pPr>
              <a:lnSpc>
                <a:spcPct val="150000"/>
              </a:lnSpc>
            </a:pPr>
            <a:r>
              <a:rPr lang="en-US" dirty="0">
                <a:solidFill>
                  <a:srgbClr val="18537D"/>
                </a:solidFill>
              </a:rPr>
              <a:t>b. Install third-party Network Port Scanning Tool on EC2 instance launched in a VP</a:t>
            </a:r>
          </a:p>
          <a:p>
            <a:pPr>
              <a:lnSpc>
                <a:spcPct val="150000"/>
              </a:lnSpc>
            </a:pPr>
            <a:r>
              <a:rPr lang="en-US" dirty="0">
                <a:solidFill>
                  <a:srgbClr val="18537D"/>
                </a:solidFill>
              </a:rPr>
              <a:t>c. Install an Amazon Inspector Agent on EC2 instance launched in a VPC to evaluate security groups.</a:t>
            </a:r>
          </a:p>
          <a:p>
            <a:pPr>
              <a:lnSpc>
                <a:spcPct val="150000"/>
              </a:lnSpc>
            </a:pPr>
            <a:r>
              <a:rPr lang="en-US" b="1" dirty="0">
                <a:solidFill>
                  <a:srgbClr val="18537D"/>
                </a:solidFill>
              </a:rPr>
              <a:t>d. Add a CloudWatch Event rule to automatically trigger Network Assessment post changes in security groups.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525135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have developed an application that is putting custom metrics into </a:t>
            </a:r>
            <a:r>
              <a:rPr lang="en-US" dirty="0" err="1">
                <a:solidFill>
                  <a:srgbClr val="18537D"/>
                </a:solidFill>
              </a:rPr>
              <a:t>Cloudwatch</a:t>
            </a:r>
            <a:r>
              <a:rPr lang="en-US" dirty="0">
                <a:solidFill>
                  <a:srgbClr val="18537D"/>
                </a:solidFill>
              </a:rPr>
              <a:t>. You need to generate alarms on a 10 second interval based on the published metrics. Which of the following needs to be done to fulfil this requirement?</a:t>
            </a:r>
          </a:p>
          <a:p>
            <a:pPr>
              <a:lnSpc>
                <a:spcPct val="150000"/>
              </a:lnSpc>
            </a:pPr>
            <a:endParaRPr lang="en-US" dirty="0">
              <a:solidFill>
                <a:srgbClr val="18537D"/>
              </a:solidFill>
            </a:endParaRPr>
          </a:p>
          <a:p>
            <a:pPr>
              <a:lnSpc>
                <a:spcPct val="150000"/>
              </a:lnSpc>
            </a:pPr>
            <a:r>
              <a:rPr lang="en-US" dirty="0">
                <a:solidFill>
                  <a:srgbClr val="18537D"/>
                </a:solidFill>
              </a:rPr>
              <a:t>a. Enable basic monitoring</a:t>
            </a:r>
          </a:p>
          <a:p>
            <a:pPr>
              <a:lnSpc>
                <a:spcPct val="150000"/>
              </a:lnSpc>
            </a:pPr>
            <a:r>
              <a:rPr lang="en-US" dirty="0">
                <a:solidFill>
                  <a:srgbClr val="18537D"/>
                </a:solidFill>
              </a:rPr>
              <a:t>b. Enable detailed monitoring</a:t>
            </a:r>
          </a:p>
          <a:p>
            <a:pPr>
              <a:lnSpc>
                <a:spcPct val="150000"/>
              </a:lnSpc>
            </a:pPr>
            <a:r>
              <a:rPr lang="en-US" dirty="0">
                <a:solidFill>
                  <a:srgbClr val="18537D"/>
                </a:solidFill>
              </a:rPr>
              <a:t>c. Create standard resolution metrics</a:t>
            </a:r>
          </a:p>
          <a:p>
            <a:pPr>
              <a:lnSpc>
                <a:spcPct val="150000"/>
              </a:lnSpc>
            </a:pPr>
            <a:r>
              <a:rPr lang="en-US" dirty="0">
                <a:solidFill>
                  <a:srgbClr val="18537D"/>
                </a:solidFill>
              </a:rPr>
              <a:t>d. Create high resolution metrics</a:t>
            </a:r>
          </a:p>
        </p:txBody>
      </p:sp>
    </p:spTree>
    <p:extLst>
      <p:ext uri="{BB962C8B-B14F-4D97-AF65-F5344CB8AC3E}">
        <p14:creationId xmlns:p14="http://schemas.microsoft.com/office/powerpoint/2010/main" val="3261050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have developed an application that is putting </a:t>
            </a:r>
            <a:r>
              <a:rPr lang="en-US" b="1" dirty="0">
                <a:solidFill>
                  <a:srgbClr val="18537D"/>
                </a:solidFill>
              </a:rPr>
              <a:t>custom metrics into </a:t>
            </a:r>
            <a:r>
              <a:rPr lang="en-US" b="1" dirty="0" err="1">
                <a:solidFill>
                  <a:srgbClr val="18537D"/>
                </a:solidFill>
              </a:rPr>
              <a:t>Cloudwatch</a:t>
            </a:r>
            <a:r>
              <a:rPr lang="en-US" dirty="0">
                <a:solidFill>
                  <a:srgbClr val="18537D"/>
                </a:solidFill>
              </a:rPr>
              <a:t>. You need to generate alarms on a </a:t>
            </a:r>
            <a:r>
              <a:rPr lang="en-US" b="1" dirty="0">
                <a:solidFill>
                  <a:srgbClr val="18537D"/>
                </a:solidFill>
              </a:rPr>
              <a:t>10 second interval based on the published metrics</a:t>
            </a:r>
            <a:r>
              <a:rPr lang="en-US" dirty="0">
                <a:solidFill>
                  <a:srgbClr val="18537D"/>
                </a:solidFill>
              </a:rPr>
              <a:t>. Which of the following needs to be done to fulfil this requirement?</a:t>
            </a:r>
          </a:p>
          <a:p>
            <a:pPr>
              <a:lnSpc>
                <a:spcPct val="150000"/>
              </a:lnSpc>
            </a:pPr>
            <a:endParaRPr lang="en-US" dirty="0">
              <a:solidFill>
                <a:srgbClr val="18537D"/>
              </a:solidFill>
            </a:endParaRPr>
          </a:p>
          <a:p>
            <a:pPr>
              <a:lnSpc>
                <a:spcPct val="150000"/>
              </a:lnSpc>
            </a:pPr>
            <a:r>
              <a:rPr lang="en-US" dirty="0">
                <a:solidFill>
                  <a:srgbClr val="18537D"/>
                </a:solidFill>
              </a:rPr>
              <a:t>a. Enable basic monitoring</a:t>
            </a:r>
          </a:p>
          <a:p>
            <a:pPr>
              <a:lnSpc>
                <a:spcPct val="150000"/>
              </a:lnSpc>
            </a:pPr>
            <a:r>
              <a:rPr lang="en-US" dirty="0">
                <a:solidFill>
                  <a:srgbClr val="18537D"/>
                </a:solidFill>
              </a:rPr>
              <a:t>b. Enable detailed monitoring</a:t>
            </a:r>
          </a:p>
          <a:p>
            <a:pPr>
              <a:lnSpc>
                <a:spcPct val="150000"/>
              </a:lnSpc>
            </a:pPr>
            <a:r>
              <a:rPr lang="en-US" dirty="0">
                <a:solidFill>
                  <a:srgbClr val="18537D"/>
                </a:solidFill>
              </a:rPr>
              <a:t>c. Create standard resolution metrics</a:t>
            </a:r>
          </a:p>
          <a:p>
            <a:pPr>
              <a:lnSpc>
                <a:spcPct val="150000"/>
              </a:lnSpc>
            </a:pPr>
            <a:r>
              <a:rPr lang="en-US" dirty="0">
                <a:solidFill>
                  <a:srgbClr val="18537D"/>
                </a:solidFill>
              </a:rPr>
              <a:t>d. Create high resolution metrics</a:t>
            </a:r>
          </a:p>
        </p:txBody>
      </p:sp>
    </p:spTree>
    <p:extLst>
      <p:ext uri="{BB962C8B-B14F-4D97-AF65-F5344CB8AC3E}">
        <p14:creationId xmlns:p14="http://schemas.microsoft.com/office/powerpoint/2010/main" val="3955263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have developed an application that is putting </a:t>
            </a:r>
            <a:r>
              <a:rPr lang="en-US" b="1" dirty="0">
                <a:solidFill>
                  <a:srgbClr val="18537D"/>
                </a:solidFill>
              </a:rPr>
              <a:t>custom metrics into </a:t>
            </a:r>
            <a:r>
              <a:rPr lang="en-US" b="1" dirty="0" err="1">
                <a:solidFill>
                  <a:srgbClr val="18537D"/>
                </a:solidFill>
              </a:rPr>
              <a:t>Cloudwatch</a:t>
            </a:r>
            <a:r>
              <a:rPr lang="en-US" dirty="0">
                <a:solidFill>
                  <a:srgbClr val="18537D"/>
                </a:solidFill>
              </a:rPr>
              <a:t>. You need to generate alarms on a </a:t>
            </a:r>
            <a:r>
              <a:rPr lang="en-US" b="1" dirty="0">
                <a:solidFill>
                  <a:srgbClr val="18537D"/>
                </a:solidFill>
              </a:rPr>
              <a:t>10 second interval based on the published metrics</a:t>
            </a:r>
            <a:r>
              <a:rPr lang="en-US" dirty="0">
                <a:solidFill>
                  <a:srgbClr val="18537D"/>
                </a:solidFill>
              </a:rPr>
              <a:t>. Which of the following needs to be done to fulfil this requirement?</a:t>
            </a:r>
          </a:p>
          <a:p>
            <a:pPr>
              <a:lnSpc>
                <a:spcPct val="150000"/>
              </a:lnSpc>
            </a:pPr>
            <a:endParaRPr lang="en-US" dirty="0">
              <a:solidFill>
                <a:srgbClr val="18537D"/>
              </a:solidFill>
            </a:endParaRPr>
          </a:p>
          <a:p>
            <a:pPr>
              <a:lnSpc>
                <a:spcPct val="150000"/>
              </a:lnSpc>
            </a:pPr>
            <a:r>
              <a:rPr lang="en-US" dirty="0">
                <a:solidFill>
                  <a:srgbClr val="18537D"/>
                </a:solidFill>
              </a:rPr>
              <a:t>a. Enable basic monitoring</a:t>
            </a:r>
          </a:p>
          <a:p>
            <a:pPr>
              <a:lnSpc>
                <a:spcPct val="150000"/>
              </a:lnSpc>
            </a:pPr>
            <a:r>
              <a:rPr lang="en-US" dirty="0">
                <a:solidFill>
                  <a:srgbClr val="18537D"/>
                </a:solidFill>
              </a:rPr>
              <a:t>b. Enable detailed monitoring</a:t>
            </a:r>
          </a:p>
          <a:p>
            <a:pPr>
              <a:lnSpc>
                <a:spcPct val="150000"/>
              </a:lnSpc>
            </a:pPr>
            <a:r>
              <a:rPr lang="en-US" dirty="0">
                <a:solidFill>
                  <a:srgbClr val="18537D"/>
                </a:solidFill>
              </a:rPr>
              <a:t>c. Create standard resolution metrics</a:t>
            </a:r>
          </a:p>
          <a:p>
            <a:pPr>
              <a:lnSpc>
                <a:spcPct val="150000"/>
              </a:lnSpc>
            </a:pPr>
            <a:r>
              <a:rPr lang="en-US" b="1" dirty="0">
                <a:solidFill>
                  <a:srgbClr val="18537D"/>
                </a:solidFill>
              </a:rPr>
              <a:t>d. Create high resolution metrics</a:t>
            </a:r>
          </a:p>
        </p:txBody>
      </p:sp>
    </p:spTree>
    <p:extLst>
      <p:ext uri="{BB962C8B-B14F-4D97-AF65-F5344CB8AC3E}">
        <p14:creationId xmlns:p14="http://schemas.microsoft.com/office/powerpoint/2010/main" val="3258877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application is publishing a custom CloudWatch metric any time an HTTP 504 error appears in the application error logs. These errors are being received intermittently. There is a CloudWatch Alarm for this metric and the Developer would like the alarm to trigger ONLY if it breaches two evaluation periods or more. What should be done to meet these requirements?</a:t>
            </a:r>
          </a:p>
          <a:p>
            <a:pPr>
              <a:lnSpc>
                <a:spcPct val="150000"/>
              </a:lnSpc>
            </a:pPr>
            <a:endParaRPr lang="en-US" dirty="0">
              <a:solidFill>
                <a:srgbClr val="18537D"/>
              </a:solidFill>
            </a:endParaRPr>
          </a:p>
          <a:p>
            <a:pPr>
              <a:lnSpc>
                <a:spcPct val="150000"/>
              </a:lnSpc>
            </a:pPr>
            <a:r>
              <a:rPr lang="en-US" dirty="0">
                <a:solidFill>
                  <a:srgbClr val="18537D"/>
                </a:solidFill>
              </a:rPr>
              <a:t>a. Update the CloudWatch Alarm to send a custom notification depending on results</a:t>
            </a:r>
          </a:p>
          <a:p>
            <a:pPr>
              <a:lnSpc>
                <a:spcPct val="150000"/>
              </a:lnSpc>
            </a:pPr>
            <a:r>
              <a:rPr lang="en-US" dirty="0">
                <a:solidFill>
                  <a:srgbClr val="18537D"/>
                </a:solidFill>
              </a:rPr>
              <a:t>b. Publish the value zero whenever there are no “HTTP 504” errors</a:t>
            </a:r>
          </a:p>
          <a:p>
            <a:pPr>
              <a:lnSpc>
                <a:spcPct val="150000"/>
              </a:lnSpc>
            </a:pPr>
            <a:r>
              <a:rPr lang="en-US" dirty="0">
                <a:solidFill>
                  <a:srgbClr val="18537D"/>
                </a:solidFill>
              </a:rPr>
              <a:t>c. Use high – resolution metrics to get data pushed to CloudWatch more frequently</a:t>
            </a:r>
          </a:p>
          <a:p>
            <a:pPr>
              <a:lnSpc>
                <a:spcPct val="150000"/>
              </a:lnSpc>
            </a:pPr>
            <a:r>
              <a:rPr lang="en-US" dirty="0">
                <a:solidFill>
                  <a:srgbClr val="18537D"/>
                </a:solidFill>
              </a:rPr>
              <a:t>d. The evaluation period and Data Points to Alarm should be set to 2 while creating this alarm</a:t>
            </a:r>
          </a:p>
        </p:txBody>
      </p:sp>
    </p:spTree>
    <p:extLst>
      <p:ext uri="{BB962C8B-B14F-4D97-AF65-F5344CB8AC3E}">
        <p14:creationId xmlns:p14="http://schemas.microsoft.com/office/powerpoint/2010/main" val="1840817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application is publishing a custom CloudWatch metric any time an </a:t>
            </a:r>
            <a:r>
              <a:rPr lang="en-US" b="1" dirty="0">
                <a:solidFill>
                  <a:srgbClr val="18537D"/>
                </a:solidFill>
              </a:rPr>
              <a:t>HTTP 504 error appears </a:t>
            </a:r>
            <a:r>
              <a:rPr lang="en-US" dirty="0">
                <a:solidFill>
                  <a:srgbClr val="18537D"/>
                </a:solidFill>
              </a:rPr>
              <a:t>in the application error logs. These errors are being received intermittently. There is a </a:t>
            </a:r>
            <a:r>
              <a:rPr lang="en-US" b="1" dirty="0">
                <a:solidFill>
                  <a:srgbClr val="18537D"/>
                </a:solidFill>
              </a:rPr>
              <a:t>CloudWatch Alarm for this metric and the Developer would like the alarm to trigger ONLY if it breaches two evaluation periods or more</a:t>
            </a:r>
            <a:r>
              <a:rPr lang="en-US" dirty="0">
                <a:solidFill>
                  <a:srgbClr val="18537D"/>
                </a:solidFill>
              </a:rPr>
              <a:t>. What should be done to meet these requirements?</a:t>
            </a:r>
          </a:p>
          <a:p>
            <a:pPr>
              <a:lnSpc>
                <a:spcPct val="150000"/>
              </a:lnSpc>
            </a:pPr>
            <a:endParaRPr lang="en-US" dirty="0">
              <a:solidFill>
                <a:srgbClr val="18537D"/>
              </a:solidFill>
            </a:endParaRPr>
          </a:p>
          <a:p>
            <a:pPr>
              <a:lnSpc>
                <a:spcPct val="150000"/>
              </a:lnSpc>
            </a:pPr>
            <a:r>
              <a:rPr lang="en-US" dirty="0">
                <a:solidFill>
                  <a:srgbClr val="18537D"/>
                </a:solidFill>
              </a:rPr>
              <a:t>a. Update the CloudWatch Alarm to send a custom notification depending on results</a:t>
            </a:r>
          </a:p>
          <a:p>
            <a:pPr>
              <a:lnSpc>
                <a:spcPct val="150000"/>
              </a:lnSpc>
            </a:pPr>
            <a:r>
              <a:rPr lang="en-US" dirty="0">
                <a:solidFill>
                  <a:srgbClr val="18537D"/>
                </a:solidFill>
              </a:rPr>
              <a:t>b. Publish the value zero whenever there are no “HTTP 504” errors</a:t>
            </a:r>
          </a:p>
          <a:p>
            <a:pPr>
              <a:lnSpc>
                <a:spcPct val="150000"/>
              </a:lnSpc>
            </a:pPr>
            <a:r>
              <a:rPr lang="en-US" dirty="0">
                <a:solidFill>
                  <a:srgbClr val="18537D"/>
                </a:solidFill>
              </a:rPr>
              <a:t>c. Use high – resolution metrics to get data pushed to CloudWatch more frequently</a:t>
            </a:r>
          </a:p>
          <a:p>
            <a:pPr>
              <a:lnSpc>
                <a:spcPct val="150000"/>
              </a:lnSpc>
            </a:pPr>
            <a:r>
              <a:rPr lang="en-US" dirty="0">
                <a:solidFill>
                  <a:srgbClr val="18537D"/>
                </a:solidFill>
              </a:rPr>
              <a:t>d. The evaluation period and Data Points to Alarm should be set to 2 while creating this alarm</a:t>
            </a:r>
          </a:p>
        </p:txBody>
      </p:sp>
    </p:spTree>
    <p:extLst>
      <p:ext uri="{BB962C8B-B14F-4D97-AF65-F5344CB8AC3E}">
        <p14:creationId xmlns:p14="http://schemas.microsoft.com/office/powerpoint/2010/main" val="313512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normAutofit/>
          </a:bodyPr>
          <a:lstStyle/>
          <a:p>
            <a:r>
              <a:rPr lang="en-US" sz="3600" dirty="0">
                <a:solidFill>
                  <a:schemeClr val="bg1"/>
                </a:solidFill>
              </a:rPr>
              <a:t>Sample Questions </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An application is publishing a custom CloudWatch metric any time an </a:t>
            </a:r>
            <a:r>
              <a:rPr lang="en-US" b="1" dirty="0">
                <a:solidFill>
                  <a:srgbClr val="18537D"/>
                </a:solidFill>
              </a:rPr>
              <a:t>HTTP 504 error appears </a:t>
            </a:r>
            <a:r>
              <a:rPr lang="en-US" dirty="0">
                <a:solidFill>
                  <a:srgbClr val="18537D"/>
                </a:solidFill>
              </a:rPr>
              <a:t>in the application error logs. These errors are being received intermittently. There is a </a:t>
            </a:r>
            <a:r>
              <a:rPr lang="en-US" b="1" dirty="0">
                <a:solidFill>
                  <a:srgbClr val="18537D"/>
                </a:solidFill>
              </a:rPr>
              <a:t>CloudWatch Alarm for this metric and the Developer would like the alarm to trigger ONLY if it breaches two evaluation periods or more</a:t>
            </a:r>
            <a:r>
              <a:rPr lang="en-US" dirty="0">
                <a:solidFill>
                  <a:srgbClr val="18537D"/>
                </a:solidFill>
              </a:rPr>
              <a:t>. What should be done to meet these requirements?</a:t>
            </a:r>
          </a:p>
          <a:p>
            <a:pPr>
              <a:lnSpc>
                <a:spcPct val="150000"/>
              </a:lnSpc>
            </a:pPr>
            <a:endParaRPr lang="en-US" dirty="0">
              <a:solidFill>
                <a:srgbClr val="18537D"/>
              </a:solidFill>
            </a:endParaRPr>
          </a:p>
          <a:p>
            <a:pPr>
              <a:lnSpc>
                <a:spcPct val="150000"/>
              </a:lnSpc>
            </a:pPr>
            <a:r>
              <a:rPr lang="en-US" dirty="0">
                <a:solidFill>
                  <a:srgbClr val="18537D"/>
                </a:solidFill>
              </a:rPr>
              <a:t>a. Update the CloudWatch Alarm to send a custom notification depending on results</a:t>
            </a:r>
          </a:p>
          <a:p>
            <a:pPr>
              <a:lnSpc>
                <a:spcPct val="150000"/>
              </a:lnSpc>
            </a:pPr>
            <a:r>
              <a:rPr lang="en-US" dirty="0">
                <a:solidFill>
                  <a:srgbClr val="18537D"/>
                </a:solidFill>
              </a:rPr>
              <a:t>b. Publish the value zero whenever there are no “HTTP 504” errors</a:t>
            </a:r>
          </a:p>
          <a:p>
            <a:pPr>
              <a:lnSpc>
                <a:spcPct val="150000"/>
              </a:lnSpc>
            </a:pPr>
            <a:r>
              <a:rPr lang="en-US" dirty="0">
                <a:solidFill>
                  <a:srgbClr val="18537D"/>
                </a:solidFill>
              </a:rPr>
              <a:t>c. Use high – resolution metrics to get data pushed to CloudWatch more frequently</a:t>
            </a:r>
          </a:p>
          <a:p>
            <a:pPr>
              <a:lnSpc>
                <a:spcPct val="150000"/>
              </a:lnSpc>
            </a:pPr>
            <a:r>
              <a:rPr lang="en-US" b="1" dirty="0">
                <a:solidFill>
                  <a:srgbClr val="18537D"/>
                </a:solidFill>
              </a:rPr>
              <a:t>d. The evaluation period and Data Points to Alarm should be set to 2 while creating this alarm</a:t>
            </a:r>
          </a:p>
        </p:txBody>
      </p:sp>
    </p:spTree>
    <p:extLst>
      <p:ext uri="{BB962C8B-B14F-4D97-AF65-F5344CB8AC3E}">
        <p14:creationId xmlns:p14="http://schemas.microsoft.com/office/powerpoint/2010/main" val="352650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30</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As an AWS systems administrator for your company, you have enabled CloudTrail logs for your company’s account. The head of IT operations has also advised that the logs need to be encrypted. As the AWS admin for the company, what advice would you offer?</a:t>
            </a:r>
          </a:p>
          <a:p>
            <a:pPr>
              <a:lnSpc>
                <a:spcPct val="150000"/>
              </a:lnSpc>
            </a:pPr>
            <a:endParaRPr lang="en-US" dirty="0">
              <a:solidFill>
                <a:srgbClr val="18537D"/>
              </a:solidFill>
            </a:endParaRPr>
          </a:p>
          <a:p>
            <a:pPr>
              <a:lnSpc>
                <a:spcPct val="150000"/>
              </a:lnSpc>
            </a:pPr>
            <a:r>
              <a:rPr lang="en-US" dirty="0">
                <a:solidFill>
                  <a:srgbClr val="18537D"/>
                </a:solidFill>
              </a:rPr>
              <a:t>a. Enable TLS certificate for the CloudTrail Logs.</a:t>
            </a:r>
          </a:p>
          <a:p>
            <a:pPr>
              <a:lnSpc>
                <a:spcPct val="150000"/>
              </a:lnSpc>
            </a:pPr>
            <a:r>
              <a:rPr lang="en-US" dirty="0">
                <a:solidFill>
                  <a:srgbClr val="18537D"/>
                </a:solidFill>
              </a:rPr>
              <a:t>b. </a:t>
            </a:r>
            <a:r>
              <a:rPr lang="en-US" dirty="0" err="1">
                <a:solidFill>
                  <a:srgbClr val="18537D"/>
                </a:solidFill>
              </a:rPr>
              <a:t>CloudTrails</a:t>
            </a:r>
            <a:r>
              <a:rPr lang="en-US" dirty="0">
                <a:solidFill>
                  <a:srgbClr val="18537D"/>
                </a:solidFill>
              </a:rPr>
              <a:t> logs are automatically encrypted, hence no cause for alarm.</a:t>
            </a:r>
          </a:p>
          <a:p>
            <a:pPr>
              <a:lnSpc>
                <a:spcPct val="150000"/>
              </a:lnSpc>
            </a:pPr>
            <a:r>
              <a:rPr lang="en-US" dirty="0">
                <a:solidFill>
                  <a:srgbClr val="18537D"/>
                </a:solidFill>
              </a:rPr>
              <a:t>c. Create bucket policy on the S3 to enforce encryption of this trails .</a:t>
            </a:r>
          </a:p>
          <a:p>
            <a:pPr>
              <a:lnSpc>
                <a:spcPct val="150000"/>
              </a:lnSpc>
            </a:pPr>
            <a:r>
              <a:rPr lang="en-US" dirty="0">
                <a:solidFill>
                  <a:srgbClr val="18537D"/>
                </a:solidFill>
              </a:rPr>
              <a:t>d. Use AWS KMS to encrypt the trails.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66243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31</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As an AWS systems administrator for your company, you have enabled </a:t>
            </a:r>
            <a:r>
              <a:rPr lang="en-US" b="1" dirty="0">
                <a:solidFill>
                  <a:srgbClr val="18537D"/>
                </a:solidFill>
              </a:rPr>
              <a:t>CloudTrail logs </a:t>
            </a:r>
            <a:r>
              <a:rPr lang="en-US" dirty="0">
                <a:solidFill>
                  <a:srgbClr val="18537D"/>
                </a:solidFill>
              </a:rPr>
              <a:t>for your company’s account. The head of IT operations has also advised that the </a:t>
            </a:r>
            <a:r>
              <a:rPr lang="en-US" b="1" dirty="0">
                <a:solidFill>
                  <a:srgbClr val="18537D"/>
                </a:solidFill>
              </a:rPr>
              <a:t>logs need to be encrypted</a:t>
            </a:r>
            <a:r>
              <a:rPr lang="en-US" dirty="0">
                <a:solidFill>
                  <a:srgbClr val="18537D"/>
                </a:solidFill>
              </a:rPr>
              <a:t>. As the AWS admin for the company, what advice would you offer?</a:t>
            </a:r>
          </a:p>
          <a:p>
            <a:pPr>
              <a:lnSpc>
                <a:spcPct val="150000"/>
              </a:lnSpc>
            </a:pPr>
            <a:endParaRPr lang="en-US" dirty="0">
              <a:solidFill>
                <a:srgbClr val="18537D"/>
              </a:solidFill>
            </a:endParaRPr>
          </a:p>
          <a:p>
            <a:pPr>
              <a:lnSpc>
                <a:spcPct val="150000"/>
              </a:lnSpc>
            </a:pPr>
            <a:r>
              <a:rPr lang="en-US" dirty="0">
                <a:solidFill>
                  <a:srgbClr val="18537D"/>
                </a:solidFill>
              </a:rPr>
              <a:t>a. Enable TLS certificate for the CloudTrail Logs.</a:t>
            </a:r>
          </a:p>
          <a:p>
            <a:pPr>
              <a:lnSpc>
                <a:spcPct val="150000"/>
              </a:lnSpc>
            </a:pPr>
            <a:r>
              <a:rPr lang="en-US" dirty="0">
                <a:solidFill>
                  <a:srgbClr val="18537D"/>
                </a:solidFill>
              </a:rPr>
              <a:t>b. </a:t>
            </a:r>
            <a:r>
              <a:rPr lang="en-US" dirty="0" err="1">
                <a:solidFill>
                  <a:srgbClr val="18537D"/>
                </a:solidFill>
              </a:rPr>
              <a:t>CloudTrails</a:t>
            </a:r>
            <a:r>
              <a:rPr lang="en-US" dirty="0">
                <a:solidFill>
                  <a:srgbClr val="18537D"/>
                </a:solidFill>
              </a:rPr>
              <a:t> logs are automatically encrypted, hence no cause for alarm.</a:t>
            </a:r>
          </a:p>
          <a:p>
            <a:pPr>
              <a:lnSpc>
                <a:spcPct val="150000"/>
              </a:lnSpc>
            </a:pPr>
            <a:r>
              <a:rPr lang="en-US" dirty="0">
                <a:solidFill>
                  <a:srgbClr val="18537D"/>
                </a:solidFill>
              </a:rPr>
              <a:t>c. Create bucket policy on the S3 to enforce encryption of this trails .</a:t>
            </a:r>
          </a:p>
          <a:p>
            <a:pPr>
              <a:lnSpc>
                <a:spcPct val="150000"/>
              </a:lnSpc>
            </a:pPr>
            <a:r>
              <a:rPr lang="en-US" dirty="0">
                <a:solidFill>
                  <a:srgbClr val="18537D"/>
                </a:solidFill>
              </a:rPr>
              <a:t>d. Use AWS KMS to encrypt the trails.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920458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32</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As an AWS systems administrator for your company, you have enabled </a:t>
            </a:r>
            <a:r>
              <a:rPr lang="en-US" b="1" dirty="0">
                <a:solidFill>
                  <a:srgbClr val="18537D"/>
                </a:solidFill>
              </a:rPr>
              <a:t>CloudTrail logs </a:t>
            </a:r>
            <a:r>
              <a:rPr lang="en-US" dirty="0">
                <a:solidFill>
                  <a:srgbClr val="18537D"/>
                </a:solidFill>
              </a:rPr>
              <a:t>for your company’s account. The head of IT operations has also advised that the </a:t>
            </a:r>
            <a:r>
              <a:rPr lang="en-US" b="1" dirty="0">
                <a:solidFill>
                  <a:srgbClr val="18537D"/>
                </a:solidFill>
              </a:rPr>
              <a:t>logs need to be encrypted</a:t>
            </a:r>
            <a:r>
              <a:rPr lang="en-US" dirty="0">
                <a:solidFill>
                  <a:srgbClr val="18537D"/>
                </a:solidFill>
              </a:rPr>
              <a:t>. As the AWS admin for the company, what advice would you offer?</a:t>
            </a:r>
          </a:p>
          <a:p>
            <a:pPr>
              <a:lnSpc>
                <a:spcPct val="150000"/>
              </a:lnSpc>
            </a:pPr>
            <a:endParaRPr lang="en-US" dirty="0">
              <a:solidFill>
                <a:srgbClr val="18537D"/>
              </a:solidFill>
            </a:endParaRPr>
          </a:p>
          <a:p>
            <a:pPr>
              <a:lnSpc>
                <a:spcPct val="150000"/>
              </a:lnSpc>
            </a:pPr>
            <a:r>
              <a:rPr lang="en-US" dirty="0">
                <a:solidFill>
                  <a:srgbClr val="18537D"/>
                </a:solidFill>
              </a:rPr>
              <a:t>a. Enable TLS certificate for the CloudTrail Logs.</a:t>
            </a:r>
          </a:p>
          <a:p>
            <a:pPr>
              <a:lnSpc>
                <a:spcPct val="150000"/>
              </a:lnSpc>
            </a:pPr>
            <a:r>
              <a:rPr lang="en-US" b="1" dirty="0">
                <a:solidFill>
                  <a:srgbClr val="18537D"/>
                </a:solidFill>
              </a:rPr>
              <a:t>b. </a:t>
            </a:r>
            <a:r>
              <a:rPr lang="en-US" b="1" dirty="0" err="1">
                <a:solidFill>
                  <a:srgbClr val="18537D"/>
                </a:solidFill>
              </a:rPr>
              <a:t>CloudTrails</a:t>
            </a:r>
            <a:r>
              <a:rPr lang="en-US" b="1" dirty="0">
                <a:solidFill>
                  <a:srgbClr val="18537D"/>
                </a:solidFill>
              </a:rPr>
              <a:t> logs are automatically encrypted, hence no cause for alarm.</a:t>
            </a:r>
          </a:p>
          <a:p>
            <a:pPr>
              <a:lnSpc>
                <a:spcPct val="150000"/>
              </a:lnSpc>
            </a:pPr>
            <a:r>
              <a:rPr lang="en-US" dirty="0">
                <a:solidFill>
                  <a:srgbClr val="18537D"/>
                </a:solidFill>
              </a:rPr>
              <a:t>c. Create bucket policy on the S3 to enforce encryption of this trails .</a:t>
            </a:r>
          </a:p>
          <a:p>
            <a:pPr>
              <a:lnSpc>
                <a:spcPct val="150000"/>
              </a:lnSpc>
            </a:pPr>
            <a:r>
              <a:rPr lang="en-US" dirty="0">
                <a:solidFill>
                  <a:srgbClr val="18537D"/>
                </a:solidFill>
              </a:rPr>
              <a:t>d. Use AWS KMS to encrypt the trails.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33926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33</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4194803"/>
          </a:xfrm>
          <a:prstGeom prst="rect">
            <a:avLst/>
          </a:prstGeom>
        </p:spPr>
        <p:txBody>
          <a:bodyPr wrap="square">
            <a:spAutoFit/>
          </a:bodyPr>
          <a:lstStyle/>
          <a:p>
            <a:pPr>
              <a:lnSpc>
                <a:spcPct val="150000"/>
              </a:lnSpc>
            </a:pPr>
            <a:r>
              <a:rPr lang="en-US" dirty="0">
                <a:solidFill>
                  <a:srgbClr val="18537D"/>
                </a:solidFill>
              </a:rPr>
              <a:t>Being an AWS administrator for a certain company which has AWS infrastructure in two regions., you are involved in architecting a web application environment. There is a requirement for monitoring API calls to ensure that auditing the environment for compliance is easy and follows strict security compliance requirements and also the logs should be encrypted. Which of the following would help to achieve this?</a:t>
            </a:r>
          </a:p>
          <a:p>
            <a:pPr>
              <a:lnSpc>
                <a:spcPct val="150000"/>
              </a:lnSpc>
            </a:pPr>
            <a:endParaRPr lang="en-US" dirty="0">
              <a:solidFill>
                <a:srgbClr val="18537D"/>
              </a:solidFill>
            </a:endParaRPr>
          </a:p>
          <a:p>
            <a:pPr>
              <a:lnSpc>
                <a:spcPct val="150000"/>
              </a:lnSpc>
            </a:pPr>
            <a:r>
              <a:rPr lang="en-US" dirty="0">
                <a:solidFill>
                  <a:srgbClr val="18537D"/>
                </a:solidFill>
              </a:rPr>
              <a:t>a. AWS VPC flow logs and Subnet logs.</a:t>
            </a:r>
          </a:p>
          <a:p>
            <a:pPr>
              <a:lnSpc>
                <a:spcPct val="150000"/>
              </a:lnSpc>
            </a:pPr>
            <a:r>
              <a:rPr lang="en-US" dirty="0">
                <a:solidFill>
                  <a:srgbClr val="18537D"/>
                </a:solidFill>
              </a:rPr>
              <a:t>b. AWS CloudTrail logs</a:t>
            </a:r>
          </a:p>
          <a:p>
            <a:pPr>
              <a:lnSpc>
                <a:spcPct val="150000"/>
              </a:lnSpc>
            </a:pPr>
            <a:r>
              <a:rPr lang="en-US" dirty="0">
                <a:solidFill>
                  <a:srgbClr val="18537D"/>
                </a:solidFill>
              </a:rPr>
              <a:t>c. Use request tracing .</a:t>
            </a:r>
          </a:p>
          <a:p>
            <a:pPr>
              <a:lnSpc>
                <a:spcPct val="150000"/>
              </a:lnSpc>
            </a:pPr>
            <a:r>
              <a:rPr lang="en-US" dirty="0">
                <a:solidFill>
                  <a:srgbClr val="18537D"/>
                </a:solidFill>
              </a:rPr>
              <a:t>d. AWS CloudTrail logs and CloudWatch logs.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571704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34</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4194803"/>
          </a:xfrm>
          <a:prstGeom prst="rect">
            <a:avLst/>
          </a:prstGeom>
        </p:spPr>
        <p:txBody>
          <a:bodyPr wrap="square">
            <a:spAutoFit/>
          </a:bodyPr>
          <a:lstStyle/>
          <a:p>
            <a:pPr>
              <a:lnSpc>
                <a:spcPct val="150000"/>
              </a:lnSpc>
            </a:pPr>
            <a:r>
              <a:rPr lang="en-US" dirty="0">
                <a:solidFill>
                  <a:srgbClr val="18537D"/>
                </a:solidFill>
              </a:rPr>
              <a:t>Being an AWS administrator for a certain company which has AWS infrastructure in </a:t>
            </a:r>
            <a:r>
              <a:rPr lang="en-US" b="1" dirty="0">
                <a:solidFill>
                  <a:srgbClr val="18537D"/>
                </a:solidFill>
              </a:rPr>
              <a:t>two regions</a:t>
            </a:r>
            <a:r>
              <a:rPr lang="en-US" dirty="0">
                <a:solidFill>
                  <a:srgbClr val="18537D"/>
                </a:solidFill>
              </a:rPr>
              <a:t>., you are involved in architecting a web application environment. There is a requirement for </a:t>
            </a:r>
            <a:r>
              <a:rPr lang="en-US" b="1" dirty="0">
                <a:solidFill>
                  <a:srgbClr val="18537D"/>
                </a:solidFill>
              </a:rPr>
              <a:t>monitoring API calls</a:t>
            </a:r>
            <a:r>
              <a:rPr lang="en-US" dirty="0">
                <a:solidFill>
                  <a:srgbClr val="18537D"/>
                </a:solidFill>
              </a:rPr>
              <a:t> to ensure that auditing the environment for compliance is easy and follows strict security compliance requirements and also the </a:t>
            </a:r>
            <a:r>
              <a:rPr lang="en-US" b="1" dirty="0">
                <a:solidFill>
                  <a:srgbClr val="18537D"/>
                </a:solidFill>
              </a:rPr>
              <a:t>logs should be encrypted</a:t>
            </a:r>
            <a:r>
              <a:rPr lang="en-US" dirty="0">
                <a:solidFill>
                  <a:srgbClr val="18537D"/>
                </a:solidFill>
              </a:rPr>
              <a:t>. Which of the following would help to achieve this?</a:t>
            </a:r>
          </a:p>
          <a:p>
            <a:pPr>
              <a:lnSpc>
                <a:spcPct val="150000"/>
              </a:lnSpc>
            </a:pPr>
            <a:endParaRPr lang="en-US" dirty="0">
              <a:solidFill>
                <a:srgbClr val="18537D"/>
              </a:solidFill>
            </a:endParaRPr>
          </a:p>
          <a:p>
            <a:pPr>
              <a:lnSpc>
                <a:spcPct val="150000"/>
              </a:lnSpc>
            </a:pPr>
            <a:r>
              <a:rPr lang="en-US" dirty="0">
                <a:solidFill>
                  <a:srgbClr val="18537D"/>
                </a:solidFill>
              </a:rPr>
              <a:t>a. AWS VPC flow logs and Subnet logs.</a:t>
            </a:r>
          </a:p>
          <a:p>
            <a:pPr>
              <a:lnSpc>
                <a:spcPct val="150000"/>
              </a:lnSpc>
            </a:pPr>
            <a:r>
              <a:rPr lang="en-US" dirty="0">
                <a:solidFill>
                  <a:srgbClr val="18537D"/>
                </a:solidFill>
              </a:rPr>
              <a:t>b. AWS CloudTrail logs</a:t>
            </a:r>
          </a:p>
          <a:p>
            <a:pPr>
              <a:lnSpc>
                <a:spcPct val="150000"/>
              </a:lnSpc>
            </a:pPr>
            <a:r>
              <a:rPr lang="en-US" dirty="0">
                <a:solidFill>
                  <a:srgbClr val="18537D"/>
                </a:solidFill>
              </a:rPr>
              <a:t>c. Use request tracing .</a:t>
            </a:r>
          </a:p>
          <a:p>
            <a:pPr>
              <a:lnSpc>
                <a:spcPct val="150000"/>
              </a:lnSpc>
            </a:pPr>
            <a:r>
              <a:rPr lang="en-US" dirty="0">
                <a:solidFill>
                  <a:srgbClr val="18537D"/>
                </a:solidFill>
              </a:rPr>
              <a:t>d. AWS CloudTrail logs and CloudWatch logs.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504944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35</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4194803"/>
          </a:xfrm>
          <a:prstGeom prst="rect">
            <a:avLst/>
          </a:prstGeom>
        </p:spPr>
        <p:txBody>
          <a:bodyPr wrap="square">
            <a:spAutoFit/>
          </a:bodyPr>
          <a:lstStyle/>
          <a:p>
            <a:pPr>
              <a:lnSpc>
                <a:spcPct val="150000"/>
              </a:lnSpc>
            </a:pPr>
            <a:r>
              <a:rPr lang="en-US" dirty="0">
                <a:solidFill>
                  <a:srgbClr val="18537D"/>
                </a:solidFill>
              </a:rPr>
              <a:t>Being an AWS administrator for a certain company which has AWS infrastructure in </a:t>
            </a:r>
            <a:r>
              <a:rPr lang="en-US" b="1" dirty="0">
                <a:solidFill>
                  <a:srgbClr val="18537D"/>
                </a:solidFill>
              </a:rPr>
              <a:t>two regions</a:t>
            </a:r>
            <a:r>
              <a:rPr lang="en-US" dirty="0">
                <a:solidFill>
                  <a:srgbClr val="18537D"/>
                </a:solidFill>
              </a:rPr>
              <a:t>., you are involved in architecting a web application environment. There is a requirement for </a:t>
            </a:r>
            <a:r>
              <a:rPr lang="en-US" b="1" dirty="0">
                <a:solidFill>
                  <a:srgbClr val="18537D"/>
                </a:solidFill>
              </a:rPr>
              <a:t>monitoring API calls</a:t>
            </a:r>
            <a:r>
              <a:rPr lang="en-US" dirty="0">
                <a:solidFill>
                  <a:srgbClr val="18537D"/>
                </a:solidFill>
              </a:rPr>
              <a:t> to ensure that auditing the environment for compliance is easy and follows </a:t>
            </a:r>
            <a:r>
              <a:rPr lang="en-US" b="1" dirty="0">
                <a:solidFill>
                  <a:srgbClr val="18537D"/>
                </a:solidFill>
              </a:rPr>
              <a:t>strict security compliance requirements </a:t>
            </a:r>
            <a:r>
              <a:rPr lang="en-US" dirty="0">
                <a:solidFill>
                  <a:srgbClr val="18537D"/>
                </a:solidFill>
              </a:rPr>
              <a:t>and also the </a:t>
            </a:r>
            <a:r>
              <a:rPr lang="en-US" b="1" dirty="0">
                <a:solidFill>
                  <a:srgbClr val="18537D"/>
                </a:solidFill>
              </a:rPr>
              <a:t>logs should be encrypted</a:t>
            </a:r>
            <a:r>
              <a:rPr lang="en-US" dirty="0">
                <a:solidFill>
                  <a:srgbClr val="18537D"/>
                </a:solidFill>
              </a:rPr>
              <a:t>. Which of the following would help to achieve this?</a:t>
            </a:r>
          </a:p>
          <a:p>
            <a:pPr>
              <a:lnSpc>
                <a:spcPct val="150000"/>
              </a:lnSpc>
            </a:pPr>
            <a:endParaRPr lang="en-US" dirty="0">
              <a:solidFill>
                <a:srgbClr val="18537D"/>
              </a:solidFill>
            </a:endParaRPr>
          </a:p>
          <a:p>
            <a:pPr>
              <a:lnSpc>
                <a:spcPct val="150000"/>
              </a:lnSpc>
            </a:pPr>
            <a:r>
              <a:rPr lang="en-US" dirty="0">
                <a:solidFill>
                  <a:srgbClr val="18537D"/>
                </a:solidFill>
              </a:rPr>
              <a:t>a. AWS VPC flow logs and Subnet logs.</a:t>
            </a:r>
          </a:p>
          <a:p>
            <a:pPr>
              <a:lnSpc>
                <a:spcPct val="150000"/>
              </a:lnSpc>
            </a:pPr>
            <a:r>
              <a:rPr lang="en-US" b="1" dirty="0">
                <a:solidFill>
                  <a:srgbClr val="18537D"/>
                </a:solidFill>
              </a:rPr>
              <a:t>b. AWS CloudTrail logs</a:t>
            </a:r>
          </a:p>
          <a:p>
            <a:pPr>
              <a:lnSpc>
                <a:spcPct val="150000"/>
              </a:lnSpc>
            </a:pPr>
            <a:r>
              <a:rPr lang="en-US" dirty="0">
                <a:solidFill>
                  <a:srgbClr val="18537D"/>
                </a:solidFill>
              </a:rPr>
              <a:t>c. Use request tracing .</a:t>
            </a:r>
          </a:p>
          <a:p>
            <a:pPr>
              <a:lnSpc>
                <a:spcPct val="150000"/>
              </a:lnSpc>
            </a:pPr>
            <a:r>
              <a:rPr lang="en-US" dirty="0">
                <a:solidFill>
                  <a:srgbClr val="18537D"/>
                </a:solidFill>
              </a:rPr>
              <a:t>d. AWS CloudTrail logs and CloudWatch logs.</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620705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36</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An organization has configured the custom metric upload with CloudWatch. The organization has given permission to its employees to upload data using CLI as well SDK. How can the user track the calls made to CloudWatch? </a:t>
            </a:r>
          </a:p>
          <a:p>
            <a:pPr>
              <a:lnSpc>
                <a:spcPct val="150000"/>
              </a:lnSpc>
            </a:pPr>
            <a:endParaRPr lang="en-US" dirty="0">
              <a:solidFill>
                <a:srgbClr val="18537D"/>
              </a:solidFill>
            </a:endParaRPr>
          </a:p>
          <a:p>
            <a:pPr>
              <a:lnSpc>
                <a:spcPct val="150000"/>
              </a:lnSpc>
            </a:pPr>
            <a:r>
              <a:rPr lang="en-US" dirty="0">
                <a:solidFill>
                  <a:srgbClr val="18537D"/>
                </a:solidFill>
              </a:rPr>
              <a:t>A. The user can enable logging with CloudWatch which logs all the activities</a:t>
            </a:r>
          </a:p>
          <a:p>
            <a:pPr>
              <a:lnSpc>
                <a:spcPct val="150000"/>
              </a:lnSpc>
            </a:pPr>
            <a:r>
              <a:rPr lang="en-US" dirty="0">
                <a:solidFill>
                  <a:srgbClr val="18537D"/>
                </a:solidFill>
              </a:rPr>
              <a:t>B. Use CloudTrail to monitor the API calls</a:t>
            </a:r>
          </a:p>
          <a:p>
            <a:pPr>
              <a:lnSpc>
                <a:spcPct val="150000"/>
              </a:lnSpc>
            </a:pPr>
            <a:r>
              <a:rPr lang="en-US" dirty="0">
                <a:solidFill>
                  <a:srgbClr val="18537D"/>
                </a:solidFill>
              </a:rPr>
              <a:t>C. Create an IAM user and allow each user to log the data using the S3 bucket</a:t>
            </a:r>
          </a:p>
          <a:p>
            <a:pPr>
              <a:lnSpc>
                <a:spcPct val="150000"/>
              </a:lnSpc>
            </a:pPr>
            <a:r>
              <a:rPr lang="en-US" dirty="0">
                <a:solidFill>
                  <a:srgbClr val="18537D"/>
                </a:solidFill>
              </a:rPr>
              <a:t>D. Enable detailed monitoring with CloudWatch</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467898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37</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An organization has configured the custom metric upload with CloudWatch. The organization has given permission to its </a:t>
            </a:r>
            <a:r>
              <a:rPr lang="en-US" b="1" dirty="0">
                <a:solidFill>
                  <a:srgbClr val="18537D"/>
                </a:solidFill>
              </a:rPr>
              <a:t>employees to upload data using CLI as well SDK</a:t>
            </a:r>
            <a:r>
              <a:rPr lang="en-US" dirty="0">
                <a:solidFill>
                  <a:srgbClr val="18537D"/>
                </a:solidFill>
              </a:rPr>
              <a:t>. How can the </a:t>
            </a:r>
            <a:r>
              <a:rPr lang="en-US" b="1" dirty="0">
                <a:solidFill>
                  <a:srgbClr val="18537D"/>
                </a:solidFill>
              </a:rPr>
              <a:t>user track the calls made to CloudWatch</a:t>
            </a:r>
            <a:r>
              <a:rPr lang="en-US" dirty="0">
                <a:solidFill>
                  <a:srgbClr val="18537D"/>
                </a:solidFill>
              </a:rPr>
              <a:t>? </a:t>
            </a:r>
          </a:p>
          <a:p>
            <a:pPr>
              <a:lnSpc>
                <a:spcPct val="150000"/>
              </a:lnSpc>
            </a:pPr>
            <a:endParaRPr lang="en-US" dirty="0">
              <a:solidFill>
                <a:srgbClr val="18537D"/>
              </a:solidFill>
            </a:endParaRPr>
          </a:p>
          <a:p>
            <a:pPr>
              <a:lnSpc>
                <a:spcPct val="150000"/>
              </a:lnSpc>
            </a:pPr>
            <a:r>
              <a:rPr lang="en-US" dirty="0">
                <a:solidFill>
                  <a:srgbClr val="18537D"/>
                </a:solidFill>
              </a:rPr>
              <a:t>A. The user can enable logging with CloudWatch which logs all the activities</a:t>
            </a:r>
          </a:p>
          <a:p>
            <a:pPr>
              <a:lnSpc>
                <a:spcPct val="150000"/>
              </a:lnSpc>
            </a:pPr>
            <a:r>
              <a:rPr lang="en-US" dirty="0">
                <a:solidFill>
                  <a:srgbClr val="18537D"/>
                </a:solidFill>
              </a:rPr>
              <a:t>B. Use CloudTrail to monitor the API calls</a:t>
            </a:r>
          </a:p>
          <a:p>
            <a:pPr>
              <a:lnSpc>
                <a:spcPct val="150000"/>
              </a:lnSpc>
            </a:pPr>
            <a:r>
              <a:rPr lang="en-US" dirty="0">
                <a:solidFill>
                  <a:srgbClr val="18537D"/>
                </a:solidFill>
              </a:rPr>
              <a:t>C. Create an IAM user and allow each user to log the data using the S3 bucket</a:t>
            </a:r>
          </a:p>
          <a:p>
            <a:pPr>
              <a:lnSpc>
                <a:spcPct val="150000"/>
              </a:lnSpc>
            </a:pPr>
            <a:r>
              <a:rPr lang="en-US" dirty="0">
                <a:solidFill>
                  <a:srgbClr val="18537D"/>
                </a:solidFill>
              </a:rPr>
              <a:t>D. Enable detailed monitoring with CloudWatch</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4235539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F49FD3-74C9-42DF-AE35-E4A98D6836C8}"/>
              </a:ext>
            </a:extLst>
          </p:cNvPr>
          <p:cNvSpPr>
            <a:spLocks noGrp="1"/>
          </p:cNvSpPr>
          <p:nvPr>
            <p:ph type="sldNum" sz="quarter" idx="17"/>
          </p:nvPr>
        </p:nvSpPr>
        <p:spPr/>
        <p:txBody>
          <a:bodyPr/>
          <a:lstStyle/>
          <a:p>
            <a:fld id="{4F9AC08D-23A9-440E-BCB9-AA1E9877CC38}" type="slidenum">
              <a:rPr lang="en-US" smtClean="0"/>
              <a:pPr/>
              <a:t>38</a:t>
            </a:fld>
            <a:endParaRPr lang="en-US" dirty="0"/>
          </a:p>
        </p:txBody>
      </p:sp>
      <p:sp>
        <p:nvSpPr>
          <p:cNvPr id="3" name="Title 2">
            <a:extLst>
              <a:ext uri="{FF2B5EF4-FFF2-40B4-BE49-F238E27FC236}">
                <a16:creationId xmlns:a16="http://schemas.microsoft.com/office/drawing/2014/main" id="{71ED6900-662E-4A73-AC79-173B8BCE64D1}"/>
              </a:ext>
            </a:extLst>
          </p:cNvPr>
          <p:cNvSpPr>
            <a:spLocks noGrp="1"/>
          </p:cNvSpPr>
          <p:nvPr>
            <p:ph type="title"/>
          </p:nvPr>
        </p:nvSpPr>
        <p:spPr>
          <a:xfrm>
            <a:off x="450010" y="311475"/>
            <a:ext cx="13500200" cy="1359871"/>
          </a:xfrm>
        </p:spPr>
        <p:txBody>
          <a:bodyPr/>
          <a:lstStyle/>
          <a:p>
            <a:r>
              <a:rPr lang="en-US" dirty="0">
                <a:solidFill>
                  <a:schemeClr val="bg1"/>
                </a:solidFill>
              </a:rPr>
              <a:t>Sample Questions </a:t>
            </a:r>
          </a:p>
        </p:txBody>
      </p:sp>
      <p:sp>
        <p:nvSpPr>
          <p:cNvPr id="4" name="Footer Placeholder 3">
            <a:extLst>
              <a:ext uri="{FF2B5EF4-FFF2-40B4-BE49-F238E27FC236}">
                <a16:creationId xmlns:a16="http://schemas.microsoft.com/office/drawing/2014/main" id="{52A40C66-94D8-4915-806C-512F26F6CE9A}"/>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E38953E2-E23C-415C-A060-128FBF5F24A2}"/>
              </a:ext>
            </a:extLst>
          </p:cNvPr>
          <p:cNvSpPr/>
          <p:nvPr/>
        </p:nvSpPr>
        <p:spPr>
          <a:xfrm>
            <a:off x="450003" y="1139554"/>
            <a:ext cx="12744887" cy="3779304"/>
          </a:xfrm>
          <a:prstGeom prst="rect">
            <a:avLst/>
          </a:prstGeom>
        </p:spPr>
        <p:txBody>
          <a:bodyPr wrap="square">
            <a:spAutoFit/>
          </a:bodyPr>
          <a:lstStyle/>
          <a:p>
            <a:pPr>
              <a:lnSpc>
                <a:spcPct val="150000"/>
              </a:lnSpc>
            </a:pPr>
            <a:r>
              <a:rPr lang="en-US" dirty="0">
                <a:solidFill>
                  <a:srgbClr val="18537D"/>
                </a:solidFill>
              </a:rPr>
              <a:t>An organization has configured the custom metric upload with CloudWatch. The organization has given permission to its </a:t>
            </a:r>
            <a:r>
              <a:rPr lang="en-US" b="1" dirty="0">
                <a:solidFill>
                  <a:srgbClr val="18537D"/>
                </a:solidFill>
              </a:rPr>
              <a:t>employees to upload data using CLI as well SDK</a:t>
            </a:r>
            <a:r>
              <a:rPr lang="en-US" dirty="0">
                <a:solidFill>
                  <a:srgbClr val="18537D"/>
                </a:solidFill>
              </a:rPr>
              <a:t>. How can the </a:t>
            </a:r>
            <a:r>
              <a:rPr lang="en-US" b="1" dirty="0">
                <a:solidFill>
                  <a:srgbClr val="18537D"/>
                </a:solidFill>
              </a:rPr>
              <a:t>user track the calls made to CloudWatch</a:t>
            </a:r>
            <a:r>
              <a:rPr lang="en-US" dirty="0">
                <a:solidFill>
                  <a:srgbClr val="18537D"/>
                </a:solidFill>
              </a:rPr>
              <a:t>? </a:t>
            </a:r>
          </a:p>
          <a:p>
            <a:pPr>
              <a:lnSpc>
                <a:spcPct val="150000"/>
              </a:lnSpc>
            </a:pPr>
            <a:endParaRPr lang="en-US" dirty="0">
              <a:solidFill>
                <a:srgbClr val="18537D"/>
              </a:solidFill>
            </a:endParaRPr>
          </a:p>
          <a:p>
            <a:pPr>
              <a:lnSpc>
                <a:spcPct val="150000"/>
              </a:lnSpc>
            </a:pPr>
            <a:r>
              <a:rPr lang="en-US" dirty="0">
                <a:solidFill>
                  <a:srgbClr val="18537D"/>
                </a:solidFill>
              </a:rPr>
              <a:t>A. The user can enable logging with CloudWatch which logs all the activities</a:t>
            </a:r>
          </a:p>
          <a:p>
            <a:pPr>
              <a:lnSpc>
                <a:spcPct val="150000"/>
              </a:lnSpc>
            </a:pPr>
            <a:r>
              <a:rPr lang="en-US" b="1" dirty="0">
                <a:solidFill>
                  <a:srgbClr val="18537D"/>
                </a:solidFill>
              </a:rPr>
              <a:t>B. Use CloudTrail to monitor the API calls</a:t>
            </a:r>
          </a:p>
          <a:p>
            <a:pPr>
              <a:lnSpc>
                <a:spcPct val="150000"/>
              </a:lnSpc>
            </a:pPr>
            <a:r>
              <a:rPr lang="en-US" dirty="0">
                <a:solidFill>
                  <a:srgbClr val="18537D"/>
                </a:solidFill>
              </a:rPr>
              <a:t>C. Create an IAM user and allow each user to log the data using the S3 bucket</a:t>
            </a:r>
          </a:p>
          <a:p>
            <a:pPr>
              <a:lnSpc>
                <a:spcPct val="150000"/>
              </a:lnSpc>
            </a:pPr>
            <a:r>
              <a:rPr lang="en-US" dirty="0">
                <a:solidFill>
                  <a:srgbClr val="18537D"/>
                </a:solidFill>
              </a:rPr>
              <a:t>D. Enable detailed monitoring with CloudWatch</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3273960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833A-1D22-44C8-AA11-ABF04E08EE8B}"/>
              </a:ext>
            </a:extLst>
          </p:cNvPr>
          <p:cNvSpPr>
            <a:spLocks noGrp="1"/>
          </p:cNvSpPr>
          <p:nvPr>
            <p:ph type="title"/>
          </p:nvPr>
        </p:nvSpPr>
        <p:spPr>
          <a:xfrm>
            <a:off x="3489158" y="3320733"/>
            <a:ext cx="9589168" cy="557845"/>
          </a:xfrm>
        </p:spPr>
        <p:txBody>
          <a:bodyPr>
            <a:normAutofit fontScale="90000"/>
          </a:bodyPr>
          <a:lstStyle/>
          <a:p>
            <a:r>
              <a:rPr lang="en-US" dirty="0">
                <a:solidFill>
                  <a:srgbClr val="18537D"/>
                </a:solidFill>
                <a:latin typeface="Arial Black" panose="020B0A04020102020204" pitchFamily="34" charset="0"/>
              </a:rPr>
              <a:t>Happy Learning!!</a:t>
            </a:r>
          </a:p>
        </p:txBody>
      </p:sp>
      <p:sp>
        <p:nvSpPr>
          <p:cNvPr id="3" name="Slide Number Placeholder 2">
            <a:extLst>
              <a:ext uri="{FF2B5EF4-FFF2-40B4-BE49-F238E27FC236}">
                <a16:creationId xmlns:a16="http://schemas.microsoft.com/office/drawing/2014/main" id="{99BEF341-2DB0-4159-B670-24611B8CA7B2}"/>
              </a:ext>
            </a:extLst>
          </p:cNvPr>
          <p:cNvSpPr txBox="1">
            <a:spLocks/>
          </p:cNvSpPr>
          <p:nvPr/>
        </p:nvSpPr>
        <p:spPr>
          <a:xfrm>
            <a:off x="13550876" y="6705802"/>
            <a:ext cx="705898" cy="2161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39</a:t>
            </a:fld>
            <a:endParaRPr lang="en-US" dirty="0"/>
          </a:p>
        </p:txBody>
      </p:sp>
    </p:spTree>
    <p:extLst>
      <p:ext uri="{BB962C8B-B14F-4D97-AF65-F5344CB8AC3E}">
        <p14:creationId xmlns:p14="http://schemas.microsoft.com/office/powerpoint/2010/main" val="2175134941"/>
      </p:ext>
    </p:extLst>
  </p:cSld>
  <p:clrMapOvr>
    <a:masterClrMapping/>
  </p:clrMapOvr>
</p:sld>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1_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D4628B5F0DE14882B47AED0C5966F0" ma:contentTypeVersion="12" ma:contentTypeDescription="Create a new document." ma:contentTypeScope="" ma:versionID="55b389601a80f891819a40b048f86b7b">
  <xsd:schema xmlns:xsd="http://www.w3.org/2001/XMLSchema" xmlns:xs="http://www.w3.org/2001/XMLSchema" xmlns:p="http://schemas.microsoft.com/office/2006/metadata/properties" xmlns:ns3="25376a1e-acf6-4d0e-a31f-9846047eee0a" xmlns:ns4="d61169d6-dafa-460d-aa42-7f3810e84ea1" targetNamespace="http://schemas.microsoft.com/office/2006/metadata/properties" ma:root="true" ma:fieldsID="e6b501d0506227862faddbc1d8a8e3d7" ns3:_="" ns4:_="">
    <xsd:import namespace="25376a1e-acf6-4d0e-a31f-9846047eee0a"/>
    <xsd:import namespace="d61169d6-dafa-460d-aa42-7f3810e84e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76a1e-acf6-4d0e-a31f-9846047eee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1169d6-dafa-460d-aa42-7f3810e84e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E8B75E-1448-403E-9C36-A8C659AD49D4}">
  <ds:schemaRefs>
    <ds:schemaRef ds:uri="http://schemas.microsoft.com/sharepoint/v3/contenttype/forms"/>
  </ds:schemaRefs>
</ds:datastoreItem>
</file>

<file path=customXml/itemProps2.xml><?xml version="1.0" encoding="utf-8"?>
<ds:datastoreItem xmlns:ds="http://schemas.openxmlformats.org/officeDocument/2006/customXml" ds:itemID="{E73F6FFA-FF3F-493E-9E94-0880F41B6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76a1e-acf6-4d0e-a31f-9846047eee0a"/>
    <ds:schemaRef ds:uri="d61169d6-dafa-460d-aa42-7f3810e84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BE717E-816E-4571-A23B-53E4DC8E1895}">
  <ds:schemaRefs>
    <ds:schemaRef ds:uri="http://purl.org/dc/elements/1.1/"/>
    <ds:schemaRef ds:uri="http://schemas.microsoft.com/office/2006/metadata/properties"/>
    <ds:schemaRef ds:uri="d61169d6-dafa-460d-aa42-7f3810e84ea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25376a1e-acf6-4d0e-a31f-9846047eee0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12175</TotalTime>
  <Words>3959</Words>
  <Application>Microsoft Office PowerPoint</Application>
  <PresentationFormat>Custom</PresentationFormat>
  <Paragraphs>356</Paragraphs>
  <Slides>39</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39</vt:i4>
      </vt:variant>
    </vt:vector>
  </HeadingPairs>
  <TitlesOfParts>
    <vt:vector size="49" baseType="lpstr">
      <vt:lpstr>Amazon Ember</vt:lpstr>
      <vt:lpstr>Amazon Ember Light</vt:lpstr>
      <vt:lpstr>Arial</vt:lpstr>
      <vt:lpstr>Arial Black</vt:lpstr>
      <vt:lpstr>Calibri</vt:lpstr>
      <vt:lpstr>Graphik</vt:lpstr>
      <vt:lpstr>Graphik Black</vt:lpstr>
      <vt:lpstr>Graphik Medium</vt:lpstr>
      <vt:lpstr>Titles</vt:lpstr>
      <vt:lpstr>1_Titles</vt:lpstr>
      <vt:lpstr> Cloud Elevate –Exam Readiness workshop    AWS Certified Developer - Associate</vt:lpstr>
      <vt:lpstr>PowerPoint Presentation</vt:lpstr>
      <vt:lpstr>AWS Developer - associate</vt:lpstr>
      <vt:lpstr>Monitoring and Troubleshooting – 12%</vt:lpstr>
      <vt:lpstr>Monitoring and Troubleshooting – 12%</vt:lpstr>
      <vt:lpstr>Amazon Cloud Watch</vt:lpstr>
      <vt:lpstr>Example</vt:lpstr>
      <vt:lpstr>Cloud trail</vt:lpstr>
      <vt:lpstr>CloudTrail</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Sample Questions </vt:lpstr>
      <vt:lpstr>Happy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Nithyanand, Anupama</dc:creator>
  <cp:lastModifiedBy>Govindarajan, Mathan</cp:lastModifiedBy>
  <cp:revision>382</cp:revision>
  <dcterms:created xsi:type="dcterms:W3CDTF">2020-02-10T04:26:22Z</dcterms:created>
  <dcterms:modified xsi:type="dcterms:W3CDTF">2020-09-24T08:21:16Z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0x01010072D4628B5F0DE14882B47AED0C5966F0</vt:lpwstr>
  </property>
</Properties>
</file>